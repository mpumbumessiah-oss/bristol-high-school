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256" r:id="rId2"/>
    <p:sldId id="257" r:id="rId3"/>
    <p:sldId id="258" r:id="rId4"/>
    <p:sldId id="260" r:id="rId5"/>
    <p:sldId id="259" r:id="rId6"/>
    <p:sldId id="274" r:id="rId7"/>
    <p:sldId id="275" r:id="rId8"/>
    <p:sldId id="264" r:id="rId9"/>
    <p:sldId id="271" r:id="rId10"/>
    <p:sldId id="272" r:id="rId11"/>
    <p:sldId id="273" r:id="rId12"/>
    <p:sldId id="263" r:id="rId13"/>
    <p:sldId id="261" r:id="rId14"/>
    <p:sldId id="276" r:id="rId15"/>
    <p:sldId id="277" r:id="rId16"/>
    <p:sldId id="295" r:id="rId17"/>
    <p:sldId id="265" r:id="rId18"/>
    <p:sldId id="262" r:id="rId19"/>
    <p:sldId id="280" r:id="rId20"/>
    <p:sldId id="266" r:id="rId21"/>
    <p:sldId id="281" r:id="rId22"/>
    <p:sldId id="282" r:id="rId23"/>
    <p:sldId id="279" r:id="rId24"/>
    <p:sldId id="294" r:id="rId25"/>
    <p:sldId id="296" r:id="rId26"/>
    <p:sldId id="269" r:id="rId27"/>
    <p:sldId id="292" r:id="rId28"/>
    <p:sldId id="293" r:id="rId29"/>
    <p:sldId id="270" r:id="rId30"/>
    <p:sldId id="284" r:id="rId31"/>
    <p:sldId id="285" r:id="rId32"/>
    <p:sldId id="286" r:id="rId33"/>
    <p:sldId id="287" r:id="rId34"/>
    <p:sldId id="288" r:id="rId35"/>
    <p:sldId id="289" r:id="rId36"/>
    <p:sldId id="290" r:id="rId37"/>
    <p:sldId id="291" r:id="rId38"/>
    <p:sldId id="297" r:id="rId39"/>
    <p:sldId id="298" r:id="rId40"/>
    <p:sldId id="299" r:id="rId41"/>
    <p:sldId id="300" r:id="rId42"/>
    <p:sldId id="301" r:id="rId43"/>
    <p:sldId id="303" r:id="rId44"/>
    <p:sldId id="304" r:id="rId45"/>
    <p:sldId id="309" r:id="rId46"/>
    <p:sldId id="310" r:id="rId47"/>
    <p:sldId id="311" r:id="rId48"/>
    <p:sldId id="306" r:id="rId49"/>
    <p:sldId id="313" r:id="rId50"/>
    <p:sldId id="312" r:id="rId51"/>
    <p:sldId id="307" r:id="rId52"/>
    <p:sldId id="314" r:id="rId53"/>
    <p:sldId id="308" r:id="rId54"/>
    <p:sldId id="302" r:id="rId55"/>
    <p:sldId id="315" r:id="rId56"/>
    <p:sldId id="317" r:id="rId57"/>
    <p:sldId id="318" r:id="rId58"/>
    <p:sldId id="319" r:id="rId59"/>
    <p:sldId id="325" r:id="rId60"/>
    <p:sldId id="326" r:id="rId61"/>
    <p:sldId id="322" r:id="rId62"/>
    <p:sldId id="323" r:id="rId63"/>
    <p:sldId id="329" r:id="rId64"/>
    <p:sldId id="321" r:id="rId65"/>
    <p:sldId id="331" r:id="rId66"/>
    <p:sldId id="337" r:id="rId67"/>
    <p:sldId id="305" r:id="rId68"/>
    <p:sldId id="330" r:id="rId69"/>
    <p:sldId id="332" r:id="rId70"/>
    <p:sldId id="333" r:id="rId71"/>
    <p:sldId id="327" r:id="rId72"/>
    <p:sldId id="328" r:id="rId73"/>
    <p:sldId id="334" r:id="rId74"/>
    <p:sldId id="345" r:id="rId75"/>
    <p:sldId id="338" r:id="rId76"/>
    <p:sldId id="346" r:id="rId77"/>
    <p:sldId id="339" r:id="rId78"/>
    <p:sldId id="347" r:id="rId79"/>
    <p:sldId id="336" r:id="rId80"/>
    <p:sldId id="348" r:id="rId81"/>
    <p:sldId id="335" r:id="rId82"/>
    <p:sldId id="340" r:id="rId83"/>
    <p:sldId id="341" r:id="rId84"/>
    <p:sldId id="342" r:id="rId85"/>
    <p:sldId id="343" r:id="rId86"/>
    <p:sldId id="344" r:id="rId87"/>
  </p:sldIdLst>
  <p:sldSz cx="12192000" cy="6858000"/>
  <p:notesSz cx="6858000" cy="9144000"/>
  <p:defaultText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73" d="100"/>
          <a:sy n="73" d="100"/>
        </p:scale>
        <p:origin x="618"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presProps" Target="pres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viewProps" Target="viewProp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3-10-28T08:22:30.546"/>
    </inkml:context>
    <inkml:brush xml:id="br0">
      <inkml:brushProperty name="width" value="0.035" units="cm"/>
      <inkml:brushProperty name="height" value="0.035" units="cm"/>
      <inkml:brushProperty name="color" value="#E71224"/>
    </inkml:brush>
  </inkml:definitions>
  <inkml:trace contextRef="#ctx0" brushRef="#br0">0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C4324F-EDFC-4A1F-A46F-F8F1D3AAD678}" type="datetimeFigureOut">
              <a:rPr lang="en-UG" smtClean="0"/>
              <a:t>28/05/2024</a:t>
            </a:fld>
            <a:endParaRPr lang="en-U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4D75F38-CBC6-4F02-B768-A362DE08511F}" type="slidenum">
              <a:rPr lang="en-UG" smtClean="0"/>
              <a:t>‹#›</a:t>
            </a:fld>
            <a:endParaRPr lang="en-UG"/>
          </a:p>
        </p:txBody>
      </p:sp>
    </p:spTree>
    <p:extLst>
      <p:ext uri="{BB962C8B-B14F-4D97-AF65-F5344CB8AC3E}">
        <p14:creationId xmlns:p14="http://schemas.microsoft.com/office/powerpoint/2010/main" val="215435434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6</a:t>
            </a:fld>
            <a:endParaRPr lang="en-UG"/>
          </a:p>
        </p:txBody>
      </p:sp>
    </p:spTree>
    <p:extLst>
      <p:ext uri="{BB962C8B-B14F-4D97-AF65-F5344CB8AC3E}">
        <p14:creationId xmlns:p14="http://schemas.microsoft.com/office/powerpoint/2010/main" val="8900442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unicellular and oxygen diffuses fastest because it has a large SAVR.</a:t>
            </a:r>
          </a:p>
          <a:p>
            <a:r>
              <a:rPr lang="en-US" dirty="0"/>
              <a:t>B: multicellular and oxygen diffuses slowest because it has small SAVR.</a:t>
            </a:r>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10</a:t>
            </a:fld>
            <a:endParaRPr lang="en-UG"/>
          </a:p>
        </p:txBody>
      </p:sp>
    </p:spTree>
    <p:extLst>
      <p:ext uri="{BB962C8B-B14F-4D97-AF65-F5344CB8AC3E}">
        <p14:creationId xmlns:p14="http://schemas.microsoft.com/office/powerpoint/2010/main" val="22402204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Breathing is an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active process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of moving air/water to and from the respiratory surface whereas gaseous exchange is a </a:t>
            </a: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passive process </a:t>
            </a:r>
            <a:r>
              <a:rPr lang="en-US" sz="1800" dirty="0">
                <a:effectLst/>
                <a:latin typeface="Times New Roman" panose="02020603050405020304" pitchFamily="18" charset="0"/>
                <a:ea typeface="Calibri" panose="020F0502020204030204" pitchFamily="34" charset="0"/>
                <a:cs typeface="Times New Roman" panose="02020603050405020304" pitchFamily="18" charset="0"/>
              </a:rPr>
              <a:t>involving the passage of respiratory gases across respiratory surfaces/gaseous exchange surfaces.</a:t>
            </a:r>
            <a:endParaRPr lang="en-UG" sz="1800" dirty="0">
              <a:effectLst/>
              <a:latin typeface="Calibri" panose="020F0502020204030204" pitchFamily="34" charset="0"/>
              <a:ea typeface="Calibri" panose="020F0502020204030204" pitchFamily="34" charset="0"/>
              <a:cs typeface="Times New Roman" panose="02020603050405020304" pitchFamily="18" charset="0"/>
            </a:endParaRPr>
          </a:p>
          <a:p>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43</a:t>
            </a:fld>
            <a:endParaRPr lang="en-UG"/>
          </a:p>
        </p:txBody>
      </p:sp>
    </p:spTree>
    <p:extLst>
      <p:ext uri="{BB962C8B-B14F-4D97-AF65-F5344CB8AC3E}">
        <p14:creationId xmlns:p14="http://schemas.microsoft.com/office/powerpoint/2010/main" val="121043988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One enclosed in atmospheric air. b) Each jar contains some O2 which supports burning until it is used up. C) using straws to blow air into the jars, collecting exhaled air under water to avoid contamination.</a:t>
            </a:r>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47</a:t>
            </a:fld>
            <a:endParaRPr lang="en-UG"/>
          </a:p>
        </p:txBody>
      </p:sp>
    </p:spTree>
    <p:extLst>
      <p:ext uri="{BB962C8B-B14F-4D97-AF65-F5344CB8AC3E}">
        <p14:creationId xmlns:p14="http://schemas.microsoft.com/office/powerpoint/2010/main" val="37856861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dirty="0">
                <a:effectLst/>
                <a:latin typeface="Calibri Light" panose="020F0302020204030204" pitchFamily="34" charset="0"/>
                <a:ea typeface="Arial Unicode MS"/>
                <a:cs typeface="Times New Roman" panose="02020603050405020304" pitchFamily="18" charset="0"/>
              </a:rPr>
              <a:t>blue cobalt chloride paper turns to pink </a:t>
            </a:r>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50</a:t>
            </a:fld>
            <a:endParaRPr lang="en-UG"/>
          </a:p>
        </p:txBody>
      </p:sp>
    </p:spTree>
    <p:extLst>
      <p:ext uri="{BB962C8B-B14F-4D97-AF65-F5344CB8AC3E}">
        <p14:creationId xmlns:p14="http://schemas.microsoft.com/office/powerpoint/2010/main" val="3658773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Bicarbonate indicator turns from pink to yellow</a:t>
            </a:r>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51</a:t>
            </a:fld>
            <a:endParaRPr lang="en-UG"/>
          </a:p>
        </p:txBody>
      </p:sp>
    </p:spTree>
    <p:extLst>
      <p:ext uri="{BB962C8B-B14F-4D97-AF65-F5344CB8AC3E}">
        <p14:creationId xmlns:p14="http://schemas.microsoft.com/office/powerpoint/2010/main" val="40051676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333333"/>
                </a:solidFill>
                <a:effectLst/>
                <a:latin typeface="Georgia" panose="02040502050405020303" pitchFamily="18" charset="0"/>
              </a:rPr>
              <a:t>Thermometer - The temperature increases. White cotton wool - Changes to yellow/brown/black. Indicator solution - Changes from green to yellow.</a:t>
            </a:r>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68</a:t>
            </a:fld>
            <a:endParaRPr lang="en-UG"/>
          </a:p>
        </p:txBody>
      </p:sp>
    </p:spTree>
    <p:extLst>
      <p:ext uri="{BB962C8B-B14F-4D97-AF65-F5344CB8AC3E}">
        <p14:creationId xmlns:p14="http://schemas.microsoft.com/office/powerpoint/2010/main" val="1611994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Natural sources of pollutants: pollen grains in air, volcanic eruption, dust from desert</a:t>
            </a:r>
            <a:endParaRPr lang="en-UG" dirty="0"/>
          </a:p>
        </p:txBody>
      </p:sp>
      <p:sp>
        <p:nvSpPr>
          <p:cNvPr id="4" name="Slide Number Placeholder 3"/>
          <p:cNvSpPr>
            <a:spLocks noGrp="1"/>
          </p:cNvSpPr>
          <p:nvPr>
            <p:ph type="sldNum" sz="quarter" idx="5"/>
          </p:nvPr>
        </p:nvSpPr>
        <p:spPr/>
        <p:txBody>
          <a:bodyPr/>
          <a:lstStyle/>
          <a:p>
            <a:fld id="{84D75F38-CBC6-4F02-B768-A362DE08511F}" type="slidenum">
              <a:rPr lang="en-UG" smtClean="0"/>
              <a:t>71</a:t>
            </a:fld>
            <a:endParaRPr lang="en-UG"/>
          </a:p>
        </p:txBody>
      </p:sp>
    </p:spTree>
    <p:extLst>
      <p:ext uri="{BB962C8B-B14F-4D97-AF65-F5344CB8AC3E}">
        <p14:creationId xmlns:p14="http://schemas.microsoft.com/office/powerpoint/2010/main" val="25113884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9337B7-BAED-320B-C1A4-691AE303A29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G"/>
          </a:p>
        </p:txBody>
      </p:sp>
      <p:sp>
        <p:nvSpPr>
          <p:cNvPr id="3" name="Subtitle 2">
            <a:extLst>
              <a:ext uri="{FF2B5EF4-FFF2-40B4-BE49-F238E27FC236}">
                <a16:creationId xmlns:a16="http://schemas.microsoft.com/office/drawing/2014/main" id="{0DF42B1C-B370-5481-0981-6CFCEB3897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G"/>
          </a:p>
        </p:txBody>
      </p:sp>
      <p:sp>
        <p:nvSpPr>
          <p:cNvPr id="4" name="Date Placeholder 3">
            <a:extLst>
              <a:ext uri="{FF2B5EF4-FFF2-40B4-BE49-F238E27FC236}">
                <a16:creationId xmlns:a16="http://schemas.microsoft.com/office/drawing/2014/main" id="{87824A2A-6665-936C-BB1E-E4775612AB84}"/>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5" name="Footer Placeholder 4">
            <a:extLst>
              <a:ext uri="{FF2B5EF4-FFF2-40B4-BE49-F238E27FC236}">
                <a16:creationId xmlns:a16="http://schemas.microsoft.com/office/drawing/2014/main" id="{2126EA92-E424-76AD-4270-88FA0FAEA367}"/>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72D07B27-A87D-AB1A-F29B-95E63A86798A}"/>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36342326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F692DB-8431-8072-0162-E1D2DED21011}"/>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8E6CCD28-2447-DC7C-DB7A-A30D1404E0F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0E018052-BC59-1C90-ACD8-618E73A1C2AC}"/>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5" name="Footer Placeholder 4">
            <a:extLst>
              <a:ext uri="{FF2B5EF4-FFF2-40B4-BE49-F238E27FC236}">
                <a16:creationId xmlns:a16="http://schemas.microsoft.com/office/drawing/2014/main" id="{CB668239-CE82-6F18-0C47-82567C6A984C}"/>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42BA8821-8368-66CF-6971-27D5C2C48636}"/>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33738126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E2C5A-23C7-5BD6-BD95-4CC81742268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G"/>
          </a:p>
        </p:txBody>
      </p:sp>
      <p:sp>
        <p:nvSpPr>
          <p:cNvPr id="3" name="Text Placeholder 2">
            <a:extLst>
              <a:ext uri="{FF2B5EF4-FFF2-40B4-BE49-F238E27FC236}">
                <a16:creationId xmlns:a16="http://schemas.microsoft.com/office/drawing/2014/main" id="{062B7276-3E52-81F4-34C3-D821E2CE18B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6FDA27D-A908-8496-8CE0-5AFA6FC3B816}"/>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5" name="Footer Placeholder 4">
            <a:extLst>
              <a:ext uri="{FF2B5EF4-FFF2-40B4-BE49-F238E27FC236}">
                <a16:creationId xmlns:a16="http://schemas.microsoft.com/office/drawing/2014/main" id="{5D9F74AD-0F95-9546-5070-70C2ED47E4B9}"/>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955ED391-AD87-6D78-66B4-F8DA47360CA6}"/>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3685287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B20619-9BF1-6A9F-DBE9-5D5C37820508}"/>
              </a:ext>
            </a:extLst>
          </p:cNvPr>
          <p:cNvSpPr>
            <a:spLocks noGrp="1"/>
          </p:cNvSpPr>
          <p:nvPr>
            <p:ph type="title"/>
          </p:nvPr>
        </p:nvSpPr>
        <p:spPr/>
        <p:txBody>
          <a:bodyPr/>
          <a:lstStyle/>
          <a:p>
            <a:r>
              <a:rPr lang="en-US"/>
              <a:t>Click to edit Master title style</a:t>
            </a:r>
            <a:endParaRPr lang="en-UG"/>
          </a:p>
        </p:txBody>
      </p:sp>
      <p:sp>
        <p:nvSpPr>
          <p:cNvPr id="3" name="Content Placeholder 2">
            <a:extLst>
              <a:ext uri="{FF2B5EF4-FFF2-40B4-BE49-F238E27FC236}">
                <a16:creationId xmlns:a16="http://schemas.microsoft.com/office/drawing/2014/main" id="{BEB2CFF3-1747-6030-B413-AE88EEEDB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Content Placeholder 3">
            <a:extLst>
              <a:ext uri="{FF2B5EF4-FFF2-40B4-BE49-F238E27FC236}">
                <a16:creationId xmlns:a16="http://schemas.microsoft.com/office/drawing/2014/main" id="{461898FB-83C6-52CF-E824-0D6A24B2FF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Date Placeholder 4">
            <a:extLst>
              <a:ext uri="{FF2B5EF4-FFF2-40B4-BE49-F238E27FC236}">
                <a16:creationId xmlns:a16="http://schemas.microsoft.com/office/drawing/2014/main" id="{804DB7B5-C06B-58F8-2C47-C3750524BE56}"/>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6" name="Footer Placeholder 5">
            <a:extLst>
              <a:ext uri="{FF2B5EF4-FFF2-40B4-BE49-F238E27FC236}">
                <a16:creationId xmlns:a16="http://schemas.microsoft.com/office/drawing/2014/main" id="{EFCB127D-55AD-4BF0-E803-9A6B07BA5803}"/>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0D6FB800-7BCC-4BC4-E0F0-6C4DBC16AC3B}"/>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1459407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70DB5-152A-7A0E-A7C6-503CB6DBDBB0}"/>
              </a:ext>
            </a:extLst>
          </p:cNvPr>
          <p:cNvSpPr>
            <a:spLocks noGrp="1"/>
          </p:cNvSpPr>
          <p:nvPr>
            <p:ph type="title"/>
          </p:nvPr>
        </p:nvSpPr>
        <p:spPr>
          <a:xfrm>
            <a:off x="839788" y="365125"/>
            <a:ext cx="10515600" cy="1325563"/>
          </a:xfrm>
        </p:spPr>
        <p:txBody>
          <a:bodyPr/>
          <a:lstStyle/>
          <a:p>
            <a:r>
              <a:rPr lang="en-US"/>
              <a:t>Click to edit Master title style</a:t>
            </a:r>
            <a:endParaRPr lang="en-UG"/>
          </a:p>
        </p:txBody>
      </p:sp>
      <p:sp>
        <p:nvSpPr>
          <p:cNvPr id="3" name="Text Placeholder 2">
            <a:extLst>
              <a:ext uri="{FF2B5EF4-FFF2-40B4-BE49-F238E27FC236}">
                <a16:creationId xmlns:a16="http://schemas.microsoft.com/office/drawing/2014/main" id="{8F5EC062-05A1-5E7D-6671-D9371A6B415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CCA7A1-F40E-F12D-437C-F709E1CD71B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5" name="Text Placeholder 4">
            <a:extLst>
              <a:ext uri="{FF2B5EF4-FFF2-40B4-BE49-F238E27FC236}">
                <a16:creationId xmlns:a16="http://schemas.microsoft.com/office/drawing/2014/main" id="{D98771A1-7A3D-E845-6BBF-D8BEF31934B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244E709-8F74-2FA3-6039-9CDA29BC85F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7" name="Date Placeholder 6">
            <a:extLst>
              <a:ext uri="{FF2B5EF4-FFF2-40B4-BE49-F238E27FC236}">
                <a16:creationId xmlns:a16="http://schemas.microsoft.com/office/drawing/2014/main" id="{C6EEAB05-2D86-9AB0-6E76-8DD44EC0D04B}"/>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8" name="Footer Placeholder 7">
            <a:extLst>
              <a:ext uri="{FF2B5EF4-FFF2-40B4-BE49-F238E27FC236}">
                <a16:creationId xmlns:a16="http://schemas.microsoft.com/office/drawing/2014/main" id="{6DD7B2F8-BD2B-EE69-D784-54A4BAB0B464}"/>
              </a:ext>
            </a:extLst>
          </p:cNvPr>
          <p:cNvSpPr>
            <a:spLocks noGrp="1"/>
          </p:cNvSpPr>
          <p:nvPr>
            <p:ph type="ftr" sz="quarter" idx="11"/>
          </p:nvPr>
        </p:nvSpPr>
        <p:spPr/>
        <p:txBody>
          <a:bodyPr/>
          <a:lstStyle/>
          <a:p>
            <a:endParaRPr lang="en-UG"/>
          </a:p>
        </p:txBody>
      </p:sp>
      <p:sp>
        <p:nvSpPr>
          <p:cNvPr id="9" name="Slide Number Placeholder 8">
            <a:extLst>
              <a:ext uri="{FF2B5EF4-FFF2-40B4-BE49-F238E27FC236}">
                <a16:creationId xmlns:a16="http://schemas.microsoft.com/office/drawing/2014/main" id="{C4EAED74-1D07-565E-E88F-DABBE2FFA019}"/>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11901543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6087AD-63F5-2730-9AE5-76E45AA82EA3}"/>
              </a:ext>
            </a:extLst>
          </p:cNvPr>
          <p:cNvSpPr>
            <a:spLocks noGrp="1"/>
          </p:cNvSpPr>
          <p:nvPr>
            <p:ph type="title"/>
          </p:nvPr>
        </p:nvSpPr>
        <p:spPr/>
        <p:txBody>
          <a:bodyPr/>
          <a:lstStyle/>
          <a:p>
            <a:r>
              <a:rPr lang="en-US"/>
              <a:t>Click to edit Master title style</a:t>
            </a:r>
            <a:endParaRPr lang="en-UG"/>
          </a:p>
        </p:txBody>
      </p:sp>
      <p:sp>
        <p:nvSpPr>
          <p:cNvPr id="3" name="Date Placeholder 2">
            <a:extLst>
              <a:ext uri="{FF2B5EF4-FFF2-40B4-BE49-F238E27FC236}">
                <a16:creationId xmlns:a16="http://schemas.microsoft.com/office/drawing/2014/main" id="{7B7C9D8A-9AE8-B053-C3AD-05890E69F3CF}"/>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4" name="Footer Placeholder 3">
            <a:extLst>
              <a:ext uri="{FF2B5EF4-FFF2-40B4-BE49-F238E27FC236}">
                <a16:creationId xmlns:a16="http://schemas.microsoft.com/office/drawing/2014/main" id="{740874CF-1027-984A-75DC-8442FA443CEC}"/>
              </a:ext>
            </a:extLst>
          </p:cNvPr>
          <p:cNvSpPr>
            <a:spLocks noGrp="1"/>
          </p:cNvSpPr>
          <p:nvPr>
            <p:ph type="ftr" sz="quarter" idx="11"/>
          </p:nvPr>
        </p:nvSpPr>
        <p:spPr/>
        <p:txBody>
          <a:bodyPr/>
          <a:lstStyle/>
          <a:p>
            <a:endParaRPr lang="en-UG"/>
          </a:p>
        </p:txBody>
      </p:sp>
      <p:sp>
        <p:nvSpPr>
          <p:cNvPr id="5" name="Slide Number Placeholder 4">
            <a:extLst>
              <a:ext uri="{FF2B5EF4-FFF2-40B4-BE49-F238E27FC236}">
                <a16:creationId xmlns:a16="http://schemas.microsoft.com/office/drawing/2014/main" id="{28AF252E-BBF9-B4FB-8E16-48E448F53994}"/>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32693860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21844F-9B0A-5B0B-F376-9E0F29ECB814}"/>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3" name="Footer Placeholder 2">
            <a:extLst>
              <a:ext uri="{FF2B5EF4-FFF2-40B4-BE49-F238E27FC236}">
                <a16:creationId xmlns:a16="http://schemas.microsoft.com/office/drawing/2014/main" id="{58A64E75-6CA1-E48F-AA42-0C8E670FA16F}"/>
              </a:ext>
            </a:extLst>
          </p:cNvPr>
          <p:cNvSpPr>
            <a:spLocks noGrp="1"/>
          </p:cNvSpPr>
          <p:nvPr>
            <p:ph type="ftr" sz="quarter" idx="11"/>
          </p:nvPr>
        </p:nvSpPr>
        <p:spPr/>
        <p:txBody>
          <a:bodyPr/>
          <a:lstStyle/>
          <a:p>
            <a:endParaRPr lang="en-UG"/>
          </a:p>
        </p:txBody>
      </p:sp>
      <p:sp>
        <p:nvSpPr>
          <p:cNvPr id="4" name="Slide Number Placeholder 3">
            <a:extLst>
              <a:ext uri="{FF2B5EF4-FFF2-40B4-BE49-F238E27FC236}">
                <a16:creationId xmlns:a16="http://schemas.microsoft.com/office/drawing/2014/main" id="{3DF62C39-C102-8A44-5CAC-CDE36AB967E2}"/>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33892099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A91379-371B-E1F0-B0DC-6721C0B16A6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Content Placeholder 2">
            <a:extLst>
              <a:ext uri="{FF2B5EF4-FFF2-40B4-BE49-F238E27FC236}">
                <a16:creationId xmlns:a16="http://schemas.microsoft.com/office/drawing/2014/main" id="{55BA823E-615C-DABC-BC1F-2F4E222063C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Text Placeholder 3">
            <a:extLst>
              <a:ext uri="{FF2B5EF4-FFF2-40B4-BE49-F238E27FC236}">
                <a16:creationId xmlns:a16="http://schemas.microsoft.com/office/drawing/2014/main" id="{96C54FE3-BE2B-D15E-6AAA-535438C524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CEC0B42-7B9B-4587-F555-F183FC39C0B9}"/>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6" name="Footer Placeholder 5">
            <a:extLst>
              <a:ext uri="{FF2B5EF4-FFF2-40B4-BE49-F238E27FC236}">
                <a16:creationId xmlns:a16="http://schemas.microsoft.com/office/drawing/2014/main" id="{C2A0DFF6-111F-4440-3FEF-862E3DAA16A0}"/>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933BED40-1FCE-8AC8-2687-986276E17AE5}"/>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18094222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80CDDC-5BE5-576D-FD06-EDCDC45B399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G"/>
          </a:p>
        </p:txBody>
      </p:sp>
      <p:sp>
        <p:nvSpPr>
          <p:cNvPr id="3" name="Picture Placeholder 2">
            <a:extLst>
              <a:ext uri="{FF2B5EF4-FFF2-40B4-BE49-F238E27FC236}">
                <a16:creationId xmlns:a16="http://schemas.microsoft.com/office/drawing/2014/main" id="{142751BF-6A50-9DB1-664C-2D1F95F7A1E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G"/>
          </a:p>
        </p:txBody>
      </p:sp>
      <p:sp>
        <p:nvSpPr>
          <p:cNvPr id="4" name="Text Placeholder 3">
            <a:extLst>
              <a:ext uri="{FF2B5EF4-FFF2-40B4-BE49-F238E27FC236}">
                <a16:creationId xmlns:a16="http://schemas.microsoft.com/office/drawing/2014/main" id="{02F6B5C8-0531-DEC3-6288-5C61BE2FA16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691070-21EB-DABF-412D-6B7E932A243C}"/>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6" name="Footer Placeholder 5">
            <a:extLst>
              <a:ext uri="{FF2B5EF4-FFF2-40B4-BE49-F238E27FC236}">
                <a16:creationId xmlns:a16="http://schemas.microsoft.com/office/drawing/2014/main" id="{BFE2600E-1E0F-74EE-E0D6-051141C9B201}"/>
              </a:ext>
            </a:extLst>
          </p:cNvPr>
          <p:cNvSpPr>
            <a:spLocks noGrp="1"/>
          </p:cNvSpPr>
          <p:nvPr>
            <p:ph type="ftr" sz="quarter" idx="11"/>
          </p:nvPr>
        </p:nvSpPr>
        <p:spPr/>
        <p:txBody>
          <a:bodyPr/>
          <a:lstStyle/>
          <a:p>
            <a:endParaRPr lang="en-UG"/>
          </a:p>
        </p:txBody>
      </p:sp>
      <p:sp>
        <p:nvSpPr>
          <p:cNvPr id="7" name="Slide Number Placeholder 6">
            <a:extLst>
              <a:ext uri="{FF2B5EF4-FFF2-40B4-BE49-F238E27FC236}">
                <a16:creationId xmlns:a16="http://schemas.microsoft.com/office/drawing/2014/main" id="{370BE176-F23C-A7C8-61D3-79C80B3FA8AF}"/>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41410062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69D36-F665-5D93-0D07-25393899C079}"/>
              </a:ext>
            </a:extLst>
          </p:cNvPr>
          <p:cNvSpPr>
            <a:spLocks noGrp="1"/>
          </p:cNvSpPr>
          <p:nvPr>
            <p:ph type="title"/>
          </p:nvPr>
        </p:nvSpPr>
        <p:spPr/>
        <p:txBody>
          <a:bodyPr/>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D8BF0B7B-80B7-CFAE-ECAB-858E547A147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A16A7085-95DB-D303-5BD0-59EAE90432F8}"/>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5" name="Footer Placeholder 4">
            <a:extLst>
              <a:ext uri="{FF2B5EF4-FFF2-40B4-BE49-F238E27FC236}">
                <a16:creationId xmlns:a16="http://schemas.microsoft.com/office/drawing/2014/main" id="{0EE38A01-0018-A821-751D-A5463682CDA9}"/>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FF219F52-E31A-AF27-9E0B-845CE192C26F}"/>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34982420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CEC2E54-647E-5272-22CE-1A4472BEE4B8}"/>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UG"/>
          </a:p>
        </p:txBody>
      </p:sp>
      <p:sp>
        <p:nvSpPr>
          <p:cNvPr id="3" name="Vertical Text Placeholder 2">
            <a:extLst>
              <a:ext uri="{FF2B5EF4-FFF2-40B4-BE49-F238E27FC236}">
                <a16:creationId xmlns:a16="http://schemas.microsoft.com/office/drawing/2014/main" id="{9195BFC4-E65B-CA5E-8702-F4A2EDFD27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82485129-44FA-4A06-DFE3-0DD7C6F4DF1E}"/>
              </a:ext>
            </a:extLst>
          </p:cNvPr>
          <p:cNvSpPr>
            <a:spLocks noGrp="1"/>
          </p:cNvSpPr>
          <p:nvPr>
            <p:ph type="dt" sz="half" idx="10"/>
          </p:nvPr>
        </p:nvSpPr>
        <p:spPr/>
        <p:txBody>
          <a:bodyPr/>
          <a:lstStyle/>
          <a:p>
            <a:fld id="{7DE053CF-A7BA-427D-8CDD-00A0172CFBCC}" type="datetimeFigureOut">
              <a:rPr lang="en-UG" smtClean="0"/>
              <a:t>28/05/2024</a:t>
            </a:fld>
            <a:endParaRPr lang="en-UG"/>
          </a:p>
        </p:txBody>
      </p:sp>
      <p:sp>
        <p:nvSpPr>
          <p:cNvPr id="5" name="Footer Placeholder 4">
            <a:extLst>
              <a:ext uri="{FF2B5EF4-FFF2-40B4-BE49-F238E27FC236}">
                <a16:creationId xmlns:a16="http://schemas.microsoft.com/office/drawing/2014/main" id="{E796F8B6-1E27-D47C-55CD-CCB6A1912DB9}"/>
              </a:ext>
            </a:extLst>
          </p:cNvPr>
          <p:cNvSpPr>
            <a:spLocks noGrp="1"/>
          </p:cNvSpPr>
          <p:nvPr>
            <p:ph type="ftr" sz="quarter" idx="11"/>
          </p:nvPr>
        </p:nvSpPr>
        <p:spPr/>
        <p:txBody>
          <a:bodyPr/>
          <a:lstStyle/>
          <a:p>
            <a:endParaRPr lang="en-UG"/>
          </a:p>
        </p:txBody>
      </p:sp>
      <p:sp>
        <p:nvSpPr>
          <p:cNvPr id="6" name="Slide Number Placeholder 5">
            <a:extLst>
              <a:ext uri="{FF2B5EF4-FFF2-40B4-BE49-F238E27FC236}">
                <a16:creationId xmlns:a16="http://schemas.microsoft.com/office/drawing/2014/main" id="{17591B54-F399-ED53-6FF2-9A2CF55DD38C}"/>
              </a:ext>
            </a:extLst>
          </p:cNvPr>
          <p:cNvSpPr>
            <a:spLocks noGrp="1"/>
          </p:cNvSpPr>
          <p:nvPr>
            <p:ph type="sldNum" sz="quarter" idx="12"/>
          </p:nvPr>
        </p:nvSpPr>
        <p:spPr/>
        <p:txBody>
          <a:bodyPr/>
          <a:lstStyle/>
          <a:p>
            <a:fld id="{4F9F7382-E5B3-47F4-ACF4-1B2926946205}" type="slidenum">
              <a:rPr lang="en-UG" smtClean="0"/>
              <a:t>‹#›</a:t>
            </a:fld>
            <a:endParaRPr lang="en-UG"/>
          </a:p>
        </p:txBody>
      </p:sp>
    </p:spTree>
    <p:extLst>
      <p:ext uri="{BB962C8B-B14F-4D97-AF65-F5344CB8AC3E}">
        <p14:creationId xmlns:p14="http://schemas.microsoft.com/office/powerpoint/2010/main" val="5194593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66A8DB3-6386-7D5D-B668-BB7C634962D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G"/>
          </a:p>
        </p:txBody>
      </p:sp>
      <p:sp>
        <p:nvSpPr>
          <p:cNvPr id="3" name="Text Placeholder 2">
            <a:extLst>
              <a:ext uri="{FF2B5EF4-FFF2-40B4-BE49-F238E27FC236}">
                <a16:creationId xmlns:a16="http://schemas.microsoft.com/office/drawing/2014/main" id="{48BC3AF5-9E85-55E7-0975-8D7656526E5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G"/>
          </a:p>
        </p:txBody>
      </p:sp>
      <p:sp>
        <p:nvSpPr>
          <p:cNvPr id="4" name="Date Placeholder 3">
            <a:extLst>
              <a:ext uri="{FF2B5EF4-FFF2-40B4-BE49-F238E27FC236}">
                <a16:creationId xmlns:a16="http://schemas.microsoft.com/office/drawing/2014/main" id="{A58AFC35-449C-6A87-F273-B845B3AA6BD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E053CF-A7BA-427D-8CDD-00A0172CFBCC}" type="datetimeFigureOut">
              <a:rPr lang="en-UG" smtClean="0"/>
              <a:t>28/05/2024</a:t>
            </a:fld>
            <a:endParaRPr lang="en-UG"/>
          </a:p>
        </p:txBody>
      </p:sp>
      <p:sp>
        <p:nvSpPr>
          <p:cNvPr id="5" name="Footer Placeholder 4">
            <a:extLst>
              <a:ext uri="{FF2B5EF4-FFF2-40B4-BE49-F238E27FC236}">
                <a16:creationId xmlns:a16="http://schemas.microsoft.com/office/drawing/2014/main" id="{7F27183D-00B7-567A-2228-BE7AA617E32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G"/>
          </a:p>
        </p:txBody>
      </p:sp>
      <p:sp>
        <p:nvSpPr>
          <p:cNvPr id="6" name="Slide Number Placeholder 5">
            <a:extLst>
              <a:ext uri="{FF2B5EF4-FFF2-40B4-BE49-F238E27FC236}">
                <a16:creationId xmlns:a16="http://schemas.microsoft.com/office/drawing/2014/main" id="{17CD4ABC-A134-08AB-59D8-E045999419B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F9F7382-E5B3-47F4-ACF4-1B2926946205}" type="slidenum">
              <a:rPr lang="en-UG" smtClean="0"/>
              <a:t>‹#›</a:t>
            </a:fld>
            <a:endParaRPr lang="en-UG"/>
          </a:p>
        </p:txBody>
      </p:sp>
    </p:spTree>
    <p:extLst>
      <p:ext uri="{BB962C8B-B14F-4D97-AF65-F5344CB8AC3E}">
        <p14:creationId xmlns:p14="http://schemas.microsoft.com/office/powerpoint/2010/main" val="1011802405"/>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G"/>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18CE2-F379-284A-6FBF-09965EC47ABC}"/>
              </a:ext>
            </a:extLst>
          </p:cNvPr>
          <p:cNvSpPr>
            <a:spLocks noGrp="1"/>
          </p:cNvSpPr>
          <p:nvPr>
            <p:ph type="ctrTitle"/>
          </p:nvPr>
        </p:nvSpPr>
        <p:spPr/>
        <p:txBody>
          <a:bodyPr/>
          <a:lstStyle/>
          <a:p>
            <a:r>
              <a:rPr lang="en-US" b="1" dirty="0">
                <a:ln w="10160">
                  <a:solidFill>
                    <a:schemeClr val="accent5"/>
                  </a:solidFill>
                  <a:prstDash val="solid"/>
                </a:ln>
                <a:solidFill>
                  <a:srgbClr val="FFFFFF"/>
                </a:solidFill>
                <a:effectLst>
                  <a:outerShdw blurRad="38100" dist="22860" dir="5400000" algn="tl" rotWithShape="0">
                    <a:srgbClr val="000000">
                      <a:alpha val="30000"/>
                    </a:srgbClr>
                  </a:outerShdw>
                </a:effectLst>
              </a:rPr>
              <a:t>GASEOUS EXCHANGE</a:t>
            </a:r>
            <a:endParaRPr lang="en-UG" dirty="0">
              <a:ln w="10160">
                <a:solidFill>
                  <a:schemeClr val="tx1"/>
                </a:solidFill>
                <a:prstDash val="solid"/>
              </a:ln>
            </a:endParaRPr>
          </a:p>
        </p:txBody>
      </p:sp>
    </p:spTree>
    <p:extLst>
      <p:ext uri="{BB962C8B-B14F-4D97-AF65-F5344CB8AC3E}">
        <p14:creationId xmlns:p14="http://schemas.microsoft.com/office/powerpoint/2010/main" val="745625197"/>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D51BE8A-4E85-DBC9-6CF2-92542277726D}"/>
              </a:ext>
            </a:extLst>
          </p:cNvPr>
          <p:cNvSpPr>
            <a:spLocks noGrp="1"/>
          </p:cNvSpPr>
          <p:nvPr>
            <p:ph idx="1"/>
          </p:nvPr>
        </p:nvSpPr>
        <p:spPr>
          <a:xfrm>
            <a:off x="225287" y="848134"/>
            <a:ext cx="11688417" cy="4823791"/>
          </a:xfrm>
        </p:spPr>
        <p:txBody>
          <a:bodyPr>
            <a:normAutofit lnSpcReduction="10000"/>
          </a:bodyPr>
          <a:lstStyle/>
          <a:p>
            <a:pPr algn="just"/>
            <a:r>
              <a:rPr lang="en-US" sz="3200" dirty="0"/>
              <a:t>Explain why multicellular organisms need specialized systems for gaseous exchange.</a:t>
            </a:r>
          </a:p>
          <a:p>
            <a:pPr algn="just"/>
            <a:r>
              <a:rPr lang="en-US" sz="3200" dirty="0"/>
              <a:t>Identify adaptations of gas exchange </a:t>
            </a:r>
            <a:r>
              <a:rPr lang="en-US" sz="3200" dirty="0" smtClean="0"/>
              <a:t>surfaces/respiratory surfaces.</a:t>
            </a:r>
            <a:endParaRPr lang="en-US" sz="3200" dirty="0"/>
          </a:p>
          <a:p>
            <a:pPr algn="just"/>
            <a:r>
              <a:rPr lang="en-US" sz="3200" dirty="0"/>
              <a:t>Draw and label the structure of the human respiratory system. </a:t>
            </a:r>
          </a:p>
          <a:p>
            <a:pPr algn="just"/>
            <a:r>
              <a:rPr lang="en-US" sz="3200" dirty="0"/>
              <a:t>Explain the mechanism of gaseous exchange in humans.</a:t>
            </a:r>
          </a:p>
          <a:p>
            <a:pPr algn="just"/>
            <a:r>
              <a:rPr lang="en-US" sz="3200" dirty="0"/>
              <a:t>Conduct experiments to analyze inhaled and exhaled air</a:t>
            </a:r>
          </a:p>
          <a:p>
            <a:pPr algn="just"/>
            <a:r>
              <a:rPr lang="en-US" sz="3200" dirty="0"/>
              <a:t>Explain the variation in the percentage composition of gases in inhaled and exhaled air </a:t>
            </a:r>
          </a:p>
          <a:p>
            <a:pPr algn="just"/>
            <a:r>
              <a:rPr lang="en-US" sz="3200" dirty="0"/>
              <a:t>Design an experiment to </a:t>
            </a:r>
            <a:r>
              <a:rPr lang="en-US" sz="3200"/>
              <a:t>demonstrate </a:t>
            </a:r>
            <a:r>
              <a:rPr lang="en-US" sz="3200" smtClean="0"/>
              <a:t>that the </a:t>
            </a:r>
            <a:r>
              <a:rPr lang="en-US" sz="3200" dirty="0"/>
              <a:t>tar in cigarette smoke is so damaging to the gas exchange surfaces in the lungs.</a:t>
            </a:r>
            <a:endParaRPr lang="en-UG" sz="3200" dirty="0"/>
          </a:p>
        </p:txBody>
      </p:sp>
    </p:spTree>
    <p:extLst>
      <p:ext uri="{BB962C8B-B14F-4D97-AF65-F5344CB8AC3E}">
        <p14:creationId xmlns:p14="http://schemas.microsoft.com/office/powerpoint/2010/main" val="8734150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B368465-B371-76D4-EB44-F38C6DEB4F24}"/>
              </a:ext>
            </a:extLst>
          </p:cNvPr>
          <p:cNvSpPr>
            <a:spLocks noGrp="1"/>
          </p:cNvSpPr>
          <p:nvPr>
            <p:ph idx="1"/>
          </p:nvPr>
        </p:nvSpPr>
        <p:spPr/>
        <p:txBody>
          <a:bodyPr>
            <a:normAutofit/>
          </a:bodyPr>
          <a:lstStyle/>
          <a:p>
            <a:pPr algn="just"/>
            <a:r>
              <a:rPr lang="en-US" sz="3200" dirty="0"/>
              <a:t>The dangers of smoking and air pollution to gas exchange surfaces in the lungs</a:t>
            </a:r>
          </a:p>
          <a:p>
            <a:pPr algn="just"/>
            <a:r>
              <a:rPr lang="en-US" sz="3200" dirty="0"/>
              <a:t>causes, symptoms and treatment of diseases (bronchitis, emphysema, lung cancer, throat cancer, and chronic cough) associated with respiratory organs in humans</a:t>
            </a:r>
            <a:endParaRPr lang="en-UG" sz="3200" dirty="0"/>
          </a:p>
        </p:txBody>
      </p:sp>
    </p:spTree>
    <p:extLst>
      <p:ext uri="{BB962C8B-B14F-4D97-AF65-F5344CB8AC3E}">
        <p14:creationId xmlns:p14="http://schemas.microsoft.com/office/powerpoint/2010/main" val="31317781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94195A6-40AD-D675-ECFD-3D318A32C863}"/>
              </a:ext>
            </a:extLst>
          </p:cNvPr>
          <p:cNvSpPr>
            <a:spLocks noGrp="1"/>
          </p:cNvSpPr>
          <p:nvPr>
            <p:ph idx="1"/>
          </p:nvPr>
        </p:nvSpPr>
        <p:spPr>
          <a:xfrm>
            <a:off x="838200" y="1295539"/>
            <a:ext cx="10515600" cy="4351338"/>
          </a:xfrm>
        </p:spPr>
        <p:txBody>
          <a:bodyPr>
            <a:normAutofit lnSpcReduction="10000"/>
          </a:bodyPr>
          <a:lstStyle/>
          <a:p>
            <a:pPr marL="0" indent="0" algn="just">
              <a:buNone/>
            </a:pPr>
            <a:r>
              <a:rPr lang="en-US" sz="3200" b="1" u="sng" dirty="0">
                <a:effectLst>
                  <a:outerShdw blurRad="38100" dist="38100" dir="2700000" algn="tl">
                    <a:srgbClr val="000000">
                      <a:alpha val="43137"/>
                    </a:srgbClr>
                  </a:outerShdw>
                </a:effectLst>
              </a:rPr>
              <a:t>Definition</a:t>
            </a:r>
          </a:p>
          <a:p>
            <a:pPr algn="just"/>
            <a:r>
              <a:rPr lang="en-US" sz="3200" dirty="0"/>
              <a:t>This is the process by which respiratory gases (oxygen and carbon dioxide) move between the external medium (environment) and body cells across a respiratory surface membrane.</a:t>
            </a:r>
          </a:p>
          <a:p>
            <a:pPr marL="0" indent="0" algn="just">
              <a:buNone/>
            </a:pPr>
            <a:r>
              <a:rPr lang="en-US" sz="3200" dirty="0"/>
              <a:t>Or:</a:t>
            </a:r>
          </a:p>
          <a:p>
            <a:pPr algn="just"/>
            <a:r>
              <a:rPr lang="en-US" sz="3200" dirty="0"/>
              <a:t>It is the process by which respiratory gases, oxygen and carbon dioxide, diffuse to and from body cells across the respiratory surface.</a:t>
            </a:r>
          </a:p>
          <a:p>
            <a:pPr algn="just"/>
            <a:endParaRPr lang="en-UG" sz="3200" dirty="0"/>
          </a:p>
        </p:txBody>
      </p:sp>
    </p:spTree>
    <p:extLst>
      <p:ext uri="{BB962C8B-B14F-4D97-AF65-F5344CB8AC3E}">
        <p14:creationId xmlns:p14="http://schemas.microsoft.com/office/powerpoint/2010/main" val="21537847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186A707-D9BD-97C6-7591-A106EA789A05}"/>
              </a:ext>
            </a:extLst>
          </p:cNvPr>
          <p:cNvSpPr>
            <a:spLocks noGrp="1"/>
          </p:cNvSpPr>
          <p:nvPr>
            <p:ph idx="1"/>
          </p:nvPr>
        </p:nvSpPr>
        <p:spPr>
          <a:xfrm>
            <a:off x="202455" y="422031"/>
            <a:ext cx="11595651" cy="6105377"/>
          </a:xfrm>
        </p:spPr>
        <p:txBody>
          <a:bodyPr>
            <a:noAutofit/>
          </a:bodyPr>
          <a:lstStyle/>
          <a:p>
            <a:pPr algn="just"/>
            <a:r>
              <a:rPr lang="en-US" sz="3600" dirty="0"/>
              <a:t>Gaseous exchange occurs by the process of </a:t>
            </a:r>
            <a:r>
              <a:rPr lang="en-US" sz="3600" b="1" u="sng" dirty="0">
                <a:effectLst>
                  <a:outerShdw blurRad="38100" dist="38100" dir="2700000" algn="tl">
                    <a:srgbClr val="000000">
                      <a:alpha val="43137"/>
                    </a:srgbClr>
                  </a:outerShdw>
                </a:effectLst>
              </a:rPr>
              <a:t>diffusion</a:t>
            </a:r>
            <a:r>
              <a:rPr lang="en-US" sz="3600" dirty="0"/>
              <a:t> across the respiratory surface. </a:t>
            </a:r>
          </a:p>
          <a:p>
            <a:pPr algn="just"/>
            <a:r>
              <a:rPr lang="en-US" sz="3600" dirty="0"/>
              <a:t>This is because there is a steep concentration gradient of the respiratory gases between the body cells and the respiratory medium.</a:t>
            </a:r>
          </a:p>
          <a:p>
            <a:pPr algn="just"/>
            <a:r>
              <a:rPr lang="en-US" sz="3600" b="1" u="sng" dirty="0"/>
              <a:t>A respiratory surface/ gaseous exchange surface</a:t>
            </a:r>
            <a:r>
              <a:rPr lang="en-US" sz="3600" dirty="0"/>
              <a:t> is the site/part of the body where gaseous exchange takes place.</a:t>
            </a:r>
          </a:p>
          <a:p>
            <a:pPr algn="just"/>
            <a:r>
              <a:rPr lang="en-US" sz="3600" b="1" u="sng" dirty="0"/>
              <a:t>A respiratory medium</a:t>
            </a:r>
            <a:r>
              <a:rPr lang="en-US" sz="3600" dirty="0"/>
              <a:t> is the environment/surrounding from which oxygen is obtained and carbon dioxide released during gaseous exchange.</a:t>
            </a:r>
          </a:p>
          <a:p>
            <a:pPr algn="just"/>
            <a:r>
              <a:rPr lang="en-US" sz="3600" dirty="0"/>
              <a:t>The respiratory media are air and water.  </a:t>
            </a:r>
            <a:endParaRPr lang="en-UG" sz="3600" dirty="0"/>
          </a:p>
        </p:txBody>
      </p:sp>
    </p:spTree>
    <p:extLst>
      <p:ext uri="{BB962C8B-B14F-4D97-AF65-F5344CB8AC3E}">
        <p14:creationId xmlns:p14="http://schemas.microsoft.com/office/powerpoint/2010/main" val="15786528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29BD1-C084-5CFB-A66D-6A839BF60F5B}"/>
              </a:ext>
            </a:extLst>
          </p:cNvPr>
          <p:cNvSpPr>
            <a:spLocks noGrp="1"/>
          </p:cNvSpPr>
          <p:nvPr>
            <p:ph type="title"/>
          </p:nvPr>
        </p:nvSpPr>
        <p:spPr>
          <a:xfrm>
            <a:off x="838200" y="-150561"/>
            <a:ext cx="10515600" cy="825807"/>
          </a:xfrm>
        </p:spPr>
        <p:txBody>
          <a:bodyPr/>
          <a:lstStyle/>
          <a:p>
            <a:r>
              <a:rPr lang="en-US" dirty="0"/>
              <a:t>Activity: Complete the table below</a:t>
            </a:r>
            <a:endParaRPr lang="en-UG" dirty="0"/>
          </a:p>
        </p:txBody>
      </p:sp>
      <p:graphicFrame>
        <p:nvGraphicFramePr>
          <p:cNvPr id="4" name="Content Placeholder 3">
            <a:extLst>
              <a:ext uri="{FF2B5EF4-FFF2-40B4-BE49-F238E27FC236}">
                <a16:creationId xmlns:a16="http://schemas.microsoft.com/office/drawing/2014/main" id="{88F8CB49-D3DD-EC11-5843-AC6ED7E020E2}"/>
              </a:ext>
            </a:extLst>
          </p:cNvPr>
          <p:cNvGraphicFramePr>
            <a:graphicFrameLocks noGrp="1"/>
          </p:cNvGraphicFramePr>
          <p:nvPr>
            <p:ph idx="1"/>
            <p:extLst>
              <p:ext uri="{D42A27DB-BD31-4B8C-83A1-F6EECF244321}">
                <p14:modId xmlns:p14="http://schemas.microsoft.com/office/powerpoint/2010/main" val="193187877"/>
              </p:ext>
            </p:extLst>
          </p:nvPr>
        </p:nvGraphicFramePr>
        <p:xfrm>
          <a:off x="154744" y="443518"/>
          <a:ext cx="11915336" cy="6485008"/>
        </p:xfrm>
        <a:graphic>
          <a:graphicData uri="http://schemas.openxmlformats.org/drawingml/2006/table">
            <a:tbl>
              <a:tblPr firstRow="1" bandRow="1">
                <a:tableStyleId>{5C22544A-7EE6-4342-B048-85BDC9FD1C3A}</a:tableStyleId>
              </a:tblPr>
              <a:tblGrid>
                <a:gridCol w="5120641">
                  <a:extLst>
                    <a:ext uri="{9D8B030D-6E8A-4147-A177-3AD203B41FA5}">
                      <a16:colId xmlns:a16="http://schemas.microsoft.com/office/drawing/2014/main" val="3151243060"/>
                    </a:ext>
                  </a:extLst>
                </a:gridCol>
                <a:gridCol w="2349304">
                  <a:extLst>
                    <a:ext uri="{9D8B030D-6E8A-4147-A177-3AD203B41FA5}">
                      <a16:colId xmlns:a16="http://schemas.microsoft.com/office/drawing/2014/main" val="673917879"/>
                    </a:ext>
                  </a:extLst>
                </a:gridCol>
                <a:gridCol w="2222696">
                  <a:extLst>
                    <a:ext uri="{9D8B030D-6E8A-4147-A177-3AD203B41FA5}">
                      <a16:colId xmlns:a16="http://schemas.microsoft.com/office/drawing/2014/main" val="1986928726"/>
                    </a:ext>
                  </a:extLst>
                </a:gridCol>
                <a:gridCol w="2222695">
                  <a:extLst>
                    <a:ext uri="{9D8B030D-6E8A-4147-A177-3AD203B41FA5}">
                      <a16:colId xmlns:a16="http://schemas.microsoft.com/office/drawing/2014/main" val="2739832256"/>
                    </a:ext>
                  </a:extLst>
                </a:gridCol>
              </a:tblGrid>
              <a:tr h="0">
                <a:tc>
                  <a:txBody>
                    <a:bodyPr/>
                    <a:lstStyle/>
                    <a:p>
                      <a:r>
                        <a:rPr lang="en-US" sz="3200" dirty="0"/>
                        <a:t>Organism </a:t>
                      </a:r>
                      <a:endParaRPr lang="en-UG" sz="3200" dirty="0"/>
                    </a:p>
                  </a:txBody>
                  <a:tcPr/>
                </a:tc>
                <a:tc>
                  <a:txBody>
                    <a:bodyPr/>
                    <a:lstStyle/>
                    <a:p>
                      <a:r>
                        <a:rPr lang="en-US" sz="3200" dirty="0"/>
                        <a:t>Respiratory medium</a:t>
                      </a:r>
                      <a:endParaRPr lang="en-UG" sz="3200" dirty="0"/>
                    </a:p>
                  </a:txBody>
                  <a:tcPr/>
                </a:tc>
                <a:tc>
                  <a:txBody>
                    <a:bodyPr/>
                    <a:lstStyle/>
                    <a:p>
                      <a:r>
                        <a:rPr lang="en-US" sz="3200" dirty="0"/>
                        <a:t>Respiratory organ</a:t>
                      </a:r>
                      <a:endParaRPr lang="en-UG" sz="3200" dirty="0"/>
                    </a:p>
                  </a:txBody>
                  <a:tcPr/>
                </a:tc>
                <a:tc>
                  <a:txBody>
                    <a:bodyPr/>
                    <a:lstStyle/>
                    <a:p>
                      <a:r>
                        <a:rPr lang="en-US" sz="3200" dirty="0"/>
                        <a:t>Respiratory surface</a:t>
                      </a:r>
                      <a:endParaRPr lang="en-UG" sz="3200" dirty="0"/>
                    </a:p>
                  </a:txBody>
                  <a:tcPr/>
                </a:tc>
                <a:extLst>
                  <a:ext uri="{0D108BD9-81ED-4DB2-BD59-A6C34878D82A}">
                    <a16:rowId xmlns:a16="http://schemas.microsoft.com/office/drawing/2014/main" val="731298998"/>
                  </a:ext>
                </a:extLst>
              </a:tr>
              <a:tr h="677276">
                <a:tc>
                  <a:txBody>
                    <a:bodyPr/>
                    <a:lstStyle/>
                    <a:p>
                      <a:r>
                        <a:rPr lang="en-US" sz="3200" dirty="0"/>
                        <a:t>Amoeba </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a:p>
                  </a:txBody>
                  <a:tcPr/>
                </a:tc>
                <a:extLst>
                  <a:ext uri="{0D108BD9-81ED-4DB2-BD59-A6C34878D82A}">
                    <a16:rowId xmlns:a16="http://schemas.microsoft.com/office/drawing/2014/main" val="1486060699"/>
                  </a:ext>
                </a:extLst>
              </a:tr>
              <a:tr h="677276">
                <a:tc>
                  <a:txBody>
                    <a:bodyPr/>
                    <a:lstStyle/>
                    <a:p>
                      <a:r>
                        <a:rPr lang="en-US" sz="3200" dirty="0"/>
                        <a:t>Earth worm </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dirty="0"/>
                    </a:p>
                  </a:txBody>
                  <a:tcPr/>
                </a:tc>
                <a:extLst>
                  <a:ext uri="{0D108BD9-81ED-4DB2-BD59-A6C34878D82A}">
                    <a16:rowId xmlns:a16="http://schemas.microsoft.com/office/drawing/2014/main" val="602671075"/>
                  </a:ext>
                </a:extLst>
              </a:tr>
              <a:tr h="677276">
                <a:tc>
                  <a:txBody>
                    <a:bodyPr/>
                    <a:lstStyle/>
                    <a:p>
                      <a:r>
                        <a:rPr lang="en-US" sz="3200" dirty="0"/>
                        <a:t>Insect </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a:p>
                  </a:txBody>
                  <a:tcPr/>
                </a:tc>
                <a:extLst>
                  <a:ext uri="{0D108BD9-81ED-4DB2-BD59-A6C34878D82A}">
                    <a16:rowId xmlns:a16="http://schemas.microsoft.com/office/drawing/2014/main" val="3641481571"/>
                  </a:ext>
                </a:extLst>
              </a:tr>
              <a:tr h="677276">
                <a:tc>
                  <a:txBody>
                    <a:bodyPr/>
                    <a:lstStyle/>
                    <a:p>
                      <a:r>
                        <a:rPr lang="en-US" sz="3200" dirty="0"/>
                        <a:t>Fish </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dirty="0"/>
                    </a:p>
                  </a:txBody>
                  <a:tcPr/>
                </a:tc>
                <a:extLst>
                  <a:ext uri="{0D108BD9-81ED-4DB2-BD59-A6C34878D82A}">
                    <a16:rowId xmlns:a16="http://schemas.microsoft.com/office/drawing/2014/main" val="1186974776"/>
                  </a:ext>
                </a:extLst>
              </a:tr>
              <a:tr h="677276">
                <a:tc>
                  <a:txBody>
                    <a:bodyPr/>
                    <a:lstStyle/>
                    <a:p>
                      <a:r>
                        <a:rPr lang="en-US" sz="3200" dirty="0"/>
                        <a:t>Tadpole  </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a:p>
                  </a:txBody>
                  <a:tcPr/>
                </a:tc>
                <a:extLst>
                  <a:ext uri="{0D108BD9-81ED-4DB2-BD59-A6C34878D82A}">
                    <a16:rowId xmlns:a16="http://schemas.microsoft.com/office/drawing/2014/main" val="683774236"/>
                  </a:ext>
                </a:extLst>
              </a:tr>
              <a:tr h="677276">
                <a:tc>
                  <a:txBody>
                    <a:bodyPr/>
                    <a:lstStyle/>
                    <a:p>
                      <a:r>
                        <a:rPr lang="en-US" sz="3200" dirty="0"/>
                        <a:t>Amphibians </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a:p>
                  </a:txBody>
                  <a:tcPr/>
                </a:tc>
                <a:extLst>
                  <a:ext uri="{0D108BD9-81ED-4DB2-BD59-A6C34878D82A}">
                    <a16:rowId xmlns:a16="http://schemas.microsoft.com/office/drawing/2014/main" val="205873446"/>
                  </a:ext>
                </a:extLst>
              </a:tr>
              <a:tr h="677276">
                <a:tc>
                  <a:txBody>
                    <a:bodyPr/>
                    <a:lstStyle/>
                    <a:p>
                      <a:r>
                        <a:rPr lang="en-US" sz="3200" dirty="0"/>
                        <a:t>Plants </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a:p>
                  </a:txBody>
                  <a:tcPr/>
                </a:tc>
                <a:extLst>
                  <a:ext uri="{0D108BD9-81ED-4DB2-BD59-A6C34878D82A}">
                    <a16:rowId xmlns:a16="http://schemas.microsoft.com/office/drawing/2014/main" val="2504984299"/>
                  </a:ext>
                </a:extLst>
              </a:tr>
              <a:tr h="677276">
                <a:tc>
                  <a:txBody>
                    <a:bodyPr/>
                    <a:lstStyle/>
                    <a:p>
                      <a:r>
                        <a:rPr lang="en-US" sz="3200" dirty="0"/>
                        <a:t>Mammals, reptiles and birds</a:t>
                      </a:r>
                      <a:endParaRPr lang="en-UG" sz="3200" dirty="0"/>
                    </a:p>
                  </a:txBody>
                  <a:tcPr/>
                </a:tc>
                <a:tc>
                  <a:txBody>
                    <a:bodyPr/>
                    <a:lstStyle/>
                    <a:p>
                      <a:endParaRPr lang="en-UG" sz="3200"/>
                    </a:p>
                  </a:txBody>
                  <a:tcPr/>
                </a:tc>
                <a:tc>
                  <a:txBody>
                    <a:bodyPr/>
                    <a:lstStyle/>
                    <a:p>
                      <a:endParaRPr lang="en-UG" sz="3200"/>
                    </a:p>
                  </a:txBody>
                  <a:tcPr/>
                </a:tc>
                <a:tc>
                  <a:txBody>
                    <a:bodyPr/>
                    <a:lstStyle/>
                    <a:p>
                      <a:endParaRPr lang="en-UG" sz="3200" dirty="0"/>
                    </a:p>
                  </a:txBody>
                  <a:tcPr/>
                </a:tc>
                <a:extLst>
                  <a:ext uri="{0D108BD9-81ED-4DB2-BD59-A6C34878D82A}">
                    <a16:rowId xmlns:a16="http://schemas.microsoft.com/office/drawing/2014/main" val="4074830013"/>
                  </a:ext>
                </a:extLst>
              </a:tr>
            </a:tbl>
          </a:graphicData>
        </a:graphic>
      </p:graphicFrame>
    </p:spTree>
    <p:extLst>
      <p:ext uri="{BB962C8B-B14F-4D97-AF65-F5344CB8AC3E}">
        <p14:creationId xmlns:p14="http://schemas.microsoft.com/office/powerpoint/2010/main" val="20412939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0367D-D03B-6F64-2624-5B8FC0366C07}"/>
              </a:ext>
            </a:extLst>
          </p:cNvPr>
          <p:cNvSpPr>
            <a:spLocks noGrp="1"/>
          </p:cNvSpPr>
          <p:nvPr>
            <p:ph type="title"/>
          </p:nvPr>
        </p:nvSpPr>
        <p:spPr/>
        <p:txBody>
          <a:bodyPr/>
          <a:lstStyle/>
          <a:p>
            <a:endParaRPr lang="en-UG"/>
          </a:p>
        </p:txBody>
      </p:sp>
      <p:graphicFrame>
        <p:nvGraphicFramePr>
          <p:cNvPr id="7" name="Content Placeholder 6">
            <a:extLst>
              <a:ext uri="{FF2B5EF4-FFF2-40B4-BE49-F238E27FC236}">
                <a16:creationId xmlns:a16="http://schemas.microsoft.com/office/drawing/2014/main" id="{BC68A7F3-6BD8-51FE-70D9-AB4D088B81D0}"/>
              </a:ext>
            </a:extLst>
          </p:cNvPr>
          <p:cNvGraphicFramePr>
            <a:graphicFrameLocks noGrp="1"/>
          </p:cNvGraphicFramePr>
          <p:nvPr>
            <p:ph idx="1"/>
            <p:extLst>
              <p:ext uri="{D42A27DB-BD31-4B8C-83A1-F6EECF244321}">
                <p14:modId xmlns:p14="http://schemas.microsoft.com/office/powerpoint/2010/main" val="2078163839"/>
              </p:ext>
            </p:extLst>
          </p:nvPr>
        </p:nvGraphicFramePr>
        <p:xfrm>
          <a:off x="381484" y="164121"/>
          <a:ext cx="11308768" cy="6680390"/>
        </p:xfrm>
        <a:graphic>
          <a:graphicData uri="http://schemas.openxmlformats.org/drawingml/2006/table">
            <a:tbl>
              <a:tblPr firstRow="1" firstCol="1" bandRow="1">
                <a:tableStyleId>{5C22544A-7EE6-4342-B048-85BDC9FD1C3A}</a:tableStyleId>
              </a:tblPr>
              <a:tblGrid>
                <a:gridCol w="2827192">
                  <a:extLst>
                    <a:ext uri="{9D8B030D-6E8A-4147-A177-3AD203B41FA5}">
                      <a16:colId xmlns:a16="http://schemas.microsoft.com/office/drawing/2014/main" val="831078875"/>
                    </a:ext>
                  </a:extLst>
                </a:gridCol>
                <a:gridCol w="2827192">
                  <a:extLst>
                    <a:ext uri="{9D8B030D-6E8A-4147-A177-3AD203B41FA5}">
                      <a16:colId xmlns:a16="http://schemas.microsoft.com/office/drawing/2014/main" val="871764906"/>
                    </a:ext>
                  </a:extLst>
                </a:gridCol>
                <a:gridCol w="2827192">
                  <a:extLst>
                    <a:ext uri="{9D8B030D-6E8A-4147-A177-3AD203B41FA5}">
                      <a16:colId xmlns:a16="http://schemas.microsoft.com/office/drawing/2014/main" val="2324382134"/>
                    </a:ext>
                  </a:extLst>
                </a:gridCol>
                <a:gridCol w="2827192">
                  <a:extLst>
                    <a:ext uri="{9D8B030D-6E8A-4147-A177-3AD203B41FA5}">
                      <a16:colId xmlns:a16="http://schemas.microsoft.com/office/drawing/2014/main" val="35141983"/>
                    </a:ext>
                  </a:extLst>
                </a:gridCol>
              </a:tblGrid>
              <a:tr h="802769">
                <a:tc>
                  <a:txBody>
                    <a:bodyPr/>
                    <a:lstStyle/>
                    <a:p>
                      <a:pPr>
                        <a:lnSpc>
                          <a:spcPct val="200000"/>
                        </a:lnSpc>
                        <a:spcAft>
                          <a:spcPts val="1000"/>
                        </a:spcAft>
                      </a:pPr>
                      <a:r>
                        <a:rPr lang="en-US" sz="1400" dirty="0">
                          <a:effectLst/>
                        </a:rPr>
                        <a:t>Type of organism</a:t>
                      </a:r>
                      <a:endParaRPr lang="en-UG"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dirty="0">
                          <a:effectLst/>
                        </a:rPr>
                        <a:t>Respiratory medium</a:t>
                      </a:r>
                      <a:endParaRPr lang="en-UG"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Respiratory organ</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Respiratory surface</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2735949248"/>
                  </a:ext>
                </a:extLst>
              </a:tr>
              <a:tr h="371166">
                <a:tc>
                  <a:txBody>
                    <a:bodyPr/>
                    <a:lstStyle/>
                    <a:p>
                      <a:pPr>
                        <a:lnSpc>
                          <a:spcPct val="200000"/>
                        </a:lnSpc>
                        <a:spcAft>
                          <a:spcPts val="1000"/>
                        </a:spcAft>
                      </a:pPr>
                      <a:r>
                        <a:rPr lang="en-US" sz="1400">
                          <a:effectLst/>
                        </a:rPr>
                        <a:t>Amoeba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Water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none</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Cell membrane</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2421541742"/>
                  </a:ext>
                </a:extLst>
              </a:tr>
              <a:tr h="371166">
                <a:tc>
                  <a:txBody>
                    <a:bodyPr/>
                    <a:lstStyle/>
                    <a:p>
                      <a:pPr>
                        <a:lnSpc>
                          <a:spcPct val="200000"/>
                        </a:lnSpc>
                        <a:spcAft>
                          <a:spcPts val="1000"/>
                        </a:spcAft>
                      </a:pPr>
                      <a:r>
                        <a:rPr lang="en-US" sz="1400">
                          <a:effectLst/>
                        </a:rPr>
                        <a:t>Insects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Air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dirty="0">
                          <a:effectLst/>
                        </a:rPr>
                        <a:t>Tracheal system </a:t>
                      </a:r>
                      <a:endParaRPr lang="en-UG"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dirty="0">
                          <a:effectLst/>
                        </a:rPr>
                        <a:t>Tracheoles</a:t>
                      </a:r>
                      <a:endParaRPr lang="en-UG"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3511221554"/>
                  </a:ext>
                </a:extLst>
              </a:tr>
              <a:tr h="371166">
                <a:tc>
                  <a:txBody>
                    <a:bodyPr/>
                    <a:lstStyle/>
                    <a:p>
                      <a:pPr>
                        <a:lnSpc>
                          <a:spcPct val="200000"/>
                        </a:lnSpc>
                        <a:spcAft>
                          <a:spcPts val="1000"/>
                        </a:spcAft>
                      </a:pPr>
                      <a:r>
                        <a:rPr lang="en-US" sz="1400">
                          <a:effectLst/>
                        </a:rPr>
                        <a:t>Earth worm</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Air/water</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skin</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Skin surface</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3457193246"/>
                  </a:ext>
                </a:extLst>
              </a:tr>
              <a:tr h="371166">
                <a:tc>
                  <a:txBody>
                    <a:bodyPr/>
                    <a:lstStyle/>
                    <a:p>
                      <a:pPr>
                        <a:lnSpc>
                          <a:spcPct val="200000"/>
                        </a:lnSpc>
                        <a:spcAft>
                          <a:spcPts val="1000"/>
                        </a:spcAft>
                      </a:pPr>
                      <a:r>
                        <a:rPr lang="en-US" sz="1400">
                          <a:effectLst/>
                        </a:rPr>
                        <a:t>Fish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Water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Gill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Gill filaments</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3918173747"/>
                  </a:ext>
                </a:extLst>
              </a:tr>
              <a:tr h="371166">
                <a:tc rowSpan="3">
                  <a:txBody>
                    <a:bodyPr/>
                    <a:lstStyle/>
                    <a:p>
                      <a:pPr>
                        <a:lnSpc>
                          <a:spcPct val="200000"/>
                        </a:lnSpc>
                        <a:spcAft>
                          <a:spcPts val="1000"/>
                        </a:spcAft>
                      </a:pPr>
                      <a:r>
                        <a:rPr lang="en-US" sz="1400">
                          <a:effectLst/>
                        </a:rPr>
                        <a:t>Amphibians (frog and toad)</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rowSpan="3">
                  <a:txBody>
                    <a:bodyPr/>
                    <a:lstStyle/>
                    <a:p>
                      <a:pPr>
                        <a:lnSpc>
                          <a:spcPct val="200000"/>
                        </a:lnSpc>
                        <a:spcAft>
                          <a:spcPts val="1000"/>
                        </a:spcAft>
                      </a:pPr>
                      <a:r>
                        <a:rPr lang="en-US" sz="1400">
                          <a:effectLst/>
                        </a:rPr>
                        <a:t>Air and water</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Skin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Moist skin surface</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9441818"/>
                  </a:ext>
                </a:extLst>
              </a:tr>
              <a:tr h="371166">
                <a:tc vMerge="1">
                  <a:txBody>
                    <a:bodyPr/>
                    <a:lstStyle/>
                    <a:p>
                      <a:endParaRPr lang="en-UG"/>
                    </a:p>
                  </a:txBody>
                  <a:tcPr/>
                </a:tc>
                <a:tc vMerge="1">
                  <a:txBody>
                    <a:bodyPr/>
                    <a:lstStyle/>
                    <a:p>
                      <a:endParaRPr lang="en-UG"/>
                    </a:p>
                  </a:txBody>
                  <a:tcPr/>
                </a:tc>
                <a:tc>
                  <a:txBody>
                    <a:bodyPr/>
                    <a:lstStyle/>
                    <a:p>
                      <a:pPr>
                        <a:lnSpc>
                          <a:spcPct val="200000"/>
                        </a:lnSpc>
                        <a:spcAft>
                          <a:spcPts val="1000"/>
                        </a:spcAft>
                      </a:pPr>
                      <a:r>
                        <a:rPr lang="en-US" sz="1400">
                          <a:effectLst/>
                        </a:rPr>
                        <a:t>Lungs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Alveoli</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3483195211"/>
                  </a:ext>
                </a:extLst>
              </a:tr>
              <a:tr h="802769">
                <a:tc vMerge="1">
                  <a:txBody>
                    <a:bodyPr/>
                    <a:lstStyle/>
                    <a:p>
                      <a:endParaRPr lang="en-UG"/>
                    </a:p>
                  </a:txBody>
                  <a:tcPr/>
                </a:tc>
                <a:tc vMerge="1">
                  <a:txBody>
                    <a:bodyPr/>
                    <a:lstStyle/>
                    <a:p>
                      <a:endParaRPr lang="en-UG"/>
                    </a:p>
                  </a:txBody>
                  <a:tcPr/>
                </a:tc>
                <a:tc>
                  <a:txBody>
                    <a:bodyPr/>
                    <a:lstStyle/>
                    <a:p>
                      <a:pPr>
                        <a:lnSpc>
                          <a:spcPct val="200000"/>
                        </a:lnSpc>
                        <a:spcAft>
                          <a:spcPts val="1000"/>
                        </a:spcAft>
                      </a:pPr>
                      <a:r>
                        <a:rPr lang="en-US" sz="1400">
                          <a:effectLst/>
                        </a:rPr>
                        <a:t>Mouth/buccal cavity</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Lining of mouth cavity</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3447621990"/>
                  </a:ext>
                </a:extLst>
              </a:tr>
              <a:tr h="371166">
                <a:tc>
                  <a:txBody>
                    <a:bodyPr/>
                    <a:lstStyle/>
                    <a:p>
                      <a:pPr>
                        <a:lnSpc>
                          <a:spcPct val="200000"/>
                        </a:lnSpc>
                        <a:spcAft>
                          <a:spcPts val="1000"/>
                        </a:spcAft>
                      </a:pPr>
                      <a:r>
                        <a:rPr lang="en-US" sz="1400">
                          <a:effectLst/>
                        </a:rPr>
                        <a:t>Tadpole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Water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External gills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Gill filaments</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2352948606"/>
                  </a:ext>
                </a:extLst>
              </a:tr>
              <a:tr h="371166">
                <a:tc>
                  <a:txBody>
                    <a:bodyPr/>
                    <a:lstStyle/>
                    <a:p>
                      <a:pPr>
                        <a:lnSpc>
                          <a:spcPct val="200000"/>
                        </a:lnSpc>
                        <a:spcAft>
                          <a:spcPts val="1000"/>
                        </a:spcAft>
                      </a:pPr>
                      <a:r>
                        <a:rPr lang="en-US" sz="1400">
                          <a:effectLst/>
                        </a:rPr>
                        <a:t>Mammals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Air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Lungs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Alveoli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4246643896"/>
                  </a:ext>
                </a:extLst>
              </a:tr>
              <a:tr h="371166">
                <a:tc>
                  <a:txBody>
                    <a:bodyPr/>
                    <a:lstStyle/>
                    <a:p>
                      <a:pPr>
                        <a:lnSpc>
                          <a:spcPct val="200000"/>
                        </a:lnSpc>
                        <a:spcAft>
                          <a:spcPts val="1000"/>
                        </a:spcAft>
                      </a:pPr>
                      <a:r>
                        <a:rPr lang="en-US" sz="1400">
                          <a:effectLst/>
                        </a:rPr>
                        <a:t>Birds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Air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Lungs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Alveoli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4018516135"/>
                  </a:ext>
                </a:extLst>
              </a:tr>
              <a:tr h="1234372">
                <a:tc>
                  <a:txBody>
                    <a:bodyPr/>
                    <a:lstStyle/>
                    <a:p>
                      <a:pPr>
                        <a:lnSpc>
                          <a:spcPct val="200000"/>
                        </a:lnSpc>
                        <a:spcAft>
                          <a:spcPts val="1000"/>
                        </a:spcAft>
                      </a:pPr>
                      <a:r>
                        <a:rPr lang="en-US" sz="1400">
                          <a:effectLst/>
                        </a:rPr>
                        <a:t>Plants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a:effectLst/>
                        </a:rPr>
                        <a:t>Air </a:t>
                      </a:r>
                      <a:endParaRPr lang="en-UG" sz="140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dirty="0">
                          <a:effectLst/>
                        </a:rPr>
                        <a:t>Leaves, stems and roots </a:t>
                      </a:r>
                      <a:endParaRPr lang="en-UG"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tc>
                  <a:txBody>
                    <a:bodyPr/>
                    <a:lstStyle/>
                    <a:p>
                      <a:pPr>
                        <a:lnSpc>
                          <a:spcPct val="200000"/>
                        </a:lnSpc>
                        <a:spcAft>
                          <a:spcPts val="1000"/>
                        </a:spcAft>
                      </a:pPr>
                      <a:r>
                        <a:rPr lang="en-US" sz="1400" dirty="0">
                          <a:effectLst/>
                        </a:rPr>
                        <a:t>Cell membranes of Spongy cell, cortex cell and root hair cells</a:t>
                      </a:r>
                      <a:endParaRPr lang="en-UG"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6387" marR="66387" marT="0" marB="0"/>
                </a:tc>
                <a:extLst>
                  <a:ext uri="{0D108BD9-81ED-4DB2-BD59-A6C34878D82A}">
                    <a16:rowId xmlns:a16="http://schemas.microsoft.com/office/drawing/2014/main" val="4049811411"/>
                  </a:ext>
                </a:extLst>
              </a:tr>
            </a:tbl>
          </a:graphicData>
        </a:graphic>
      </p:graphicFrame>
    </p:spTree>
    <p:extLst>
      <p:ext uri="{BB962C8B-B14F-4D97-AF65-F5344CB8AC3E}">
        <p14:creationId xmlns:p14="http://schemas.microsoft.com/office/powerpoint/2010/main" val="7631582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103E23-5DDD-030C-7169-11A8F95CBB44}"/>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Importance/necessity for gaseous exchange</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2E9712A3-A30B-EEA3-F0A2-29EA8F77C651}"/>
              </a:ext>
            </a:extLst>
          </p:cNvPr>
          <p:cNvSpPr>
            <a:spLocks noGrp="1"/>
          </p:cNvSpPr>
          <p:nvPr>
            <p:ph idx="1"/>
          </p:nvPr>
        </p:nvSpPr>
        <p:spPr>
          <a:xfrm>
            <a:off x="838200" y="2249693"/>
            <a:ext cx="10515600" cy="2375314"/>
          </a:xfrm>
        </p:spPr>
        <p:txBody>
          <a:bodyPr>
            <a:noAutofit/>
          </a:bodyPr>
          <a:lstStyle/>
          <a:p>
            <a:pPr algn="just"/>
            <a:r>
              <a:rPr lang="en-US" sz="3600" dirty="0"/>
              <a:t>Provision of cells with oxygen for respiration</a:t>
            </a:r>
          </a:p>
          <a:p>
            <a:pPr algn="just"/>
            <a:r>
              <a:rPr lang="en-US" sz="3600" dirty="0"/>
              <a:t>Removal of carbon dioxide from body cells to prevent accumulation to toxic levels.</a:t>
            </a:r>
          </a:p>
          <a:p>
            <a:pPr algn="just"/>
            <a:r>
              <a:rPr lang="en-US" sz="3600" dirty="0"/>
              <a:t>Provision of plants with carbon dioxide for photosynthesis.</a:t>
            </a:r>
          </a:p>
          <a:p>
            <a:pPr algn="just"/>
            <a:endParaRPr lang="en-UG" sz="3600" dirty="0"/>
          </a:p>
        </p:txBody>
      </p:sp>
    </p:spTree>
    <p:extLst>
      <p:ext uri="{BB962C8B-B14F-4D97-AF65-F5344CB8AC3E}">
        <p14:creationId xmlns:p14="http://schemas.microsoft.com/office/powerpoint/2010/main" val="1234466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5A2753-A57B-B381-6871-1E5F5A1F4FC7}"/>
              </a:ext>
            </a:extLst>
          </p:cNvPr>
          <p:cNvSpPr>
            <a:spLocks noGrp="1"/>
          </p:cNvSpPr>
          <p:nvPr>
            <p:ph type="title"/>
          </p:nvPr>
        </p:nvSpPr>
        <p:spPr>
          <a:xfrm>
            <a:off x="838200" y="10280"/>
            <a:ext cx="10515600" cy="1325563"/>
          </a:xfrm>
        </p:spPr>
        <p:txBody>
          <a:bodyPr/>
          <a:lstStyle/>
          <a:p>
            <a:pPr algn="ctr"/>
            <a:r>
              <a:rPr lang="en-US" b="1" u="sng" dirty="0">
                <a:effectLst>
                  <a:outerShdw blurRad="38100" dist="38100" dir="2700000" algn="tl">
                    <a:srgbClr val="000000">
                      <a:alpha val="43137"/>
                    </a:srgbClr>
                  </a:outerShdw>
                </a:effectLst>
              </a:rPr>
              <a:t>Surface area to volume ratio and gaseous exchange</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6B596B57-336F-6501-8ADC-82CCC5F481A2}"/>
              </a:ext>
            </a:extLst>
          </p:cNvPr>
          <p:cNvSpPr>
            <a:spLocks noGrp="1"/>
          </p:cNvSpPr>
          <p:nvPr>
            <p:ph idx="1"/>
          </p:nvPr>
        </p:nvSpPr>
        <p:spPr>
          <a:xfrm>
            <a:off x="57943" y="1227108"/>
            <a:ext cx="11855762" cy="5514886"/>
          </a:xfrm>
        </p:spPr>
        <p:txBody>
          <a:bodyPr>
            <a:normAutofit/>
          </a:bodyPr>
          <a:lstStyle/>
          <a:p>
            <a:pPr marL="0" indent="0" algn="just">
              <a:buNone/>
            </a:pPr>
            <a:r>
              <a:rPr lang="en-US" sz="3600" dirty="0"/>
              <a:t>Q. How does surface area to volume ratio affect gaseous exchange/diffusion?</a:t>
            </a:r>
          </a:p>
          <a:p>
            <a:pPr marL="0" indent="0" algn="just">
              <a:buNone/>
            </a:pPr>
            <a:r>
              <a:rPr lang="en-US" sz="3600" dirty="0"/>
              <a:t>Activity: Use the cubes below to fill the table that follows</a:t>
            </a:r>
          </a:p>
          <a:p>
            <a:pPr marL="0" indent="0" algn="just">
              <a:buNone/>
            </a:pPr>
            <a:endParaRPr lang="en-US" sz="3600" dirty="0"/>
          </a:p>
          <a:p>
            <a:pPr marL="0" indent="0" algn="just">
              <a:buNone/>
            </a:pPr>
            <a:endParaRPr lang="en-US" sz="3600" dirty="0"/>
          </a:p>
          <a:p>
            <a:pPr marL="0" indent="0" algn="just">
              <a:buNone/>
            </a:pPr>
            <a:endParaRPr lang="en-US" sz="3600" dirty="0"/>
          </a:p>
          <a:p>
            <a:pPr marL="0" indent="0" algn="just">
              <a:buNone/>
            </a:pPr>
            <a:endParaRPr lang="en-US" sz="3600" dirty="0"/>
          </a:p>
          <a:p>
            <a:pPr marL="0" indent="0" algn="just">
              <a:buNone/>
            </a:pPr>
            <a:endParaRPr lang="en-US" sz="3600" dirty="0"/>
          </a:p>
          <a:p>
            <a:pPr marL="0" indent="0" algn="just">
              <a:buNone/>
            </a:pPr>
            <a:r>
              <a:rPr lang="en-US" sz="3600" dirty="0"/>
              <a:t>  </a:t>
            </a:r>
          </a:p>
        </p:txBody>
      </p:sp>
      <p:pic>
        <p:nvPicPr>
          <p:cNvPr id="6" name="Picture 5">
            <a:extLst>
              <a:ext uri="{FF2B5EF4-FFF2-40B4-BE49-F238E27FC236}">
                <a16:creationId xmlns:a16="http://schemas.microsoft.com/office/drawing/2014/main" id="{37443590-5E98-89B9-C40F-DA6E86D53A0A}"/>
              </a:ext>
            </a:extLst>
          </p:cNvPr>
          <p:cNvPicPr>
            <a:picLocks noChangeAspect="1"/>
          </p:cNvPicPr>
          <p:nvPr/>
        </p:nvPicPr>
        <p:blipFill>
          <a:blip r:embed="rId2"/>
          <a:stretch>
            <a:fillRect/>
          </a:stretch>
        </p:blipFill>
        <p:spPr>
          <a:xfrm>
            <a:off x="1057344" y="2857783"/>
            <a:ext cx="9914317" cy="3999457"/>
          </a:xfrm>
          <a:prstGeom prst="rect">
            <a:avLst/>
          </a:prstGeom>
        </p:spPr>
      </p:pic>
    </p:spTree>
    <p:extLst>
      <p:ext uri="{BB962C8B-B14F-4D97-AF65-F5344CB8AC3E}">
        <p14:creationId xmlns:p14="http://schemas.microsoft.com/office/powerpoint/2010/main" val="175807703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B2155905-7EA9-2460-DDDC-25F1AAFE418C}"/>
              </a:ext>
            </a:extLst>
          </p:cNvPr>
          <p:cNvGraphicFramePr>
            <a:graphicFrameLocks noGrp="1"/>
          </p:cNvGraphicFramePr>
          <p:nvPr>
            <p:ph idx="1"/>
            <p:extLst>
              <p:ext uri="{D42A27DB-BD31-4B8C-83A1-F6EECF244321}">
                <p14:modId xmlns:p14="http://schemas.microsoft.com/office/powerpoint/2010/main" val="4084032424"/>
              </p:ext>
            </p:extLst>
          </p:nvPr>
        </p:nvGraphicFramePr>
        <p:xfrm>
          <a:off x="838200" y="92350"/>
          <a:ext cx="7886697" cy="2316480"/>
        </p:xfrm>
        <a:graphic>
          <a:graphicData uri="http://schemas.openxmlformats.org/drawingml/2006/table">
            <a:tbl>
              <a:tblPr firstRow="1" bandRow="1">
                <a:tableStyleId>{5C22544A-7EE6-4342-B048-85BDC9FD1C3A}</a:tableStyleId>
              </a:tblPr>
              <a:tblGrid>
                <a:gridCol w="2628899">
                  <a:extLst>
                    <a:ext uri="{9D8B030D-6E8A-4147-A177-3AD203B41FA5}">
                      <a16:colId xmlns:a16="http://schemas.microsoft.com/office/drawing/2014/main" val="2231975129"/>
                    </a:ext>
                  </a:extLst>
                </a:gridCol>
                <a:gridCol w="2628899">
                  <a:extLst>
                    <a:ext uri="{9D8B030D-6E8A-4147-A177-3AD203B41FA5}">
                      <a16:colId xmlns:a16="http://schemas.microsoft.com/office/drawing/2014/main" val="3104775288"/>
                    </a:ext>
                  </a:extLst>
                </a:gridCol>
                <a:gridCol w="2628899">
                  <a:extLst>
                    <a:ext uri="{9D8B030D-6E8A-4147-A177-3AD203B41FA5}">
                      <a16:colId xmlns:a16="http://schemas.microsoft.com/office/drawing/2014/main" val="3225389696"/>
                    </a:ext>
                  </a:extLst>
                </a:gridCol>
              </a:tblGrid>
              <a:tr h="370840">
                <a:tc>
                  <a:txBody>
                    <a:bodyPr/>
                    <a:lstStyle/>
                    <a:p>
                      <a:pPr algn="ctr"/>
                      <a:endParaRPr lang="en-UG" sz="3200" dirty="0"/>
                    </a:p>
                  </a:txBody>
                  <a:tcPr/>
                </a:tc>
                <a:tc>
                  <a:txBody>
                    <a:bodyPr/>
                    <a:lstStyle/>
                    <a:p>
                      <a:pPr algn="ctr"/>
                      <a:r>
                        <a:rPr lang="en-US" sz="3200" dirty="0"/>
                        <a:t>Cube A</a:t>
                      </a:r>
                      <a:endParaRPr lang="en-UG" sz="3200" dirty="0"/>
                    </a:p>
                  </a:txBody>
                  <a:tcPr/>
                </a:tc>
                <a:tc>
                  <a:txBody>
                    <a:bodyPr/>
                    <a:lstStyle/>
                    <a:p>
                      <a:pPr algn="ctr"/>
                      <a:r>
                        <a:rPr lang="en-US" sz="3200" dirty="0"/>
                        <a:t>Cube B</a:t>
                      </a:r>
                      <a:endParaRPr lang="en-UG" sz="3200" dirty="0"/>
                    </a:p>
                  </a:txBody>
                  <a:tcPr/>
                </a:tc>
                <a:extLst>
                  <a:ext uri="{0D108BD9-81ED-4DB2-BD59-A6C34878D82A}">
                    <a16:rowId xmlns:a16="http://schemas.microsoft.com/office/drawing/2014/main" val="63308473"/>
                  </a:ext>
                </a:extLst>
              </a:tr>
              <a:tr h="370840">
                <a:tc>
                  <a:txBody>
                    <a:bodyPr/>
                    <a:lstStyle/>
                    <a:p>
                      <a:pPr algn="ctr"/>
                      <a:r>
                        <a:rPr lang="en-US" sz="3200" dirty="0"/>
                        <a:t>Surface area</a:t>
                      </a:r>
                      <a:endParaRPr lang="en-UG" sz="3200" dirty="0"/>
                    </a:p>
                  </a:txBody>
                  <a:tcPr/>
                </a:tc>
                <a:tc>
                  <a:txBody>
                    <a:bodyPr/>
                    <a:lstStyle/>
                    <a:p>
                      <a:pPr algn="ctr"/>
                      <a:endParaRPr lang="en-UG" sz="3200" dirty="0"/>
                    </a:p>
                  </a:txBody>
                  <a:tcPr/>
                </a:tc>
                <a:tc>
                  <a:txBody>
                    <a:bodyPr/>
                    <a:lstStyle/>
                    <a:p>
                      <a:pPr algn="ctr"/>
                      <a:endParaRPr lang="en-UG" sz="3200"/>
                    </a:p>
                  </a:txBody>
                  <a:tcPr/>
                </a:tc>
                <a:extLst>
                  <a:ext uri="{0D108BD9-81ED-4DB2-BD59-A6C34878D82A}">
                    <a16:rowId xmlns:a16="http://schemas.microsoft.com/office/drawing/2014/main" val="1276669104"/>
                  </a:ext>
                </a:extLst>
              </a:tr>
              <a:tr h="370840">
                <a:tc>
                  <a:txBody>
                    <a:bodyPr/>
                    <a:lstStyle/>
                    <a:p>
                      <a:pPr algn="ctr"/>
                      <a:r>
                        <a:rPr lang="en-US" sz="3200" dirty="0"/>
                        <a:t>Volume </a:t>
                      </a:r>
                      <a:endParaRPr lang="en-UG" sz="3200" dirty="0"/>
                    </a:p>
                  </a:txBody>
                  <a:tcPr/>
                </a:tc>
                <a:tc>
                  <a:txBody>
                    <a:bodyPr/>
                    <a:lstStyle/>
                    <a:p>
                      <a:pPr algn="ctr"/>
                      <a:endParaRPr lang="en-UG" sz="3200"/>
                    </a:p>
                  </a:txBody>
                  <a:tcPr/>
                </a:tc>
                <a:tc>
                  <a:txBody>
                    <a:bodyPr/>
                    <a:lstStyle/>
                    <a:p>
                      <a:pPr algn="ctr"/>
                      <a:endParaRPr lang="en-UG" sz="3200" dirty="0"/>
                    </a:p>
                  </a:txBody>
                  <a:tcPr/>
                </a:tc>
                <a:extLst>
                  <a:ext uri="{0D108BD9-81ED-4DB2-BD59-A6C34878D82A}">
                    <a16:rowId xmlns:a16="http://schemas.microsoft.com/office/drawing/2014/main" val="2700163903"/>
                  </a:ext>
                </a:extLst>
              </a:tr>
              <a:tr h="370840">
                <a:tc>
                  <a:txBody>
                    <a:bodyPr/>
                    <a:lstStyle/>
                    <a:p>
                      <a:pPr algn="ctr"/>
                      <a:r>
                        <a:rPr lang="en-US" sz="3200" dirty="0"/>
                        <a:t>SA:V</a:t>
                      </a:r>
                      <a:endParaRPr lang="en-UG" sz="3200" dirty="0"/>
                    </a:p>
                  </a:txBody>
                  <a:tcPr/>
                </a:tc>
                <a:tc>
                  <a:txBody>
                    <a:bodyPr/>
                    <a:lstStyle/>
                    <a:p>
                      <a:pPr algn="ctr"/>
                      <a:endParaRPr lang="en-UG" sz="3200" dirty="0"/>
                    </a:p>
                  </a:txBody>
                  <a:tcPr/>
                </a:tc>
                <a:tc>
                  <a:txBody>
                    <a:bodyPr/>
                    <a:lstStyle/>
                    <a:p>
                      <a:pPr algn="ctr"/>
                      <a:endParaRPr lang="en-UG" sz="3200" dirty="0"/>
                    </a:p>
                  </a:txBody>
                  <a:tcPr/>
                </a:tc>
                <a:extLst>
                  <a:ext uri="{0D108BD9-81ED-4DB2-BD59-A6C34878D82A}">
                    <a16:rowId xmlns:a16="http://schemas.microsoft.com/office/drawing/2014/main" val="227983414"/>
                  </a:ext>
                </a:extLst>
              </a:tr>
            </a:tbl>
          </a:graphicData>
        </a:graphic>
      </p:graphicFrame>
      <p:sp>
        <p:nvSpPr>
          <p:cNvPr id="5" name="TextBox 4">
            <a:extLst>
              <a:ext uri="{FF2B5EF4-FFF2-40B4-BE49-F238E27FC236}">
                <a16:creationId xmlns:a16="http://schemas.microsoft.com/office/drawing/2014/main" id="{7DF73D06-9657-7E3B-CBF3-E3823AF6D0E8}"/>
              </a:ext>
            </a:extLst>
          </p:cNvPr>
          <p:cNvSpPr txBox="1"/>
          <p:nvPr/>
        </p:nvSpPr>
        <p:spPr>
          <a:xfrm>
            <a:off x="564105" y="2429302"/>
            <a:ext cx="11204812" cy="4524315"/>
          </a:xfrm>
          <a:prstGeom prst="rect">
            <a:avLst/>
          </a:prstGeom>
          <a:noFill/>
        </p:spPr>
        <p:txBody>
          <a:bodyPr wrap="square" rtlCol="0">
            <a:spAutoFit/>
          </a:bodyPr>
          <a:lstStyle/>
          <a:p>
            <a:r>
              <a:rPr lang="en-US" sz="3600" dirty="0"/>
              <a:t>1. Assuming the cubes were organisms, with reasons,</a:t>
            </a:r>
            <a:endParaRPr lang="en-UG" sz="3600" dirty="0"/>
          </a:p>
          <a:p>
            <a:pPr marL="742950" indent="-742950">
              <a:buAutoNum type="alphaLcParenR"/>
            </a:pPr>
            <a:r>
              <a:rPr lang="en-US" sz="3600" dirty="0"/>
              <a:t>Which one would represent a</a:t>
            </a:r>
          </a:p>
          <a:p>
            <a:pPr marL="857250" indent="-857250">
              <a:buFont typeface="+mj-lt"/>
              <a:buAutoNum type="romanLcPeriod"/>
            </a:pPr>
            <a:r>
              <a:rPr lang="en-US" sz="3600" dirty="0"/>
              <a:t>unicellular organism?</a:t>
            </a:r>
          </a:p>
          <a:p>
            <a:pPr marL="857250" indent="-857250">
              <a:buFont typeface="+mj-lt"/>
              <a:buAutoNum type="romanLcPeriod"/>
            </a:pPr>
            <a:r>
              <a:rPr lang="en-US" sz="3600" dirty="0"/>
              <a:t>multicellular organism?</a:t>
            </a:r>
          </a:p>
          <a:p>
            <a:r>
              <a:rPr lang="en-US" sz="3600" dirty="0"/>
              <a:t>b) In which cube would oxygen diffuse</a:t>
            </a:r>
          </a:p>
          <a:p>
            <a:pPr marL="857250" indent="-857250">
              <a:buFont typeface="+mj-lt"/>
              <a:buAutoNum type="romanLcPeriod"/>
            </a:pPr>
            <a:r>
              <a:rPr lang="en-US" sz="3600" dirty="0"/>
              <a:t>Fastest? </a:t>
            </a:r>
          </a:p>
          <a:p>
            <a:pPr marL="857250" indent="-857250">
              <a:buFont typeface="+mj-lt"/>
              <a:buAutoNum type="romanLcPeriod"/>
            </a:pPr>
            <a:r>
              <a:rPr lang="en-US" sz="3600" dirty="0"/>
              <a:t>Slowest? </a:t>
            </a:r>
          </a:p>
          <a:p>
            <a:r>
              <a:rPr lang="en-US" sz="3600" dirty="0"/>
              <a:t> </a:t>
            </a:r>
          </a:p>
        </p:txBody>
      </p:sp>
    </p:spTree>
    <p:extLst>
      <p:ext uri="{BB962C8B-B14F-4D97-AF65-F5344CB8AC3E}">
        <p14:creationId xmlns:p14="http://schemas.microsoft.com/office/powerpoint/2010/main" val="219362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E23D55F-9E41-E69C-2B20-5224D7254533}"/>
              </a:ext>
            </a:extLst>
          </p:cNvPr>
          <p:cNvSpPr>
            <a:spLocks noGrp="1"/>
          </p:cNvSpPr>
          <p:nvPr>
            <p:ph idx="1"/>
          </p:nvPr>
        </p:nvSpPr>
        <p:spPr/>
        <p:txBody>
          <a:bodyPr>
            <a:normAutofit/>
          </a:bodyPr>
          <a:lstStyle/>
          <a:p>
            <a:pPr marL="0" indent="0">
              <a:buNone/>
            </a:pPr>
            <a:r>
              <a:rPr lang="en-US" sz="3600" dirty="0"/>
              <a:t>c) Which one would </a:t>
            </a:r>
          </a:p>
          <a:p>
            <a:pPr marL="571500" indent="-571500">
              <a:buAutoNum type="romanLcParenBoth"/>
            </a:pPr>
            <a:r>
              <a:rPr lang="en-US" sz="3600" dirty="0"/>
              <a:t>Require a specialized gaseous exchange system?</a:t>
            </a:r>
          </a:p>
          <a:p>
            <a:pPr marL="571500" indent="-571500">
              <a:buAutoNum type="romanLcParenBoth"/>
            </a:pPr>
            <a:r>
              <a:rPr lang="en-US" sz="3600" dirty="0"/>
              <a:t>Not require a specialized gaseous exchange system?</a:t>
            </a:r>
          </a:p>
          <a:p>
            <a:pPr marL="571500" indent="-571500">
              <a:buAutoNum type="romanLcParenBoth"/>
            </a:pPr>
            <a:r>
              <a:rPr lang="en-US" sz="3600" dirty="0"/>
              <a:t>Give reasons for your answers in (</a:t>
            </a:r>
            <a:r>
              <a:rPr lang="en-US" sz="3600" dirty="0" err="1"/>
              <a:t>i</a:t>
            </a:r>
            <a:r>
              <a:rPr lang="en-US" sz="3600" dirty="0"/>
              <a:t>) and (ii)</a:t>
            </a:r>
          </a:p>
        </p:txBody>
      </p:sp>
    </p:spTree>
    <p:extLst>
      <p:ext uri="{BB962C8B-B14F-4D97-AF65-F5344CB8AC3E}">
        <p14:creationId xmlns:p14="http://schemas.microsoft.com/office/powerpoint/2010/main" val="34495837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FF9AA-7B40-2AD4-5349-28F8D6A80F70}"/>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Why </a:t>
            </a:r>
            <a:r>
              <a:rPr lang="en-US" sz="4400" b="1" u="sng" dirty="0">
                <a:effectLst>
                  <a:outerShdw blurRad="38100" dist="38100" dir="2700000" algn="tl">
                    <a:srgbClr val="000000">
                      <a:alpha val="43137"/>
                    </a:srgbClr>
                  </a:outerShdw>
                </a:effectLst>
              </a:rPr>
              <a:t>multicellular organisms need specialized systems for gaseous exchange</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142D6956-6ACD-9AD9-40DD-457152755E59}"/>
              </a:ext>
            </a:extLst>
          </p:cNvPr>
          <p:cNvSpPr>
            <a:spLocks noGrp="1"/>
          </p:cNvSpPr>
          <p:nvPr>
            <p:ph idx="1"/>
          </p:nvPr>
        </p:nvSpPr>
        <p:spPr>
          <a:xfrm>
            <a:off x="239151" y="1828799"/>
            <a:ext cx="11676184" cy="4348163"/>
          </a:xfrm>
        </p:spPr>
        <p:txBody>
          <a:bodyPr>
            <a:normAutofit/>
          </a:bodyPr>
          <a:lstStyle/>
          <a:p>
            <a:pPr algn="just"/>
            <a:r>
              <a:rPr lang="en-US" sz="3600" dirty="0"/>
              <a:t>Multicellular organisms are </a:t>
            </a:r>
            <a:r>
              <a:rPr lang="en-US" sz="3600" b="1" dirty="0"/>
              <a:t>large</a:t>
            </a:r>
            <a:r>
              <a:rPr lang="en-US" sz="3600" dirty="0"/>
              <a:t> and have </a:t>
            </a:r>
            <a:r>
              <a:rPr lang="en-US" sz="3600" b="1" dirty="0"/>
              <a:t>small surface area to volume ratio</a:t>
            </a:r>
            <a:r>
              <a:rPr lang="en-US" sz="3600" dirty="0"/>
              <a:t>; therefore the  distance travelled by respiratory gases is too long; such that  </a:t>
            </a:r>
            <a:r>
              <a:rPr lang="en-US" sz="3600" b="1" dirty="0"/>
              <a:t>diffusion is slow and less efficient </a:t>
            </a:r>
            <a:r>
              <a:rPr lang="en-US" sz="3600" dirty="0"/>
              <a:t>supply and remove respiratory gases to and from their body cells respectively.</a:t>
            </a:r>
          </a:p>
          <a:p>
            <a:pPr algn="just"/>
            <a:r>
              <a:rPr lang="en-US" sz="3600" dirty="0"/>
              <a:t>This challenge is solved by having a specialized gaseous exchange system.</a:t>
            </a:r>
            <a:endParaRPr lang="en-UG" sz="3600" dirty="0"/>
          </a:p>
        </p:txBody>
      </p:sp>
    </p:spTree>
    <p:extLst>
      <p:ext uri="{BB962C8B-B14F-4D97-AF65-F5344CB8AC3E}">
        <p14:creationId xmlns:p14="http://schemas.microsoft.com/office/powerpoint/2010/main" val="1192317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FFC358-7C4A-08AC-FE57-B04679C6BB15}"/>
              </a:ext>
            </a:extLst>
          </p:cNvPr>
          <p:cNvSpPr>
            <a:spLocks noGrp="1"/>
          </p:cNvSpPr>
          <p:nvPr>
            <p:ph idx="1"/>
          </p:nvPr>
        </p:nvSpPr>
        <p:spPr>
          <a:xfrm>
            <a:off x="98477" y="702977"/>
            <a:ext cx="11926956" cy="5599350"/>
          </a:xfrm>
        </p:spPr>
        <p:txBody>
          <a:bodyPr>
            <a:noAutofit/>
          </a:bodyPr>
          <a:lstStyle/>
          <a:p>
            <a:pPr marL="0" indent="0" algn="just">
              <a:buNone/>
            </a:pPr>
            <a:r>
              <a:rPr lang="en-US" sz="3200" b="1" u="sng" dirty="0">
                <a:effectLst>
                  <a:outerShdw blurRad="38100" dist="38100" dir="2700000" algn="tl">
                    <a:srgbClr val="000000">
                      <a:alpha val="43137"/>
                    </a:srgbClr>
                  </a:outerShdw>
                </a:effectLst>
              </a:rPr>
              <a:t>Characteristics/qualities of a good respiratory surface</a:t>
            </a:r>
          </a:p>
          <a:p>
            <a:pPr algn="just"/>
            <a:r>
              <a:rPr lang="en-US" sz="3200" b="1" dirty="0">
                <a:effectLst>
                  <a:outerShdw blurRad="38100" dist="38100" dir="2700000" algn="tl">
                    <a:srgbClr val="000000">
                      <a:alpha val="43137"/>
                    </a:srgbClr>
                  </a:outerShdw>
                </a:effectLst>
              </a:rPr>
              <a:t>Highly folded </a:t>
            </a:r>
            <a:r>
              <a:rPr lang="en-US" sz="3200" dirty="0"/>
              <a:t>to increase the surface area for diffusion of respiratory gases.</a:t>
            </a:r>
          </a:p>
          <a:p>
            <a:pPr algn="just"/>
            <a:r>
              <a:rPr lang="en-US" sz="3200" b="1" dirty="0">
                <a:effectLst>
                  <a:outerShdw blurRad="38100" dist="38100" dir="2700000" algn="tl">
                    <a:srgbClr val="000000">
                      <a:alpha val="43137"/>
                    </a:srgbClr>
                  </a:outerShdw>
                </a:effectLst>
              </a:rPr>
              <a:t>Well vascularized/supplied with blood capillaries</a:t>
            </a:r>
            <a:r>
              <a:rPr lang="en-US" sz="3200" dirty="0"/>
              <a:t> to transport gases rapidly and to create a high/steep diffusion gradient.</a:t>
            </a:r>
          </a:p>
          <a:p>
            <a:pPr algn="just"/>
            <a:r>
              <a:rPr lang="en-US" sz="3200" b="1" dirty="0">
                <a:effectLst>
                  <a:outerShdw blurRad="38100" dist="38100" dir="2700000" algn="tl">
                    <a:srgbClr val="000000">
                      <a:alpha val="43137"/>
                    </a:srgbClr>
                  </a:outerShdw>
                </a:effectLst>
              </a:rPr>
              <a:t>Thin surface membrane</a:t>
            </a:r>
            <a:r>
              <a:rPr lang="en-US" sz="3200" dirty="0"/>
              <a:t> to reduce distance for diffusion of gases.</a:t>
            </a:r>
          </a:p>
          <a:p>
            <a:pPr algn="just"/>
            <a:r>
              <a:rPr lang="en-US" sz="3200" b="1" dirty="0">
                <a:effectLst>
                  <a:outerShdw blurRad="38100" dist="38100" dir="2700000" algn="tl">
                    <a:srgbClr val="000000">
                      <a:alpha val="43137"/>
                    </a:srgbClr>
                  </a:outerShdw>
                </a:effectLst>
              </a:rPr>
              <a:t>Moist</a:t>
            </a:r>
            <a:r>
              <a:rPr lang="en-US" sz="3200" dirty="0"/>
              <a:t> to dissolve the respiratory gases so that diffusion occurs in solution.</a:t>
            </a:r>
          </a:p>
          <a:p>
            <a:pPr algn="just"/>
            <a:r>
              <a:rPr lang="en-US" sz="3200" b="1" dirty="0">
                <a:effectLst>
                  <a:outerShdw blurRad="38100" dist="38100" dir="2700000" algn="tl">
                    <a:srgbClr val="000000">
                      <a:alpha val="43137"/>
                    </a:srgbClr>
                  </a:outerShdw>
                </a:effectLst>
              </a:rPr>
              <a:t>Well ventilated</a:t>
            </a:r>
            <a:r>
              <a:rPr lang="en-US" sz="3200" dirty="0"/>
              <a:t> to maintain high concentration gradient that favors diffusion of gases.</a:t>
            </a:r>
          </a:p>
          <a:p>
            <a:pPr algn="just"/>
            <a:r>
              <a:rPr lang="en-US" sz="3200" b="1" dirty="0">
                <a:effectLst>
                  <a:outerShdw blurRad="38100" dist="38100" dir="2700000" algn="tl">
                    <a:srgbClr val="000000">
                      <a:alpha val="43137"/>
                    </a:srgbClr>
                  </a:outerShdw>
                </a:effectLst>
              </a:rPr>
              <a:t>Permeable</a:t>
            </a:r>
            <a:r>
              <a:rPr lang="en-US" sz="3200" dirty="0"/>
              <a:t> to allow diffusion of respiratory gases.</a:t>
            </a:r>
          </a:p>
          <a:p>
            <a:pPr algn="just"/>
            <a:endParaRPr lang="en-UG" sz="3200" dirty="0"/>
          </a:p>
        </p:txBody>
      </p:sp>
    </p:spTree>
    <p:extLst>
      <p:ext uri="{BB962C8B-B14F-4D97-AF65-F5344CB8AC3E}">
        <p14:creationId xmlns:p14="http://schemas.microsoft.com/office/powerpoint/2010/main" val="3115688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24F77ED-A953-DB6A-957A-68A06085DC05}"/>
              </a:ext>
            </a:extLst>
          </p:cNvPr>
          <p:cNvSpPr>
            <a:spLocks noGrp="1"/>
          </p:cNvSpPr>
          <p:nvPr>
            <p:ph idx="1"/>
          </p:nvPr>
        </p:nvSpPr>
        <p:spPr>
          <a:xfrm>
            <a:off x="655320" y="-1"/>
            <a:ext cx="10852052" cy="6853237"/>
          </a:xfrm>
        </p:spPr>
        <p:txBody>
          <a:bodyPr>
            <a:normAutofit/>
          </a:bodyPr>
          <a:lstStyle/>
          <a:p>
            <a:pPr marL="0" indent="0">
              <a:buNone/>
            </a:pPr>
            <a:r>
              <a:rPr lang="en-US" sz="3600" dirty="0"/>
              <a:t>Q. Describe the features that enable the fish gill to carry out gaseous exchange?</a:t>
            </a:r>
          </a:p>
          <a:p>
            <a:pPr marL="0" indent="0">
              <a:buNone/>
            </a:pPr>
            <a:endParaRPr lang="en-US" sz="3600" dirty="0"/>
          </a:p>
          <a:p>
            <a:pPr marL="742950" indent="-742950">
              <a:buAutoNum type="alphaLcParenBoth"/>
            </a:pPr>
            <a:endParaRPr lang="en-US" sz="3600" dirty="0"/>
          </a:p>
          <a:p>
            <a:pPr marL="742950" indent="-742950">
              <a:buAutoNum type="alphaLcParenBoth"/>
            </a:pPr>
            <a:endParaRPr lang="en-US" sz="3600" dirty="0"/>
          </a:p>
          <a:p>
            <a:pPr marL="742950" indent="-742950">
              <a:buAutoNum type="alphaLcParenBoth"/>
            </a:pPr>
            <a:endParaRPr lang="en-US" sz="3600" dirty="0"/>
          </a:p>
        </p:txBody>
      </p:sp>
      <p:pic>
        <p:nvPicPr>
          <p:cNvPr id="2051" name="Picture 3">
            <a:extLst>
              <a:ext uri="{FF2B5EF4-FFF2-40B4-BE49-F238E27FC236}">
                <a16:creationId xmlns:a16="http://schemas.microsoft.com/office/drawing/2014/main" id="{DDEBCC80-0D3B-BFB3-E1BC-EAA48CE3E8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036596"/>
            <a:ext cx="12192000" cy="58166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213809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B61AB3-43CF-799A-C8BA-E5ACF76DA240}"/>
              </a:ext>
            </a:extLst>
          </p:cNvPr>
          <p:cNvSpPr>
            <a:spLocks noGrp="1"/>
          </p:cNvSpPr>
          <p:nvPr>
            <p:ph idx="1"/>
          </p:nvPr>
        </p:nvSpPr>
        <p:spPr>
          <a:xfrm>
            <a:off x="126609" y="295423"/>
            <a:ext cx="11929403" cy="6176963"/>
          </a:xfrm>
        </p:spPr>
        <p:txBody>
          <a:bodyPr>
            <a:noAutofit/>
          </a:bodyPr>
          <a:lstStyle/>
          <a:p>
            <a:pPr marL="0" indent="0" algn="just">
              <a:buNone/>
            </a:pPr>
            <a:r>
              <a:rPr lang="en-US" sz="3200" b="1" u="sng" dirty="0"/>
              <a:t>Adaptations of gills for gaseous exchange</a:t>
            </a:r>
          </a:p>
          <a:p>
            <a:pPr algn="just"/>
            <a:r>
              <a:rPr lang="en-US" sz="3200" dirty="0"/>
              <a:t>Have numerous gill filaments; increasing surface area for gaseous exchange.</a:t>
            </a:r>
          </a:p>
          <a:p>
            <a:pPr algn="just"/>
            <a:r>
              <a:rPr lang="en-US" sz="3200" dirty="0"/>
              <a:t>Gill filaments have thin walls; to reduce distance for diffusion of gases.</a:t>
            </a:r>
          </a:p>
          <a:p>
            <a:pPr algn="just"/>
            <a:r>
              <a:rPr lang="en-US" sz="3200" dirty="0"/>
              <a:t>Gill filaments are densely supplied with blood capillaries; for quick transportation of respiratory gases.</a:t>
            </a:r>
          </a:p>
          <a:p>
            <a:pPr algn="just"/>
            <a:r>
              <a:rPr lang="en-US" sz="3200" dirty="0"/>
              <a:t>Gill filaments are sub-divided into gill lamellae; to increase their surface area for gaseous exchange.</a:t>
            </a:r>
          </a:p>
          <a:p>
            <a:pPr algn="just"/>
            <a:r>
              <a:rPr lang="en-US" sz="3200" dirty="0"/>
              <a:t>Gill bar is rigid/strong; to support gill filaments.</a:t>
            </a:r>
          </a:p>
          <a:p>
            <a:pPr algn="just"/>
            <a:r>
              <a:rPr lang="en-US" sz="3200" dirty="0"/>
              <a:t>Has gill rakers for removing solid particles in water.</a:t>
            </a:r>
          </a:p>
          <a:p>
            <a:pPr algn="just"/>
            <a:r>
              <a:rPr lang="en-US" sz="3200" dirty="0"/>
              <a:t>Has gill slits; to ease ventilation.</a:t>
            </a:r>
            <a:endParaRPr lang="en-UG" sz="3200" dirty="0"/>
          </a:p>
        </p:txBody>
      </p:sp>
    </p:spTree>
    <p:extLst>
      <p:ext uri="{BB962C8B-B14F-4D97-AF65-F5344CB8AC3E}">
        <p14:creationId xmlns:p14="http://schemas.microsoft.com/office/powerpoint/2010/main" val="30728867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2DC7B8-23E7-EAE0-51E2-9F21E2BDC7A8}"/>
              </a:ext>
            </a:extLst>
          </p:cNvPr>
          <p:cNvSpPr>
            <a:spLocks noGrp="1"/>
          </p:cNvSpPr>
          <p:nvPr>
            <p:ph idx="1"/>
          </p:nvPr>
        </p:nvSpPr>
        <p:spPr/>
        <p:txBody>
          <a:bodyPr>
            <a:normAutofit/>
          </a:bodyPr>
          <a:lstStyle/>
          <a:p>
            <a:pPr algn="just"/>
            <a:endParaRPr lang="en-US" sz="3600" dirty="0"/>
          </a:p>
          <a:p>
            <a:pPr algn="just"/>
            <a:r>
              <a:rPr lang="en-US" sz="3600" dirty="0"/>
              <a:t>Flow of blood in the gill filaments is opposite in direction to flow of water over them (counter current flow) to maintain high concentration gradient for diffusion.</a:t>
            </a:r>
          </a:p>
          <a:p>
            <a:endParaRPr lang="en-UG" sz="3600" dirty="0"/>
          </a:p>
        </p:txBody>
      </p:sp>
    </p:spTree>
    <p:extLst>
      <p:ext uri="{BB962C8B-B14F-4D97-AF65-F5344CB8AC3E}">
        <p14:creationId xmlns:p14="http://schemas.microsoft.com/office/powerpoint/2010/main" val="19168841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0EEE4-9B71-143C-6675-2AC0E1BF5618}"/>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Gaseous exchange in human being</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1747A74-F734-81A4-7DBB-73F413D900B2}"/>
              </a:ext>
            </a:extLst>
          </p:cNvPr>
          <p:cNvSpPr>
            <a:spLocks noGrp="1"/>
          </p:cNvSpPr>
          <p:nvPr>
            <p:ph idx="1"/>
          </p:nvPr>
        </p:nvSpPr>
        <p:spPr/>
        <p:txBody>
          <a:bodyPr>
            <a:normAutofit/>
          </a:bodyPr>
          <a:lstStyle/>
          <a:p>
            <a:pPr algn="just"/>
            <a:r>
              <a:rPr lang="en-US" sz="3200" dirty="0"/>
              <a:t>Respiratory organ: lungs</a:t>
            </a:r>
          </a:p>
          <a:p>
            <a:pPr algn="just"/>
            <a:r>
              <a:rPr lang="en-US" sz="3200" dirty="0"/>
              <a:t>Respiratory surface: alveoli</a:t>
            </a:r>
          </a:p>
          <a:p>
            <a:pPr algn="just"/>
            <a:r>
              <a:rPr lang="en-US" sz="3200" dirty="0"/>
              <a:t>Respiratory medium: air</a:t>
            </a:r>
            <a:endParaRPr lang="en-UG" sz="3200" dirty="0"/>
          </a:p>
        </p:txBody>
      </p:sp>
    </p:spTree>
    <p:extLst>
      <p:ext uri="{BB962C8B-B14F-4D97-AF65-F5344CB8AC3E}">
        <p14:creationId xmlns:p14="http://schemas.microsoft.com/office/powerpoint/2010/main" val="23584460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6B86F-DB6E-49F2-66D6-53CFF6C8D515}"/>
              </a:ext>
            </a:extLst>
          </p:cNvPr>
          <p:cNvSpPr>
            <a:spLocks noGrp="1"/>
          </p:cNvSpPr>
          <p:nvPr>
            <p:ph type="title"/>
          </p:nvPr>
        </p:nvSpPr>
        <p:spPr/>
        <p:txBody>
          <a:bodyPr/>
          <a:lstStyle/>
          <a:p>
            <a:pPr algn="ctr"/>
            <a:r>
              <a:rPr lang="en-US" b="1" u="sng" dirty="0">
                <a:effectLst>
                  <a:outerShdw blurRad="38100" dist="38100" dir="2700000" algn="tl">
                    <a:srgbClr val="000000">
                      <a:alpha val="43137"/>
                    </a:srgbClr>
                  </a:outerShdw>
                </a:effectLst>
              </a:rPr>
              <a:t>Human respiratory system</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E139B431-3D1F-6308-88C4-811C8EFFE56F}"/>
              </a:ext>
            </a:extLst>
          </p:cNvPr>
          <p:cNvSpPr>
            <a:spLocks noGrp="1"/>
          </p:cNvSpPr>
          <p:nvPr>
            <p:ph idx="1"/>
          </p:nvPr>
        </p:nvSpPr>
        <p:spPr/>
        <p:txBody>
          <a:bodyPr>
            <a:normAutofit/>
          </a:bodyPr>
          <a:lstStyle/>
          <a:p>
            <a:r>
              <a:rPr lang="en-US" sz="3200" dirty="0"/>
              <a:t>Task: </a:t>
            </a:r>
          </a:p>
          <a:p>
            <a:pPr marL="0" indent="0">
              <a:buNone/>
            </a:pPr>
            <a:r>
              <a:rPr lang="en-US" sz="3200" dirty="0"/>
              <a:t>Draw and label the structure of the human respiratory system. </a:t>
            </a:r>
          </a:p>
          <a:p>
            <a:endParaRPr lang="en-UG" sz="3200" b="1" dirty="0"/>
          </a:p>
        </p:txBody>
      </p:sp>
    </p:spTree>
    <p:extLst>
      <p:ext uri="{BB962C8B-B14F-4D97-AF65-F5344CB8AC3E}">
        <p14:creationId xmlns:p14="http://schemas.microsoft.com/office/powerpoint/2010/main" val="32397794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35D4FD-1B09-B46C-AA25-A6BC81411F36}"/>
              </a:ext>
            </a:extLst>
          </p:cNvPr>
          <p:cNvSpPr>
            <a:spLocks noGrp="1"/>
          </p:cNvSpPr>
          <p:nvPr>
            <p:ph type="title"/>
          </p:nvPr>
        </p:nvSpPr>
        <p:spPr/>
        <p:txBody>
          <a:bodyPr/>
          <a:lstStyle/>
          <a:p>
            <a:endParaRPr lang="en-UG" dirty="0"/>
          </a:p>
        </p:txBody>
      </p:sp>
      <p:pic>
        <p:nvPicPr>
          <p:cNvPr id="5" name="Content Placeholder 4">
            <a:extLst>
              <a:ext uri="{FF2B5EF4-FFF2-40B4-BE49-F238E27FC236}">
                <a16:creationId xmlns:a16="http://schemas.microsoft.com/office/drawing/2014/main" id="{0C201D3C-AD84-B70C-ED07-B18C8C48F8AE}"/>
              </a:ext>
            </a:extLst>
          </p:cNvPr>
          <p:cNvPicPr>
            <a:picLocks noGrp="1" noChangeAspect="1"/>
          </p:cNvPicPr>
          <p:nvPr>
            <p:ph idx="1"/>
          </p:nvPr>
        </p:nvPicPr>
        <p:blipFill rotWithShape="1">
          <a:blip r:embed="rId2"/>
          <a:srcRect t="555"/>
          <a:stretch/>
        </p:blipFill>
        <p:spPr>
          <a:xfrm>
            <a:off x="-76985" y="280"/>
            <a:ext cx="12268985" cy="6843652"/>
          </a:xfrm>
        </p:spPr>
      </p:pic>
    </p:spTree>
    <p:extLst>
      <p:ext uri="{BB962C8B-B14F-4D97-AF65-F5344CB8AC3E}">
        <p14:creationId xmlns:p14="http://schemas.microsoft.com/office/powerpoint/2010/main" val="40415433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6F4A5-79BA-5334-93A1-414DFBC044FE}"/>
              </a:ext>
            </a:extLst>
          </p:cNvPr>
          <p:cNvSpPr>
            <a:spLocks noGrp="1"/>
          </p:cNvSpPr>
          <p:nvPr>
            <p:ph type="title"/>
          </p:nvPr>
        </p:nvSpPr>
        <p:spPr>
          <a:xfrm>
            <a:off x="838200" y="-19183"/>
            <a:ext cx="10515600" cy="1325563"/>
          </a:xfrm>
        </p:spPr>
        <p:txBody>
          <a:bodyPr>
            <a:normAutofit/>
          </a:bodyPr>
          <a:lstStyle/>
          <a:p>
            <a:pPr algn="ctr"/>
            <a:r>
              <a:rPr lang="en-US" u="sng" dirty="0">
                <a:effectLst>
                  <a:outerShdw blurRad="38100" dist="38100" dir="2700000" algn="tl">
                    <a:srgbClr val="000000">
                      <a:alpha val="43137"/>
                    </a:srgbClr>
                  </a:outerShdw>
                </a:effectLst>
              </a:rPr>
              <a:t>A drawing </a:t>
            </a:r>
            <a:r>
              <a:rPr lang="en-US" sz="4400" u="sng" dirty="0">
                <a:effectLst>
                  <a:outerShdw blurRad="38100" dist="38100" dir="2700000" algn="tl">
                    <a:srgbClr val="000000">
                      <a:alpha val="43137"/>
                    </a:srgbClr>
                  </a:outerShdw>
                </a:effectLst>
              </a:rPr>
              <a:t>of the human respiratory system. </a:t>
            </a:r>
            <a:br>
              <a:rPr lang="en-US" sz="4400" u="sng" dirty="0">
                <a:effectLst>
                  <a:outerShdw blurRad="38100" dist="38100" dir="2700000" algn="tl">
                    <a:srgbClr val="000000">
                      <a:alpha val="43137"/>
                    </a:srgbClr>
                  </a:outerShdw>
                </a:effectLst>
              </a:rPr>
            </a:br>
            <a:endParaRPr lang="en-UG" u="sng" dirty="0">
              <a:effectLst>
                <a:outerShdw blurRad="38100" dist="38100" dir="2700000" algn="tl">
                  <a:srgbClr val="000000">
                    <a:alpha val="43137"/>
                  </a:srgbClr>
                </a:outerShdw>
              </a:effectLst>
            </a:endParaRPr>
          </a:p>
        </p:txBody>
      </p:sp>
      <p:pic>
        <p:nvPicPr>
          <p:cNvPr id="3074" name="Picture 1">
            <a:extLst>
              <a:ext uri="{FF2B5EF4-FFF2-40B4-BE49-F238E27FC236}">
                <a16:creationId xmlns:a16="http://schemas.microsoft.com/office/drawing/2014/main" id="{4ACA881B-9402-800A-07CB-9648AD1884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95129" y="569843"/>
            <a:ext cx="9674087" cy="62833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2212845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B4ECF6-5D19-A1C9-F28D-CE911DEB3B4A}"/>
              </a:ext>
            </a:extLst>
          </p:cNvPr>
          <p:cNvSpPr>
            <a:spLocks noGrp="1"/>
          </p:cNvSpPr>
          <p:nvPr>
            <p:ph type="title"/>
          </p:nvPr>
        </p:nvSpPr>
        <p:spPr>
          <a:xfrm>
            <a:off x="838200" y="280715"/>
            <a:ext cx="10515600" cy="521145"/>
          </a:xfrm>
        </p:spPr>
        <p:txBody>
          <a:bodyPr>
            <a:normAutofit fontScale="90000"/>
          </a:bodyPr>
          <a:lstStyle/>
          <a:p>
            <a:r>
              <a:rPr lang="en-US" b="1" u="sng" dirty="0">
                <a:effectLst>
                  <a:outerShdw blurRad="38100" dist="38100" dir="2700000" algn="tl">
                    <a:srgbClr val="000000">
                      <a:alpha val="43137"/>
                    </a:srgbClr>
                  </a:outerShdw>
                </a:effectLst>
              </a:rPr>
              <a:t>Functions of parts</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0E511D9F-2CDA-D444-0EF0-85DCE329B28F}"/>
              </a:ext>
            </a:extLst>
          </p:cNvPr>
          <p:cNvSpPr>
            <a:spLocks noGrp="1"/>
          </p:cNvSpPr>
          <p:nvPr>
            <p:ph idx="1"/>
          </p:nvPr>
        </p:nvSpPr>
        <p:spPr>
          <a:xfrm>
            <a:off x="0" y="900337"/>
            <a:ext cx="12192000" cy="5628323"/>
          </a:xfrm>
        </p:spPr>
        <p:txBody>
          <a:bodyPr>
            <a:noAutofit/>
          </a:bodyPr>
          <a:lstStyle/>
          <a:p>
            <a:pPr algn="just"/>
            <a:r>
              <a:rPr lang="en-US" sz="3600" b="1" dirty="0"/>
              <a:t>Nostrils: </a:t>
            </a:r>
            <a:r>
              <a:rPr lang="en-US" sz="3600" dirty="0"/>
              <a:t>passage of air from atmosphere. Has cilia and mucus to trap dust.</a:t>
            </a:r>
          </a:p>
          <a:p>
            <a:pPr algn="just"/>
            <a:r>
              <a:rPr lang="en-US" sz="3600" b="1" dirty="0"/>
              <a:t>Larynx: </a:t>
            </a:r>
            <a:r>
              <a:rPr lang="en-US" sz="3600" dirty="0"/>
              <a:t>production of sound and passage of air into the trachea. </a:t>
            </a:r>
          </a:p>
          <a:p>
            <a:pPr algn="just"/>
            <a:r>
              <a:rPr lang="en-US" sz="3600" b="1" dirty="0"/>
              <a:t>Epiglottis: </a:t>
            </a:r>
            <a:r>
              <a:rPr lang="en-US" sz="3600" dirty="0"/>
              <a:t>covers the larynx during swallowing, preventing passage of food into the trachea. </a:t>
            </a:r>
          </a:p>
          <a:p>
            <a:pPr algn="just"/>
            <a:r>
              <a:rPr lang="en-US" sz="3600" b="1" dirty="0"/>
              <a:t>Trachea: </a:t>
            </a:r>
            <a:r>
              <a:rPr lang="en-US" sz="3600" dirty="0"/>
              <a:t>allows passage of air into the bronchi. Has cilia and mucus to trap foreign particles.</a:t>
            </a:r>
          </a:p>
          <a:p>
            <a:pPr algn="just"/>
            <a:r>
              <a:rPr lang="en-US" sz="3600" b="1" dirty="0"/>
              <a:t>Bronchi: </a:t>
            </a:r>
            <a:r>
              <a:rPr lang="en-US" sz="3600" dirty="0"/>
              <a:t>passage of air from trachea into the lungs. </a:t>
            </a:r>
          </a:p>
          <a:p>
            <a:pPr algn="just"/>
            <a:r>
              <a:rPr lang="en-US" sz="3600" b="1" dirty="0"/>
              <a:t>Bronchioles: </a:t>
            </a:r>
            <a:r>
              <a:rPr lang="en-US" sz="3600" dirty="0"/>
              <a:t>passage of air into the alveoli. </a:t>
            </a:r>
          </a:p>
        </p:txBody>
      </p:sp>
    </p:spTree>
    <p:extLst>
      <p:ext uri="{BB962C8B-B14F-4D97-AF65-F5344CB8AC3E}">
        <p14:creationId xmlns:p14="http://schemas.microsoft.com/office/powerpoint/2010/main" val="12447661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DD387E-44C2-443F-3A3D-0940B3E0DD8D}"/>
              </a:ext>
            </a:extLst>
          </p:cNvPr>
          <p:cNvSpPr>
            <a:spLocks noGrp="1"/>
          </p:cNvSpPr>
          <p:nvPr>
            <p:ph idx="1"/>
          </p:nvPr>
        </p:nvSpPr>
        <p:spPr>
          <a:xfrm>
            <a:off x="337625" y="829994"/>
            <a:ext cx="11507372" cy="5346969"/>
          </a:xfrm>
        </p:spPr>
        <p:txBody>
          <a:bodyPr>
            <a:noAutofit/>
          </a:bodyPr>
          <a:lstStyle/>
          <a:p>
            <a:pPr algn="just"/>
            <a:r>
              <a:rPr lang="en-US" sz="3600" b="1" dirty="0"/>
              <a:t>Alveoli: </a:t>
            </a:r>
            <a:r>
              <a:rPr lang="en-US" sz="3600" dirty="0"/>
              <a:t>Gaseous exchange surfaces. </a:t>
            </a:r>
          </a:p>
          <a:p>
            <a:pPr algn="just"/>
            <a:r>
              <a:rPr lang="en-US" sz="3600" b="1" dirty="0"/>
              <a:t>Lung: </a:t>
            </a:r>
            <a:r>
              <a:rPr lang="en-US" sz="3600" dirty="0"/>
              <a:t>organ  for gaseous exchange </a:t>
            </a:r>
          </a:p>
          <a:p>
            <a:pPr algn="just"/>
            <a:r>
              <a:rPr lang="en-US" sz="3600" b="1" dirty="0"/>
              <a:t>Diaphragm: </a:t>
            </a:r>
            <a:r>
              <a:rPr lang="en-US" sz="3600" dirty="0"/>
              <a:t>controls volume of chest cavity.</a:t>
            </a:r>
          </a:p>
          <a:p>
            <a:pPr algn="just"/>
            <a:r>
              <a:rPr lang="en-US" sz="3600" b="1" dirty="0"/>
              <a:t>Intercostal muscles</a:t>
            </a:r>
            <a:r>
              <a:rPr lang="en-US" sz="3600" dirty="0"/>
              <a:t>: move the rib cage up and down by contracting and relaxing.</a:t>
            </a:r>
          </a:p>
          <a:p>
            <a:pPr algn="just"/>
            <a:r>
              <a:rPr lang="en-US" sz="3600" b="1" dirty="0"/>
              <a:t>Pleural membrane: </a:t>
            </a:r>
            <a:r>
              <a:rPr lang="en-US" sz="3600" dirty="0"/>
              <a:t>contains pleural fluid in its cavity.</a:t>
            </a:r>
          </a:p>
          <a:p>
            <a:pPr algn="just"/>
            <a:r>
              <a:rPr lang="en-US" sz="3600" b="1" dirty="0"/>
              <a:t>Pleural cavity: </a:t>
            </a:r>
            <a:r>
              <a:rPr lang="en-US" sz="3600" dirty="0"/>
              <a:t>filled with pleural fluid which reduce friction during breathing.</a:t>
            </a:r>
          </a:p>
          <a:p>
            <a:pPr algn="just"/>
            <a:endParaRPr lang="en-US" sz="3600" dirty="0"/>
          </a:p>
          <a:p>
            <a:pPr algn="just"/>
            <a:endParaRPr lang="en-UG" sz="3600" dirty="0"/>
          </a:p>
        </p:txBody>
      </p:sp>
    </p:spTree>
    <p:extLst>
      <p:ext uri="{BB962C8B-B14F-4D97-AF65-F5344CB8AC3E}">
        <p14:creationId xmlns:p14="http://schemas.microsoft.com/office/powerpoint/2010/main" val="608942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F06195-A093-B72E-45E5-18D8B557EF89}"/>
              </a:ext>
            </a:extLst>
          </p:cNvPr>
          <p:cNvSpPr>
            <a:spLocks noGrp="1"/>
          </p:cNvSpPr>
          <p:nvPr>
            <p:ph idx="1"/>
          </p:nvPr>
        </p:nvSpPr>
        <p:spPr>
          <a:xfrm>
            <a:off x="0" y="267288"/>
            <a:ext cx="12192000" cy="6858000"/>
          </a:xfrm>
        </p:spPr>
        <p:txBody>
          <a:bodyPr>
            <a:noAutofit/>
          </a:bodyPr>
          <a:lstStyle/>
          <a:p>
            <a:pPr marL="0" indent="0" algn="ctr">
              <a:buNone/>
            </a:pPr>
            <a:r>
              <a:rPr lang="en-US" sz="3200" b="1" u="sng" dirty="0"/>
              <a:t>Adaptations of the lungs for gaseous exchange/as respiratory organs</a:t>
            </a:r>
          </a:p>
          <a:p>
            <a:pPr algn="just"/>
            <a:r>
              <a:rPr lang="en-US" sz="3200" dirty="0"/>
              <a:t>They are spongy and elastic to allow large volume of air in and out.</a:t>
            </a:r>
          </a:p>
          <a:p>
            <a:pPr algn="just"/>
            <a:r>
              <a:rPr lang="en-US" sz="3200" dirty="0"/>
              <a:t>Have numerous alveoli that increase surface are for gaseous exchange.</a:t>
            </a:r>
          </a:p>
          <a:p>
            <a:pPr algn="just"/>
            <a:r>
              <a:rPr lang="en-US" sz="3200" dirty="0"/>
              <a:t>Each alveolus has a dense network of blood capillaries for quick transportation of oxygen to maintain a steep diffusion gradient.</a:t>
            </a:r>
          </a:p>
          <a:p>
            <a:pPr algn="just"/>
            <a:r>
              <a:rPr lang="en-US" sz="3200" dirty="0"/>
              <a:t>The alveoli have moist surfaces which enables gases to dissolve into solution for easy diffusion.</a:t>
            </a:r>
          </a:p>
          <a:p>
            <a:pPr algn="just"/>
            <a:r>
              <a:rPr lang="en-US" sz="3200" dirty="0"/>
              <a:t>The air passage is maintained open by the rings of cartilage which prevents it closing up when pressure inside them falls allowing continuous flow of air.</a:t>
            </a:r>
          </a:p>
          <a:p>
            <a:pPr algn="just"/>
            <a:r>
              <a:rPr lang="en-US" sz="3200" dirty="0"/>
              <a:t>They are covered by pleural membranes which produce pleural fluid which lubricates the lungs to reduce friction during ventilation. </a:t>
            </a:r>
          </a:p>
          <a:p>
            <a:pPr algn="just"/>
            <a:endParaRPr lang="en-UG" sz="3200" dirty="0"/>
          </a:p>
        </p:txBody>
      </p:sp>
    </p:spTree>
    <p:extLst>
      <p:ext uri="{BB962C8B-B14F-4D97-AF65-F5344CB8AC3E}">
        <p14:creationId xmlns:p14="http://schemas.microsoft.com/office/powerpoint/2010/main" val="12597732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10507-90F0-090A-CD00-6E64D39DFC38}"/>
              </a:ext>
            </a:extLst>
          </p:cNvPr>
          <p:cNvSpPr>
            <a:spLocks noGrp="1"/>
          </p:cNvSpPr>
          <p:nvPr>
            <p:ph type="title"/>
          </p:nvPr>
        </p:nvSpPr>
        <p:spPr>
          <a:xfrm>
            <a:off x="838200" y="-635"/>
            <a:ext cx="10515600" cy="1325563"/>
          </a:xfrm>
        </p:spPr>
        <p:txBody>
          <a:bodyPr/>
          <a:lstStyle/>
          <a:p>
            <a:pPr algn="ctr"/>
            <a:r>
              <a:rPr lang="en-US" b="1" u="sng" dirty="0">
                <a:effectLst>
                  <a:outerShdw blurRad="38100" dist="38100" dir="2700000" algn="tl">
                    <a:srgbClr val="000000">
                      <a:alpha val="43137"/>
                    </a:srgbClr>
                  </a:outerShdw>
                </a:effectLst>
              </a:rPr>
              <a:t>Mechanism of breathing/ventilation in human being</a:t>
            </a:r>
            <a:endParaRPr lang="en-UG" b="1" u="sng"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F637935E-4FDF-F087-DDBA-597C2072E5E5}"/>
              </a:ext>
            </a:extLst>
          </p:cNvPr>
          <p:cNvGraphicFramePr>
            <a:graphicFrameLocks noGrp="1"/>
          </p:cNvGraphicFramePr>
          <p:nvPr>
            <p:ph idx="1"/>
            <p:extLst>
              <p:ext uri="{D42A27DB-BD31-4B8C-83A1-F6EECF244321}">
                <p14:modId xmlns:p14="http://schemas.microsoft.com/office/powerpoint/2010/main" val="3929238819"/>
              </p:ext>
            </p:extLst>
          </p:nvPr>
        </p:nvGraphicFramePr>
        <p:xfrm>
          <a:off x="0" y="1310867"/>
          <a:ext cx="12192000" cy="5486400"/>
        </p:xfrm>
        <a:graphic>
          <a:graphicData uri="http://schemas.openxmlformats.org/drawingml/2006/table">
            <a:tbl>
              <a:tblPr firstRow="1" firstCol="1" bandRow="1">
                <a:tableStyleId>{7E9639D4-E3E2-4D34-9284-5A2195B3D0D7}</a:tableStyleId>
              </a:tblPr>
              <a:tblGrid>
                <a:gridCol w="6096000">
                  <a:extLst>
                    <a:ext uri="{9D8B030D-6E8A-4147-A177-3AD203B41FA5}">
                      <a16:colId xmlns:a16="http://schemas.microsoft.com/office/drawing/2014/main" val="4267171371"/>
                    </a:ext>
                  </a:extLst>
                </a:gridCol>
                <a:gridCol w="6096000">
                  <a:extLst>
                    <a:ext uri="{9D8B030D-6E8A-4147-A177-3AD203B41FA5}">
                      <a16:colId xmlns:a16="http://schemas.microsoft.com/office/drawing/2014/main" val="8501509"/>
                    </a:ext>
                  </a:extLst>
                </a:gridCol>
              </a:tblGrid>
              <a:tr h="422626">
                <a:tc>
                  <a:txBody>
                    <a:bodyPr/>
                    <a:lstStyle/>
                    <a:p>
                      <a:pPr>
                        <a:lnSpc>
                          <a:spcPct val="100000"/>
                        </a:lnSpc>
                        <a:spcAft>
                          <a:spcPts val="1000"/>
                        </a:spcAft>
                        <a:tabLst>
                          <a:tab pos="228600" algn="l"/>
                          <a:tab pos="1085850" algn="l"/>
                        </a:tabLst>
                      </a:pPr>
                      <a:r>
                        <a:rPr lang="en-US" sz="3600" b="1" dirty="0">
                          <a:effectLst/>
                        </a:rPr>
                        <a:t>Inspiration/breathing in</a:t>
                      </a:r>
                      <a:endParaRPr lang="en-UG" sz="3600" b="1"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a:lnSpc>
                          <a:spcPct val="100000"/>
                        </a:lnSpc>
                        <a:spcAft>
                          <a:spcPts val="1000"/>
                        </a:spcAft>
                        <a:tabLst>
                          <a:tab pos="228600" algn="l"/>
                          <a:tab pos="1085850" algn="l"/>
                        </a:tabLst>
                      </a:pPr>
                      <a:r>
                        <a:rPr lang="en-US" sz="3600" b="1" dirty="0">
                          <a:effectLst/>
                        </a:rPr>
                        <a:t>Expiration/breathing out</a:t>
                      </a:r>
                      <a:endParaRPr lang="en-UG" sz="3600" b="1"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1515435051"/>
                  </a:ext>
                </a:extLst>
              </a:tr>
              <a:tr h="0">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External intercostal muscles contract</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External intercostal muscles relax</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2312963104"/>
                  </a:ext>
                </a:extLst>
              </a:tr>
              <a:tr h="422626">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Internal intercostal muscles relax</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Internal intercostal muscles contract</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1272109741"/>
                  </a:ext>
                </a:extLst>
              </a:tr>
              <a:tr h="422626">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Rib cage moves up and outwards </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Rib cage moves down and inwards</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3350252242"/>
                  </a:ext>
                </a:extLst>
              </a:tr>
              <a:tr h="1105273">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Diaphragm muscles contract and diaphragm flatten </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Diaphragm muscles relax and diaphragm assume dome shape/arches upwards</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3080398902"/>
                  </a:ext>
                </a:extLst>
              </a:tr>
            </a:tbl>
          </a:graphicData>
        </a:graphic>
      </p:graphicFrame>
    </p:spTree>
    <p:extLst>
      <p:ext uri="{BB962C8B-B14F-4D97-AF65-F5344CB8AC3E}">
        <p14:creationId xmlns:p14="http://schemas.microsoft.com/office/powerpoint/2010/main" val="36289986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2B76BABE-F107-44D3-4031-46EFB4EAC858}"/>
              </a:ext>
            </a:extLst>
          </p:cNvPr>
          <p:cNvGraphicFramePr>
            <a:graphicFrameLocks noGrp="1"/>
          </p:cNvGraphicFramePr>
          <p:nvPr>
            <p:ph idx="1"/>
            <p:extLst>
              <p:ext uri="{D42A27DB-BD31-4B8C-83A1-F6EECF244321}">
                <p14:modId xmlns:p14="http://schemas.microsoft.com/office/powerpoint/2010/main" val="3314144011"/>
              </p:ext>
            </p:extLst>
          </p:nvPr>
        </p:nvGraphicFramePr>
        <p:xfrm>
          <a:off x="0" y="67173"/>
          <a:ext cx="12192000" cy="6710680"/>
        </p:xfrm>
        <a:graphic>
          <a:graphicData uri="http://schemas.openxmlformats.org/drawingml/2006/table">
            <a:tbl>
              <a:tblPr firstRow="1" firstCol="1" bandRow="1">
                <a:tableStyleId>{5940675A-B579-460E-94D1-54222C63F5DA}</a:tableStyleId>
              </a:tblPr>
              <a:tblGrid>
                <a:gridCol w="6096000">
                  <a:extLst>
                    <a:ext uri="{9D8B030D-6E8A-4147-A177-3AD203B41FA5}">
                      <a16:colId xmlns:a16="http://schemas.microsoft.com/office/drawing/2014/main" val="1479203928"/>
                    </a:ext>
                  </a:extLst>
                </a:gridCol>
                <a:gridCol w="6096000">
                  <a:extLst>
                    <a:ext uri="{9D8B030D-6E8A-4147-A177-3AD203B41FA5}">
                      <a16:colId xmlns:a16="http://schemas.microsoft.com/office/drawing/2014/main" val="3343568395"/>
                    </a:ext>
                  </a:extLst>
                </a:gridCol>
              </a:tblGrid>
              <a:tr h="994223">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Volume of thoracic cavity increases</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Volume of thoracic cavity decreases</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2468334787"/>
                  </a:ext>
                </a:extLst>
              </a:tr>
              <a:tr h="994223">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Lungs expands and volume increases</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Lungs return to original volume</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556096695"/>
                  </a:ext>
                </a:extLst>
              </a:tr>
              <a:tr h="994223">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Air pressure in lungs decreases</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a:effectLst/>
                        </a:rPr>
                        <a:t>Air pressure in lungs increases</a:t>
                      </a:r>
                      <a:endParaRPr lang="en-UG" sz="3600" b="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779116200"/>
                  </a:ext>
                </a:extLst>
              </a:tr>
              <a:tr h="2453402">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Air moves into the lungs </a:t>
                      </a:r>
                      <a:r>
                        <a:rPr lang="en-US" sz="3600" b="0" dirty="0"/>
                        <a:t>through the nostrils, trachea, bronchi, and bronchioles until it reaches the alveoli.</a:t>
                      </a:r>
                    </a:p>
                    <a:p>
                      <a:pPr marL="0" indent="0">
                        <a:lnSpc>
                          <a:spcPct val="100000"/>
                        </a:lnSpc>
                        <a:spcAft>
                          <a:spcPts val="1000"/>
                        </a:spcAft>
                        <a:buFont typeface="Arial" panose="020B0604020202020204" pitchFamily="34" charset="0"/>
                        <a:buNone/>
                        <a:tabLst>
                          <a:tab pos="228600" algn="l"/>
                          <a:tab pos="1085850" algn="l"/>
                        </a:tabLst>
                      </a:pP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tc>
                  <a:txBody>
                    <a:bodyPr/>
                    <a:lstStyle/>
                    <a:p>
                      <a:pPr marL="457200" indent="-457200">
                        <a:lnSpc>
                          <a:spcPct val="100000"/>
                        </a:lnSpc>
                        <a:spcAft>
                          <a:spcPts val="1000"/>
                        </a:spcAft>
                        <a:buFont typeface="Arial" panose="020B0604020202020204" pitchFamily="34" charset="0"/>
                        <a:buChar char="•"/>
                        <a:tabLst>
                          <a:tab pos="228600" algn="l"/>
                          <a:tab pos="1085850" algn="l"/>
                        </a:tabLst>
                      </a:pPr>
                      <a:r>
                        <a:rPr lang="en-US" sz="3600" b="0" dirty="0">
                          <a:effectLst/>
                        </a:rPr>
                        <a:t>Air moves out of the lungs from the alveoli via bronchioles, bronchi, trachea and the nostrils to the atmosphere.</a:t>
                      </a:r>
                    </a:p>
                    <a:p>
                      <a:pPr marL="457200" indent="-457200">
                        <a:lnSpc>
                          <a:spcPct val="100000"/>
                        </a:lnSpc>
                        <a:spcAft>
                          <a:spcPts val="1000"/>
                        </a:spcAft>
                        <a:buFont typeface="Arial" panose="020B0604020202020204" pitchFamily="34" charset="0"/>
                        <a:buChar char="•"/>
                        <a:tabLst>
                          <a:tab pos="228600" algn="l"/>
                          <a:tab pos="1085850" algn="l"/>
                        </a:tabLst>
                      </a:pP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17735" marR="17735" marT="0" marB="0"/>
                </a:tc>
                <a:extLst>
                  <a:ext uri="{0D108BD9-81ED-4DB2-BD59-A6C34878D82A}">
                    <a16:rowId xmlns:a16="http://schemas.microsoft.com/office/drawing/2014/main" val="44481316"/>
                  </a:ext>
                </a:extLst>
              </a:tr>
            </a:tbl>
          </a:graphicData>
        </a:graphic>
      </p:graphicFrame>
    </p:spTree>
    <p:extLst>
      <p:ext uri="{BB962C8B-B14F-4D97-AF65-F5344CB8AC3E}">
        <p14:creationId xmlns:p14="http://schemas.microsoft.com/office/powerpoint/2010/main" val="23269777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D4E668-12B4-4263-274A-967342096F5C}"/>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9A12C4F1-97DA-AAC6-F18E-EB6D903BD895}"/>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690A9AA2-DCBA-FCC2-43AB-B11EB7CE751C}"/>
              </a:ext>
            </a:extLst>
          </p:cNvPr>
          <p:cNvPicPr>
            <a:picLocks noChangeAspect="1"/>
          </p:cNvPicPr>
          <p:nvPr/>
        </p:nvPicPr>
        <p:blipFill rotWithShape="1">
          <a:blip r:embed="rId2"/>
          <a:srcRect l="2714" t="1964" r="2207" b="7551"/>
          <a:stretch/>
        </p:blipFill>
        <p:spPr>
          <a:xfrm>
            <a:off x="0" y="0"/>
            <a:ext cx="12191999" cy="6844748"/>
          </a:xfrm>
          <a:prstGeom prst="rect">
            <a:avLst/>
          </a:prstGeom>
        </p:spPr>
      </p:pic>
    </p:spTree>
    <p:extLst>
      <p:ext uri="{BB962C8B-B14F-4D97-AF65-F5344CB8AC3E}">
        <p14:creationId xmlns:p14="http://schemas.microsoft.com/office/powerpoint/2010/main" val="250445940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0748BE-1D8D-F318-EC67-97BC91A0FDF0}"/>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9BCDFB0C-A3C7-C3B5-8876-86B5DAB148D2}"/>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04D9B8C8-0DD2-9EF5-F765-03C993286F01}"/>
              </a:ext>
            </a:extLst>
          </p:cNvPr>
          <p:cNvPicPr>
            <a:picLocks noChangeAspect="1"/>
          </p:cNvPicPr>
          <p:nvPr/>
        </p:nvPicPr>
        <p:blipFill>
          <a:blip r:embed="rId2"/>
          <a:stretch>
            <a:fillRect/>
          </a:stretch>
        </p:blipFill>
        <p:spPr>
          <a:xfrm>
            <a:off x="0" y="0"/>
            <a:ext cx="12192000" cy="6857999"/>
          </a:xfrm>
          <a:prstGeom prst="rect">
            <a:avLst/>
          </a:prstGeom>
        </p:spPr>
      </p:pic>
    </p:spTree>
    <p:extLst>
      <p:ext uri="{BB962C8B-B14F-4D97-AF65-F5344CB8AC3E}">
        <p14:creationId xmlns:p14="http://schemas.microsoft.com/office/powerpoint/2010/main" val="17252554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FF33E-06F1-0B86-D0E5-23ED9BDB7B59}"/>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7301D1D5-9685-CA5E-0441-9060A927CF5C}"/>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6199687A-4855-200E-5125-097600F246E4}"/>
              </a:ext>
            </a:extLst>
          </p:cNvPr>
          <p:cNvPicPr>
            <a:picLocks noChangeAspect="1"/>
          </p:cNvPicPr>
          <p:nvPr/>
        </p:nvPicPr>
        <p:blipFill>
          <a:blip r:embed="rId2"/>
          <a:stretch>
            <a:fillRect/>
          </a:stretch>
        </p:blipFill>
        <p:spPr>
          <a:xfrm>
            <a:off x="-808" y="-1"/>
            <a:ext cx="12192808" cy="6858001"/>
          </a:xfrm>
          <a:prstGeom prst="rect">
            <a:avLst/>
          </a:prstGeom>
        </p:spPr>
      </p:pic>
    </p:spTree>
    <p:extLst>
      <p:ext uri="{BB962C8B-B14F-4D97-AF65-F5344CB8AC3E}">
        <p14:creationId xmlns:p14="http://schemas.microsoft.com/office/powerpoint/2010/main" val="258591279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8477E-F306-C7FA-BD79-313682F1570B}"/>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13BD3910-4DBC-CED4-11AC-7928B028B91A}"/>
              </a:ext>
            </a:extLst>
          </p:cNvPr>
          <p:cNvSpPr>
            <a:spLocks noGrp="1"/>
          </p:cNvSpPr>
          <p:nvPr>
            <p:ph idx="1"/>
          </p:nvPr>
        </p:nvSpPr>
        <p:spPr/>
        <p:txBody>
          <a:bodyPr/>
          <a:lstStyle/>
          <a:p>
            <a:endParaRPr lang="en-UG" dirty="0"/>
          </a:p>
        </p:txBody>
      </p:sp>
      <p:pic>
        <p:nvPicPr>
          <p:cNvPr id="5" name="Picture 4">
            <a:extLst>
              <a:ext uri="{FF2B5EF4-FFF2-40B4-BE49-F238E27FC236}">
                <a16:creationId xmlns:a16="http://schemas.microsoft.com/office/drawing/2014/main" id="{7368877A-373F-35F8-952E-50D7B7C1A26B}"/>
              </a:ext>
            </a:extLst>
          </p:cNvPr>
          <p:cNvPicPr>
            <a:picLocks noChangeAspect="1"/>
          </p:cNvPicPr>
          <p:nvPr/>
        </p:nvPicPr>
        <p:blipFill rotWithShape="1">
          <a:blip r:embed="rId2"/>
          <a:srcRect l="1733" t="2553" r="1733" b="5182"/>
          <a:stretch/>
        </p:blipFill>
        <p:spPr>
          <a:xfrm>
            <a:off x="0" y="14956"/>
            <a:ext cx="12192000" cy="6816540"/>
          </a:xfrm>
          <a:prstGeom prst="rect">
            <a:avLst/>
          </a:prstGeom>
        </p:spPr>
      </p:pic>
    </p:spTree>
    <p:extLst>
      <p:ext uri="{BB962C8B-B14F-4D97-AF65-F5344CB8AC3E}">
        <p14:creationId xmlns:p14="http://schemas.microsoft.com/office/powerpoint/2010/main" val="74465675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7C78B-3368-DC95-B199-ED785DDC1228}"/>
              </a:ext>
            </a:extLst>
          </p:cNvPr>
          <p:cNvSpPr>
            <a:spLocks noGrp="1"/>
          </p:cNvSpPr>
          <p:nvPr>
            <p:ph type="title"/>
          </p:nvPr>
        </p:nvSpPr>
        <p:spPr>
          <a:xfrm>
            <a:off x="0" y="-66153"/>
            <a:ext cx="12192000" cy="1325563"/>
          </a:xfrm>
        </p:spPr>
        <p:txBody>
          <a:bodyPr/>
          <a:lstStyle/>
          <a:p>
            <a:pPr algn="ctr"/>
            <a:r>
              <a:rPr lang="en-US" b="1" u="sng" dirty="0">
                <a:effectLst>
                  <a:outerShdw blurRad="38100" dist="38100" dir="2700000" algn="tl">
                    <a:srgbClr val="000000">
                      <a:alpha val="43137"/>
                    </a:srgbClr>
                  </a:outerShdw>
                </a:effectLst>
              </a:rPr>
              <a:t>Demonstrating breathing mechanism in man using a model</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F30A5551-360E-071D-218A-38A147EEF34E}"/>
              </a:ext>
            </a:extLst>
          </p:cNvPr>
          <p:cNvSpPr>
            <a:spLocks noGrp="1"/>
          </p:cNvSpPr>
          <p:nvPr>
            <p:ph idx="1"/>
          </p:nvPr>
        </p:nvSpPr>
        <p:spPr>
          <a:xfrm>
            <a:off x="0" y="1112650"/>
            <a:ext cx="12192000" cy="5604669"/>
          </a:xfrm>
        </p:spPr>
        <p:txBody>
          <a:bodyPr>
            <a:noAutofit/>
          </a:bodyPr>
          <a:lstStyle/>
          <a:p>
            <a:pPr marL="0" indent="0" algn="just">
              <a:buNone/>
            </a:pPr>
            <a:r>
              <a:rPr lang="en-US" sz="3200" b="1" u="sng" dirty="0"/>
              <a:t>Materials: </a:t>
            </a:r>
          </a:p>
          <a:p>
            <a:pPr algn="just"/>
            <a:r>
              <a:rPr lang="en-US" sz="3200" dirty="0"/>
              <a:t>Bell jar/cut plastic bottle with a rubber stopper, two balloons, a glass Y-tube, a sheet of rubber, rubber bands or strings</a:t>
            </a:r>
          </a:p>
          <a:p>
            <a:pPr marL="0" indent="0" algn="just">
              <a:buNone/>
            </a:pPr>
            <a:r>
              <a:rPr lang="en-US" sz="3200" b="1" u="sng" dirty="0"/>
              <a:t>Procedure:</a:t>
            </a:r>
          </a:p>
          <a:p>
            <a:pPr algn="just"/>
            <a:r>
              <a:rPr lang="en-US" sz="3200" dirty="0"/>
              <a:t>Tie two balloons to the Y-tube then insert them in the bell jar using a cork.</a:t>
            </a:r>
          </a:p>
          <a:p>
            <a:pPr algn="just"/>
            <a:r>
              <a:rPr lang="en-US" sz="3200" dirty="0"/>
              <a:t>Tie a rubber sheet which has been tied with a small thread in the center at the wide edge of the bell jar.</a:t>
            </a:r>
          </a:p>
          <a:p>
            <a:pPr algn="just"/>
            <a:r>
              <a:rPr lang="en-US" sz="3200" dirty="0"/>
              <a:t>To demonstrate inspiration, pull the rubber sheet downwards using the thread.</a:t>
            </a:r>
          </a:p>
          <a:p>
            <a:pPr algn="just"/>
            <a:r>
              <a:rPr lang="en-US" sz="3200" dirty="0"/>
              <a:t>To demonstrate expiration, release the thread.</a:t>
            </a:r>
          </a:p>
          <a:p>
            <a:pPr algn="just"/>
            <a:endParaRPr lang="en-US" sz="3200" dirty="0"/>
          </a:p>
          <a:p>
            <a:pPr algn="just"/>
            <a:endParaRPr lang="en-UG" sz="3200" dirty="0"/>
          </a:p>
        </p:txBody>
      </p:sp>
    </p:spTree>
    <p:extLst>
      <p:ext uri="{BB962C8B-B14F-4D97-AF65-F5344CB8AC3E}">
        <p14:creationId xmlns:p14="http://schemas.microsoft.com/office/powerpoint/2010/main" val="347759660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D42CCFE-4D3C-1365-3859-290ABDD5B864}"/>
              </a:ext>
            </a:extLst>
          </p:cNvPr>
          <p:cNvPicPr>
            <a:picLocks noChangeAspect="1"/>
          </p:cNvPicPr>
          <p:nvPr/>
        </p:nvPicPr>
        <p:blipFill>
          <a:blip r:embed="rId2"/>
          <a:stretch>
            <a:fillRect/>
          </a:stretch>
        </p:blipFill>
        <p:spPr>
          <a:xfrm>
            <a:off x="0" y="0"/>
            <a:ext cx="12191999" cy="6836135"/>
          </a:xfrm>
          <a:prstGeom prst="rect">
            <a:avLst/>
          </a:prstGeom>
        </p:spPr>
      </p:pic>
    </p:spTree>
    <p:extLst>
      <p:ext uri="{BB962C8B-B14F-4D97-AF65-F5344CB8AC3E}">
        <p14:creationId xmlns:p14="http://schemas.microsoft.com/office/powerpoint/2010/main" val="249576108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DFDB4-01B7-C378-77C9-B22ABA6C707E}"/>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7CBF0C76-048E-E765-DEDE-BBCDAA4E993B}"/>
              </a:ext>
            </a:extLst>
          </p:cNvPr>
          <p:cNvSpPr>
            <a:spLocks noGrp="1"/>
          </p:cNvSpPr>
          <p:nvPr>
            <p:ph idx="1"/>
          </p:nvPr>
        </p:nvSpPr>
        <p:spPr/>
        <p:txBody>
          <a:bodyPr/>
          <a:lstStyle/>
          <a:p>
            <a:endParaRPr lang="en-UG" dirty="0"/>
          </a:p>
        </p:txBody>
      </p:sp>
      <p:pic>
        <p:nvPicPr>
          <p:cNvPr id="4098" name="Picture 2">
            <a:extLst>
              <a:ext uri="{FF2B5EF4-FFF2-40B4-BE49-F238E27FC236}">
                <a16:creationId xmlns:a16="http://schemas.microsoft.com/office/drawing/2014/main" id="{434C1E02-A07F-C324-CEB9-B82848785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2" y="4762"/>
            <a:ext cx="12187237" cy="685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636229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DFA957-8F7C-6B7B-A1F7-39C5AA6D5B04}"/>
              </a:ext>
            </a:extLst>
          </p:cNvPr>
          <p:cNvSpPr>
            <a:spLocks noGrp="1"/>
          </p:cNvSpPr>
          <p:nvPr>
            <p:ph idx="1"/>
          </p:nvPr>
        </p:nvSpPr>
        <p:spPr/>
        <p:txBody>
          <a:bodyPr>
            <a:normAutofit/>
          </a:bodyPr>
          <a:lstStyle/>
          <a:p>
            <a:pPr marL="0" indent="0">
              <a:buNone/>
            </a:pPr>
            <a:r>
              <a:rPr lang="en-US" sz="3600" b="1" u="sng" dirty="0"/>
              <a:t>Observations</a:t>
            </a:r>
          </a:p>
          <a:p>
            <a:r>
              <a:rPr lang="en-US" sz="3600" dirty="0"/>
              <a:t>Balloons inflate and enlarge on pulling down the rubber sheet.</a:t>
            </a:r>
          </a:p>
          <a:p>
            <a:r>
              <a:rPr lang="en-US" sz="3600" dirty="0"/>
              <a:t>Balloons deflate on releasing the thread /pushing the rubber sheet upwards. </a:t>
            </a:r>
            <a:endParaRPr lang="en-UG" sz="3600" dirty="0"/>
          </a:p>
        </p:txBody>
      </p:sp>
    </p:spTree>
    <p:extLst>
      <p:ext uri="{BB962C8B-B14F-4D97-AF65-F5344CB8AC3E}">
        <p14:creationId xmlns:p14="http://schemas.microsoft.com/office/powerpoint/2010/main" val="3468638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DAFB6-D33C-F3F0-7D1D-FCFB17B8A0C5}"/>
              </a:ext>
            </a:extLst>
          </p:cNvPr>
          <p:cNvSpPr>
            <a:spLocks noGrp="1"/>
          </p:cNvSpPr>
          <p:nvPr>
            <p:ph type="title"/>
          </p:nvPr>
        </p:nvSpPr>
        <p:spPr>
          <a:xfrm>
            <a:off x="838200" y="14065"/>
            <a:ext cx="10515600" cy="523070"/>
          </a:xfrm>
        </p:spPr>
        <p:txBody>
          <a:bodyPr>
            <a:normAutofit fontScale="90000"/>
          </a:bodyPr>
          <a:lstStyle/>
          <a:p>
            <a:r>
              <a:rPr lang="en-US" b="1" u="sng" dirty="0">
                <a:effectLst>
                  <a:outerShdw blurRad="38100" dist="38100" dir="2700000" algn="tl">
                    <a:srgbClr val="000000">
                      <a:alpha val="43137"/>
                    </a:srgbClr>
                  </a:outerShdw>
                </a:effectLst>
              </a:rPr>
              <a:t>Explanation</a:t>
            </a:r>
            <a:endParaRPr lang="en-UG" b="1" u="sng" dirty="0">
              <a:effectLst>
                <a:outerShdw blurRad="38100" dist="38100" dir="2700000" algn="tl">
                  <a:srgbClr val="000000">
                    <a:alpha val="43137"/>
                  </a:srgbClr>
                </a:outerShdw>
              </a:effectLst>
            </a:endParaRPr>
          </a:p>
        </p:txBody>
      </p:sp>
      <p:graphicFrame>
        <p:nvGraphicFramePr>
          <p:cNvPr id="5" name="Content Placeholder 4">
            <a:extLst>
              <a:ext uri="{FF2B5EF4-FFF2-40B4-BE49-F238E27FC236}">
                <a16:creationId xmlns:a16="http://schemas.microsoft.com/office/drawing/2014/main" id="{21FEB53C-0386-C29A-D9CB-E5B37878A17F}"/>
              </a:ext>
            </a:extLst>
          </p:cNvPr>
          <p:cNvGraphicFramePr>
            <a:graphicFrameLocks noGrp="1"/>
          </p:cNvGraphicFramePr>
          <p:nvPr>
            <p:ph idx="1"/>
            <p:extLst>
              <p:ext uri="{D42A27DB-BD31-4B8C-83A1-F6EECF244321}">
                <p14:modId xmlns:p14="http://schemas.microsoft.com/office/powerpoint/2010/main" val="3583085897"/>
              </p:ext>
            </p:extLst>
          </p:nvPr>
        </p:nvGraphicFramePr>
        <p:xfrm>
          <a:off x="0" y="677812"/>
          <a:ext cx="12192000" cy="6035040"/>
        </p:xfrm>
        <a:graphic>
          <a:graphicData uri="http://schemas.openxmlformats.org/drawingml/2006/table">
            <a:tbl>
              <a:tblPr firstRow="1" firstCol="1" bandRow="1">
                <a:tableStyleId>{7E9639D4-E3E2-4D34-9284-5A2195B3D0D7}</a:tableStyleId>
              </a:tblPr>
              <a:tblGrid>
                <a:gridCol w="6048385">
                  <a:extLst>
                    <a:ext uri="{9D8B030D-6E8A-4147-A177-3AD203B41FA5}">
                      <a16:colId xmlns:a16="http://schemas.microsoft.com/office/drawing/2014/main" val="3400211523"/>
                    </a:ext>
                  </a:extLst>
                </a:gridCol>
                <a:gridCol w="6143615">
                  <a:extLst>
                    <a:ext uri="{9D8B030D-6E8A-4147-A177-3AD203B41FA5}">
                      <a16:colId xmlns:a16="http://schemas.microsoft.com/office/drawing/2014/main" val="3200847615"/>
                    </a:ext>
                  </a:extLst>
                </a:gridCol>
              </a:tblGrid>
              <a:tr h="889635">
                <a:tc>
                  <a:txBody>
                    <a:bodyPr/>
                    <a:lstStyle/>
                    <a:p>
                      <a:pPr>
                        <a:lnSpc>
                          <a:spcPct val="100000"/>
                        </a:lnSpc>
                        <a:spcAft>
                          <a:spcPts val="1000"/>
                        </a:spcAft>
                        <a:tabLst>
                          <a:tab pos="1085850" algn="l"/>
                        </a:tabLst>
                      </a:pPr>
                      <a:r>
                        <a:rPr lang="en-US" sz="3600" b="1" dirty="0">
                          <a:effectLst>
                            <a:outerShdw blurRad="38100" dist="38100" dir="2700000" algn="tl">
                              <a:srgbClr val="000000">
                                <a:alpha val="43137"/>
                              </a:srgbClr>
                            </a:outerShdw>
                          </a:effectLst>
                        </a:rPr>
                        <a:t>Pulling the rubber sheet downwards</a:t>
                      </a:r>
                      <a:endParaRPr lang="en-UG" sz="36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23763" marR="23763" marT="0" marB="0"/>
                </a:tc>
                <a:tc>
                  <a:txBody>
                    <a:bodyPr/>
                    <a:lstStyle/>
                    <a:p>
                      <a:pPr>
                        <a:lnSpc>
                          <a:spcPct val="100000"/>
                        </a:lnSpc>
                        <a:spcAft>
                          <a:spcPts val="1000"/>
                        </a:spcAft>
                        <a:tabLst>
                          <a:tab pos="1085850" algn="l"/>
                        </a:tabLst>
                      </a:pPr>
                      <a:r>
                        <a:rPr lang="en-US" sz="3600" b="1" dirty="0">
                          <a:effectLst>
                            <a:outerShdw blurRad="38100" dist="38100" dir="2700000" algn="tl">
                              <a:srgbClr val="000000">
                                <a:alpha val="43137"/>
                              </a:srgbClr>
                            </a:outerShdw>
                          </a:effectLst>
                        </a:rPr>
                        <a:t>Releasing/Pushing the rubber sheet upwards</a:t>
                      </a:r>
                      <a:endParaRPr lang="en-UG" sz="3600" b="1" dirty="0">
                        <a:effectLst>
                          <a:outerShdw blurRad="38100" dist="38100" dir="2700000" algn="tl">
                            <a:srgbClr val="000000">
                              <a:alpha val="43137"/>
                            </a:srgbClr>
                          </a:outerShdw>
                        </a:effectLst>
                        <a:latin typeface="Calibri" panose="020F0502020204030204" pitchFamily="34" charset="0"/>
                        <a:ea typeface="Calibri" panose="020F0502020204030204" pitchFamily="34" charset="0"/>
                        <a:cs typeface="Times New Roman" panose="02020603050405020304" pitchFamily="18" charset="0"/>
                      </a:endParaRPr>
                    </a:p>
                  </a:txBody>
                  <a:tcPr marL="23763" marR="23763" marT="0" marB="0"/>
                </a:tc>
                <a:extLst>
                  <a:ext uri="{0D108BD9-81ED-4DB2-BD59-A6C34878D82A}">
                    <a16:rowId xmlns:a16="http://schemas.microsoft.com/office/drawing/2014/main" val="2216734306"/>
                  </a:ext>
                </a:extLst>
              </a:tr>
              <a:tr h="3334926">
                <a:tc>
                  <a:txBody>
                    <a:bodyPr/>
                    <a:lstStyle/>
                    <a:p>
                      <a:pPr marL="1028700" indent="-571500">
                        <a:lnSpc>
                          <a:spcPct val="100000"/>
                        </a:lnSpc>
                        <a:buFont typeface="Arial" panose="020B0604020202020204" pitchFamily="34" charset="0"/>
                        <a:buChar char="•"/>
                        <a:tabLst>
                          <a:tab pos="1085850" algn="l"/>
                        </a:tabLst>
                      </a:pPr>
                      <a:r>
                        <a:rPr lang="en-US" sz="3600" b="0" dirty="0">
                          <a:effectLst/>
                        </a:rPr>
                        <a:t>Volume of space in the bell jar increases.</a:t>
                      </a:r>
                      <a:endParaRPr lang="en-UG" sz="3600" b="0" dirty="0">
                        <a:effectLst/>
                      </a:endParaRPr>
                    </a:p>
                    <a:p>
                      <a:pPr marL="1028700" indent="-571500">
                        <a:lnSpc>
                          <a:spcPct val="100000"/>
                        </a:lnSpc>
                        <a:buFont typeface="Arial" panose="020B0604020202020204" pitchFamily="34" charset="0"/>
                        <a:buChar char="•"/>
                        <a:tabLst>
                          <a:tab pos="1085850" algn="l"/>
                        </a:tabLst>
                      </a:pPr>
                      <a:r>
                        <a:rPr lang="en-US" sz="3600" b="0" dirty="0">
                          <a:effectLst/>
                        </a:rPr>
                        <a:t>Pressure inside the bell jar decreases below atmospheric pressure.</a:t>
                      </a:r>
                      <a:endParaRPr lang="en-UG" sz="3600" b="0" dirty="0">
                        <a:effectLst/>
                      </a:endParaRPr>
                    </a:p>
                    <a:p>
                      <a:pPr marL="1028700" indent="-571500">
                        <a:lnSpc>
                          <a:spcPct val="100000"/>
                        </a:lnSpc>
                        <a:buFont typeface="Arial" panose="020B0604020202020204" pitchFamily="34" charset="0"/>
                        <a:buChar char="•"/>
                        <a:tabLst>
                          <a:tab pos="1085850" algn="l"/>
                        </a:tabLst>
                      </a:pPr>
                      <a:r>
                        <a:rPr lang="en-US" sz="3600" b="0" dirty="0">
                          <a:effectLst/>
                        </a:rPr>
                        <a:t>Air enters into the balloons through the Y-tubes;</a:t>
                      </a:r>
                      <a:endParaRPr lang="en-UG" sz="3600" b="0" dirty="0">
                        <a:effectLst/>
                      </a:endParaRPr>
                    </a:p>
                    <a:p>
                      <a:pPr marL="1028700" indent="-571500">
                        <a:lnSpc>
                          <a:spcPct val="100000"/>
                        </a:lnSpc>
                        <a:buFont typeface="Arial" panose="020B0604020202020204" pitchFamily="34" charset="0"/>
                        <a:buChar char="•"/>
                        <a:tabLst>
                          <a:tab pos="1085850" algn="l"/>
                        </a:tabLst>
                      </a:pPr>
                      <a:r>
                        <a:rPr lang="en-US" sz="3600" b="0" dirty="0">
                          <a:effectLst/>
                        </a:rPr>
                        <a:t>Balloons get inflated</a:t>
                      </a:r>
                      <a:endParaRPr lang="en-UG" sz="3600" b="0" dirty="0">
                        <a:effectLst/>
                        <a:latin typeface="Calibri" panose="020F0502020204030204" pitchFamily="34" charset="0"/>
                        <a:ea typeface="Calibri" panose="020F0502020204030204" pitchFamily="34" charset="0"/>
                        <a:cs typeface="Times New Roman" panose="02020603050405020304" pitchFamily="18" charset="0"/>
                      </a:endParaRPr>
                    </a:p>
                  </a:txBody>
                  <a:tcPr marL="23763" marR="23763" marT="0" marB="0"/>
                </a:tc>
                <a:tc>
                  <a:txBody>
                    <a:bodyPr/>
                    <a:lstStyle/>
                    <a:p>
                      <a:pPr marL="1028700" indent="-571500">
                        <a:lnSpc>
                          <a:spcPct val="100000"/>
                        </a:lnSpc>
                        <a:buFont typeface="Arial" panose="020B0604020202020204" pitchFamily="34" charset="0"/>
                        <a:buChar char="•"/>
                        <a:tabLst>
                          <a:tab pos="1085850" algn="l"/>
                        </a:tabLst>
                      </a:pPr>
                      <a:r>
                        <a:rPr lang="en-US" sz="3600" b="0" dirty="0">
                          <a:effectLst/>
                        </a:rPr>
                        <a:t>Volume of space in the bell jar decreases.</a:t>
                      </a:r>
                      <a:endParaRPr lang="en-UG" sz="3600" b="0" dirty="0">
                        <a:effectLst/>
                      </a:endParaRPr>
                    </a:p>
                    <a:p>
                      <a:pPr marL="1028700" indent="-571500">
                        <a:lnSpc>
                          <a:spcPct val="100000"/>
                        </a:lnSpc>
                        <a:buFont typeface="Arial" panose="020B0604020202020204" pitchFamily="34" charset="0"/>
                        <a:buChar char="•"/>
                        <a:tabLst>
                          <a:tab pos="1085850" algn="l"/>
                        </a:tabLst>
                      </a:pPr>
                      <a:r>
                        <a:rPr lang="en-US" sz="3600" b="0" dirty="0">
                          <a:effectLst/>
                        </a:rPr>
                        <a:t>Pressure inside the bell jar increases above atmospheric pressure.</a:t>
                      </a:r>
                      <a:endParaRPr lang="en-UG" sz="3600" b="0" dirty="0">
                        <a:effectLst/>
                      </a:endParaRPr>
                    </a:p>
                    <a:p>
                      <a:pPr marL="1028700" indent="-571500">
                        <a:lnSpc>
                          <a:spcPct val="100000"/>
                        </a:lnSpc>
                        <a:buFont typeface="Arial" panose="020B0604020202020204" pitchFamily="34" charset="0"/>
                        <a:buChar char="•"/>
                        <a:tabLst>
                          <a:tab pos="1085850" algn="l"/>
                        </a:tabLst>
                      </a:pPr>
                      <a:r>
                        <a:rPr lang="en-US" sz="3600" b="0" dirty="0">
                          <a:effectLst/>
                        </a:rPr>
                        <a:t>Air leaves the balloons to the atmosphere through the Y-tubes;</a:t>
                      </a:r>
                      <a:endParaRPr lang="en-UG" sz="3600" b="0" dirty="0">
                        <a:effectLst/>
                      </a:endParaRPr>
                    </a:p>
                    <a:p>
                      <a:pPr marL="1028700" indent="-571500">
                        <a:lnSpc>
                          <a:spcPct val="100000"/>
                        </a:lnSpc>
                        <a:buFont typeface="Arial" panose="020B0604020202020204" pitchFamily="34" charset="0"/>
                        <a:buChar char="•"/>
                        <a:tabLst>
                          <a:tab pos="1085850" algn="l"/>
                        </a:tabLst>
                      </a:pPr>
                      <a:r>
                        <a:rPr lang="en-US" sz="3600" b="0" dirty="0">
                          <a:effectLst/>
                        </a:rPr>
                        <a:t>Balloons get deflated</a:t>
                      </a:r>
                      <a:endParaRPr lang="en-UG" sz="3600" b="0" dirty="0">
                        <a:effectLst/>
                      </a:endParaRPr>
                    </a:p>
                  </a:txBody>
                  <a:tcPr marL="23763" marR="23763" marT="0" marB="0"/>
                </a:tc>
                <a:extLst>
                  <a:ext uri="{0D108BD9-81ED-4DB2-BD59-A6C34878D82A}">
                    <a16:rowId xmlns:a16="http://schemas.microsoft.com/office/drawing/2014/main" val="674411105"/>
                  </a:ext>
                </a:extLst>
              </a:tr>
            </a:tbl>
          </a:graphicData>
        </a:graphic>
      </p:graphicFrame>
    </p:spTree>
    <p:extLst>
      <p:ext uri="{BB962C8B-B14F-4D97-AF65-F5344CB8AC3E}">
        <p14:creationId xmlns:p14="http://schemas.microsoft.com/office/powerpoint/2010/main" val="348363200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C6222-29F5-7E54-BF1E-7D2575F852FE}"/>
              </a:ext>
            </a:extLst>
          </p:cNvPr>
          <p:cNvSpPr>
            <a:spLocks noGrp="1"/>
          </p:cNvSpPr>
          <p:nvPr>
            <p:ph type="title"/>
          </p:nvPr>
        </p:nvSpPr>
        <p:spPr/>
        <p:txBody>
          <a:bodyPr/>
          <a:lstStyle/>
          <a:p>
            <a:r>
              <a:rPr lang="en-US" b="1" u="sng" dirty="0"/>
              <a:t>Relating the model parts to human respiratory system</a:t>
            </a:r>
            <a:endParaRPr lang="en-UG" b="1" u="sng" dirty="0"/>
          </a:p>
        </p:txBody>
      </p:sp>
      <p:sp>
        <p:nvSpPr>
          <p:cNvPr id="3" name="Content Placeholder 2">
            <a:extLst>
              <a:ext uri="{FF2B5EF4-FFF2-40B4-BE49-F238E27FC236}">
                <a16:creationId xmlns:a16="http://schemas.microsoft.com/office/drawing/2014/main" id="{676CF921-C184-FF97-9F48-FCC66D005D33}"/>
              </a:ext>
            </a:extLst>
          </p:cNvPr>
          <p:cNvSpPr>
            <a:spLocks noGrp="1"/>
          </p:cNvSpPr>
          <p:nvPr>
            <p:ph idx="1"/>
          </p:nvPr>
        </p:nvSpPr>
        <p:spPr/>
        <p:txBody>
          <a:bodyPr>
            <a:normAutofit/>
          </a:bodyPr>
          <a:lstStyle/>
          <a:p>
            <a:r>
              <a:rPr lang="en-US" sz="3600" dirty="0"/>
              <a:t>The Y- tube represents the trachea and bronchi.</a:t>
            </a:r>
          </a:p>
          <a:p>
            <a:r>
              <a:rPr lang="en-US" sz="3600" dirty="0"/>
              <a:t>Balloons represent lungs.</a:t>
            </a:r>
          </a:p>
          <a:p>
            <a:r>
              <a:rPr lang="en-US" sz="3600" dirty="0"/>
              <a:t>The rubber sheet represents the diaphragm.</a:t>
            </a:r>
          </a:p>
          <a:p>
            <a:r>
              <a:rPr lang="en-US" sz="3600" dirty="0"/>
              <a:t>The bell jar represents the ribcage and the space between it represents thoracic cavity</a:t>
            </a:r>
          </a:p>
          <a:p>
            <a:endParaRPr lang="en-UG" sz="3600" dirty="0"/>
          </a:p>
        </p:txBody>
      </p:sp>
    </p:spTree>
    <p:extLst>
      <p:ext uri="{BB962C8B-B14F-4D97-AF65-F5344CB8AC3E}">
        <p14:creationId xmlns:p14="http://schemas.microsoft.com/office/powerpoint/2010/main" val="207875578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99B1DA1-3CC0-1756-030C-D788BF1F5748}"/>
              </a:ext>
            </a:extLst>
          </p:cNvPr>
          <p:cNvSpPr>
            <a:spLocks noGrp="1"/>
          </p:cNvSpPr>
          <p:nvPr>
            <p:ph idx="1"/>
          </p:nvPr>
        </p:nvSpPr>
        <p:spPr/>
        <p:txBody>
          <a:bodyPr>
            <a:normAutofit/>
          </a:bodyPr>
          <a:lstStyle/>
          <a:p>
            <a:pPr marL="0" indent="0">
              <a:buNone/>
            </a:pPr>
            <a:r>
              <a:rPr lang="en-US" sz="3600" dirty="0"/>
              <a:t>Q. Why doesn’t the model above accurately represent the human respiratory system? </a:t>
            </a:r>
            <a:endParaRPr lang="en-UG" sz="3600" dirty="0"/>
          </a:p>
        </p:txBody>
      </p:sp>
    </p:spTree>
    <p:extLst>
      <p:ext uri="{BB962C8B-B14F-4D97-AF65-F5344CB8AC3E}">
        <p14:creationId xmlns:p14="http://schemas.microsoft.com/office/powerpoint/2010/main" val="40129246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E0E172-7B94-D7C3-21B8-BD57955BD48A}"/>
              </a:ext>
            </a:extLst>
          </p:cNvPr>
          <p:cNvSpPr>
            <a:spLocks noGrp="1"/>
          </p:cNvSpPr>
          <p:nvPr>
            <p:ph idx="1"/>
          </p:nvPr>
        </p:nvSpPr>
        <p:spPr>
          <a:xfrm>
            <a:off x="112543" y="1055078"/>
            <a:ext cx="11915334" cy="5121886"/>
          </a:xfrm>
        </p:spPr>
        <p:txBody>
          <a:bodyPr>
            <a:normAutofit/>
          </a:bodyPr>
          <a:lstStyle/>
          <a:p>
            <a:pPr algn="just"/>
            <a:r>
              <a:rPr lang="en-US" sz="3600" dirty="0"/>
              <a:t>Intercostal muscles are not represented.</a:t>
            </a:r>
          </a:p>
          <a:p>
            <a:pPr algn="just"/>
            <a:r>
              <a:rPr lang="en-US" sz="3600" dirty="0"/>
              <a:t>Alveoli are not represented.</a:t>
            </a:r>
          </a:p>
          <a:p>
            <a:pPr algn="just"/>
            <a:r>
              <a:rPr lang="en-US" sz="3600" dirty="0"/>
              <a:t>The wall of the bell jar is rigid while the thoracic wall/ribs are movable.</a:t>
            </a:r>
          </a:p>
          <a:p>
            <a:pPr algn="just"/>
            <a:r>
              <a:rPr lang="en-US" sz="3600" dirty="0"/>
              <a:t>The rubber sheet is not dome shaped at rest like the diaphragm.</a:t>
            </a:r>
          </a:p>
          <a:p>
            <a:pPr algn="just"/>
            <a:r>
              <a:rPr lang="en-US" sz="3600" dirty="0"/>
              <a:t>Lungs fill almost fill the chest cavity, unlike the balloons.</a:t>
            </a:r>
          </a:p>
          <a:p>
            <a:pPr algn="just"/>
            <a:r>
              <a:rPr lang="en-US" sz="3600" dirty="0"/>
              <a:t>Glass tube (Y-tube) lacks rings of cartilage.</a:t>
            </a:r>
          </a:p>
          <a:p>
            <a:pPr algn="just"/>
            <a:endParaRPr lang="en-UG" sz="3600" dirty="0"/>
          </a:p>
        </p:txBody>
      </p:sp>
    </p:spTree>
    <p:extLst>
      <p:ext uri="{BB962C8B-B14F-4D97-AF65-F5344CB8AC3E}">
        <p14:creationId xmlns:p14="http://schemas.microsoft.com/office/powerpoint/2010/main" val="2543747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AE48E3-7472-B7F7-2C0E-47D52D0CBB01}"/>
              </a:ext>
            </a:extLst>
          </p:cNvPr>
          <p:cNvSpPr>
            <a:spLocks noGrp="1"/>
          </p:cNvSpPr>
          <p:nvPr>
            <p:ph type="title"/>
          </p:nvPr>
        </p:nvSpPr>
        <p:spPr>
          <a:xfrm>
            <a:off x="838200" y="13432"/>
            <a:ext cx="10515600" cy="667606"/>
          </a:xfrm>
        </p:spPr>
        <p:txBody>
          <a:bodyPr>
            <a:normAutofit fontScale="90000"/>
          </a:bodyPr>
          <a:lstStyle/>
          <a:p>
            <a:pPr algn="ctr"/>
            <a:r>
              <a:rPr lang="en-US" b="1" u="sng" dirty="0">
                <a:effectLst>
                  <a:outerShdw blurRad="38100" dist="38100" dir="2700000" algn="tl">
                    <a:srgbClr val="000000">
                      <a:alpha val="43137"/>
                    </a:srgbClr>
                  </a:outerShdw>
                </a:effectLst>
              </a:rPr>
              <a:t>Gaseous exchange at the alveolus</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44238887-E2AF-09CC-8B42-059A9E4DB6ED}"/>
              </a:ext>
            </a:extLst>
          </p:cNvPr>
          <p:cNvSpPr>
            <a:spLocks noGrp="1"/>
          </p:cNvSpPr>
          <p:nvPr>
            <p:ph idx="1"/>
          </p:nvPr>
        </p:nvSpPr>
        <p:spPr>
          <a:xfrm>
            <a:off x="168806" y="793582"/>
            <a:ext cx="11840309" cy="5790098"/>
          </a:xfrm>
        </p:spPr>
        <p:txBody>
          <a:bodyPr>
            <a:noAutofit/>
          </a:bodyPr>
          <a:lstStyle/>
          <a:p>
            <a:pPr algn="just"/>
            <a:r>
              <a:rPr lang="en-US" sz="3600" dirty="0"/>
              <a:t>In the alveoli, gaseous exchange takes place by diffusion. The lining of the alveoli is covered with a film of moisture.</a:t>
            </a:r>
          </a:p>
          <a:p>
            <a:pPr algn="just"/>
            <a:r>
              <a:rPr lang="en-US" sz="3600" dirty="0"/>
              <a:t>Air taken into the alveolus during inspiration has high oxygen concentration and low carbon dioxide concentration whereas blood reaching alveolus has low concentration of oxygen and high carbon dioxide concentration.</a:t>
            </a:r>
          </a:p>
          <a:p>
            <a:pPr algn="just"/>
            <a:r>
              <a:rPr lang="en-US" sz="3600" dirty="0"/>
              <a:t>Oxygen in the inspired air in alveolar cavity dissolves in the layer of moisture lining the inner surface of the alveolus and diffuses across the alveolar epithelium, into the red blood cells in the blood capillaries, and is transported to tissue cell as </a:t>
            </a:r>
            <a:r>
              <a:rPr lang="en-US" sz="3600" dirty="0" err="1"/>
              <a:t>oxyhaemoglobin</a:t>
            </a:r>
            <a:r>
              <a:rPr lang="en-US" sz="3600" dirty="0"/>
              <a:t>.</a:t>
            </a:r>
          </a:p>
        </p:txBody>
      </p:sp>
    </p:spTree>
    <p:extLst>
      <p:ext uri="{BB962C8B-B14F-4D97-AF65-F5344CB8AC3E}">
        <p14:creationId xmlns:p14="http://schemas.microsoft.com/office/powerpoint/2010/main" val="1528348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8AEE6B-9CB0-C0A6-6242-5B0D47D5F207}"/>
              </a:ext>
            </a:extLst>
          </p:cNvPr>
          <p:cNvSpPr>
            <a:spLocks noGrp="1"/>
          </p:cNvSpPr>
          <p:nvPr>
            <p:ph idx="1"/>
          </p:nvPr>
        </p:nvSpPr>
        <p:spPr>
          <a:xfrm>
            <a:off x="211015" y="126609"/>
            <a:ext cx="11760591" cy="6485206"/>
          </a:xfrm>
        </p:spPr>
        <p:txBody>
          <a:bodyPr>
            <a:normAutofit/>
          </a:bodyPr>
          <a:lstStyle/>
          <a:p>
            <a:pPr algn="just">
              <a:lnSpc>
                <a:spcPct val="160000"/>
              </a:lnSpc>
            </a:pPr>
            <a:r>
              <a:rPr lang="en-US" sz="3600" dirty="0"/>
              <a:t>CO2 produced by respiring tissues diffuse from tissue cells across the walls of the capillaries into the blood plasma and is transported to the lungs. On reaching the lungs, CO2 diffuses across the capillary wall and epithelium wall of the alveoli into the alveolar space and exhaled/expired/breathed out.</a:t>
            </a:r>
          </a:p>
          <a:p>
            <a:pPr algn="just">
              <a:lnSpc>
                <a:spcPct val="160000"/>
              </a:lnSpc>
            </a:pPr>
            <a:endParaRPr lang="en-UG" sz="3600" dirty="0"/>
          </a:p>
          <a:p>
            <a:pPr algn="just">
              <a:lnSpc>
                <a:spcPct val="160000"/>
              </a:lnSpc>
            </a:pPr>
            <a:endParaRPr lang="en-UG" sz="3600" dirty="0"/>
          </a:p>
        </p:txBody>
      </p:sp>
    </p:spTree>
    <p:extLst>
      <p:ext uri="{BB962C8B-B14F-4D97-AF65-F5344CB8AC3E}">
        <p14:creationId xmlns:p14="http://schemas.microsoft.com/office/powerpoint/2010/main" val="6492642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5868B5-CFE4-679B-11D3-F5B72E983134}"/>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A8EBCFDB-86B7-822D-B1F9-74C46D73EB3A}"/>
              </a:ext>
            </a:extLst>
          </p:cNvPr>
          <p:cNvSpPr>
            <a:spLocks noGrp="1"/>
          </p:cNvSpPr>
          <p:nvPr>
            <p:ph idx="1"/>
          </p:nvPr>
        </p:nvSpPr>
        <p:spPr/>
        <p:txBody>
          <a:bodyPr/>
          <a:lstStyle/>
          <a:p>
            <a:endParaRPr lang="en-UG"/>
          </a:p>
        </p:txBody>
      </p:sp>
      <p:pic>
        <p:nvPicPr>
          <p:cNvPr id="3074" name="Picture 10">
            <a:extLst>
              <a:ext uri="{FF2B5EF4-FFF2-40B4-BE49-F238E27FC236}">
                <a16:creationId xmlns:a16="http://schemas.microsoft.com/office/drawing/2014/main" id="{ED70CD0F-7923-331A-2784-EA0D121FC1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3" y="4763"/>
            <a:ext cx="12187237" cy="68626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03075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2ED88-1AC7-FA30-634C-5712C4DFAB89}"/>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3BA95CB2-380C-028A-82D0-FE0A46B315BA}"/>
              </a:ext>
            </a:extLst>
          </p:cNvPr>
          <p:cNvSpPr>
            <a:spLocks noGrp="1"/>
          </p:cNvSpPr>
          <p:nvPr>
            <p:ph idx="1"/>
          </p:nvPr>
        </p:nvSpPr>
        <p:spPr/>
        <p:txBody>
          <a:bodyPr/>
          <a:lstStyle/>
          <a:p>
            <a:endParaRPr lang="en-UG"/>
          </a:p>
        </p:txBody>
      </p:sp>
      <p:pic>
        <p:nvPicPr>
          <p:cNvPr id="4098" name="Picture 2">
            <a:extLst>
              <a:ext uri="{FF2B5EF4-FFF2-40B4-BE49-F238E27FC236}">
                <a16:creationId xmlns:a16="http://schemas.microsoft.com/office/drawing/2014/main" id="{606C9D66-BB14-75B3-ED09-8D538C366678}"/>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5"/>
          <a:stretch/>
        </p:blipFill>
        <p:spPr bwMode="auto">
          <a:xfrm>
            <a:off x="0" y="19510"/>
            <a:ext cx="12191999" cy="6853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620973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05835D-6A04-6CB8-DF0D-DC7604BABF9E}"/>
              </a:ext>
            </a:extLst>
          </p:cNvPr>
          <p:cNvSpPr>
            <a:spLocks noGrp="1"/>
          </p:cNvSpPr>
          <p:nvPr>
            <p:ph idx="1"/>
          </p:nvPr>
        </p:nvSpPr>
        <p:spPr>
          <a:xfrm>
            <a:off x="323557" y="573600"/>
            <a:ext cx="11479237" cy="5517712"/>
          </a:xfrm>
        </p:spPr>
        <p:txBody>
          <a:bodyPr>
            <a:noAutofit/>
          </a:bodyPr>
          <a:lstStyle/>
          <a:p>
            <a:pPr marL="0" indent="0" algn="ctr">
              <a:buNone/>
            </a:pPr>
            <a:r>
              <a:rPr lang="en-US" sz="3600" b="1" u="sng" dirty="0">
                <a:effectLst>
                  <a:outerShdw blurRad="38100" dist="38100" dir="2700000" algn="tl">
                    <a:srgbClr val="000000">
                      <a:alpha val="43137"/>
                    </a:srgbClr>
                  </a:outerShdw>
                </a:effectLst>
              </a:rPr>
              <a:t>Adaptations of the alveoli for gaseous exchange</a:t>
            </a:r>
          </a:p>
          <a:p>
            <a:pPr algn="just"/>
            <a:r>
              <a:rPr lang="en-US" sz="3600" dirty="0"/>
              <a:t>They are numerous to provide large surface area for gaseous exchange.</a:t>
            </a:r>
          </a:p>
          <a:p>
            <a:pPr algn="just"/>
            <a:r>
              <a:rPr lang="en-US" sz="3600" dirty="0"/>
              <a:t>Have rich blood supply/dense network of blood capillaries; to quickly transport oxygen and carbon dioxide to maintain high diffusion gradient. </a:t>
            </a:r>
          </a:p>
          <a:p>
            <a:pPr algn="just"/>
            <a:r>
              <a:rPr lang="en-US" sz="3600" dirty="0"/>
              <a:t>Have moist surfaces; to dissolve gases for easy transportation in solution.</a:t>
            </a:r>
          </a:p>
          <a:p>
            <a:pPr algn="just"/>
            <a:r>
              <a:rPr lang="en-US" sz="3600" dirty="0"/>
              <a:t>Have thin membrane/epithelium; that provide shorter distance for diffusion of gases.</a:t>
            </a:r>
          </a:p>
          <a:p>
            <a:pPr algn="just"/>
            <a:endParaRPr lang="en-UG" sz="3600" dirty="0"/>
          </a:p>
        </p:txBody>
      </p:sp>
    </p:spTree>
    <p:extLst>
      <p:ext uri="{BB962C8B-B14F-4D97-AF65-F5344CB8AC3E}">
        <p14:creationId xmlns:p14="http://schemas.microsoft.com/office/powerpoint/2010/main" val="191890218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7C181-B5C3-D555-6093-53609BC4D4A1}"/>
              </a:ext>
            </a:extLst>
          </p:cNvPr>
          <p:cNvSpPr>
            <a:spLocks noGrp="1"/>
          </p:cNvSpPr>
          <p:nvPr>
            <p:ph idx="1"/>
          </p:nvPr>
        </p:nvSpPr>
        <p:spPr>
          <a:xfrm>
            <a:off x="1" y="112542"/>
            <a:ext cx="12192000" cy="6583680"/>
          </a:xfrm>
        </p:spPr>
        <p:txBody>
          <a:bodyPr>
            <a:noAutofit/>
          </a:bodyPr>
          <a:lstStyle/>
          <a:p>
            <a:pPr marL="0" indent="0" algn="just">
              <a:buNone/>
            </a:pPr>
            <a:r>
              <a:rPr lang="en-US" sz="3200" dirty="0"/>
              <a:t>Discussion </a:t>
            </a:r>
          </a:p>
          <a:p>
            <a:pPr marL="742950" indent="-742950" algn="just">
              <a:buFont typeface="+mj-lt"/>
              <a:buAutoNum type="alphaLcParenR"/>
            </a:pPr>
            <a:r>
              <a:rPr lang="en-US" sz="3200" dirty="0"/>
              <a:t>Distinguish between breathing and gaseous exchange</a:t>
            </a:r>
          </a:p>
          <a:p>
            <a:pPr marL="742950" indent="-742950" algn="just">
              <a:buFont typeface="+mj-lt"/>
              <a:buAutoNum type="alphaLcParenR"/>
            </a:pPr>
            <a:r>
              <a:rPr lang="en-US" sz="3200" dirty="0"/>
              <a:t>The walls of the alveolus is moist and can expand and contract. Explain what would happen if the alveoli walls lost their elasticity and moisture.</a:t>
            </a:r>
          </a:p>
          <a:p>
            <a:pPr marL="742950" indent="-742950" algn="just">
              <a:buFont typeface="+mj-lt"/>
              <a:buAutoNum type="alphaLcParenR"/>
            </a:pPr>
            <a:r>
              <a:rPr lang="en-US" sz="3200" dirty="0"/>
              <a:t>Explain what would happen if a person sustains an injury that renders the epiglottis functionless.</a:t>
            </a:r>
          </a:p>
          <a:p>
            <a:pPr marL="742950" indent="-742950" algn="just">
              <a:buFont typeface="+mj-lt"/>
              <a:buAutoNum type="alphaLcParenR"/>
            </a:pPr>
            <a:r>
              <a:rPr lang="en-US" sz="3200" dirty="0"/>
              <a:t>How do the following affect breathing rate in man</a:t>
            </a:r>
          </a:p>
          <a:p>
            <a:pPr marL="857250" indent="-857250" algn="just">
              <a:buFont typeface="+mj-lt"/>
              <a:buAutoNum type="romanLcPeriod"/>
            </a:pPr>
            <a:r>
              <a:rPr lang="en-US" sz="3200" dirty="0"/>
              <a:t>Exercise</a:t>
            </a:r>
          </a:p>
          <a:p>
            <a:pPr marL="857250" indent="-857250" algn="just">
              <a:buFont typeface="+mj-lt"/>
              <a:buAutoNum type="romanLcPeriod"/>
            </a:pPr>
            <a:r>
              <a:rPr lang="en-US" sz="3200" dirty="0"/>
              <a:t>Altitude </a:t>
            </a:r>
          </a:p>
          <a:p>
            <a:pPr marL="857250" indent="-857250" algn="just">
              <a:buFont typeface="+mj-lt"/>
              <a:buAutoNum type="romanLcPeriod"/>
            </a:pPr>
            <a:r>
              <a:rPr lang="en-US" sz="3200" dirty="0"/>
              <a:t>Weight </a:t>
            </a:r>
          </a:p>
          <a:p>
            <a:pPr marL="857250" indent="-857250" algn="just">
              <a:buFont typeface="+mj-lt"/>
              <a:buAutoNum type="romanLcPeriod"/>
            </a:pPr>
            <a:r>
              <a:rPr lang="en-US" sz="3200" dirty="0"/>
              <a:t>Environment temperature</a:t>
            </a:r>
            <a:endParaRPr lang="en-UG" sz="3200" dirty="0"/>
          </a:p>
        </p:txBody>
      </p:sp>
    </p:spTree>
    <p:extLst>
      <p:ext uri="{BB962C8B-B14F-4D97-AF65-F5344CB8AC3E}">
        <p14:creationId xmlns:p14="http://schemas.microsoft.com/office/powerpoint/2010/main" val="25287839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3501F-FEAE-06CE-80EB-EECB67FCE4FF}"/>
              </a:ext>
            </a:extLst>
          </p:cNvPr>
          <p:cNvSpPr>
            <a:spLocks noGrp="1"/>
          </p:cNvSpPr>
          <p:nvPr>
            <p:ph type="title"/>
          </p:nvPr>
        </p:nvSpPr>
        <p:spPr>
          <a:xfrm>
            <a:off x="838200" y="41562"/>
            <a:ext cx="10515600" cy="535214"/>
          </a:xfrm>
        </p:spPr>
        <p:txBody>
          <a:bodyPr>
            <a:normAutofit fontScale="90000"/>
          </a:bodyPr>
          <a:lstStyle/>
          <a:p>
            <a:r>
              <a:rPr lang="en-US" b="1" u="sng" dirty="0">
                <a:effectLst>
                  <a:outerShdw blurRad="38100" dist="38100" dir="2700000" algn="tl">
                    <a:srgbClr val="000000">
                      <a:alpha val="43137"/>
                    </a:srgbClr>
                  </a:outerShdw>
                </a:effectLst>
              </a:rPr>
              <a:t>Composition of inspired and expired air </a:t>
            </a:r>
            <a:endParaRPr lang="en-UG" dirty="0"/>
          </a:p>
        </p:txBody>
      </p:sp>
      <p:sp>
        <p:nvSpPr>
          <p:cNvPr id="3" name="Content Placeholder 2">
            <a:extLst>
              <a:ext uri="{FF2B5EF4-FFF2-40B4-BE49-F238E27FC236}">
                <a16:creationId xmlns:a16="http://schemas.microsoft.com/office/drawing/2014/main" id="{8D2056BB-4AD5-F318-8DEE-B81EF2D51196}"/>
              </a:ext>
            </a:extLst>
          </p:cNvPr>
          <p:cNvSpPr>
            <a:spLocks noGrp="1"/>
          </p:cNvSpPr>
          <p:nvPr>
            <p:ph idx="1"/>
          </p:nvPr>
        </p:nvSpPr>
        <p:spPr>
          <a:xfrm>
            <a:off x="351692" y="576776"/>
            <a:ext cx="11840308" cy="6239662"/>
          </a:xfrm>
        </p:spPr>
        <p:txBody>
          <a:bodyPr>
            <a:noAutofit/>
          </a:bodyPr>
          <a:lstStyle/>
          <a:p>
            <a:pPr marL="0" indent="0" algn="just">
              <a:buNone/>
            </a:pPr>
            <a:r>
              <a:rPr lang="en-US" sz="3200" dirty="0"/>
              <a:t>1. Oxygen </a:t>
            </a:r>
          </a:p>
          <a:p>
            <a:pPr marL="0" indent="0" algn="ctr">
              <a:buNone/>
            </a:pPr>
            <a:r>
              <a:rPr lang="en-US" sz="3200" b="1" u="sng" dirty="0">
                <a:effectLst>
                  <a:outerShdw blurRad="38100" dist="38100" dir="2700000" algn="tl">
                    <a:srgbClr val="000000">
                      <a:alpha val="43137"/>
                    </a:srgbClr>
                  </a:outerShdw>
                </a:effectLst>
              </a:rPr>
              <a:t>Comparing amount of oxygen in exhaled and inhaled air</a:t>
            </a:r>
            <a:endParaRPr lang="en-US" sz="3200" dirty="0"/>
          </a:p>
          <a:p>
            <a:pPr marL="0" indent="0" algn="just">
              <a:buNone/>
            </a:pPr>
            <a:r>
              <a:rPr lang="en-US" sz="3200" b="1" u="sng" dirty="0"/>
              <a:t>Requirements</a:t>
            </a:r>
          </a:p>
          <a:p>
            <a:pPr marL="0" indent="0" algn="just">
              <a:buNone/>
            </a:pPr>
            <a:r>
              <a:rPr lang="en-US" sz="3200" dirty="0"/>
              <a:t>Stop watch, 2 transparent beakers/gas jars, match box, 1 straw</a:t>
            </a:r>
          </a:p>
          <a:p>
            <a:pPr marL="0" indent="0" algn="just">
              <a:buNone/>
            </a:pPr>
            <a:r>
              <a:rPr lang="en-US" sz="3200" b="1" u="sng" dirty="0"/>
              <a:t>Procedure</a:t>
            </a:r>
            <a:r>
              <a:rPr lang="en-US" sz="3200" dirty="0"/>
              <a:t> </a:t>
            </a:r>
          </a:p>
          <a:p>
            <a:pPr algn="just"/>
            <a:r>
              <a:rPr lang="en-US" sz="3600" dirty="0"/>
              <a:t>Allow an empty beaker to stand in the open for 2 minutes and cover it with a glass plate. Use the air in the beaker as a sample of inhaled air.</a:t>
            </a:r>
          </a:p>
          <a:p>
            <a:pPr algn="just"/>
            <a:r>
              <a:rPr lang="en-US" sz="3600" dirty="0"/>
              <a:t>Light a candle and place it in the beaker of inhaled air.</a:t>
            </a:r>
          </a:p>
          <a:p>
            <a:pPr algn="just"/>
            <a:r>
              <a:rPr lang="en-US" sz="3600" dirty="0"/>
              <a:t>Record the length of time the candle burns in the inhaled air.</a:t>
            </a:r>
          </a:p>
          <a:p>
            <a:pPr marL="0" indent="0" algn="just">
              <a:buNone/>
            </a:pPr>
            <a:endParaRPr lang="en-US" sz="3200" dirty="0"/>
          </a:p>
          <a:p>
            <a:pPr marL="0" indent="0" algn="just">
              <a:buNone/>
            </a:pPr>
            <a:endParaRPr lang="en-US" sz="3200" dirty="0"/>
          </a:p>
        </p:txBody>
      </p:sp>
    </p:spTree>
    <p:extLst>
      <p:ext uri="{BB962C8B-B14F-4D97-AF65-F5344CB8AC3E}">
        <p14:creationId xmlns:p14="http://schemas.microsoft.com/office/powerpoint/2010/main" val="27800064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B68589-1B65-7C44-F60F-0E6979FF7ED7}"/>
              </a:ext>
            </a:extLst>
          </p:cNvPr>
          <p:cNvSpPr>
            <a:spLocks noGrp="1"/>
          </p:cNvSpPr>
          <p:nvPr>
            <p:ph idx="1"/>
          </p:nvPr>
        </p:nvSpPr>
        <p:spPr>
          <a:xfrm>
            <a:off x="365760" y="1167617"/>
            <a:ext cx="10988040" cy="4351338"/>
          </a:xfrm>
        </p:spPr>
        <p:txBody>
          <a:bodyPr>
            <a:normAutofit/>
          </a:bodyPr>
          <a:lstStyle/>
          <a:p>
            <a:pPr algn="just"/>
            <a:r>
              <a:rPr lang="en-US" sz="3600" dirty="0"/>
              <a:t>Using a straw, blow air into the second beaker continuously for about two minutes, and immediately cover it with a glass plate.</a:t>
            </a:r>
          </a:p>
          <a:p>
            <a:pPr algn="just"/>
            <a:r>
              <a:rPr lang="en-US" sz="3600" dirty="0"/>
              <a:t>Light a candle and place it in the beaker of exhaled air.</a:t>
            </a:r>
          </a:p>
          <a:p>
            <a:pPr algn="just"/>
            <a:r>
              <a:rPr lang="en-US" sz="3600" dirty="0"/>
              <a:t>Record the length of time the candle burns in the exhaled air.</a:t>
            </a:r>
          </a:p>
          <a:p>
            <a:endParaRPr lang="en-UG" sz="3600" dirty="0"/>
          </a:p>
        </p:txBody>
      </p:sp>
    </p:spTree>
    <p:extLst>
      <p:ext uri="{BB962C8B-B14F-4D97-AF65-F5344CB8AC3E}">
        <p14:creationId xmlns:p14="http://schemas.microsoft.com/office/powerpoint/2010/main" val="34319913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AF9C2DC-847C-48C0-4D2A-D4539FA30055}"/>
              </a:ext>
            </a:extLst>
          </p:cNvPr>
          <p:cNvPicPr>
            <a:picLocks noChangeAspect="1"/>
          </p:cNvPicPr>
          <p:nvPr/>
        </p:nvPicPr>
        <p:blipFill>
          <a:blip r:embed="rId2"/>
          <a:stretch>
            <a:fillRect/>
          </a:stretch>
        </p:blipFill>
        <p:spPr>
          <a:xfrm>
            <a:off x="2090230" y="0"/>
            <a:ext cx="8263597" cy="6841463"/>
          </a:xfrm>
          <a:prstGeom prst="rect">
            <a:avLst/>
          </a:prstGeom>
        </p:spPr>
      </p:pic>
    </p:spTree>
    <p:extLst>
      <p:ext uri="{BB962C8B-B14F-4D97-AF65-F5344CB8AC3E}">
        <p14:creationId xmlns:p14="http://schemas.microsoft.com/office/powerpoint/2010/main" val="38041403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2253B3-9C0E-39BA-3ABC-083ADA8792CA}"/>
              </a:ext>
            </a:extLst>
          </p:cNvPr>
          <p:cNvSpPr>
            <a:spLocks noGrp="1"/>
          </p:cNvSpPr>
          <p:nvPr>
            <p:ph idx="1"/>
          </p:nvPr>
        </p:nvSpPr>
        <p:spPr>
          <a:xfrm>
            <a:off x="154745" y="337625"/>
            <a:ext cx="12037255" cy="5839338"/>
          </a:xfrm>
        </p:spPr>
        <p:txBody>
          <a:bodyPr>
            <a:normAutofit fontScale="92500"/>
          </a:bodyPr>
          <a:lstStyle/>
          <a:p>
            <a:pPr marL="0" indent="0">
              <a:buNone/>
            </a:pPr>
            <a:r>
              <a:rPr lang="en-US" sz="3600" b="1" dirty="0"/>
              <a:t>Results</a:t>
            </a:r>
            <a:r>
              <a:rPr lang="en-US" dirty="0"/>
              <a:t> </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sz="3200" b="1" dirty="0"/>
              <a:t>Conclusion</a:t>
            </a:r>
          </a:p>
          <a:p>
            <a:r>
              <a:rPr lang="en-US" sz="3200" dirty="0"/>
              <a:t>Exhaled air contains ______________ oxygen than inhaled air</a:t>
            </a:r>
          </a:p>
          <a:p>
            <a:pPr marL="0" indent="0">
              <a:buNone/>
            </a:pPr>
            <a:r>
              <a:rPr lang="en-US" sz="3200" b="1" dirty="0"/>
              <a:t>Discussion </a:t>
            </a:r>
          </a:p>
          <a:p>
            <a:pPr marL="514350" indent="-514350">
              <a:buFont typeface="+mj-lt"/>
              <a:buAutoNum type="alphaLcParenR"/>
            </a:pPr>
            <a:r>
              <a:rPr lang="en-US" sz="3200" dirty="0"/>
              <a:t>Which candle stays lit for a longer period? why?</a:t>
            </a:r>
          </a:p>
          <a:p>
            <a:pPr marL="514350" indent="-514350">
              <a:buFont typeface="+mj-lt"/>
              <a:buAutoNum type="alphaLcParenR"/>
            </a:pPr>
            <a:r>
              <a:rPr lang="en-US" sz="3200" dirty="0"/>
              <a:t>Why did both candles continue brining for some time inside both jars?</a:t>
            </a:r>
          </a:p>
          <a:p>
            <a:pPr marL="514350" indent="-514350">
              <a:buFont typeface="+mj-lt"/>
              <a:buAutoNum type="alphaLcParenR"/>
            </a:pPr>
            <a:r>
              <a:rPr lang="en-US" sz="3200" dirty="0"/>
              <a:t>How can the results in the experiment be improved?</a:t>
            </a:r>
          </a:p>
          <a:p>
            <a:pPr marL="0" indent="0">
              <a:buNone/>
            </a:pPr>
            <a:endParaRPr lang="en-US" sz="3200" dirty="0"/>
          </a:p>
          <a:p>
            <a:pPr marL="0" indent="0">
              <a:buNone/>
            </a:pPr>
            <a:endParaRPr lang="en-UG" dirty="0"/>
          </a:p>
        </p:txBody>
      </p:sp>
      <p:graphicFrame>
        <p:nvGraphicFramePr>
          <p:cNvPr id="4" name="Table 3">
            <a:extLst>
              <a:ext uri="{FF2B5EF4-FFF2-40B4-BE49-F238E27FC236}">
                <a16:creationId xmlns:a16="http://schemas.microsoft.com/office/drawing/2014/main" id="{03F2E6F0-4EB4-3396-1BA0-EB24CC6A12F4}"/>
              </a:ext>
            </a:extLst>
          </p:cNvPr>
          <p:cNvGraphicFramePr>
            <a:graphicFrameLocks noGrp="1"/>
          </p:cNvGraphicFramePr>
          <p:nvPr>
            <p:extLst>
              <p:ext uri="{D42A27DB-BD31-4B8C-83A1-F6EECF244321}">
                <p14:modId xmlns:p14="http://schemas.microsoft.com/office/powerpoint/2010/main" val="3851714857"/>
              </p:ext>
            </p:extLst>
          </p:nvPr>
        </p:nvGraphicFramePr>
        <p:xfrm>
          <a:off x="1147102" y="999066"/>
          <a:ext cx="9369083" cy="1737360"/>
        </p:xfrm>
        <a:graphic>
          <a:graphicData uri="http://schemas.openxmlformats.org/drawingml/2006/table">
            <a:tbl>
              <a:tblPr firstRow="1" bandRow="1">
                <a:tableStyleId>{073A0DAA-6AF3-43AB-8588-CEC1D06C72B9}</a:tableStyleId>
              </a:tblPr>
              <a:tblGrid>
                <a:gridCol w="5060697">
                  <a:extLst>
                    <a:ext uri="{9D8B030D-6E8A-4147-A177-3AD203B41FA5}">
                      <a16:colId xmlns:a16="http://schemas.microsoft.com/office/drawing/2014/main" val="613126619"/>
                    </a:ext>
                  </a:extLst>
                </a:gridCol>
                <a:gridCol w="4308386">
                  <a:extLst>
                    <a:ext uri="{9D8B030D-6E8A-4147-A177-3AD203B41FA5}">
                      <a16:colId xmlns:a16="http://schemas.microsoft.com/office/drawing/2014/main" val="1360018665"/>
                    </a:ext>
                  </a:extLst>
                </a:gridCol>
              </a:tblGrid>
              <a:tr h="0">
                <a:tc>
                  <a:txBody>
                    <a:bodyPr/>
                    <a:lstStyle/>
                    <a:p>
                      <a:r>
                        <a:rPr lang="en-US" sz="3200" dirty="0"/>
                        <a:t>Air </a:t>
                      </a:r>
                      <a:endParaRPr lang="en-UG" sz="3200" dirty="0"/>
                    </a:p>
                  </a:txBody>
                  <a:tcPr/>
                </a:tc>
                <a:tc>
                  <a:txBody>
                    <a:bodyPr/>
                    <a:lstStyle/>
                    <a:p>
                      <a:r>
                        <a:rPr lang="en-US" sz="3200" dirty="0"/>
                        <a:t>Time the candle stays lit</a:t>
                      </a:r>
                      <a:endParaRPr lang="en-UG" sz="3200" dirty="0"/>
                    </a:p>
                  </a:txBody>
                  <a:tcPr/>
                </a:tc>
                <a:extLst>
                  <a:ext uri="{0D108BD9-81ED-4DB2-BD59-A6C34878D82A}">
                    <a16:rowId xmlns:a16="http://schemas.microsoft.com/office/drawing/2014/main" val="2853667543"/>
                  </a:ext>
                </a:extLst>
              </a:tr>
              <a:tr h="370840">
                <a:tc>
                  <a:txBody>
                    <a:bodyPr/>
                    <a:lstStyle/>
                    <a:p>
                      <a:r>
                        <a:rPr lang="en-US" sz="3200" dirty="0"/>
                        <a:t>Exhaled air </a:t>
                      </a:r>
                      <a:endParaRPr lang="en-UG" sz="3200" dirty="0"/>
                    </a:p>
                  </a:txBody>
                  <a:tcPr/>
                </a:tc>
                <a:tc>
                  <a:txBody>
                    <a:bodyPr/>
                    <a:lstStyle/>
                    <a:p>
                      <a:endParaRPr lang="en-UG" sz="3200"/>
                    </a:p>
                  </a:txBody>
                  <a:tcPr/>
                </a:tc>
                <a:extLst>
                  <a:ext uri="{0D108BD9-81ED-4DB2-BD59-A6C34878D82A}">
                    <a16:rowId xmlns:a16="http://schemas.microsoft.com/office/drawing/2014/main" val="3743148906"/>
                  </a:ext>
                </a:extLst>
              </a:tr>
              <a:tr h="370840">
                <a:tc>
                  <a:txBody>
                    <a:bodyPr/>
                    <a:lstStyle/>
                    <a:p>
                      <a:r>
                        <a:rPr lang="en-US" sz="3200" dirty="0"/>
                        <a:t>Atmospheric/inhaled air</a:t>
                      </a:r>
                      <a:endParaRPr lang="en-UG" sz="3200" dirty="0"/>
                    </a:p>
                  </a:txBody>
                  <a:tcPr/>
                </a:tc>
                <a:tc>
                  <a:txBody>
                    <a:bodyPr/>
                    <a:lstStyle/>
                    <a:p>
                      <a:endParaRPr lang="en-UG" sz="3200" dirty="0"/>
                    </a:p>
                  </a:txBody>
                  <a:tcPr/>
                </a:tc>
                <a:extLst>
                  <a:ext uri="{0D108BD9-81ED-4DB2-BD59-A6C34878D82A}">
                    <a16:rowId xmlns:a16="http://schemas.microsoft.com/office/drawing/2014/main" val="1267423033"/>
                  </a:ext>
                </a:extLst>
              </a:tr>
            </a:tbl>
          </a:graphicData>
        </a:graphic>
      </p:graphicFrame>
    </p:spTree>
    <p:extLst>
      <p:ext uri="{BB962C8B-B14F-4D97-AF65-F5344CB8AC3E}">
        <p14:creationId xmlns:p14="http://schemas.microsoft.com/office/powerpoint/2010/main" val="148070791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18BAA0-5A9F-DE35-FD29-DFC46E93CEE9}"/>
              </a:ext>
            </a:extLst>
          </p:cNvPr>
          <p:cNvSpPr>
            <a:spLocks noGrp="1"/>
          </p:cNvSpPr>
          <p:nvPr>
            <p:ph idx="1"/>
          </p:nvPr>
        </p:nvSpPr>
        <p:spPr>
          <a:xfrm>
            <a:off x="168811" y="436100"/>
            <a:ext cx="11873133" cy="6064421"/>
          </a:xfrm>
        </p:spPr>
        <p:txBody>
          <a:bodyPr>
            <a:normAutofit/>
          </a:bodyPr>
          <a:lstStyle/>
          <a:p>
            <a:pPr marL="0" indent="0">
              <a:buNone/>
            </a:pPr>
            <a:r>
              <a:rPr lang="en-US" sz="3200" b="1" u="sng" dirty="0">
                <a:effectLst>
                  <a:outerShdw blurRad="38100" dist="38100" dir="2700000" algn="tl">
                    <a:srgbClr val="000000">
                      <a:alpha val="43137"/>
                    </a:srgbClr>
                  </a:outerShdw>
                </a:effectLst>
              </a:rPr>
              <a:t>2. Water </a:t>
            </a:r>
            <a:r>
              <a:rPr lang="en-US" sz="3200" b="1" u="sng" dirty="0" err="1">
                <a:effectLst>
                  <a:outerShdw blurRad="38100" dist="38100" dir="2700000" algn="tl">
                    <a:srgbClr val="000000">
                      <a:alpha val="43137"/>
                    </a:srgbClr>
                  </a:outerShdw>
                </a:effectLst>
              </a:rPr>
              <a:t>vapour</a:t>
            </a:r>
            <a:endParaRPr lang="en-US" sz="3200" b="1" u="sng" dirty="0">
              <a:effectLst>
                <a:outerShdw blurRad="38100" dist="38100" dir="2700000" algn="tl">
                  <a:srgbClr val="000000">
                    <a:alpha val="43137"/>
                  </a:srgbClr>
                </a:outerShdw>
              </a:effectLst>
            </a:endParaRPr>
          </a:p>
          <a:p>
            <a:pPr marL="0" indent="0" algn="ctr">
              <a:buNone/>
            </a:pPr>
            <a:r>
              <a:rPr lang="en-US" sz="3200" b="1" u="sng" dirty="0">
                <a:effectLst>
                  <a:outerShdw blurRad="38100" dist="38100" dir="2700000" algn="tl">
                    <a:srgbClr val="000000">
                      <a:alpha val="43137"/>
                    </a:srgbClr>
                  </a:outerShdw>
                </a:effectLst>
              </a:rPr>
              <a:t>Finding out whether exhaled air contains water </a:t>
            </a:r>
            <a:r>
              <a:rPr lang="en-US" sz="3200" b="1" u="sng" dirty="0" err="1">
                <a:effectLst>
                  <a:outerShdw blurRad="38100" dist="38100" dir="2700000" algn="tl">
                    <a:srgbClr val="000000">
                      <a:alpha val="43137"/>
                    </a:srgbClr>
                  </a:outerShdw>
                </a:effectLst>
              </a:rPr>
              <a:t>vapour</a:t>
            </a:r>
            <a:endParaRPr lang="en-US" sz="3200" b="1" u="sng" dirty="0">
              <a:effectLst>
                <a:outerShdw blurRad="38100" dist="38100" dir="2700000" algn="tl">
                  <a:srgbClr val="000000">
                    <a:alpha val="43137"/>
                  </a:srgbClr>
                </a:outerShdw>
              </a:effectLst>
            </a:endParaRPr>
          </a:p>
          <a:p>
            <a:pPr marL="0" indent="0">
              <a:buNone/>
            </a:pPr>
            <a:r>
              <a:rPr lang="en-US" sz="3200" b="1" dirty="0"/>
              <a:t>Requirements </a:t>
            </a:r>
          </a:p>
          <a:p>
            <a:r>
              <a:rPr lang="en-US" sz="3200" dirty="0"/>
              <a:t>2 mirrors/glasses, tissue paper, anhydrous copper(II)sulphate/anhydrous cobalt chloride paper, cold tap water.</a:t>
            </a:r>
          </a:p>
          <a:p>
            <a:pPr marL="0" indent="0">
              <a:buNone/>
            </a:pPr>
            <a:r>
              <a:rPr lang="en-US" sz="3200" b="1" dirty="0"/>
              <a:t>Procedure</a:t>
            </a:r>
          </a:p>
          <a:p>
            <a:r>
              <a:rPr lang="en-US" sz="3200" dirty="0"/>
              <a:t>Place the mirrors/glasses under cold tap water and wipe the surfaces dry using tissue paper.</a:t>
            </a:r>
          </a:p>
          <a:p>
            <a:r>
              <a:rPr lang="en-US" sz="3200" dirty="0"/>
              <a:t>Hold one mirror/glass about 3cm form your mouth and gently breath out for two minutes.</a:t>
            </a:r>
          </a:p>
          <a:p>
            <a:r>
              <a:rPr lang="en-US" sz="3200" dirty="0"/>
              <a:t>Place anhydrous copper (II) sulphate on the mirror surface. </a:t>
            </a:r>
          </a:p>
          <a:p>
            <a:endParaRPr lang="en-UG" sz="3200" dirty="0"/>
          </a:p>
        </p:txBody>
      </p:sp>
    </p:spTree>
    <p:extLst>
      <p:ext uri="{BB962C8B-B14F-4D97-AF65-F5344CB8AC3E}">
        <p14:creationId xmlns:p14="http://schemas.microsoft.com/office/powerpoint/2010/main" val="322733149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FB1E04-FC7D-049B-458A-D0D599BA3A03}"/>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AC56ACF6-7DD1-2C81-8558-C43960CA63E6}"/>
              </a:ext>
            </a:extLst>
          </p:cNvPr>
          <p:cNvSpPr>
            <a:spLocks noGrp="1"/>
          </p:cNvSpPr>
          <p:nvPr>
            <p:ph idx="1"/>
          </p:nvPr>
        </p:nvSpPr>
        <p:spPr/>
        <p:txBody>
          <a:bodyPr/>
          <a:lstStyle/>
          <a:p>
            <a:endParaRPr lang="en-UG" dirty="0"/>
          </a:p>
        </p:txBody>
      </p:sp>
      <p:pic>
        <p:nvPicPr>
          <p:cNvPr id="1028" name="Picture 4" descr="Ciênsação hands-on experiment &quot;Breathing water&quot;: biology, physics, breath,  water, human body, evaporation, condensation, skin, lung; Open Educational  Resource">
            <a:extLst>
              <a:ext uri="{FF2B5EF4-FFF2-40B4-BE49-F238E27FC236}">
                <a16:creationId xmlns:a16="http://schemas.microsoft.com/office/drawing/2014/main" id="{B02EE26D-BAB4-3077-2756-4A9C4F84A0A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4941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1204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1460E5-ABA9-CD9A-C9A1-8E2DF18039FA}"/>
              </a:ext>
            </a:extLst>
          </p:cNvPr>
          <p:cNvSpPr>
            <a:spLocks noGrp="1"/>
          </p:cNvSpPr>
          <p:nvPr>
            <p:ph idx="1"/>
          </p:nvPr>
        </p:nvSpPr>
        <p:spPr>
          <a:xfrm>
            <a:off x="84406" y="225084"/>
            <a:ext cx="12079458" cy="6274190"/>
          </a:xfrm>
        </p:spPr>
        <p:txBody>
          <a:bodyPr>
            <a:normAutofit fontScale="92500" lnSpcReduction="10000"/>
          </a:bodyPr>
          <a:lstStyle/>
          <a:p>
            <a:pPr marL="0" indent="0" algn="just">
              <a:buNone/>
            </a:pPr>
            <a:r>
              <a:rPr lang="en-US" sz="3200" b="1" dirty="0">
                <a:effectLst>
                  <a:outerShdw blurRad="38100" dist="38100" dir="2700000" algn="tl">
                    <a:srgbClr val="000000">
                      <a:alpha val="43137"/>
                    </a:srgbClr>
                  </a:outerShdw>
                </a:effectLst>
              </a:rPr>
              <a:t>Observation</a:t>
            </a:r>
            <a:r>
              <a:rPr lang="en-US" sz="3200" dirty="0"/>
              <a:t> </a:t>
            </a:r>
          </a:p>
          <a:p>
            <a:pPr algn="just"/>
            <a:r>
              <a:rPr lang="en-US" sz="3200" dirty="0"/>
              <a:t>The mirror becomes misty/foggy and image become blurred</a:t>
            </a:r>
          </a:p>
          <a:p>
            <a:pPr algn="just"/>
            <a:r>
              <a:rPr lang="en-US" sz="3200" dirty="0"/>
              <a:t>White anhydrous copper (II) sulphate becomes blue.</a:t>
            </a:r>
          </a:p>
          <a:p>
            <a:pPr marL="0" indent="0" algn="just">
              <a:buNone/>
            </a:pPr>
            <a:r>
              <a:rPr lang="en-US" sz="3200" b="1" dirty="0"/>
              <a:t>Conclusion </a:t>
            </a:r>
          </a:p>
          <a:p>
            <a:pPr algn="just"/>
            <a:r>
              <a:rPr lang="en-US" sz="3200" dirty="0"/>
              <a:t>Exhaled air contains high moisture content.</a:t>
            </a:r>
          </a:p>
          <a:p>
            <a:pPr marL="0" indent="0" algn="just">
              <a:buNone/>
            </a:pPr>
            <a:r>
              <a:rPr lang="en-US" sz="3200" dirty="0"/>
              <a:t>Qn. What causes the changes observed?</a:t>
            </a:r>
          </a:p>
          <a:p>
            <a:pPr marL="0" indent="0" algn="just">
              <a:buNone/>
            </a:pPr>
            <a:r>
              <a:rPr lang="en-US" sz="3200" dirty="0">
                <a:solidFill>
                  <a:srgbClr val="FFC000"/>
                </a:solidFill>
              </a:rPr>
              <a:t>Additional activity</a:t>
            </a:r>
          </a:p>
          <a:p>
            <a:pPr algn="just"/>
            <a:r>
              <a:rPr lang="en-US" sz="3200" dirty="0"/>
              <a:t>Hold the second mirror/glass about 3cm form your mouth and gently breath in.</a:t>
            </a:r>
          </a:p>
          <a:p>
            <a:pPr marL="0" indent="0" algn="just">
              <a:buNone/>
            </a:pPr>
            <a:r>
              <a:rPr lang="en-US" sz="3200" dirty="0" err="1"/>
              <a:t>Qns</a:t>
            </a:r>
            <a:r>
              <a:rPr lang="en-US" sz="3200" dirty="0"/>
              <a:t>. </a:t>
            </a:r>
          </a:p>
          <a:p>
            <a:pPr marL="514350" indent="-514350" algn="just">
              <a:buFont typeface="+mj-lt"/>
              <a:buAutoNum type="alphaLcParenR"/>
            </a:pPr>
            <a:r>
              <a:rPr lang="en-US" sz="3200" dirty="0"/>
              <a:t>State what is observed.</a:t>
            </a:r>
          </a:p>
          <a:p>
            <a:pPr marL="514350" indent="-514350" algn="just">
              <a:buFont typeface="+mj-lt"/>
              <a:buAutoNum type="alphaLcParenR"/>
            </a:pPr>
            <a:r>
              <a:rPr lang="en-US" sz="3200" dirty="0"/>
              <a:t>State the difference in the first mirror and second mirror. Give a reason.</a:t>
            </a:r>
          </a:p>
          <a:p>
            <a:pPr marL="0" indent="0" algn="just">
              <a:buNone/>
            </a:pPr>
            <a:endParaRPr lang="en-US" sz="3200" dirty="0"/>
          </a:p>
        </p:txBody>
      </p:sp>
    </p:spTree>
    <p:extLst>
      <p:ext uri="{BB962C8B-B14F-4D97-AF65-F5344CB8AC3E}">
        <p14:creationId xmlns:p14="http://schemas.microsoft.com/office/powerpoint/2010/main" val="31031564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695EBB-96E0-552D-42FA-68868791102B}"/>
              </a:ext>
            </a:extLst>
          </p:cNvPr>
          <p:cNvSpPr>
            <a:spLocks noGrp="1"/>
          </p:cNvSpPr>
          <p:nvPr>
            <p:ph idx="1"/>
          </p:nvPr>
        </p:nvSpPr>
        <p:spPr>
          <a:xfrm>
            <a:off x="126609" y="-56273"/>
            <a:ext cx="12065391" cy="6914273"/>
          </a:xfrm>
        </p:spPr>
        <p:txBody>
          <a:bodyPr>
            <a:noAutofit/>
          </a:bodyPr>
          <a:lstStyle/>
          <a:p>
            <a:pPr marL="0" indent="0" algn="just">
              <a:buNone/>
            </a:pPr>
            <a:r>
              <a:rPr lang="en-US" sz="3200" b="1" u="sng" dirty="0">
                <a:effectLst>
                  <a:outerShdw blurRad="38100" dist="38100" dir="2700000" algn="tl">
                    <a:srgbClr val="000000">
                      <a:alpha val="43137"/>
                    </a:srgbClr>
                  </a:outerShdw>
                </a:effectLst>
              </a:rPr>
              <a:t>3. Carbon dioxide</a:t>
            </a:r>
          </a:p>
          <a:p>
            <a:pPr marL="0" indent="0" algn="ctr">
              <a:buNone/>
            </a:pPr>
            <a:r>
              <a:rPr lang="en-US" sz="3200" b="1" u="sng" dirty="0">
                <a:effectLst>
                  <a:outerShdw blurRad="38100" dist="38100" dir="2700000" algn="tl">
                    <a:srgbClr val="000000">
                      <a:alpha val="43137"/>
                    </a:srgbClr>
                  </a:outerShdw>
                </a:effectLst>
              </a:rPr>
              <a:t>Comparing amount of oxygen in exhaled and inhaled air</a:t>
            </a:r>
          </a:p>
          <a:p>
            <a:pPr marL="0" indent="0" algn="just">
              <a:buNone/>
            </a:pPr>
            <a:r>
              <a:rPr lang="en-US" sz="3200" b="1" dirty="0">
                <a:effectLst>
                  <a:outerShdw blurRad="38100" dist="38100" dir="2700000" algn="tl">
                    <a:srgbClr val="000000">
                      <a:alpha val="43137"/>
                    </a:srgbClr>
                  </a:outerShdw>
                </a:effectLst>
              </a:rPr>
              <a:t>Requirements: </a:t>
            </a:r>
            <a:r>
              <a:rPr lang="en-US" sz="3200" dirty="0"/>
              <a:t>2 transparent plastic bags, 2 threads, lime water or bicarbonate indicator.</a:t>
            </a:r>
          </a:p>
          <a:p>
            <a:pPr marL="0" indent="0" algn="just">
              <a:buNone/>
            </a:pPr>
            <a:r>
              <a:rPr lang="en-US" sz="3200" b="1" dirty="0">
                <a:effectLst>
                  <a:outerShdw blurRad="38100" dist="38100" dir="2700000" algn="tl">
                    <a:srgbClr val="000000">
                      <a:alpha val="43137"/>
                    </a:srgbClr>
                  </a:outerShdw>
                </a:effectLst>
              </a:rPr>
              <a:t>Procedure </a:t>
            </a:r>
          </a:p>
          <a:p>
            <a:pPr algn="just"/>
            <a:r>
              <a:rPr lang="en-US" sz="3200" dirty="0"/>
              <a:t>Pour 50cm</a:t>
            </a:r>
            <a:r>
              <a:rPr lang="en-US" sz="3200" baseline="30000" dirty="0"/>
              <a:t>3</a:t>
            </a:r>
            <a:r>
              <a:rPr lang="en-US" sz="3200" dirty="0"/>
              <a:t> of lime water into one plastic bag.</a:t>
            </a:r>
          </a:p>
          <a:p>
            <a:pPr algn="just"/>
            <a:r>
              <a:rPr lang="en-US" sz="3200" dirty="0"/>
              <a:t>Fill the plastic bag with atmospheric air and tie the mouth of the plastic bag tightly using a piece of thread.</a:t>
            </a:r>
          </a:p>
          <a:p>
            <a:pPr algn="just"/>
            <a:r>
              <a:rPr lang="en-US" sz="3200" dirty="0"/>
              <a:t>Shake it well and observe the changes in the lime water.</a:t>
            </a:r>
          </a:p>
          <a:p>
            <a:pPr algn="just"/>
            <a:r>
              <a:rPr lang="en-US" sz="3200" dirty="0"/>
              <a:t>Pour 50cm</a:t>
            </a:r>
            <a:r>
              <a:rPr lang="en-US" sz="3200" baseline="30000" dirty="0"/>
              <a:t>3</a:t>
            </a:r>
            <a:r>
              <a:rPr lang="en-US" sz="3200" dirty="0"/>
              <a:t> of lime water into the second plastic bag.</a:t>
            </a:r>
          </a:p>
          <a:p>
            <a:pPr algn="just"/>
            <a:r>
              <a:rPr lang="en-US" sz="3200" dirty="0"/>
              <a:t>Blow the plastic bag with your exhaled air and tie the mouth of the plastic bag tightly using a piece of thread.</a:t>
            </a:r>
          </a:p>
          <a:p>
            <a:pPr algn="just"/>
            <a:r>
              <a:rPr lang="en-US" sz="3200" dirty="0"/>
              <a:t>Shake it well and observe the changes in the lime water.</a:t>
            </a:r>
          </a:p>
          <a:p>
            <a:pPr marL="0" indent="0" algn="just">
              <a:buNone/>
            </a:pPr>
            <a:endParaRPr lang="en-US" sz="3200" dirty="0"/>
          </a:p>
          <a:p>
            <a:pPr marL="0" indent="0" algn="just">
              <a:buNone/>
            </a:pPr>
            <a:endParaRPr lang="en-US" sz="3200" dirty="0"/>
          </a:p>
          <a:p>
            <a:pPr marL="0" indent="0" algn="just">
              <a:buNone/>
            </a:pPr>
            <a:endParaRPr lang="en-UG" sz="3200" dirty="0"/>
          </a:p>
          <a:p>
            <a:pPr algn="just"/>
            <a:endParaRPr lang="en-UG" sz="3200" dirty="0"/>
          </a:p>
        </p:txBody>
      </p:sp>
    </p:spTree>
    <p:extLst>
      <p:ext uri="{BB962C8B-B14F-4D97-AF65-F5344CB8AC3E}">
        <p14:creationId xmlns:p14="http://schemas.microsoft.com/office/powerpoint/2010/main" val="17482016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B15A2-71F5-728D-A13C-A23C77E9C7B7}"/>
              </a:ext>
            </a:extLst>
          </p:cNvPr>
          <p:cNvSpPr>
            <a:spLocks noGrp="1"/>
          </p:cNvSpPr>
          <p:nvPr>
            <p:ph idx="1"/>
          </p:nvPr>
        </p:nvSpPr>
        <p:spPr>
          <a:xfrm>
            <a:off x="135987" y="10886"/>
            <a:ext cx="11920026" cy="6847113"/>
          </a:xfrm>
        </p:spPr>
        <p:txBody>
          <a:bodyPr>
            <a:noAutofit/>
          </a:bodyPr>
          <a:lstStyle/>
          <a:p>
            <a:pPr marL="0" indent="0">
              <a:buNone/>
            </a:pPr>
            <a:r>
              <a:rPr lang="en-US" sz="3600" b="1" dirty="0">
                <a:effectLst>
                  <a:outerShdw blurRad="38100" dist="38100" dir="2700000" algn="tl">
                    <a:srgbClr val="000000">
                      <a:alpha val="43137"/>
                    </a:srgbClr>
                  </a:outerShdw>
                </a:effectLst>
              </a:rPr>
              <a:t>Observation</a:t>
            </a:r>
          </a:p>
          <a:p>
            <a:endParaRPr lang="en-US" sz="3600" b="1" dirty="0">
              <a:effectLst>
                <a:outerShdw blurRad="38100" dist="38100" dir="2700000" algn="tl">
                  <a:srgbClr val="000000">
                    <a:alpha val="43137"/>
                  </a:srgbClr>
                </a:outerShdw>
              </a:effectLst>
            </a:endParaRPr>
          </a:p>
          <a:p>
            <a:endParaRPr lang="en-US" sz="3600" b="1" dirty="0">
              <a:effectLst>
                <a:outerShdw blurRad="38100" dist="38100" dir="2700000" algn="tl">
                  <a:srgbClr val="000000">
                    <a:alpha val="43137"/>
                  </a:srgbClr>
                </a:outerShdw>
              </a:effectLst>
            </a:endParaRPr>
          </a:p>
          <a:p>
            <a:pPr marL="0" indent="0">
              <a:buNone/>
            </a:pPr>
            <a:endParaRPr lang="en-US" sz="3600" b="1" dirty="0">
              <a:effectLst>
                <a:outerShdw blurRad="38100" dist="38100" dir="2700000" algn="tl">
                  <a:srgbClr val="000000">
                    <a:alpha val="43137"/>
                  </a:srgbClr>
                </a:outerShdw>
              </a:effectLst>
            </a:endParaRPr>
          </a:p>
          <a:p>
            <a:pPr marL="0" indent="0">
              <a:buNone/>
            </a:pPr>
            <a:endParaRPr lang="en-US" sz="3600" b="1" dirty="0">
              <a:effectLst>
                <a:outerShdw blurRad="38100" dist="38100" dir="2700000" algn="tl">
                  <a:srgbClr val="000000">
                    <a:alpha val="43137"/>
                  </a:srgbClr>
                </a:outerShdw>
              </a:effectLst>
            </a:endParaRPr>
          </a:p>
          <a:p>
            <a:pPr marL="0" indent="0">
              <a:buNone/>
            </a:pPr>
            <a:r>
              <a:rPr lang="en-US" sz="3600" b="1" dirty="0">
                <a:effectLst>
                  <a:outerShdw blurRad="38100" dist="38100" dir="2700000" algn="tl">
                    <a:srgbClr val="000000">
                      <a:alpha val="43137"/>
                    </a:srgbClr>
                  </a:outerShdw>
                </a:effectLst>
              </a:rPr>
              <a:t>Conclusion </a:t>
            </a:r>
          </a:p>
          <a:p>
            <a:r>
              <a:rPr lang="en-US" sz="3600" dirty="0">
                <a:effectLst>
                  <a:outerShdw blurRad="38100" dist="38100" dir="2700000" algn="tl">
                    <a:srgbClr val="000000">
                      <a:alpha val="43137"/>
                    </a:srgbClr>
                  </a:outerShdw>
                </a:effectLst>
              </a:rPr>
              <a:t>Atmospheric/inhaled air has ______________________ carbon dioxide than exhaled air.</a:t>
            </a:r>
          </a:p>
          <a:p>
            <a:pPr marL="0" indent="0">
              <a:buNone/>
            </a:pPr>
            <a:r>
              <a:rPr lang="en-US" sz="3600" dirty="0"/>
              <a:t> </a:t>
            </a:r>
            <a:r>
              <a:rPr lang="en-US" sz="3600" dirty="0" err="1"/>
              <a:t>Qns</a:t>
            </a:r>
            <a:r>
              <a:rPr lang="en-US" sz="3600" dirty="0"/>
              <a:t>:</a:t>
            </a:r>
          </a:p>
          <a:p>
            <a:pPr marL="742950" indent="-742950">
              <a:buFont typeface="+mj-lt"/>
              <a:buAutoNum type="alphaLcParenR"/>
            </a:pPr>
            <a:r>
              <a:rPr lang="en-US" sz="3600" dirty="0"/>
              <a:t>Why was lime water added to the plastic bags?</a:t>
            </a:r>
          </a:p>
          <a:p>
            <a:pPr marL="742950" indent="-742950">
              <a:buFont typeface="+mj-lt"/>
              <a:buAutoNum type="alphaLcParenR"/>
            </a:pPr>
            <a:r>
              <a:rPr lang="en-US" sz="3600" dirty="0"/>
              <a:t>Why is it unhealthy to hold your breath for a long time?</a:t>
            </a:r>
          </a:p>
        </p:txBody>
      </p:sp>
      <p:graphicFrame>
        <p:nvGraphicFramePr>
          <p:cNvPr id="4" name="Table 3">
            <a:extLst>
              <a:ext uri="{FF2B5EF4-FFF2-40B4-BE49-F238E27FC236}">
                <a16:creationId xmlns:a16="http://schemas.microsoft.com/office/drawing/2014/main" id="{CCA60F90-BB0A-5759-CD79-2D73898BAB39}"/>
              </a:ext>
            </a:extLst>
          </p:cNvPr>
          <p:cNvGraphicFramePr>
            <a:graphicFrameLocks noGrp="1"/>
          </p:cNvGraphicFramePr>
          <p:nvPr>
            <p:extLst>
              <p:ext uri="{D42A27DB-BD31-4B8C-83A1-F6EECF244321}">
                <p14:modId xmlns:p14="http://schemas.microsoft.com/office/powerpoint/2010/main" val="131730182"/>
              </p:ext>
            </p:extLst>
          </p:nvPr>
        </p:nvGraphicFramePr>
        <p:xfrm>
          <a:off x="112542" y="818134"/>
          <a:ext cx="11943471" cy="1737360"/>
        </p:xfrm>
        <a:graphic>
          <a:graphicData uri="http://schemas.openxmlformats.org/drawingml/2006/table">
            <a:tbl>
              <a:tblPr firstRow="1" bandRow="1">
                <a:tableStyleId>{5940675A-B579-460E-94D1-54222C63F5DA}</a:tableStyleId>
              </a:tblPr>
              <a:tblGrid>
                <a:gridCol w="5176910">
                  <a:extLst>
                    <a:ext uri="{9D8B030D-6E8A-4147-A177-3AD203B41FA5}">
                      <a16:colId xmlns:a16="http://schemas.microsoft.com/office/drawing/2014/main" val="4289907438"/>
                    </a:ext>
                  </a:extLst>
                </a:gridCol>
                <a:gridCol w="3587262">
                  <a:extLst>
                    <a:ext uri="{9D8B030D-6E8A-4147-A177-3AD203B41FA5}">
                      <a16:colId xmlns:a16="http://schemas.microsoft.com/office/drawing/2014/main" val="3740038104"/>
                    </a:ext>
                  </a:extLst>
                </a:gridCol>
                <a:gridCol w="3179299">
                  <a:extLst>
                    <a:ext uri="{9D8B030D-6E8A-4147-A177-3AD203B41FA5}">
                      <a16:colId xmlns:a16="http://schemas.microsoft.com/office/drawing/2014/main" val="502905004"/>
                    </a:ext>
                  </a:extLst>
                </a:gridCol>
              </a:tblGrid>
              <a:tr h="370840">
                <a:tc>
                  <a:txBody>
                    <a:bodyPr/>
                    <a:lstStyle/>
                    <a:p>
                      <a:r>
                        <a:rPr lang="en-US" sz="3200" b="1" dirty="0"/>
                        <a:t>Plastic bag </a:t>
                      </a:r>
                      <a:endParaRPr lang="en-UG" sz="3200" b="1" dirty="0"/>
                    </a:p>
                  </a:txBody>
                  <a:tcPr/>
                </a:tc>
                <a:tc>
                  <a:txBody>
                    <a:bodyPr/>
                    <a:lstStyle/>
                    <a:p>
                      <a:r>
                        <a:rPr lang="en-US" sz="3200" b="1" dirty="0"/>
                        <a:t>Initial appearance </a:t>
                      </a:r>
                      <a:endParaRPr lang="en-UG" sz="3200" b="1" dirty="0"/>
                    </a:p>
                  </a:txBody>
                  <a:tcPr/>
                </a:tc>
                <a:tc>
                  <a:txBody>
                    <a:bodyPr/>
                    <a:lstStyle/>
                    <a:p>
                      <a:r>
                        <a:rPr lang="en-US" sz="3200" b="1" dirty="0"/>
                        <a:t>Final appearance </a:t>
                      </a:r>
                      <a:endParaRPr lang="en-UG" sz="3200" b="1" dirty="0"/>
                    </a:p>
                  </a:txBody>
                  <a:tcPr/>
                </a:tc>
                <a:extLst>
                  <a:ext uri="{0D108BD9-81ED-4DB2-BD59-A6C34878D82A}">
                    <a16:rowId xmlns:a16="http://schemas.microsoft.com/office/drawing/2014/main" val="1406270298"/>
                  </a:ext>
                </a:extLst>
              </a:tr>
              <a:tr h="370840">
                <a:tc>
                  <a:txBody>
                    <a:bodyPr/>
                    <a:lstStyle/>
                    <a:p>
                      <a:r>
                        <a:rPr lang="en-US" sz="3200" dirty="0"/>
                        <a:t>Filled with atmospheric air</a:t>
                      </a:r>
                      <a:endParaRPr lang="en-UG" sz="3200" dirty="0"/>
                    </a:p>
                  </a:txBody>
                  <a:tcPr/>
                </a:tc>
                <a:tc>
                  <a:txBody>
                    <a:bodyPr/>
                    <a:lstStyle/>
                    <a:p>
                      <a:r>
                        <a:rPr lang="en-US" sz="3200" dirty="0"/>
                        <a:t>Colorless </a:t>
                      </a:r>
                      <a:endParaRPr lang="en-UG" sz="3200" dirty="0"/>
                    </a:p>
                  </a:txBody>
                  <a:tcPr/>
                </a:tc>
                <a:tc>
                  <a:txBody>
                    <a:bodyPr/>
                    <a:lstStyle/>
                    <a:p>
                      <a:endParaRPr lang="en-UG" sz="3200" dirty="0"/>
                    </a:p>
                  </a:txBody>
                  <a:tcPr/>
                </a:tc>
                <a:extLst>
                  <a:ext uri="{0D108BD9-81ED-4DB2-BD59-A6C34878D82A}">
                    <a16:rowId xmlns:a16="http://schemas.microsoft.com/office/drawing/2014/main" val="4030524005"/>
                  </a:ext>
                </a:extLst>
              </a:tr>
              <a:tr h="370840">
                <a:tc>
                  <a:txBody>
                    <a:bodyPr/>
                    <a:lstStyle/>
                    <a:p>
                      <a:r>
                        <a:rPr lang="en-US" sz="3200" dirty="0"/>
                        <a:t>Filled with exhaled air</a:t>
                      </a:r>
                      <a:endParaRPr lang="en-UG" sz="3200" dirty="0"/>
                    </a:p>
                  </a:txBody>
                  <a:tcPr/>
                </a:tc>
                <a:tc>
                  <a:txBody>
                    <a:bodyPr/>
                    <a:lstStyle/>
                    <a:p>
                      <a:r>
                        <a:rPr lang="en-US" sz="3200" dirty="0"/>
                        <a:t>Colorless </a:t>
                      </a:r>
                      <a:endParaRPr lang="en-UG" sz="3200" dirty="0"/>
                    </a:p>
                  </a:txBody>
                  <a:tcPr/>
                </a:tc>
                <a:tc>
                  <a:txBody>
                    <a:bodyPr/>
                    <a:lstStyle/>
                    <a:p>
                      <a:endParaRPr lang="en-UG" sz="3200" dirty="0"/>
                    </a:p>
                  </a:txBody>
                  <a:tcPr/>
                </a:tc>
                <a:extLst>
                  <a:ext uri="{0D108BD9-81ED-4DB2-BD59-A6C34878D82A}">
                    <a16:rowId xmlns:a16="http://schemas.microsoft.com/office/drawing/2014/main" val="2950631514"/>
                  </a:ext>
                </a:extLst>
              </a:tr>
            </a:tbl>
          </a:graphicData>
        </a:graphic>
      </p:graphicFrame>
    </p:spTree>
    <p:extLst>
      <p:ext uri="{BB962C8B-B14F-4D97-AF65-F5344CB8AC3E}">
        <p14:creationId xmlns:p14="http://schemas.microsoft.com/office/powerpoint/2010/main" val="294714793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CEF617-08F1-0C0B-96D7-5EAB923BDA6F}"/>
              </a:ext>
            </a:extLst>
          </p:cNvPr>
          <p:cNvSpPr>
            <a:spLocks noGrp="1"/>
          </p:cNvSpPr>
          <p:nvPr>
            <p:ph idx="1"/>
          </p:nvPr>
        </p:nvSpPr>
        <p:spPr>
          <a:xfrm>
            <a:off x="506437" y="351692"/>
            <a:ext cx="10847363" cy="5825271"/>
          </a:xfrm>
        </p:spPr>
        <p:txBody>
          <a:bodyPr>
            <a:normAutofit/>
          </a:bodyPr>
          <a:lstStyle/>
          <a:p>
            <a:pPr algn="just"/>
            <a:r>
              <a:rPr lang="en-US" sz="3200" dirty="0"/>
              <a:t>4. Nitrogen</a:t>
            </a:r>
          </a:p>
          <a:p>
            <a:pPr algn="just"/>
            <a:r>
              <a:rPr lang="en-US" sz="3200" dirty="0"/>
              <a:t>It is the most abundant gaseous component of air</a:t>
            </a:r>
          </a:p>
          <a:p>
            <a:pPr algn="just"/>
            <a:r>
              <a:rPr lang="en-US" sz="3200" dirty="0"/>
              <a:t>It is inert and not used in cellular respiration.</a:t>
            </a:r>
          </a:p>
          <a:p>
            <a:pPr algn="just"/>
            <a:r>
              <a:rPr lang="en-US" sz="3200" dirty="0"/>
              <a:t>Its composition may vary in exhaled and inhaled air due to changes in amounts of other gaseous components of air. E.g., it may be higher in exhaled air than in inhaled air due to reduction in amount so oxygen in exhaled air.</a:t>
            </a:r>
            <a:endParaRPr lang="en-UG" sz="3200" dirty="0"/>
          </a:p>
        </p:txBody>
      </p:sp>
    </p:spTree>
    <p:extLst>
      <p:ext uri="{BB962C8B-B14F-4D97-AF65-F5344CB8AC3E}">
        <p14:creationId xmlns:p14="http://schemas.microsoft.com/office/powerpoint/2010/main" val="116277416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F4688-E1E4-CDBC-C75C-C20B7B7B280A}"/>
              </a:ext>
            </a:extLst>
          </p:cNvPr>
          <p:cNvSpPr>
            <a:spLocks noGrp="1"/>
          </p:cNvSpPr>
          <p:nvPr>
            <p:ph type="title"/>
          </p:nvPr>
        </p:nvSpPr>
        <p:spPr>
          <a:xfrm>
            <a:off x="838200" y="-14711"/>
            <a:ext cx="10515600" cy="1325563"/>
          </a:xfrm>
        </p:spPr>
        <p:txBody>
          <a:bodyPr/>
          <a:lstStyle/>
          <a:p>
            <a:pPr algn="ctr"/>
            <a:r>
              <a:rPr lang="en-US" b="1" u="sng" dirty="0">
                <a:effectLst>
                  <a:outerShdw blurRad="38100" dist="38100" dir="2700000" algn="tl">
                    <a:srgbClr val="000000">
                      <a:alpha val="43137"/>
                    </a:srgbClr>
                  </a:outerShdw>
                </a:effectLst>
              </a:rPr>
              <a:t>Comparison of percentage composition by volume of inhaled and exhaled air</a:t>
            </a:r>
            <a:endParaRPr lang="en-UG" b="1" u="sng"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BBAAC0B8-A566-8ADF-D7E8-EB11CBA45E4E}"/>
              </a:ext>
            </a:extLst>
          </p:cNvPr>
          <p:cNvGraphicFramePr>
            <a:graphicFrameLocks noGrp="1"/>
          </p:cNvGraphicFramePr>
          <p:nvPr>
            <p:ph idx="1"/>
            <p:extLst>
              <p:ext uri="{D42A27DB-BD31-4B8C-83A1-F6EECF244321}">
                <p14:modId xmlns:p14="http://schemas.microsoft.com/office/powerpoint/2010/main" val="2100345484"/>
              </p:ext>
            </p:extLst>
          </p:nvPr>
        </p:nvGraphicFramePr>
        <p:xfrm>
          <a:off x="98474" y="1325626"/>
          <a:ext cx="11943471" cy="4718370"/>
        </p:xfrm>
        <a:graphic>
          <a:graphicData uri="http://schemas.openxmlformats.org/drawingml/2006/table">
            <a:tbl>
              <a:tblPr firstRow="1" firstCol="1" bandRow="1">
                <a:tableStyleId>{5940675A-B579-460E-94D1-54222C63F5DA}</a:tableStyleId>
              </a:tblPr>
              <a:tblGrid>
                <a:gridCol w="3981157">
                  <a:extLst>
                    <a:ext uri="{9D8B030D-6E8A-4147-A177-3AD203B41FA5}">
                      <a16:colId xmlns:a16="http://schemas.microsoft.com/office/drawing/2014/main" val="286427850"/>
                    </a:ext>
                  </a:extLst>
                </a:gridCol>
                <a:gridCol w="3981157">
                  <a:extLst>
                    <a:ext uri="{9D8B030D-6E8A-4147-A177-3AD203B41FA5}">
                      <a16:colId xmlns:a16="http://schemas.microsoft.com/office/drawing/2014/main" val="673379670"/>
                    </a:ext>
                  </a:extLst>
                </a:gridCol>
                <a:gridCol w="3981157">
                  <a:extLst>
                    <a:ext uri="{9D8B030D-6E8A-4147-A177-3AD203B41FA5}">
                      <a16:colId xmlns:a16="http://schemas.microsoft.com/office/drawing/2014/main" val="2826889388"/>
                    </a:ext>
                  </a:extLst>
                </a:gridCol>
              </a:tblGrid>
              <a:tr h="478301">
                <a:tc>
                  <a:txBody>
                    <a:bodyPr/>
                    <a:lstStyle/>
                    <a:p>
                      <a:pPr algn="just">
                        <a:lnSpc>
                          <a:spcPct val="200000"/>
                        </a:lnSpc>
                        <a:spcAft>
                          <a:spcPts val="1000"/>
                        </a:spcAft>
                        <a:tabLst>
                          <a:tab pos="1085850" algn="l"/>
                        </a:tabLst>
                      </a:pPr>
                      <a:r>
                        <a:rPr lang="en-US" sz="3600" b="1" dirty="0">
                          <a:effectLst/>
                        </a:rPr>
                        <a:t>Component </a:t>
                      </a:r>
                      <a:endParaRPr lang="en-UG" sz="36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b="1" dirty="0">
                          <a:effectLst/>
                        </a:rPr>
                        <a:t>Inhaled air (%)</a:t>
                      </a:r>
                      <a:endParaRPr lang="en-UG" sz="36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b="1" dirty="0">
                          <a:effectLst/>
                        </a:rPr>
                        <a:t>Exhaled air (%)</a:t>
                      </a:r>
                      <a:endParaRPr lang="en-UG" sz="3600" b="1"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extLst>
                  <a:ext uri="{0D108BD9-81ED-4DB2-BD59-A6C34878D82A}">
                    <a16:rowId xmlns:a16="http://schemas.microsoft.com/office/drawing/2014/main" val="494727297"/>
                  </a:ext>
                </a:extLst>
              </a:tr>
              <a:tr h="474550">
                <a:tc>
                  <a:txBody>
                    <a:bodyPr/>
                    <a:lstStyle/>
                    <a:p>
                      <a:pPr algn="just">
                        <a:lnSpc>
                          <a:spcPct val="200000"/>
                        </a:lnSpc>
                        <a:spcAft>
                          <a:spcPts val="1000"/>
                        </a:spcAft>
                        <a:tabLst>
                          <a:tab pos="1085850" algn="l"/>
                        </a:tabLst>
                      </a:pPr>
                      <a:r>
                        <a:rPr lang="en-US" sz="3600" dirty="0">
                          <a:effectLst/>
                        </a:rPr>
                        <a:t>Carbon dioxide </a:t>
                      </a:r>
                      <a:endParaRPr lang="en-UG"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a:effectLst/>
                        </a:rPr>
                        <a:t>0.03</a:t>
                      </a:r>
                      <a:endParaRPr lang="en-UG" sz="360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a:effectLst/>
                        </a:rPr>
                        <a:t>4</a:t>
                      </a:r>
                      <a:endParaRPr lang="en-UG" sz="360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extLst>
                  <a:ext uri="{0D108BD9-81ED-4DB2-BD59-A6C34878D82A}">
                    <a16:rowId xmlns:a16="http://schemas.microsoft.com/office/drawing/2014/main" val="3358340110"/>
                  </a:ext>
                </a:extLst>
              </a:tr>
              <a:tr h="572387">
                <a:tc>
                  <a:txBody>
                    <a:bodyPr/>
                    <a:lstStyle/>
                    <a:p>
                      <a:pPr algn="just">
                        <a:lnSpc>
                          <a:spcPct val="200000"/>
                        </a:lnSpc>
                        <a:spcAft>
                          <a:spcPts val="1000"/>
                        </a:spcAft>
                        <a:tabLst>
                          <a:tab pos="1085850" algn="l"/>
                        </a:tabLst>
                      </a:pPr>
                      <a:r>
                        <a:rPr lang="en-US" sz="3600" dirty="0">
                          <a:effectLst/>
                        </a:rPr>
                        <a:t>Oxygen </a:t>
                      </a:r>
                      <a:endParaRPr lang="en-UG"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dirty="0">
                          <a:effectLst/>
                        </a:rPr>
                        <a:t>21</a:t>
                      </a:r>
                      <a:endParaRPr lang="en-UG"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a:effectLst/>
                        </a:rPr>
                        <a:t>16</a:t>
                      </a:r>
                      <a:endParaRPr lang="en-UG" sz="360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extLst>
                  <a:ext uri="{0D108BD9-81ED-4DB2-BD59-A6C34878D82A}">
                    <a16:rowId xmlns:a16="http://schemas.microsoft.com/office/drawing/2014/main" val="33959961"/>
                  </a:ext>
                </a:extLst>
              </a:tr>
              <a:tr h="572387">
                <a:tc>
                  <a:txBody>
                    <a:bodyPr/>
                    <a:lstStyle/>
                    <a:p>
                      <a:pPr algn="just">
                        <a:lnSpc>
                          <a:spcPct val="200000"/>
                        </a:lnSpc>
                        <a:spcAft>
                          <a:spcPts val="1000"/>
                        </a:spcAft>
                        <a:tabLst>
                          <a:tab pos="1085850" algn="l"/>
                        </a:tabLst>
                      </a:pPr>
                      <a:r>
                        <a:rPr lang="en-US" sz="3600">
                          <a:effectLst/>
                        </a:rPr>
                        <a:t>Nitrogen </a:t>
                      </a:r>
                      <a:endParaRPr lang="en-UG" sz="360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a:effectLst/>
                        </a:rPr>
                        <a:t>79</a:t>
                      </a:r>
                      <a:endParaRPr lang="en-UG" sz="360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a:effectLst/>
                        </a:rPr>
                        <a:t>79</a:t>
                      </a:r>
                      <a:endParaRPr lang="en-UG" sz="360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extLst>
                  <a:ext uri="{0D108BD9-81ED-4DB2-BD59-A6C34878D82A}">
                    <a16:rowId xmlns:a16="http://schemas.microsoft.com/office/drawing/2014/main" val="2428217203"/>
                  </a:ext>
                </a:extLst>
              </a:tr>
              <a:tr h="588854">
                <a:tc>
                  <a:txBody>
                    <a:bodyPr/>
                    <a:lstStyle/>
                    <a:p>
                      <a:pPr algn="just">
                        <a:lnSpc>
                          <a:spcPct val="200000"/>
                        </a:lnSpc>
                        <a:spcAft>
                          <a:spcPts val="1000"/>
                        </a:spcAft>
                        <a:tabLst>
                          <a:tab pos="1085850" algn="l"/>
                        </a:tabLst>
                      </a:pPr>
                      <a:r>
                        <a:rPr lang="en-US" sz="3600" dirty="0">
                          <a:effectLst/>
                        </a:rPr>
                        <a:t>Water </a:t>
                      </a:r>
                      <a:r>
                        <a:rPr lang="en-US" sz="3600" dirty="0" err="1">
                          <a:effectLst/>
                        </a:rPr>
                        <a:t>vapour</a:t>
                      </a:r>
                      <a:endParaRPr lang="en-UG"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a:effectLst/>
                        </a:rPr>
                        <a:t>Variable </a:t>
                      </a:r>
                      <a:endParaRPr lang="en-UG" sz="360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tc>
                  <a:txBody>
                    <a:bodyPr/>
                    <a:lstStyle/>
                    <a:p>
                      <a:pPr algn="just">
                        <a:lnSpc>
                          <a:spcPct val="200000"/>
                        </a:lnSpc>
                        <a:spcAft>
                          <a:spcPts val="1000"/>
                        </a:spcAft>
                        <a:tabLst>
                          <a:tab pos="1085850" algn="l"/>
                        </a:tabLst>
                      </a:pPr>
                      <a:r>
                        <a:rPr lang="en-US" sz="3600" dirty="0">
                          <a:effectLst/>
                        </a:rPr>
                        <a:t>Saturated </a:t>
                      </a:r>
                      <a:endParaRPr lang="en-UG" sz="3600" dirty="0">
                        <a:effectLst/>
                        <a:latin typeface="Calibri" panose="020F0502020204030204" pitchFamily="34" charset="0"/>
                        <a:ea typeface="Calibri" panose="020F0502020204030204" pitchFamily="34" charset="0"/>
                        <a:cs typeface="Times New Roman" panose="02020603050405020304" pitchFamily="18" charset="0"/>
                      </a:endParaRPr>
                    </a:p>
                  </a:txBody>
                  <a:tcPr marL="47988" marR="47988" marT="0" marB="0"/>
                </a:tc>
                <a:extLst>
                  <a:ext uri="{0D108BD9-81ED-4DB2-BD59-A6C34878D82A}">
                    <a16:rowId xmlns:a16="http://schemas.microsoft.com/office/drawing/2014/main" val="1304557206"/>
                  </a:ext>
                </a:extLst>
              </a:tr>
            </a:tbl>
          </a:graphicData>
        </a:graphic>
      </p:graphicFrame>
    </p:spTree>
    <p:extLst>
      <p:ext uri="{BB962C8B-B14F-4D97-AF65-F5344CB8AC3E}">
        <p14:creationId xmlns:p14="http://schemas.microsoft.com/office/powerpoint/2010/main" val="298972316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1A7C8-89F2-F758-ABF5-A8FE5EB12FD8}"/>
              </a:ext>
            </a:extLst>
          </p:cNvPr>
          <p:cNvSpPr>
            <a:spLocks noGrp="1"/>
          </p:cNvSpPr>
          <p:nvPr>
            <p:ph type="title"/>
          </p:nvPr>
        </p:nvSpPr>
        <p:spPr>
          <a:xfrm>
            <a:off x="613117" y="-70340"/>
            <a:ext cx="10515600" cy="675249"/>
          </a:xfrm>
        </p:spPr>
        <p:txBody>
          <a:bodyPr>
            <a:normAutofit fontScale="90000"/>
          </a:bodyPr>
          <a:lstStyle/>
          <a:p>
            <a:r>
              <a:rPr lang="en-US" dirty="0"/>
              <a:t>Explanations </a:t>
            </a:r>
            <a:endParaRPr lang="en-UG" dirty="0"/>
          </a:p>
        </p:txBody>
      </p:sp>
      <p:graphicFrame>
        <p:nvGraphicFramePr>
          <p:cNvPr id="4" name="Content Placeholder 3">
            <a:extLst>
              <a:ext uri="{FF2B5EF4-FFF2-40B4-BE49-F238E27FC236}">
                <a16:creationId xmlns:a16="http://schemas.microsoft.com/office/drawing/2014/main" id="{21125ED3-B37A-D388-5EB8-8A574424DD91}"/>
              </a:ext>
            </a:extLst>
          </p:cNvPr>
          <p:cNvGraphicFramePr>
            <a:graphicFrameLocks noGrp="1"/>
          </p:cNvGraphicFramePr>
          <p:nvPr>
            <p:ph idx="1"/>
            <p:extLst>
              <p:ext uri="{D42A27DB-BD31-4B8C-83A1-F6EECF244321}">
                <p14:modId xmlns:p14="http://schemas.microsoft.com/office/powerpoint/2010/main" val="2776595207"/>
              </p:ext>
            </p:extLst>
          </p:nvPr>
        </p:nvGraphicFramePr>
        <p:xfrm>
          <a:off x="70340" y="520501"/>
          <a:ext cx="12070080" cy="6614160"/>
        </p:xfrm>
        <a:graphic>
          <a:graphicData uri="http://schemas.openxmlformats.org/drawingml/2006/table">
            <a:tbl>
              <a:tblPr firstRow="1" bandRow="1">
                <a:tableStyleId>{7E9639D4-E3E2-4D34-9284-5A2195B3D0D7}</a:tableStyleId>
              </a:tblPr>
              <a:tblGrid>
                <a:gridCol w="5500651">
                  <a:extLst>
                    <a:ext uri="{9D8B030D-6E8A-4147-A177-3AD203B41FA5}">
                      <a16:colId xmlns:a16="http://schemas.microsoft.com/office/drawing/2014/main" val="1737358589"/>
                    </a:ext>
                  </a:extLst>
                </a:gridCol>
                <a:gridCol w="6569429">
                  <a:extLst>
                    <a:ext uri="{9D8B030D-6E8A-4147-A177-3AD203B41FA5}">
                      <a16:colId xmlns:a16="http://schemas.microsoft.com/office/drawing/2014/main" val="1980943432"/>
                    </a:ext>
                  </a:extLst>
                </a:gridCol>
              </a:tblGrid>
              <a:tr h="522255">
                <a:tc>
                  <a:txBody>
                    <a:bodyPr/>
                    <a:lstStyle/>
                    <a:p>
                      <a:pPr algn="just"/>
                      <a:r>
                        <a:rPr lang="en-US" sz="3200" dirty="0"/>
                        <a:t>Observation </a:t>
                      </a:r>
                      <a:endParaRPr lang="en-UG" sz="3200" dirty="0"/>
                    </a:p>
                  </a:txBody>
                  <a:tcPr/>
                </a:tc>
                <a:tc>
                  <a:txBody>
                    <a:bodyPr/>
                    <a:lstStyle/>
                    <a:p>
                      <a:pPr algn="just"/>
                      <a:r>
                        <a:rPr lang="en-US" sz="3200" dirty="0"/>
                        <a:t>Explanation </a:t>
                      </a:r>
                      <a:endParaRPr lang="en-UG" sz="3200" dirty="0"/>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20185041"/>
                  </a:ext>
                </a:extLst>
              </a:tr>
              <a:tr h="1841637">
                <a:tc>
                  <a:txBody>
                    <a:bodyPr/>
                    <a:lstStyle/>
                    <a:p>
                      <a:pPr algn="just"/>
                      <a:r>
                        <a:rPr lang="en-US" sz="3200" dirty="0"/>
                        <a:t>Percentage of carbon dioxide in inhaled air is lower than in exhaled air </a:t>
                      </a:r>
                      <a:endParaRPr lang="en-UG" sz="3200" dirty="0"/>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200" dirty="0"/>
                        <a:t>Tissue respiration in cells produce carbon dioxide which diffuse into the alveolar air and is exhaled.</a:t>
                      </a:r>
                    </a:p>
                    <a:p>
                      <a:pPr marL="457200" indent="-457200" algn="just">
                        <a:buFont typeface="Arial" panose="020B0604020202020204" pitchFamily="34" charset="0"/>
                        <a:buChar char="•"/>
                      </a:pPr>
                      <a:endParaRPr lang="en-UG"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33104699"/>
                  </a:ext>
                </a:extLst>
              </a:tr>
              <a:tr h="3600813">
                <a:tc>
                  <a:txBody>
                    <a:bodyPr/>
                    <a:lstStyle/>
                    <a:p>
                      <a:pPr algn="just"/>
                      <a:r>
                        <a:rPr lang="en-US" sz="3200" dirty="0"/>
                        <a:t>Percentage of oxygen in the inhaled air is higher than in exhaled air </a:t>
                      </a:r>
                      <a:endParaRPr lang="en-UG" sz="320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457200" marR="0" lvl="0" indent="-4572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200" dirty="0"/>
                        <a:t>Oxygen is produced by plants during photosynthesis into the atmosphere which is inhaled. Some of the inhaled O2 diffuses into blood capillaries for use in respiration making exhaled air to have less O2 than inspired air.</a:t>
                      </a:r>
                    </a:p>
                    <a:p>
                      <a:pPr marL="457200" indent="-457200" algn="just">
                        <a:buFont typeface="Arial" panose="020B0604020202020204" pitchFamily="34" charset="0"/>
                        <a:buChar char="•"/>
                      </a:pPr>
                      <a:endParaRPr lang="en-UG" sz="3200" dirty="0"/>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818105967"/>
                  </a:ext>
                </a:extLst>
              </a:tr>
            </a:tbl>
          </a:graphicData>
        </a:graphic>
      </p:graphicFrame>
    </p:spTree>
    <p:extLst>
      <p:ext uri="{BB962C8B-B14F-4D97-AF65-F5344CB8AC3E}">
        <p14:creationId xmlns:p14="http://schemas.microsoft.com/office/powerpoint/2010/main" val="279399242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61D2893A-DF78-AB30-5717-CBC07D74E371}"/>
              </a:ext>
            </a:extLst>
          </p:cNvPr>
          <p:cNvGraphicFramePr>
            <a:graphicFrameLocks noGrp="1"/>
          </p:cNvGraphicFramePr>
          <p:nvPr>
            <p:ph idx="1"/>
            <p:extLst>
              <p:ext uri="{D42A27DB-BD31-4B8C-83A1-F6EECF244321}">
                <p14:modId xmlns:p14="http://schemas.microsoft.com/office/powerpoint/2010/main" val="3069844081"/>
              </p:ext>
            </p:extLst>
          </p:nvPr>
        </p:nvGraphicFramePr>
        <p:xfrm>
          <a:off x="98474" y="140677"/>
          <a:ext cx="11957538" cy="6522720"/>
        </p:xfrm>
        <a:graphic>
          <a:graphicData uri="http://schemas.openxmlformats.org/drawingml/2006/table">
            <a:tbl>
              <a:tblPr firstRow="1" bandRow="1">
                <a:tableStyleId>{5940675A-B579-460E-94D1-54222C63F5DA}</a:tableStyleId>
              </a:tblPr>
              <a:tblGrid>
                <a:gridCol w="5978769">
                  <a:extLst>
                    <a:ext uri="{9D8B030D-6E8A-4147-A177-3AD203B41FA5}">
                      <a16:colId xmlns:a16="http://schemas.microsoft.com/office/drawing/2014/main" val="4096891871"/>
                    </a:ext>
                  </a:extLst>
                </a:gridCol>
                <a:gridCol w="5978769">
                  <a:extLst>
                    <a:ext uri="{9D8B030D-6E8A-4147-A177-3AD203B41FA5}">
                      <a16:colId xmlns:a16="http://schemas.microsoft.com/office/drawing/2014/main" val="2074966552"/>
                    </a:ext>
                  </a:extLst>
                </a:gridCol>
              </a:tblGrid>
              <a:tr h="2782085">
                <a:tc>
                  <a:txBody>
                    <a:bodyPr/>
                    <a:lstStyle/>
                    <a:p>
                      <a:r>
                        <a:rPr lang="en-US" sz="3200" b="0" dirty="0"/>
                        <a:t>Percentage of water </a:t>
                      </a:r>
                      <a:r>
                        <a:rPr lang="en-US" sz="3200" b="0" dirty="0" err="1"/>
                        <a:t>vapour</a:t>
                      </a:r>
                      <a:r>
                        <a:rPr lang="en-US" sz="3200" b="0" dirty="0"/>
                        <a:t> in expired air is normally higher than that of inspired air. However, the amount of water </a:t>
                      </a:r>
                      <a:r>
                        <a:rPr lang="en-US" sz="3200" b="0" dirty="0" err="1"/>
                        <a:t>vapour</a:t>
                      </a:r>
                      <a:r>
                        <a:rPr lang="en-US" sz="3200" b="0" dirty="0"/>
                        <a:t> in inhaled air is variable </a:t>
                      </a:r>
                      <a:endParaRPr lang="en-UG" sz="3200" b="0" dirty="0"/>
                    </a:p>
                  </a:txBody>
                  <a:tcPr/>
                </a:tc>
                <a:tc>
                  <a:txBody>
                    <a:bodyPr/>
                    <a:lstStyle/>
                    <a:p>
                      <a:pPr marL="457200" indent="-457200">
                        <a:buFont typeface="Arial" panose="020B0604020202020204" pitchFamily="34" charset="0"/>
                        <a:buChar char="•"/>
                      </a:pPr>
                      <a:r>
                        <a:rPr lang="en-US" sz="3200" b="0" dirty="0"/>
                        <a:t>The amount of water </a:t>
                      </a:r>
                      <a:r>
                        <a:rPr lang="en-US" sz="3200" b="0" dirty="0" err="1"/>
                        <a:t>vapour</a:t>
                      </a:r>
                      <a:r>
                        <a:rPr lang="en-US" sz="3200" b="0" dirty="0"/>
                        <a:t> is more in expired air because water is formed during tissue respiration and some of which diffuses into alveolar air which is expired.</a:t>
                      </a:r>
                    </a:p>
                    <a:p>
                      <a:pPr marL="457200" indent="-457200">
                        <a:buFont typeface="Arial" panose="020B0604020202020204" pitchFamily="34" charset="0"/>
                        <a:buChar char="•"/>
                      </a:pPr>
                      <a:r>
                        <a:rPr lang="en-US" sz="3200" b="0" dirty="0"/>
                        <a:t>The amount of water </a:t>
                      </a:r>
                      <a:r>
                        <a:rPr lang="en-US" sz="3200" b="0" dirty="0" err="1"/>
                        <a:t>vapour</a:t>
                      </a:r>
                      <a:r>
                        <a:rPr lang="en-US" sz="3200" b="0" dirty="0"/>
                        <a:t> in inhaled air is variable because it depends on the humidity of the atmosphere</a:t>
                      </a:r>
                      <a:endParaRPr lang="en-UG" sz="3200" b="0" dirty="0"/>
                    </a:p>
                  </a:txBody>
                  <a:tcPr/>
                </a:tc>
                <a:extLst>
                  <a:ext uri="{0D108BD9-81ED-4DB2-BD59-A6C34878D82A}">
                    <a16:rowId xmlns:a16="http://schemas.microsoft.com/office/drawing/2014/main" val="3035202968"/>
                  </a:ext>
                </a:extLst>
              </a:tr>
              <a:tr h="1036463">
                <a:tc>
                  <a:txBody>
                    <a:bodyPr/>
                    <a:lstStyle/>
                    <a:p>
                      <a:r>
                        <a:rPr lang="en-US" sz="3200" dirty="0"/>
                        <a:t>Percentage of nitrogen in inspired/inhaled air is the same as in exhaled air</a:t>
                      </a:r>
                      <a:endParaRPr lang="en-UG" sz="3200" b="0" dirty="0"/>
                    </a:p>
                  </a:txBody>
                  <a:tcPr/>
                </a:tc>
                <a:tc>
                  <a:txBody>
                    <a:bodyPr/>
                    <a:lstStyle/>
                    <a:p>
                      <a:pPr marL="457200" indent="-457200">
                        <a:buFont typeface="Arial" panose="020B0604020202020204" pitchFamily="34" charset="0"/>
                        <a:buChar char="•"/>
                      </a:pPr>
                      <a:r>
                        <a:rPr lang="en-US" sz="3200" dirty="0"/>
                        <a:t>Nitrogen is neither used nor produced by cells because it’s an inert gas.</a:t>
                      </a:r>
                      <a:endParaRPr lang="en-UG" sz="3200" b="0" dirty="0"/>
                    </a:p>
                  </a:txBody>
                  <a:tcPr/>
                </a:tc>
                <a:extLst>
                  <a:ext uri="{0D108BD9-81ED-4DB2-BD59-A6C34878D82A}">
                    <a16:rowId xmlns:a16="http://schemas.microsoft.com/office/drawing/2014/main" val="897737253"/>
                  </a:ext>
                </a:extLst>
              </a:tr>
            </a:tbl>
          </a:graphicData>
        </a:graphic>
      </p:graphicFrame>
    </p:spTree>
    <p:extLst>
      <p:ext uri="{BB962C8B-B14F-4D97-AF65-F5344CB8AC3E}">
        <p14:creationId xmlns:p14="http://schemas.microsoft.com/office/powerpoint/2010/main" val="394366360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2B4619-2235-2A90-B8D0-5F29DFAEEBE7}"/>
              </a:ext>
            </a:extLst>
          </p:cNvPr>
          <p:cNvSpPr>
            <a:spLocks noGrp="1"/>
          </p:cNvSpPr>
          <p:nvPr>
            <p:ph idx="1"/>
          </p:nvPr>
        </p:nvSpPr>
        <p:spPr/>
        <p:txBody>
          <a:bodyPr>
            <a:normAutofit/>
          </a:bodyPr>
          <a:lstStyle/>
          <a:p>
            <a:pPr marL="514350" indent="-514350">
              <a:buFont typeface="+mj-lt"/>
              <a:buAutoNum type="alphaLcParenR"/>
            </a:pPr>
            <a:r>
              <a:rPr lang="en-US" sz="3200" dirty="0"/>
              <a:t>Does inhaled and exhaled air differ in temperature? </a:t>
            </a:r>
          </a:p>
          <a:p>
            <a:pPr marL="514350" indent="-514350">
              <a:buFont typeface="+mj-lt"/>
              <a:buAutoNum type="alphaLcParenR"/>
            </a:pPr>
            <a:r>
              <a:rPr lang="en-US" sz="3200" dirty="0"/>
              <a:t>Yes/no? Why?</a:t>
            </a:r>
          </a:p>
        </p:txBody>
      </p:sp>
    </p:spTree>
    <p:extLst>
      <p:ext uri="{BB962C8B-B14F-4D97-AF65-F5344CB8AC3E}">
        <p14:creationId xmlns:p14="http://schemas.microsoft.com/office/powerpoint/2010/main" val="33544746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1EF17-64AE-E35B-F77A-0B9B6DCD1FAA}"/>
              </a:ext>
            </a:extLst>
          </p:cNvPr>
          <p:cNvSpPr>
            <a:spLocks noGrp="1"/>
          </p:cNvSpPr>
          <p:nvPr>
            <p:ph type="title"/>
          </p:nvPr>
        </p:nvSpPr>
        <p:spPr>
          <a:xfrm>
            <a:off x="838200" y="13425"/>
            <a:ext cx="10515600" cy="1325563"/>
          </a:xfrm>
        </p:spPr>
        <p:txBody>
          <a:bodyPr/>
          <a:lstStyle/>
          <a:p>
            <a:pPr algn="ctr"/>
            <a:r>
              <a:rPr lang="en-US" b="1" u="sng" dirty="0">
                <a:effectLst>
                  <a:outerShdw blurRad="38100" dist="38100" dir="2700000" algn="tl">
                    <a:srgbClr val="000000">
                      <a:alpha val="43137"/>
                    </a:srgbClr>
                  </a:outerShdw>
                </a:effectLst>
              </a:rPr>
              <a:t>Dangers of Smoking and Air Pollution on Gas Exchange Surfaces in the Lungs</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78E4F4BB-600B-D7D1-D760-6409A6A66810}"/>
              </a:ext>
            </a:extLst>
          </p:cNvPr>
          <p:cNvSpPr>
            <a:spLocks noGrp="1"/>
          </p:cNvSpPr>
          <p:nvPr>
            <p:ph idx="1"/>
          </p:nvPr>
        </p:nvSpPr>
        <p:spPr>
          <a:xfrm>
            <a:off x="112542" y="1338988"/>
            <a:ext cx="11901267" cy="5244692"/>
          </a:xfrm>
        </p:spPr>
        <p:txBody>
          <a:bodyPr>
            <a:noAutofit/>
          </a:bodyPr>
          <a:lstStyle/>
          <a:p>
            <a:pPr marL="514350" indent="-514350" algn="just">
              <a:buAutoNum type="alphaLcParenBoth"/>
            </a:pPr>
            <a:r>
              <a:rPr lang="en-US" sz="3600" b="1" u="sng" dirty="0">
                <a:effectLst>
                  <a:outerShdw blurRad="38100" dist="38100" dir="2700000" algn="tl">
                    <a:srgbClr val="000000">
                      <a:alpha val="43137"/>
                    </a:srgbClr>
                  </a:outerShdw>
                </a:effectLst>
              </a:rPr>
              <a:t>Cigarette smoking</a:t>
            </a:r>
          </a:p>
        </p:txBody>
      </p:sp>
      <p:pic>
        <p:nvPicPr>
          <p:cNvPr id="4" name="Picture 2">
            <a:extLst>
              <a:ext uri="{FF2B5EF4-FFF2-40B4-BE49-F238E27FC236}">
                <a16:creationId xmlns:a16="http://schemas.microsoft.com/office/drawing/2014/main" id="{0BD4CED9-579A-DB4B-C85D-F54D800FB3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863969"/>
            <a:ext cx="12192000" cy="49949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705287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A0E700A-31B6-CD67-107B-E5D8D02CFA70}"/>
              </a:ext>
            </a:extLst>
          </p:cNvPr>
          <p:cNvSpPr>
            <a:spLocks noGrp="1"/>
          </p:cNvSpPr>
          <p:nvPr>
            <p:ph idx="1"/>
          </p:nvPr>
        </p:nvSpPr>
        <p:spPr>
          <a:xfrm>
            <a:off x="436095" y="323557"/>
            <a:ext cx="11465169" cy="6161648"/>
          </a:xfrm>
        </p:spPr>
        <p:txBody>
          <a:bodyPr>
            <a:noAutofit/>
          </a:bodyPr>
          <a:lstStyle/>
          <a:p>
            <a:pPr marL="0" indent="0" algn="just">
              <a:buNone/>
            </a:pPr>
            <a:r>
              <a:rPr lang="en-US" sz="3600" dirty="0"/>
              <a:t>Cigarette smoke contains many dangerous substances including nicotine, tar and carbon monoxide</a:t>
            </a:r>
          </a:p>
          <a:p>
            <a:pPr marL="571500" indent="-571500" algn="just">
              <a:buAutoNum type="romanLcParenBoth"/>
            </a:pPr>
            <a:r>
              <a:rPr lang="en-US" sz="3600" b="1" dirty="0"/>
              <a:t>Nicotine</a:t>
            </a:r>
          </a:p>
          <a:p>
            <a:pPr algn="just"/>
            <a:r>
              <a:rPr lang="en-US" sz="3600" dirty="0"/>
              <a:t>It is a highly </a:t>
            </a:r>
            <a:r>
              <a:rPr lang="en-US" sz="3600" b="1" u="sng" dirty="0"/>
              <a:t>addictive chemical </a:t>
            </a:r>
            <a:r>
              <a:rPr lang="en-US" sz="3600" dirty="0"/>
              <a:t>found in tobacco products.</a:t>
            </a:r>
          </a:p>
          <a:p>
            <a:pPr algn="just"/>
            <a:r>
              <a:rPr lang="en-US" sz="3600" dirty="0"/>
              <a:t>It is rapidly absorbed into the blood stream and quickly </a:t>
            </a:r>
            <a:r>
              <a:rPr lang="en-US" sz="3600" b="1" u="sng" dirty="0"/>
              <a:t>reaches the brain</a:t>
            </a:r>
            <a:r>
              <a:rPr lang="en-US" sz="3600" dirty="0"/>
              <a:t>, leading to a feeling of pleasure, satisfaction and reward, hence creating a dependency.</a:t>
            </a:r>
          </a:p>
          <a:p>
            <a:pPr algn="just"/>
            <a:r>
              <a:rPr lang="en-US" sz="3600" dirty="0"/>
              <a:t>Leads to increased heart rate and reduction in diameter of arterioles.</a:t>
            </a:r>
          </a:p>
          <a:p>
            <a:pPr algn="just"/>
            <a:r>
              <a:rPr lang="en-US" sz="3600" dirty="0"/>
              <a:t>Increases risk of </a:t>
            </a:r>
            <a:r>
              <a:rPr lang="en-US" sz="3600" b="1" u="sng" dirty="0"/>
              <a:t>heart diseases</a:t>
            </a:r>
            <a:r>
              <a:rPr lang="en-US" sz="3600" dirty="0"/>
              <a:t>. </a:t>
            </a:r>
          </a:p>
          <a:p>
            <a:endParaRPr lang="en-UG" sz="3600" dirty="0"/>
          </a:p>
        </p:txBody>
      </p:sp>
    </p:spTree>
    <p:extLst>
      <p:ext uri="{BB962C8B-B14F-4D97-AF65-F5344CB8AC3E}">
        <p14:creationId xmlns:p14="http://schemas.microsoft.com/office/powerpoint/2010/main" val="34884063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4A8BF-7C4A-DD89-7570-C7E6A1BB926B}"/>
              </a:ext>
            </a:extLst>
          </p:cNvPr>
          <p:cNvSpPr>
            <a:spLocks noGrp="1"/>
          </p:cNvSpPr>
          <p:nvPr>
            <p:ph type="title"/>
          </p:nvPr>
        </p:nvSpPr>
        <p:spPr>
          <a:xfrm>
            <a:off x="599049" y="0"/>
            <a:ext cx="10515600" cy="1325563"/>
          </a:xfrm>
        </p:spPr>
        <p:txBody>
          <a:bodyPr/>
          <a:lstStyle/>
          <a:p>
            <a:r>
              <a:rPr lang="en-US" sz="4400" dirty="0"/>
              <a:t>(ii) Tar</a:t>
            </a:r>
            <a:endParaRPr lang="en-UG" dirty="0"/>
          </a:p>
        </p:txBody>
      </p:sp>
      <p:pic>
        <p:nvPicPr>
          <p:cNvPr id="2050" name="Picture 2" descr="How much tar is in YOUR lungs right now?">
            <a:extLst>
              <a:ext uri="{FF2B5EF4-FFF2-40B4-BE49-F238E27FC236}">
                <a16:creationId xmlns:a16="http://schemas.microsoft.com/office/drawing/2014/main" id="{B73B910A-8738-AE7E-0C9F-8E136FEDCF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62554" y="829993"/>
            <a:ext cx="7188590" cy="58732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81265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2E7E6BA-4F4B-1E67-71B9-C1B99EA6D9DD}"/>
              </a:ext>
            </a:extLst>
          </p:cNvPr>
          <p:cNvSpPr>
            <a:spLocks noGrp="1"/>
          </p:cNvSpPr>
          <p:nvPr>
            <p:ph idx="1"/>
          </p:nvPr>
        </p:nvSpPr>
        <p:spPr>
          <a:xfrm>
            <a:off x="194603" y="140677"/>
            <a:ext cx="11802793" cy="6576646"/>
          </a:xfrm>
        </p:spPr>
        <p:txBody>
          <a:bodyPr>
            <a:noAutofit/>
          </a:bodyPr>
          <a:lstStyle/>
          <a:p>
            <a:pPr algn="just"/>
            <a:r>
              <a:rPr lang="en-US" sz="3600" dirty="0"/>
              <a:t>It is a thick sticky substance produced when tobacco is burned.</a:t>
            </a:r>
          </a:p>
          <a:p>
            <a:pPr algn="just"/>
            <a:r>
              <a:rPr lang="en-US" sz="3600" dirty="0"/>
              <a:t>It causes cancer (carcinogenic) </a:t>
            </a:r>
          </a:p>
          <a:p>
            <a:pPr algn="just"/>
            <a:r>
              <a:rPr lang="en-US" sz="3600" dirty="0"/>
              <a:t>Destroys cilia that move mucus and foreign particles out of the lungs.</a:t>
            </a:r>
          </a:p>
          <a:p>
            <a:pPr algn="just"/>
            <a:r>
              <a:rPr lang="en-US" sz="3600" dirty="0"/>
              <a:t>Irritate the lungs leading to increased mucus production in the air pathways, blocking it.</a:t>
            </a:r>
          </a:p>
          <a:p>
            <a:pPr algn="just"/>
            <a:r>
              <a:rPr lang="en-US" sz="3600" dirty="0"/>
              <a:t>Coats inner surface the alveoli reducing permeability to respiratory gases.</a:t>
            </a:r>
          </a:p>
          <a:p>
            <a:pPr algn="just"/>
            <a:r>
              <a:rPr lang="en-US" sz="3600" dirty="0"/>
              <a:t>Reduces lung elasticity causing alveoli to burst, reducing surface area for gas exchange.  </a:t>
            </a:r>
          </a:p>
          <a:p>
            <a:pPr marL="0" indent="0">
              <a:buNone/>
            </a:pPr>
            <a:endParaRPr lang="en-UG" sz="3600" dirty="0"/>
          </a:p>
        </p:txBody>
      </p:sp>
    </p:spTree>
    <p:extLst>
      <p:ext uri="{BB962C8B-B14F-4D97-AF65-F5344CB8AC3E}">
        <p14:creationId xmlns:p14="http://schemas.microsoft.com/office/powerpoint/2010/main" val="405747829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A373B6-61CE-E9BA-71C8-132ECCE95A81}"/>
              </a:ext>
            </a:extLst>
          </p:cNvPr>
          <p:cNvSpPr>
            <a:spLocks noGrp="1"/>
          </p:cNvSpPr>
          <p:nvPr>
            <p:ph type="title"/>
          </p:nvPr>
        </p:nvSpPr>
        <p:spPr/>
        <p:txBody>
          <a:bodyPr/>
          <a:lstStyle/>
          <a:p>
            <a:r>
              <a:rPr lang="en-US" sz="4400" dirty="0"/>
              <a:t>(iii) Carbon monoxide </a:t>
            </a:r>
            <a:r>
              <a:rPr lang="en-UG" sz="4400" dirty="0"/>
              <a:t/>
            </a:r>
            <a:br>
              <a:rPr lang="en-UG" sz="4400" dirty="0"/>
            </a:br>
            <a:endParaRPr lang="en-UG" dirty="0"/>
          </a:p>
        </p:txBody>
      </p:sp>
      <p:sp>
        <p:nvSpPr>
          <p:cNvPr id="3" name="Content Placeholder 2">
            <a:extLst>
              <a:ext uri="{FF2B5EF4-FFF2-40B4-BE49-F238E27FC236}">
                <a16:creationId xmlns:a16="http://schemas.microsoft.com/office/drawing/2014/main" id="{E7F19634-5A92-521A-22ED-EECDCC19C278}"/>
              </a:ext>
            </a:extLst>
          </p:cNvPr>
          <p:cNvSpPr>
            <a:spLocks noGrp="1"/>
          </p:cNvSpPr>
          <p:nvPr>
            <p:ph idx="1"/>
          </p:nvPr>
        </p:nvSpPr>
        <p:spPr>
          <a:xfrm>
            <a:off x="323557" y="1266092"/>
            <a:ext cx="11030243" cy="4910871"/>
          </a:xfrm>
        </p:spPr>
        <p:txBody>
          <a:bodyPr>
            <a:normAutofit lnSpcReduction="10000"/>
          </a:bodyPr>
          <a:lstStyle/>
          <a:p>
            <a:pPr algn="just"/>
            <a:r>
              <a:rPr lang="en-US" sz="3600" dirty="0"/>
              <a:t>Combines irreversibly/permanently with hemoglobin in inside red blood cells, making hemoglobin (red blood cells) unable to carry oxygen. </a:t>
            </a:r>
          </a:p>
          <a:p>
            <a:pPr algn="just"/>
            <a:r>
              <a:rPr lang="en-US" sz="3600" dirty="0"/>
              <a:t>The inability of blood to carry away oxygen from the respiratory surface also reduces oxygen concentration gradient leading to reduced diffusion of oxygen into blood.</a:t>
            </a:r>
          </a:p>
          <a:p>
            <a:pPr algn="just"/>
            <a:r>
              <a:rPr lang="en-US" sz="3600" dirty="0"/>
              <a:t>Therefore body cells do not receive oxygen required for respiration.</a:t>
            </a:r>
          </a:p>
          <a:p>
            <a:pPr algn="just"/>
            <a:r>
              <a:rPr lang="en-US" sz="3600" dirty="0"/>
              <a:t>It is also linked to heart diseases.</a:t>
            </a:r>
          </a:p>
        </p:txBody>
      </p:sp>
    </p:spTree>
    <p:extLst>
      <p:ext uri="{BB962C8B-B14F-4D97-AF65-F5344CB8AC3E}">
        <p14:creationId xmlns:p14="http://schemas.microsoft.com/office/powerpoint/2010/main" val="2295404844"/>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18E1D4-5927-FA35-B028-C7C9CC0599B7}"/>
              </a:ext>
            </a:extLst>
          </p:cNvPr>
          <p:cNvSpPr>
            <a:spLocks noGrp="1"/>
          </p:cNvSpPr>
          <p:nvPr>
            <p:ph type="title"/>
          </p:nvPr>
        </p:nvSpPr>
        <p:spPr>
          <a:xfrm>
            <a:off x="838200" y="27495"/>
            <a:ext cx="10515600" cy="1325563"/>
          </a:xfrm>
        </p:spPr>
        <p:txBody>
          <a:bodyPr/>
          <a:lstStyle/>
          <a:p>
            <a:pPr algn="ctr"/>
            <a:r>
              <a:rPr lang="en-US" b="1" u="sng" dirty="0">
                <a:effectLst>
                  <a:outerShdw blurRad="38100" dist="38100" dir="2700000" algn="tl">
                    <a:srgbClr val="000000">
                      <a:alpha val="43137"/>
                    </a:srgbClr>
                  </a:outerShdw>
                </a:effectLst>
              </a:rPr>
              <a:t>Demonstrating the effect of cigarette smoke on the respiratory system</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471C45F2-3655-0C8F-FA15-6209CA4834CB}"/>
              </a:ext>
            </a:extLst>
          </p:cNvPr>
          <p:cNvSpPr>
            <a:spLocks noGrp="1"/>
          </p:cNvSpPr>
          <p:nvPr>
            <p:ph idx="1"/>
          </p:nvPr>
        </p:nvSpPr>
        <p:spPr>
          <a:xfrm>
            <a:off x="407963" y="1825625"/>
            <a:ext cx="11633982" cy="4814326"/>
          </a:xfrm>
        </p:spPr>
        <p:txBody>
          <a:bodyPr>
            <a:noAutofit/>
          </a:bodyPr>
          <a:lstStyle/>
          <a:p>
            <a:pPr marL="0" indent="0" algn="just">
              <a:buNone/>
            </a:pPr>
            <a:r>
              <a:rPr lang="en-US" sz="3600" b="1" u="sng" dirty="0"/>
              <a:t>Materials and apparatus</a:t>
            </a:r>
          </a:p>
          <a:p>
            <a:pPr algn="just"/>
            <a:r>
              <a:rPr lang="en-US" sz="3600" dirty="0"/>
              <a:t>Cigarettes</a:t>
            </a:r>
          </a:p>
          <a:p>
            <a:pPr algn="just"/>
            <a:r>
              <a:rPr lang="en-US" sz="3600" dirty="0"/>
              <a:t> white cotton wool,</a:t>
            </a:r>
          </a:p>
          <a:p>
            <a:pPr algn="just"/>
            <a:r>
              <a:rPr lang="en-US" sz="3600" dirty="0"/>
              <a:t>universal indicator solution/ blue litmus indicator/ hydrogen carbonate indicator</a:t>
            </a:r>
          </a:p>
          <a:p>
            <a:pPr algn="just"/>
            <a:r>
              <a:rPr lang="en-US" sz="3600" dirty="0"/>
              <a:t> U-Shaped tube, filter pump</a:t>
            </a:r>
          </a:p>
          <a:p>
            <a:pPr algn="just"/>
            <a:r>
              <a:rPr lang="en-US" sz="3600" dirty="0"/>
              <a:t>test tube, rubber stopper, retort stand and clamp, rubber connecters, thermometer.</a:t>
            </a:r>
          </a:p>
        </p:txBody>
      </p:sp>
    </p:spTree>
    <p:extLst>
      <p:ext uri="{BB962C8B-B14F-4D97-AF65-F5344CB8AC3E}">
        <p14:creationId xmlns:p14="http://schemas.microsoft.com/office/powerpoint/2010/main" val="26710123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E3A48D-D185-049F-78CD-37B99B214EB1}"/>
              </a:ext>
            </a:extLst>
          </p:cNvPr>
          <p:cNvSpPr>
            <a:spLocks noGrp="1"/>
          </p:cNvSpPr>
          <p:nvPr>
            <p:ph type="title"/>
          </p:nvPr>
        </p:nvSpPr>
        <p:spPr>
          <a:xfrm>
            <a:off x="669388" y="-36856"/>
            <a:ext cx="10515600" cy="619417"/>
          </a:xfrm>
        </p:spPr>
        <p:txBody>
          <a:bodyPr>
            <a:normAutofit fontScale="90000"/>
          </a:bodyPr>
          <a:lstStyle/>
          <a:p>
            <a:r>
              <a:rPr lang="en-US" b="1" u="sng" dirty="0">
                <a:effectLst>
                  <a:outerShdw blurRad="38100" dist="38100" dir="2700000" algn="tl">
                    <a:srgbClr val="000000">
                      <a:alpha val="43137"/>
                    </a:srgbClr>
                  </a:outerShdw>
                </a:effectLst>
              </a:rPr>
              <a:t>Set up of apparatus</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31C15CA1-1CD3-3B65-19CF-0BF213F9D885}"/>
              </a:ext>
            </a:extLst>
          </p:cNvPr>
          <p:cNvSpPr>
            <a:spLocks noGrp="1"/>
          </p:cNvSpPr>
          <p:nvPr>
            <p:ph idx="1"/>
          </p:nvPr>
        </p:nvSpPr>
        <p:spPr/>
        <p:txBody>
          <a:bodyPr/>
          <a:lstStyle/>
          <a:p>
            <a:endParaRPr lang="en-UG"/>
          </a:p>
        </p:txBody>
      </p:sp>
      <p:pic>
        <p:nvPicPr>
          <p:cNvPr id="8" name="Picture 7">
            <a:extLst>
              <a:ext uri="{FF2B5EF4-FFF2-40B4-BE49-F238E27FC236}">
                <a16:creationId xmlns:a16="http://schemas.microsoft.com/office/drawing/2014/main" id="{CAEB882F-B359-8BD3-1739-4575AEEB7A26}"/>
              </a:ext>
            </a:extLst>
          </p:cNvPr>
          <p:cNvPicPr>
            <a:picLocks noChangeAspect="1"/>
          </p:cNvPicPr>
          <p:nvPr/>
        </p:nvPicPr>
        <p:blipFill>
          <a:blip r:embed="rId2"/>
          <a:stretch>
            <a:fillRect/>
          </a:stretch>
        </p:blipFill>
        <p:spPr>
          <a:xfrm>
            <a:off x="0" y="464235"/>
            <a:ext cx="12192000" cy="6389644"/>
          </a:xfrm>
          <a:prstGeom prst="rect">
            <a:avLst/>
          </a:prstGeom>
        </p:spPr>
      </p:pic>
    </p:spTree>
    <p:extLst>
      <p:ext uri="{BB962C8B-B14F-4D97-AF65-F5344CB8AC3E}">
        <p14:creationId xmlns:p14="http://schemas.microsoft.com/office/powerpoint/2010/main" val="23011740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414C28-B3C0-5B49-A993-73A8760A50E1}"/>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97BE6A1D-C089-8BEE-D3E9-15B10F7C1339}"/>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90733467-01E4-2944-31A7-77EC48251C5B}"/>
              </a:ext>
            </a:extLst>
          </p:cNvPr>
          <p:cNvPicPr>
            <a:picLocks noChangeAspect="1"/>
          </p:cNvPicPr>
          <p:nvPr/>
        </p:nvPicPr>
        <p:blipFill>
          <a:blip r:embed="rId2"/>
          <a:stretch>
            <a:fillRect/>
          </a:stretch>
        </p:blipFill>
        <p:spPr>
          <a:xfrm>
            <a:off x="0" y="-46484"/>
            <a:ext cx="12191999" cy="6950968"/>
          </a:xfrm>
          <a:prstGeom prst="rect">
            <a:avLst/>
          </a:prstGeom>
        </p:spPr>
      </p:pic>
    </p:spTree>
    <p:extLst>
      <p:ext uri="{BB962C8B-B14F-4D97-AF65-F5344CB8AC3E}">
        <p14:creationId xmlns:p14="http://schemas.microsoft.com/office/powerpoint/2010/main" val="118840129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BC937-0D64-8CD2-D3C9-F7475EC619E5}"/>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D1D33F6E-2863-39B5-5BFA-03E8E7480D33}"/>
              </a:ext>
            </a:extLst>
          </p:cNvPr>
          <p:cNvSpPr>
            <a:spLocks noGrp="1"/>
          </p:cNvSpPr>
          <p:nvPr>
            <p:ph idx="1"/>
          </p:nvPr>
        </p:nvSpPr>
        <p:spPr/>
        <p:txBody>
          <a:bodyPr/>
          <a:lstStyle/>
          <a:p>
            <a:endParaRPr lang="en-UG" dirty="0"/>
          </a:p>
        </p:txBody>
      </p:sp>
      <p:pic>
        <p:nvPicPr>
          <p:cNvPr id="5" name="Picture 4">
            <a:extLst>
              <a:ext uri="{FF2B5EF4-FFF2-40B4-BE49-F238E27FC236}">
                <a16:creationId xmlns:a16="http://schemas.microsoft.com/office/drawing/2014/main" id="{726D1009-69D0-FCBC-E7DC-7969F810B0DB}"/>
              </a:ext>
            </a:extLst>
          </p:cNvPr>
          <p:cNvPicPr>
            <a:picLocks noChangeAspect="1"/>
          </p:cNvPicPr>
          <p:nvPr/>
        </p:nvPicPr>
        <p:blipFill>
          <a:blip r:embed="rId2"/>
          <a:stretch>
            <a:fillRect/>
          </a:stretch>
        </p:blipFill>
        <p:spPr>
          <a:xfrm>
            <a:off x="0" y="15110"/>
            <a:ext cx="12192000" cy="6842890"/>
          </a:xfrm>
          <a:prstGeom prst="rect">
            <a:avLst/>
          </a:prstGeom>
        </p:spPr>
      </p:pic>
    </p:spTree>
    <p:extLst>
      <p:ext uri="{BB962C8B-B14F-4D97-AF65-F5344CB8AC3E}">
        <p14:creationId xmlns:p14="http://schemas.microsoft.com/office/powerpoint/2010/main" val="424827005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6CCFCB-95BD-5580-97F5-014CEEDC025C}"/>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0735044B-22F6-F606-245B-7819C8B2EB51}"/>
              </a:ext>
            </a:extLst>
          </p:cNvPr>
          <p:cNvSpPr>
            <a:spLocks noGrp="1"/>
          </p:cNvSpPr>
          <p:nvPr>
            <p:ph idx="1"/>
          </p:nvPr>
        </p:nvSpPr>
        <p:spPr/>
        <p:txBody>
          <a:bodyPr/>
          <a:lstStyle/>
          <a:p>
            <a:endParaRPr lang="en-UG"/>
          </a:p>
        </p:txBody>
      </p:sp>
      <p:pic>
        <p:nvPicPr>
          <p:cNvPr id="5" name="Picture 4">
            <a:extLst>
              <a:ext uri="{FF2B5EF4-FFF2-40B4-BE49-F238E27FC236}">
                <a16:creationId xmlns:a16="http://schemas.microsoft.com/office/drawing/2014/main" id="{3A1E0923-7D74-2FD9-C9E8-18BC88844126}"/>
              </a:ext>
            </a:extLst>
          </p:cNvPr>
          <p:cNvPicPr>
            <a:picLocks noChangeAspect="1"/>
          </p:cNvPicPr>
          <p:nvPr/>
        </p:nvPicPr>
        <p:blipFill>
          <a:blip r:embed="rId2"/>
          <a:stretch>
            <a:fillRect/>
          </a:stretch>
        </p:blipFill>
        <p:spPr>
          <a:xfrm>
            <a:off x="1" y="0"/>
            <a:ext cx="12192000" cy="6857999"/>
          </a:xfrm>
          <a:prstGeom prst="rect">
            <a:avLst/>
          </a:prstGeom>
        </p:spPr>
      </p:pic>
    </p:spTree>
    <p:extLst>
      <p:ext uri="{BB962C8B-B14F-4D97-AF65-F5344CB8AC3E}">
        <p14:creationId xmlns:p14="http://schemas.microsoft.com/office/powerpoint/2010/main" val="413690123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9773FB-C901-B684-B14F-4482CC176012}"/>
              </a:ext>
            </a:extLst>
          </p:cNvPr>
          <p:cNvSpPr>
            <a:spLocks noGrp="1"/>
          </p:cNvSpPr>
          <p:nvPr>
            <p:ph idx="1"/>
          </p:nvPr>
        </p:nvSpPr>
        <p:spPr>
          <a:xfrm>
            <a:off x="182880" y="123435"/>
            <a:ext cx="11746523" cy="4351338"/>
          </a:xfrm>
        </p:spPr>
        <p:txBody>
          <a:bodyPr>
            <a:normAutofit/>
          </a:bodyPr>
          <a:lstStyle/>
          <a:p>
            <a:pPr marL="0" indent="0" algn="just">
              <a:buNone/>
            </a:pPr>
            <a:r>
              <a:rPr lang="en-US" sz="3600" b="1" u="sng" dirty="0">
                <a:effectLst>
                  <a:outerShdw blurRad="38100" dist="38100" dir="2700000" algn="tl">
                    <a:srgbClr val="000000">
                      <a:alpha val="43137"/>
                    </a:srgbClr>
                  </a:outerShdw>
                </a:effectLst>
              </a:rPr>
              <a:t>Procedure</a:t>
            </a:r>
            <a:r>
              <a:rPr lang="en-US" sz="3600" dirty="0"/>
              <a:t> </a:t>
            </a:r>
          </a:p>
          <a:p>
            <a:pPr algn="just"/>
            <a:r>
              <a:rPr lang="en-US" sz="3600" dirty="0"/>
              <a:t>Set up apparatus as shown in the figure above.</a:t>
            </a:r>
          </a:p>
          <a:p>
            <a:pPr algn="just"/>
            <a:r>
              <a:rPr lang="en-US" sz="3600" dirty="0"/>
              <a:t>Light up the cigarette and turn on the filter pump to suck the smoke.</a:t>
            </a:r>
          </a:p>
          <a:p>
            <a:pPr algn="just"/>
            <a:r>
              <a:rPr lang="en-US" sz="3600" dirty="0"/>
              <a:t>Observe and record changes in the temperature, white cotton wool and universal indicator solution.</a:t>
            </a:r>
          </a:p>
          <a:p>
            <a:pPr marL="0" indent="0" algn="just">
              <a:buNone/>
            </a:pPr>
            <a:r>
              <a:rPr lang="en-US" sz="3600" b="1" u="sng" dirty="0">
                <a:effectLst>
                  <a:outerShdw blurRad="38100" dist="38100" dir="2700000" algn="tl">
                    <a:srgbClr val="000000">
                      <a:alpha val="43137"/>
                    </a:srgbClr>
                  </a:outerShdw>
                </a:effectLst>
              </a:rPr>
              <a:t>Observations</a:t>
            </a:r>
          </a:p>
          <a:p>
            <a:pPr marL="0" indent="0" algn="just">
              <a:buNone/>
            </a:pPr>
            <a:endParaRPr lang="en-UG" sz="3600" dirty="0"/>
          </a:p>
          <a:p>
            <a:pPr algn="just"/>
            <a:endParaRPr lang="en-UG" sz="3600" dirty="0"/>
          </a:p>
        </p:txBody>
      </p:sp>
      <p:graphicFrame>
        <p:nvGraphicFramePr>
          <p:cNvPr id="4" name="Table 3">
            <a:extLst>
              <a:ext uri="{FF2B5EF4-FFF2-40B4-BE49-F238E27FC236}">
                <a16:creationId xmlns:a16="http://schemas.microsoft.com/office/drawing/2014/main" id="{375373C9-A21B-FB11-05EB-91BE413BF936}"/>
              </a:ext>
            </a:extLst>
          </p:cNvPr>
          <p:cNvGraphicFramePr>
            <a:graphicFrameLocks noGrp="1"/>
          </p:cNvGraphicFramePr>
          <p:nvPr>
            <p:extLst>
              <p:ext uri="{D42A27DB-BD31-4B8C-83A1-F6EECF244321}">
                <p14:modId xmlns:p14="http://schemas.microsoft.com/office/powerpoint/2010/main" val="320640537"/>
              </p:ext>
            </p:extLst>
          </p:nvPr>
        </p:nvGraphicFramePr>
        <p:xfrm>
          <a:off x="262597" y="4171734"/>
          <a:ext cx="11666806" cy="2560320"/>
        </p:xfrm>
        <a:graphic>
          <a:graphicData uri="http://schemas.openxmlformats.org/drawingml/2006/table">
            <a:tbl>
              <a:tblPr firstRow="1" bandRow="1">
                <a:tableStyleId>{073A0DAA-6AF3-43AB-8588-CEC1D06C72B9}</a:tableStyleId>
              </a:tblPr>
              <a:tblGrid>
                <a:gridCol w="5833403">
                  <a:extLst>
                    <a:ext uri="{9D8B030D-6E8A-4147-A177-3AD203B41FA5}">
                      <a16:colId xmlns:a16="http://schemas.microsoft.com/office/drawing/2014/main" val="233958047"/>
                    </a:ext>
                  </a:extLst>
                </a:gridCol>
                <a:gridCol w="5833403">
                  <a:extLst>
                    <a:ext uri="{9D8B030D-6E8A-4147-A177-3AD203B41FA5}">
                      <a16:colId xmlns:a16="http://schemas.microsoft.com/office/drawing/2014/main" val="1158248997"/>
                    </a:ext>
                  </a:extLst>
                </a:gridCol>
              </a:tblGrid>
              <a:tr h="616413">
                <a:tc>
                  <a:txBody>
                    <a:bodyPr/>
                    <a:lstStyle/>
                    <a:p>
                      <a:r>
                        <a:rPr lang="en-US" sz="3600" dirty="0"/>
                        <a:t>Part of apparatus</a:t>
                      </a:r>
                      <a:endParaRPr lang="en-UG" sz="3600" dirty="0"/>
                    </a:p>
                  </a:txBody>
                  <a:tcPr/>
                </a:tc>
                <a:tc>
                  <a:txBody>
                    <a:bodyPr/>
                    <a:lstStyle/>
                    <a:p>
                      <a:r>
                        <a:rPr lang="en-US" sz="3600" dirty="0"/>
                        <a:t>Observed change</a:t>
                      </a:r>
                      <a:endParaRPr lang="en-UG" sz="3600" dirty="0"/>
                    </a:p>
                  </a:txBody>
                  <a:tcPr/>
                </a:tc>
                <a:extLst>
                  <a:ext uri="{0D108BD9-81ED-4DB2-BD59-A6C34878D82A}">
                    <a16:rowId xmlns:a16="http://schemas.microsoft.com/office/drawing/2014/main" val="3737853990"/>
                  </a:ext>
                </a:extLst>
              </a:tr>
              <a:tr h="616413">
                <a:tc>
                  <a:txBody>
                    <a:bodyPr/>
                    <a:lstStyle/>
                    <a:p>
                      <a:r>
                        <a:rPr lang="en-US" sz="3600" dirty="0"/>
                        <a:t>Universal indicator solution</a:t>
                      </a:r>
                      <a:endParaRPr lang="en-UG" sz="3600" dirty="0"/>
                    </a:p>
                  </a:txBody>
                  <a:tcPr/>
                </a:tc>
                <a:tc>
                  <a:txBody>
                    <a:bodyPr/>
                    <a:lstStyle/>
                    <a:p>
                      <a:endParaRPr lang="en-UG" sz="3600" dirty="0"/>
                    </a:p>
                  </a:txBody>
                  <a:tcPr/>
                </a:tc>
                <a:extLst>
                  <a:ext uri="{0D108BD9-81ED-4DB2-BD59-A6C34878D82A}">
                    <a16:rowId xmlns:a16="http://schemas.microsoft.com/office/drawing/2014/main" val="1854267713"/>
                  </a:ext>
                </a:extLst>
              </a:tr>
              <a:tr h="616413">
                <a:tc>
                  <a:txBody>
                    <a:bodyPr/>
                    <a:lstStyle/>
                    <a:p>
                      <a:r>
                        <a:rPr lang="en-US" sz="3600" dirty="0"/>
                        <a:t>White cotton wool</a:t>
                      </a:r>
                      <a:endParaRPr lang="en-UG" sz="3600" dirty="0"/>
                    </a:p>
                  </a:txBody>
                  <a:tcPr/>
                </a:tc>
                <a:tc>
                  <a:txBody>
                    <a:bodyPr/>
                    <a:lstStyle/>
                    <a:p>
                      <a:endParaRPr lang="en-UG" sz="3600" dirty="0"/>
                    </a:p>
                  </a:txBody>
                  <a:tcPr/>
                </a:tc>
                <a:extLst>
                  <a:ext uri="{0D108BD9-81ED-4DB2-BD59-A6C34878D82A}">
                    <a16:rowId xmlns:a16="http://schemas.microsoft.com/office/drawing/2014/main" val="3689446168"/>
                  </a:ext>
                </a:extLst>
              </a:tr>
              <a:tr h="616413">
                <a:tc>
                  <a:txBody>
                    <a:bodyPr/>
                    <a:lstStyle/>
                    <a:p>
                      <a:r>
                        <a:rPr lang="en-US" sz="3600" dirty="0"/>
                        <a:t>Thermometer reading</a:t>
                      </a:r>
                      <a:endParaRPr lang="en-UG" sz="3600" dirty="0"/>
                    </a:p>
                  </a:txBody>
                  <a:tcPr/>
                </a:tc>
                <a:tc>
                  <a:txBody>
                    <a:bodyPr/>
                    <a:lstStyle/>
                    <a:p>
                      <a:endParaRPr lang="en-UG" sz="3600" dirty="0"/>
                    </a:p>
                  </a:txBody>
                  <a:tcPr/>
                </a:tc>
                <a:extLst>
                  <a:ext uri="{0D108BD9-81ED-4DB2-BD59-A6C34878D82A}">
                    <a16:rowId xmlns:a16="http://schemas.microsoft.com/office/drawing/2014/main" val="3305445033"/>
                  </a:ext>
                </a:extLst>
              </a:tr>
            </a:tbl>
          </a:graphicData>
        </a:graphic>
      </p:graphicFrame>
    </p:spTree>
    <p:extLst>
      <p:ext uri="{BB962C8B-B14F-4D97-AF65-F5344CB8AC3E}">
        <p14:creationId xmlns:p14="http://schemas.microsoft.com/office/powerpoint/2010/main" val="371764159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F1888-CA66-EB1E-BE6D-0A288A9D74C1}"/>
              </a:ext>
            </a:extLst>
          </p:cNvPr>
          <p:cNvSpPr>
            <a:spLocks noGrp="1"/>
          </p:cNvSpPr>
          <p:nvPr>
            <p:ph type="title"/>
          </p:nvPr>
        </p:nvSpPr>
        <p:spPr>
          <a:xfrm>
            <a:off x="838200" y="27500"/>
            <a:ext cx="10515600" cy="653538"/>
          </a:xfrm>
        </p:spPr>
        <p:txBody>
          <a:bodyPr>
            <a:normAutofit fontScale="90000"/>
          </a:bodyPr>
          <a:lstStyle/>
          <a:p>
            <a:r>
              <a:rPr lang="en-US" b="1" u="sng" dirty="0">
                <a:effectLst>
                  <a:outerShdw blurRad="38100" dist="38100" dir="2700000" algn="tl">
                    <a:srgbClr val="000000">
                      <a:alpha val="43137"/>
                    </a:srgbClr>
                  </a:outerShdw>
                </a:effectLst>
              </a:rPr>
              <a:t>Analysis</a:t>
            </a:r>
            <a:r>
              <a:rPr lang="en-US" dirty="0"/>
              <a:t> </a:t>
            </a:r>
            <a:endParaRPr lang="en-UG" dirty="0"/>
          </a:p>
        </p:txBody>
      </p:sp>
      <p:sp>
        <p:nvSpPr>
          <p:cNvPr id="3" name="Content Placeholder 2">
            <a:extLst>
              <a:ext uri="{FF2B5EF4-FFF2-40B4-BE49-F238E27FC236}">
                <a16:creationId xmlns:a16="http://schemas.microsoft.com/office/drawing/2014/main" id="{F6C63F2C-059F-9F6B-593A-3614929912B0}"/>
              </a:ext>
            </a:extLst>
          </p:cNvPr>
          <p:cNvSpPr>
            <a:spLocks noGrp="1"/>
          </p:cNvSpPr>
          <p:nvPr>
            <p:ph idx="1"/>
          </p:nvPr>
        </p:nvSpPr>
        <p:spPr>
          <a:xfrm>
            <a:off x="140677" y="681038"/>
            <a:ext cx="11887200" cy="5495925"/>
          </a:xfrm>
        </p:spPr>
        <p:txBody>
          <a:bodyPr>
            <a:noAutofit/>
          </a:bodyPr>
          <a:lstStyle/>
          <a:p>
            <a:pPr marL="742950" indent="-742950" algn="just">
              <a:buFont typeface="+mj-lt"/>
              <a:buAutoNum type="alphaLcParenR"/>
            </a:pPr>
            <a:r>
              <a:rPr lang="en-US" sz="3600" dirty="0"/>
              <a:t>Which part of the respiratory system is represented by cotton wool and universal indicator solution?</a:t>
            </a:r>
          </a:p>
          <a:p>
            <a:pPr marL="742950" indent="-742950" algn="just">
              <a:buFont typeface="+mj-lt"/>
              <a:buAutoNum type="alphaLcParenR"/>
            </a:pPr>
            <a:r>
              <a:rPr lang="en-US" sz="3600" dirty="0"/>
              <a:t>Which components of cigarette caused the observed changes?</a:t>
            </a:r>
          </a:p>
          <a:p>
            <a:pPr marL="742950" indent="-742950" algn="just">
              <a:buFont typeface="+mj-lt"/>
              <a:buAutoNum type="alphaLcParenR"/>
            </a:pPr>
            <a:r>
              <a:rPr lang="en-US" sz="3600" dirty="0"/>
              <a:t>What does the change in </a:t>
            </a:r>
            <a:r>
              <a:rPr lang="en-US" sz="3600" dirty="0" err="1"/>
              <a:t>colour</a:t>
            </a:r>
            <a:r>
              <a:rPr lang="en-US" sz="3600" dirty="0"/>
              <a:t> of the indicator solution show about cigarette smoke?</a:t>
            </a:r>
          </a:p>
          <a:p>
            <a:pPr marL="742950" indent="-742950" algn="just">
              <a:buFont typeface="+mj-lt"/>
              <a:buAutoNum type="alphaLcParenR"/>
            </a:pPr>
            <a:r>
              <a:rPr lang="en-US" sz="3600" dirty="0"/>
              <a:t>What is the relationship between the number of cigarettes smoked and the observation of the cotton wool?</a:t>
            </a:r>
          </a:p>
          <a:p>
            <a:pPr marL="742950" indent="-742950" algn="just">
              <a:buFont typeface="+mj-lt"/>
              <a:buAutoNum type="alphaLcParenR"/>
            </a:pPr>
            <a:r>
              <a:rPr lang="en-US" sz="3600" dirty="0"/>
              <a:t>What can you </a:t>
            </a:r>
            <a:r>
              <a:rPr lang="en-US" sz="3600" b="1" i="1" u="sng" dirty="0"/>
              <a:t>conclude</a:t>
            </a:r>
            <a:r>
              <a:rPr lang="en-US" sz="3600" dirty="0"/>
              <a:t> about the effects of cigarette smoking?</a:t>
            </a:r>
            <a:endParaRPr lang="en-UG" sz="3600" dirty="0"/>
          </a:p>
        </p:txBody>
      </p:sp>
    </p:spTree>
    <p:extLst>
      <p:ext uri="{BB962C8B-B14F-4D97-AF65-F5344CB8AC3E}">
        <p14:creationId xmlns:p14="http://schemas.microsoft.com/office/powerpoint/2010/main" val="38058972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2972DB-129B-7642-08B2-CB7ADDFC600C}"/>
              </a:ext>
            </a:extLst>
          </p:cNvPr>
          <p:cNvSpPr>
            <a:spLocks noGrp="1"/>
          </p:cNvSpPr>
          <p:nvPr>
            <p:ph idx="1"/>
          </p:nvPr>
        </p:nvSpPr>
        <p:spPr>
          <a:xfrm>
            <a:off x="14065" y="337625"/>
            <a:ext cx="12065391" cy="6077244"/>
          </a:xfrm>
        </p:spPr>
        <p:txBody>
          <a:bodyPr>
            <a:noAutofit/>
          </a:bodyPr>
          <a:lstStyle/>
          <a:p>
            <a:pPr marL="742950" indent="-742950" algn="just">
              <a:buFont typeface="+mj-lt"/>
              <a:buAutoNum type="alphaLcParenR"/>
            </a:pPr>
            <a:r>
              <a:rPr lang="en-US" sz="3600" dirty="0"/>
              <a:t>Cotton wool: alveoli/lungs, Indicator: Film of moisture on alveolar epithelium</a:t>
            </a:r>
          </a:p>
          <a:p>
            <a:pPr marL="742950" indent="-742950" algn="just">
              <a:buFont typeface="+mj-lt"/>
              <a:buAutoNum type="alphaLcParenR"/>
            </a:pPr>
            <a:r>
              <a:rPr lang="en-US" sz="3600" dirty="0"/>
              <a:t>Increased temperature: high heat content, Black cotton wool: tar, Yellow indicator: carbon dioxide</a:t>
            </a:r>
          </a:p>
          <a:p>
            <a:pPr marL="742950" indent="-742950" algn="just">
              <a:buFont typeface="+mj-lt"/>
              <a:buAutoNum type="alphaLcParenR"/>
            </a:pPr>
            <a:r>
              <a:rPr lang="en-US" sz="3600" dirty="0"/>
              <a:t>Change in </a:t>
            </a:r>
            <a:r>
              <a:rPr lang="en-US" sz="3600" dirty="0" err="1"/>
              <a:t>colour</a:t>
            </a:r>
            <a:r>
              <a:rPr lang="en-US" sz="3600" dirty="0"/>
              <a:t> of indicator shows that cigarette smoke is acidic.</a:t>
            </a:r>
          </a:p>
          <a:p>
            <a:pPr marL="742950" indent="-742950" algn="just">
              <a:buFont typeface="+mj-lt"/>
              <a:buAutoNum type="alphaLcParenR"/>
            </a:pPr>
            <a:r>
              <a:rPr lang="en-US" sz="3600" dirty="0"/>
              <a:t>As number of cigarette smoked increases, the lungs get darker/more stained</a:t>
            </a:r>
          </a:p>
          <a:p>
            <a:pPr marL="742950" indent="-742950" algn="just">
              <a:buFont typeface="+mj-lt"/>
              <a:buAutoNum type="alphaLcParenR"/>
            </a:pPr>
            <a:r>
              <a:rPr lang="en-US" sz="3600" b="1" u="sng" dirty="0"/>
              <a:t>Cigarette smoke contain heat that increases the temperature of the lungs, tar that blackens the lung , and acidic gases that corrode lung cells</a:t>
            </a:r>
          </a:p>
          <a:p>
            <a:pPr marL="742950" indent="-742950" algn="just">
              <a:buFont typeface="+mj-lt"/>
              <a:buAutoNum type="alphaLcParenR"/>
            </a:pPr>
            <a:endParaRPr lang="en-US" sz="3600" dirty="0"/>
          </a:p>
          <a:p>
            <a:pPr marL="742950" indent="-742950" algn="just">
              <a:buFont typeface="+mj-lt"/>
              <a:buAutoNum type="alphaLcParenR"/>
            </a:pPr>
            <a:endParaRPr lang="en-US" sz="3600" dirty="0"/>
          </a:p>
          <a:p>
            <a:pPr marL="742950" indent="-742950" algn="just">
              <a:buFont typeface="+mj-lt"/>
              <a:buAutoNum type="alphaLcParenR"/>
            </a:pPr>
            <a:endParaRPr lang="en-UG" sz="3600" dirty="0"/>
          </a:p>
        </p:txBody>
      </p:sp>
    </p:spTree>
    <p:extLst>
      <p:ext uri="{BB962C8B-B14F-4D97-AF65-F5344CB8AC3E}">
        <p14:creationId xmlns:p14="http://schemas.microsoft.com/office/powerpoint/2010/main" val="269876030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524D5-9631-C647-1B99-0B6AD4E94CAB}"/>
              </a:ext>
            </a:extLst>
          </p:cNvPr>
          <p:cNvSpPr>
            <a:spLocks noGrp="1"/>
          </p:cNvSpPr>
          <p:nvPr>
            <p:ph type="title"/>
          </p:nvPr>
        </p:nvSpPr>
        <p:spPr>
          <a:xfrm>
            <a:off x="838200" y="-635"/>
            <a:ext cx="10515600" cy="619618"/>
          </a:xfrm>
        </p:spPr>
        <p:txBody>
          <a:bodyPr>
            <a:normAutofit fontScale="90000"/>
          </a:bodyPr>
          <a:lstStyle/>
          <a:p>
            <a:r>
              <a:rPr lang="en-US" dirty="0"/>
              <a:t>(b) Air pollution</a:t>
            </a:r>
            <a:endParaRPr lang="en-UG" dirty="0"/>
          </a:p>
        </p:txBody>
      </p:sp>
      <p:sp>
        <p:nvSpPr>
          <p:cNvPr id="3" name="Content Placeholder 2">
            <a:extLst>
              <a:ext uri="{FF2B5EF4-FFF2-40B4-BE49-F238E27FC236}">
                <a16:creationId xmlns:a16="http://schemas.microsoft.com/office/drawing/2014/main" id="{4A39095F-8815-2EAA-8856-AC78801E86CA}"/>
              </a:ext>
            </a:extLst>
          </p:cNvPr>
          <p:cNvSpPr>
            <a:spLocks noGrp="1"/>
          </p:cNvSpPr>
          <p:nvPr>
            <p:ph idx="1"/>
          </p:nvPr>
        </p:nvSpPr>
        <p:spPr>
          <a:xfrm>
            <a:off x="110197" y="494932"/>
            <a:ext cx="12081803" cy="6363068"/>
          </a:xfrm>
        </p:spPr>
        <p:txBody>
          <a:bodyPr>
            <a:noAutofit/>
          </a:bodyPr>
          <a:lstStyle/>
          <a:p>
            <a:pPr algn="just"/>
            <a:r>
              <a:rPr lang="en-US" sz="3600" dirty="0"/>
              <a:t>It is the contamination of air by chemical, physical or biological agents.</a:t>
            </a:r>
          </a:p>
          <a:p>
            <a:pPr algn="just"/>
            <a:r>
              <a:rPr lang="en-US" sz="3600" dirty="0"/>
              <a:t>Air pollutants include: dust particles, pollen, </a:t>
            </a:r>
            <a:r>
              <a:rPr lang="en-US" sz="3600" dirty="0" err="1"/>
              <a:t>sulphur</a:t>
            </a:r>
            <a:r>
              <a:rPr lang="en-US" sz="3600" dirty="0"/>
              <a:t> dioxide, nitrogen dioxide, </a:t>
            </a:r>
            <a:r>
              <a:rPr lang="en-US" sz="3600" dirty="0" err="1"/>
              <a:t>sulphur</a:t>
            </a:r>
            <a:r>
              <a:rPr lang="en-US" sz="3600" dirty="0"/>
              <a:t> dioxide, carbon monoxide, methane, ozone, </a:t>
            </a:r>
            <a:r>
              <a:rPr lang="en-US" sz="3600" dirty="0" err="1"/>
              <a:t>etc</a:t>
            </a:r>
            <a:endParaRPr lang="en-US" sz="3600" dirty="0"/>
          </a:p>
          <a:p>
            <a:pPr algn="just"/>
            <a:r>
              <a:rPr lang="en-US" sz="3600" dirty="0"/>
              <a:t>Outdoor air pollution result from both natural and human activities that produce air pollutants e.g. release of industrial fumes, using old auto mobiles, mining, etc.</a:t>
            </a:r>
          </a:p>
          <a:p>
            <a:pPr algn="just"/>
            <a:r>
              <a:rPr lang="en-US" sz="3600" dirty="0"/>
              <a:t>Indoor air pollution can result from burning fuels used for cooking and lighting, using pesticides/insecticides, tobacco smoking, release of chemicals from building materials, air conditioners, etc. in poorly ventilated rooms.</a:t>
            </a:r>
            <a:endParaRPr lang="en-UG" sz="3600" dirty="0"/>
          </a:p>
        </p:txBody>
      </p:sp>
    </p:spTree>
    <p:extLst>
      <p:ext uri="{BB962C8B-B14F-4D97-AF65-F5344CB8AC3E}">
        <p14:creationId xmlns:p14="http://schemas.microsoft.com/office/powerpoint/2010/main" val="342194693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E745C-6779-4328-2C75-9FC77BE4A50C}"/>
              </a:ext>
            </a:extLst>
          </p:cNvPr>
          <p:cNvSpPr>
            <a:spLocks noGrp="1"/>
          </p:cNvSpPr>
          <p:nvPr>
            <p:ph type="title"/>
          </p:nvPr>
        </p:nvSpPr>
        <p:spPr/>
        <p:txBody>
          <a:bodyPr/>
          <a:lstStyle/>
          <a:p>
            <a:r>
              <a:rPr lang="en-US" dirty="0"/>
              <a:t>Air pollutants:</a:t>
            </a:r>
            <a:endParaRPr lang="en-UG" dirty="0"/>
          </a:p>
        </p:txBody>
      </p:sp>
      <p:sp>
        <p:nvSpPr>
          <p:cNvPr id="3" name="Content Placeholder 2">
            <a:extLst>
              <a:ext uri="{FF2B5EF4-FFF2-40B4-BE49-F238E27FC236}">
                <a16:creationId xmlns:a16="http://schemas.microsoft.com/office/drawing/2014/main" id="{1ABB8EC3-FEB0-0D6C-FEB7-996DA24BD378}"/>
              </a:ext>
            </a:extLst>
          </p:cNvPr>
          <p:cNvSpPr>
            <a:spLocks noGrp="1"/>
          </p:cNvSpPr>
          <p:nvPr>
            <p:ph idx="1"/>
          </p:nvPr>
        </p:nvSpPr>
        <p:spPr>
          <a:xfrm>
            <a:off x="154745" y="1825625"/>
            <a:ext cx="11704319" cy="4351338"/>
          </a:xfrm>
        </p:spPr>
        <p:txBody>
          <a:bodyPr>
            <a:normAutofit/>
          </a:bodyPr>
          <a:lstStyle/>
          <a:p>
            <a:pPr algn="just"/>
            <a:r>
              <a:rPr lang="en-US" sz="3600" dirty="0"/>
              <a:t>Damage cilia lining the respiratory tract.</a:t>
            </a:r>
          </a:p>
          <a:p>
            <a:pPr algn="just"/>
            <a:r>
              <a:rPr lang="en-US" sz="3600" dirty="0"/>
              <a:t>Coat surfaces of alveoli making them less permeable to respiratory gases.</a:t>
            </a:r>
          </a:p>
          <a:p>
            <a:pPr algn="just"/>
            <a:r>
              <a:rPr lang="en-US" sz="3600" dirty="0"/>
              <a:t>Stimulate mucus secreting cells to produce more mucus that blocks the respiratory tract.</a:t>
            </a:r>
            <a:endParaRPr lang="en-UG" sz="3600" dirty="0"/>
          </a:p>
        </p:txBody>
      </p:sp>
    </p:spTree>
    <p:extLst>
      <p:ext uri="{BB962C8B-B14F-4D97-AF65-F5344CB8AC3E}">
        <p14:creationId xmlns:p14="http://schemas.microsoft.com/office/powerpoint/2010/main" val="5238637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E44C0-D157-591F-7DF5-CB485BE26736}"/>
              </a:ext>
            </a:extLst>
          </p:cNvPr>
          <p:cNvSpPr>
            <a:spLocks noGrp="1"/>
          </p:cNvSpPr>
          <p:nvPr>
            <p:ph type="title"/>
          </p:nvPr>
        </p:nvSpPr>
        <p:spPr>
          <a:xfrm>
            <a:off x="0" y="-3"/>
            <a:ext cx="12192000" cy="464233"/>
          </a:xfrm>
        </p:spPr>
        <p:txBody>
          <a:bodyPr>
            <a:normAutofit fontScale="90000"/>
          </a:bodyPr>
          <a:lstStyle/>
          <a:p>
            <a:pPr algn="ctr"/>
            <a:r>
              <a:rPr lang="en-US" b="1" u="sng" dirty="0">
                <a:effectLst>
                  <a:outerShdw blurRad="38100" dist="38100" dir="2700000" algn="tl">
                    <a:srgbClr val="000000">
                      <a:alpha val="43137"/>
                    </a:srgbClr>
                  </a:outerShdw>
                </a:effectLst>
              </a:rPr>
              <a:t>Diseases associated respiratory system in humans</a:t>
            </a:r>
            <a:endParaRPr lang="en-UG" b="1" u="sng" dirty="0">
              <a:effectLst>
                <a:outerShdw blurRad="38100" dist="38100" dir="2700000" algn="tl">
                  <a:srgbClr val="000000">
                    <a:alpha val="43137"/>
                  </a:srgbClr>
                </a:outerShdw>
              </a:effectLst>
            </a:endParaRPr>
          </a:p>
        </p:txBody>
      </p:sp>
      <p:graphicFrame>
        <p:nvGraphicFramePr>
          <p:cNvPr id="4" name="Content Placeholder 3">
            <a:extLst>
              <a:ext uri="{FF2B5EF4-FFF2-40B4-BE49-F238E27FC236}">
                <a16:creationId xmlns:a16="http://schemas.microsoft.com/office/drawing/2014/main" id="{524F1F12-8AE2-131C-53A9-C0AF38F55DF3}"/>
              </a:ext>
            </a:extLst>
          </p:cNvPr>
          <p:cNvGraphicFramePr>
            <a:graphicFrameLocks noGrp="1"/>
          </p:cNvGraphicFramePr>
          <p:nvPr>
            <p:ph idx="1"/>
            <p:extLst>
              <p:ext uri="{D42A27DB-BD31-4B8C-83A1-F6EECF244321}">
                <p14:modId xmlns:p14="http://schemas.microsoft.com/office/powerpoint/2010/main" val="158426005"/>
              </p:ext>
            </p:extLst>
          </p:nvPr>
        </p:nvGraphicFramePr>
        <p:xfrm>
          <a:off x="0" y="373699"/>
          <a:ext cx="12099235" cy="6614160"/>
        </p:xfrm>
        <a:graphic>
          <a:graphicData uri="http://schemas.openxmlformats.org/drawingml/2006/table">
            <a:tbl>
              <a:tblPr firstRow="1" bandRow="1">
                <a:tableStyleId>{616DA210-FB5B-4158-B5E0-FEB733F419BA}</a:tableStyleId>
              </a:tblPr>
              <a:tblGrid>
                <a:gridCol w="3485106">
                  <a:extLst>
                    <a:ext uri="{9D8B030D-6E8A-4147-A177-3AD203B41FA5}">
                      <a16:colId xmlns:a16="http://schemas.microsoft.com/office/drawing/2014/main" val="3960482233"/>
                    </a:ext>
                  </a:extLst>
                </a:gridCol>
                <a:gridCol w="4090067">
                  <a:extLst>
                    <a:ext uri="{9D8B030D-6E8A-4147-A177-3AD203B41FA5}">
                      <a16:colId xmlns:a16="http://schemas.microsoft.com/office/drawing/2014/main" val="2425222264"/>
                    </a:ext>
                  </a:extLst>
                </a:gridCol>
                <a:gridCol w="4524062">
                  <a:extLst>
                    <a:ext uri="{9D8B030D-6E8A-4147-A177-3AD203B41FA5}">
                      <a16:colId xmlns:a16="http://schemas.microsoft.com/office/drawing/2014/main" val="312818161"/>
                    </a:ext>
                  </a:extLst>
                </a:gridCol>
              </a:tblGrid>
              <a:tr h="953433">
                <a:tc gridSpan="3">
                  <a:txBody>
                    <a:bodyPr/>
                    <a:lstStyle/>
                    <a:p>
                      <a:r>
                        <a:rPr lang="en-US" sz="3200" b="0" dirty="0">
                          <a:effectLst>
                            <a:outerShdw blurRad="38100" dist="38100" dir="2700000" algn="tl">
                              <a:srgbClr val="000000">
                                <a:alpha val="43137"/>
                              </a:srgbClr>
                            </a:outerShdw>
                          </a:effectLst>
                        </a:rPr>
                        <a:t>Bronchitis: inflammation and excessive build-up of mucus in the air way (trachea, bronchi and bronchioles)</a:t>
                      </a:r>
                      <a:endParaRPr lang="en-UG" sz="3200" b="0" dirty="0">
                        <a:effectLst>
                          <a:outerShdw blurRad="38100" dist="38100" dir="2700000" algn="tl">
                            <a:srgbClr val="000000">
                              <a:alpha val="43137"/>
                            </a:srgbClr>
                          </a:outerShdw>
                        </a:effectLst>
                      </a:endParaRPr>
                    </a:p>
                  </a:txBody>
                  <a:tcPr/>
                </a:tc>
                <a:tc hMerge="1">
                  <a:txBody>
                    <a:bodyPr/>
                    <a:lstStyle/>
                    <a:p>
                      <a:endParaRPr lang="en-UG"/>
                    </a:p>
                  </a:txBody>
                  <a:tcPr/>
                </a:tc>
                <a:tc hMerge="1">
                  <a:txBody>
                    <a:bodyPr/>
                    <a:lstStyle/>
                    <a:p>
                      <a:endParaRPr lang="en-UG" dirty="0"/>
                    </a:p>
                  </a:txBody>
                  <a:tcPr/>
                </a:tc>
                <a:extLst>
                  <a:ext uri="{0D108BD9-81ED-4DB2-BD59-A6C34878D82A}">
                    <a16:rowId xmlns:a16="http://schemas.microsoft.com/office/drawing/2014/main" val="238819325"/>
                  </a:ext>
                </a:extLst>
              </a:tr>
              <a:tr h="559654">
                <a:tc>
                  <a:txBody>
                    <a:bodyPr/>
                    <a:lstStyle/>
                    <a:p>
                      <a:r>
                        <a:rPr lang="en-US" sz="3200" b="1" dirty="0"/>
                        <a:t>Causes </a:t>
                      </a:r>
                      <a:endParaRPr lang="en-UG" sz="3200" b="1" dirty="0"/>
                    </a:p>
                  </a:txBody>
                  <a:tcPr/>
                </a:tc>
                <a:tc>
                  <a:txBody>
                    <a:bodyPr/>
                    <a:lstStyle/>
                    <a:p>
                      <a:r>
                        <a:rPr lang="en-US" sz="3200" b="1" dirty="0"/>
                        <a:t>Symptoms </a:t>
                      </a:r>
                      <a:endParaRPr lang="en-UG" sz="3200" b="1" dirty="0"/>
                    </a:p>
                  </a:txBody>
                  <a:tcPr/>
                </a:tc>
                <a:tc>
                  <a:txBody>
                    <a:bodyPr/>
                    <a:lstStyle/>
                    <a:p>
                      <a:r>
                        <a:rPr lang="en-US" sz="3200" b="1" dirty="0"/>
                        <a:t>Treatment </a:t>
                      </a:r>
                      <a:endParaRPr lang="en-UG" sz="3200" b="1" dirty="0"/>
                    </a:p>
                  </a:txBody>
                  <a:tcPr/>
                </a:tc>
                <a:extLst>
                  <a:ext uri="{0D108BD9-81ED-4DB2-BD59-A6C34878D82A}">
                    <a16:rowId xmlns:a16="http://schemas.microsoft.com/office/drawing/2014/main" val="3433818454"/>
                  </a:ext>
                </a:extLst>
              </a:tr>
              <a:tr h="4440275">
                <a:tc>
                  <a:txBody>
                    <a:bodyPr/>
                    <a:lstStyle/>
                    <a:p>
                      <a:pPr marL="457200" indent="-457200">
                        <a:buFont typeface="Arial" panose="020B0604020202020204" pitchFamily="34" charset="0"/>
                        <a:buChar char="•"/>
                      </a:pPr>
                      <a:r>
                        <a:rPr lang="en-US" sz="3200" dirty="0"/>
                        <a:t>Viruses and bacteria.</a:t>
                      </a:r>
                    </a:p>
                    <a:p>
                      <a:pPr marL="457200" indent="-457200">
                        <a:buFont typeface="Arial" panose="020B0604020202020204" pitchFamily="34" charset="0"/>
                        <a:buChar char="•"/>
                      </a:pPr>
                      <a:r>
                        <a:rPr lang="en-US" sz="3200" dirty="0"/>
                        <a:t>Cigarette smoking (tar)</a:t>
                      </a:r>
                    </a:p>
                    <a:p>
                      <a:pPr marL="457200" indent="-457200">
                        <a:buFont typeface="Arial" panose="020B0604020202020204" pitchFamily="34" charset="0"/>
                        <a:buChar char="•"/>
                      </a:pPr>
                      <a:r>
                        <a:rPr lang="en-US" sz="3200" dirty="0"/>
                        <a:t>Marijuana </a:t>
                      </a:r>
                    </a:p>
                    <a:p>
                      <a:pPr marL="457200" indent="-457200">
                        <a:buFont typeface="Arial" panose="020B0604020202020204" pitchFamily="34" charset="0"/>
                        <a:buChar char="•"/>
                      </a:pPr>
                      <a:r>
                        <a:rPr lang="en-US" sz="3200" dirty="0"/>
                        <a:t>Air pollutants like dust, smoke and toxic gases</a:t>
                      </a:r>
                    </a:p>
                    <a:p>
                      <a:pPr marL="457200" indent="-457200">
                        <a:buFont typeface="Arial" panose="020B0604020202020204" pitchFamily="34" charset="0"/>
                        <a:buChar char="•"/>
                      </a:pPr>
                      <a:r>
                        <a:rPr lang="en-US" sz="3200" dirty="0"/>
                        <a:t>Acid reflux</a:t>
                      </a:r>
                      <a:endParaRPr lang="en-UG" sz="3200" dirty="0"/>
                    </a:p>
                  </a:txBody>
                  <a:tcPr/>
                </a:tc>
                <a:tc>
                  <a:txBody>
                    <a:bodyPr/>
                    <a:lstStyle/>
                    <a:p>
                      <a:pPr marL="457200" indent="-457200" algn="just">
                        <a:buFont typeface="Arial" panose="020B0604020202020204" pitchFamily="34" charset="0"/>
                        <a:buChar char="•"/>
                      </a:pPr>
                      <a:r>
                        <a:rPr lang="en-US" sz="3200" dirty="0"/>
                        <a:t>Coughing up thick mucus (sputum)</a:t>
                      </a:r>
                    </a:p>
                    <a:p>
                      <a:pPr marL="457200" indent="-457200" algn="just">
                        <a:buFont typeface="Arial" panose="020B0604020202020204" pitchFamily="34" charset="0"/>
                        <a:buChar char="•"/>
                      </a:pPr>
                      <a:r>
                        <a:rPr lang="en-US" sz="3200" dirty="0"/>
                        <a:t>Fatigue </a:t>
                      </a:r>
                    </a:p>
                    <a:p>
                      <a:pPr marL="457200" indent="-457200" algn="just">
                        <a:buFont typeface="Arial" panose="020B0604020202020204" pitchFamily="34" charset="0"/>
                        <a:buChar char="•"/>
                      </a:pPr>
                      <a:r>
                        <a:rPr lang="en-US" sz="3200" dirty="0"/>
                        <a:t>Shortness of breath</a:t>
                      </a:r>
                    </a:p>
                    <a:p>
                      <a:pPr marL="457200" indent="-457200" algn="just">
                        <a:buFont typeface="Arial" panose="020B0604020202020204" pitchFamily="34" charset="0"/>
                        <a:buChar char="•"/>
                      </a:pPr>
                      <a:r>
                        <a:rPr lang="en-US" sz="3200" dirty="0"/>
                        <a:t>Chest discomfort </a:t>
                      </a:r>
                    </a:p>
                    <a:p>
                      <a:pPr marL="457200" indent="-457200" algn="just">
                        <a:buFont typeface="Arial" panose="020B0604020202020204" pitchFamily="34" charset="0"/>
                        <a:buChar char="•"/>
                      </a:pPr>
                      <a:r>
                        <a:rPr lang="en-US" sz="3200" dirty="0"/>
                        <a:t>Slight fever and chills</a:t>
                      </a:r>
                    </a:p>
                    <a:p>
                      <a:pPr marL="457200" indent="-457200" algn="just">
                        <a:buFont typeface="Arial" panose="020B0604020202020204" pitchFamily="34" charset="0"/>
                        <a:buChar char="•"/>
                      </a:pPr>
                      <a:r>
                        <a:rPr lang="en-US" sz="3200" dirty="0"/>
                        <a:t>Wheezing, runny, blocked nose and sinuses</a:t>
                      </a:r>
                      <a:endParaRPr lang="en-UG" sz="3200" dirty="0"/>
                    </a:p>
                  </a:txBody>
                  <a:tcPr/>
                </a:tc>
                <a:tc>
                  <a:txBody>
                    <a:bodyPr/>
                    <a:lstStyle/>
                    <a:p>
                      <a:pPr marL="457200" indent="-457200">
                        <a:buFont typeface="Arial" panose="020B0604020202020204" pitchFamily="34" charset="0"/>
                        <a:buChar char="•"/>
                      </a:pPr>
                      <a:r>
                        <a:rPr lang="en-US" sz="3200" dirty="0"/>
                        <a:t>Taking cough suppressants</a:t>
                      </a:r>
                    </a:p>
                    <a:p>
                      <a:pPr marL="457200" indent="-457200">
                        <a:buFont typeface="Arial" panose="020B0604020202020204" pitchFamily="34" charset="0"/>
                        <a:buChar char="•"/>
                      </a:pPr>
                      <a:r>
                        <a:rPr lang="en-US" sz="3200" dirty="0"/>
                        <a:t>Anti-inflammatory medications </a:t>
                      </a:r>
                    </a:p>
                    <a:p>
                      <a:pPr marL="457200" indent="-457200">
                        <a:buFont typeface="Arial" panose="020B0604020202020204" pitchFamily="34" charset="0"/>
                        <a:buChar char="•"/>
                      </a:pPr>
                      <a:r>
                        <a:rPr lang="en-US" sz="3200" dirty="0"/>
                        <a:t>Use of bronchodilators. </a:t>
                      </a:r>
                    </a:p>
                    <a:p>
                      <a:pPr marL="457200" indent="-457200">
                        <a:buFont typeface="Arial" panose="020B0604020202020204" pitchFamily="34" charset="0"/>
                        <a:buChar char="•"/>
                      </a:pPr>
                      <a:r>
                        <a:rPr lang="en-US" sz="3200" dirty="0"/>
                        <a:t>Use a humidifier.</a:t>
                      </a:r>
                    </a:p>
                    <a:p>
                      <a:pPr marL="457200" indent="-457200">
                        <a:buFont typeface="Arial" panose="020B0604020202020204" pitchFamily="34" charset="0"/>
                        <a:buChar char="•"/>
                      </a:pPr>
                      <a:r>
                        <a:rPr lang="en-US" sz="3200" dirty="0"/>
                        <a:t>Antibiotics. </a:t>
                      </a:r>
                      <a:endParaRPr lang="en-UG" sz="3200" dirty="0"/>
                    </a:p>
                  </a:txBody>
                  <a:tcPr/>
                </a:tc>
                <a:extLst>
                  <a:ext uri="{0D108BD9-81ED-4DB2-BD59-A6C34878D82A}">
                    <a16:rowId xmlns:a16="http://schemas.microsoft.com/office/drawing/2014/main" val="2770113400"/>
                  </a:ext>
                </a:extLst>
              </a:tr>
            </a:tbl>
          </a:graphicData>
        </a:graphic>
      </p:graphicFrame>
    </p:spTree>
    <p:extLst>
      <p:ext uri="{BB962C8B-B14F-4D97-AF65-F5344CB8AC3E}">
        <p14:creationId xmlns:p14="http://schemas.microsoft.com/office/powerpoint/2010/main" val="269049863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433B95-EAA1-9879-A68B-8B8DA90B309F}"/>
              </a:ext>
            </a:extLst>
          </p:cNvPr>
          <p:cNvSpPr>
            <a:spLocks noGrp="1"/>
          </p:cNvSpPr>
          <p:nvPr>
            <p:ph type="title"/>
          </p:nvPr>
        </p:nvSpPr>
        <p:spPr/>
        <p:txBody>
          <a:bodyPr/>
          <a:lstStyle/>
          <a:p>
            <a:endParaRPr lang="en-UG" dirty="0"/>
          </a:p>
        </p:txBody>
      </p:sp>
      <p:sp>
        <p:nvSpPr>
          <p:cNvPr id="3" name="Content Placeholder 2">
            <a:extLst>
              <a:ext uri="{FF2B5EF4-FFF2-40B4-BE49-F238E27FC236}">
                <a16:creationId xmlns:a16="http://schemas.microsoft.com/office/drawing/2014/main" id="{585ACFE6-25A0-14FD-852B-898322B90EDA}"/>
              </a:ext>
            </a:extLst>
          </p:cNvPr>
          <p:cNvSpPr>
            <a:spLocks noGrp="1"/>
          </p:cNvSpPr>
          <p:nvPr>
            <p:ph idx="1"/>
          </p:nvPr>
        </p:nvSpPr>
        <p:spPr/>
        <p:txBody>
          <a:bodyPr/>
          <a:lstStyle/>
          <a:p>
            <a:endParaRPr lang="en-UG" dirty="0"/>
          </a:p>
        </p:txBody>
      </p:sp>
      <p:pic>
        <p:nvPicPr>
          <p:cNvPr id="1028" name="Picture 4">
            <a:extLst>
              <a:ext uri="{FF2B5EF4-FFF2-40B4-BE49-F238E27FC236}">
                <a16:creationId xmlns:a16="http://schemas.microsoft.com/office/drawing/2014/main" id="{524491F5-E190-AD23-9214-4D431628603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712" t="28155" r="1687" b="5302"/>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358690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317600C7-186E-7D11-5221-6DB93E2D0C64}"/>
              </a:ext>
            </a:extLst>
          </p:cNvPr>
          <p:cNvGraphicFramePr>
            <a:graphicFrameLocks noGrp="1"/>
          </p:cNvGraphicFramePr>
          <p:nvPr>
            <p:ph idx="1"/>
            <p:extLst>
              <p:ext uri="{D42A27DB-BD31-4B8C-83A1-F6EECF244321}">
                <p14:modId xmlns:p14="http://schemas.microsoft.com/office/powerpoint/2010/main" val="899726422"/>
              </p:ext>
            </p:extLst>
          </p:nvPr>
        </p:nvGraphicFramePr>
        <p:xfrm>
          <a:off x="108283" y="165261"/>
          <a:ext cx="11935326" cy="7711208"/>
        </p:xfrm>
        <a:graphic>
          <a:graphicData uri="http://schemas.openxmlformats.org/drawingml/2006/table">
            <a:tbl>
              <a:tblPr firstRow="1" bandRow="1">
                <a:tableStyleId>{616DA210-FB5B-4158-B5E0-FEB733F419BA}</a:tableStyleId>
              </a:tblPr>
              <a:tblGrid>
                <a:gridCol w="3978442">
                  <a:extLst>
                    <a:ext uri="{9D8B030D-6E8A-4147-A177-3AD203B41FA5}">
                      <a16:colId xmlns:a16="http://schemas.microsoft.com/office/drawing/2014/main" val="689647706"/>
                    </a:ext>
                  </a:extLst>
                </a:gridCol>
                <a:gridCol w="3978442">
                  <a:extLst>
                    <a:ext uri="{9D8B030D-6E8A-4147-A177-3AD203B41FA5}">
                      <a16:colId xmlns:a16="http://schemas.microsoft.com/office/drawing/2014/main" val="2905901337"/>
                    </a:ext>
                  </a:extLst>
                </a:gridCol>
                <a:gridCol w="3978442">
                  <a:extLst>
                    <a:ext uri="{9D8B030D-6E8A-4147-A177-3AD203B41FA5}">
                      <a16:colId xmlns:a16="http://schemas.microsoft.com/office/drawing/2014/main" val="3753190449"/>
                    </a:ext>
                  </a:extLst>
                </a:gridCol>
              </a:tblGrid>
              <a:tr h="792364">
                <a:tc gridSpan="3">
                  <a:txBody>
                    <a:bodyPr/>
                    <a:lstStyle/>
                    <a:p>
                      <a:r>
                        <a:rPr lang="en-US" sz="3600" dirty="0"/>
                        <a:t>Emphysema: damage to the walls of the alveoli </a:t>
                      </a:r>
                      <a:endParaRPr lang="en-UG" sz="3600" dirty="0"/>
                    </a:p>
                  </a:txBody>
                  <a:tcPr/>
                </a:tc>
                <a:tc hMerge="1">
                  <a:txBody>
                    <a:bodyPr/>
                    <a:lstStyle/>
                    <a:p>
                      <a:endParaRPr lang="en-UG" sz="3600"/>
                    </a:p>
                  </a:txBody>
                  <a:tcPr/>
                </a:tc>
                <a:tc hMerge="1">
                  <a:txBody>
                    <a:bodyPr/>
                    <a:lstStyle/>
                    <a:p>
                      <a:endParaRPr lang="en-UG" sz="3600" dirty="0"/>
                    </a:p>
                  </a:txBody>
                  <a:tcPr/>
                </a:tc>
                <a:extLst>
                  <a:ext uri="{0D108BD9-81ED-4DB2-BD59-A6C34878D82A}">
                    <a16:rowId xmlns:a16="http://schemas.microsoft.com/office/drawing/2014/main" val="276916230"/>
                  </a:ext>
                </a:extLst>
              </a:tr>
              <a:tr h="792364">
                <a:tc>
                  <a:txBody>
                    <a:bodyPr/>
                    <a:lstStyle/>
                    <a:p>
                      <a:r>
                        <a:rPr lang="en-US" sz="3600" dirty="0"/>
                        <a:t>Causes </a:t>
                      </a:r>
                      <a:endParaRPr lang="en-UG" sz="3600" dirty="0"/>
                    </a:p>
                  </a:txBody>
                  <a:tcPr/>
                </a:tc>
                <a:tc>
                  <a:txBody>
                    <a:bodyPr/>
                    <a:lstStyle/>
                    <a:p>
                      <a:r>
                        <a:rPr lang="en-US" sz="3600" dirty="0"/>
                        <a:t>Symptoms</a:t>
                      </a:r>
                      <a:endParaRPr lang="en-UG" sz="3600" dirty="0"/>
                    </a:p>
                  </a:txBody>
                  <a:tcPr/>
                </a:tc>
                <a:tc>
                  <a:txBody>
                    <a:bodyPr/>
                    <a:lstStyle/>
                    <a:p>
                      <a:r>
                        <a:rPr lang="en-US" sz="3600" dirty="0"/>
                        <a:t>Treatment </a:t>
                      </a:r>
                      <a:endParaRPr lang="en-UG" sz="3600" dirty="0"/>
                    </a:p>
                  </a:txBody>
                  <a:tcPr/>
                </a:tc>
                <a:extLst>
                  <a:ext uri="{0D108BD9-81ED-4DB2-BD59-A6C34878D82A}">
                    <a16:rowId xmlns:a16="http://schemas.microsoft.com/office/drawing/2014/main" val="3375358407"/>
                  </a:ext>
                </a:extLst>
              </a:tr>
              <a:tr h="4867380">
                <a:tc>
                  <a:txBody>
                    <a:bodyPr/>
                    <a:lstStyle/>
                    <a:p>
                      <a:r>
                        <a:rPr lang="en-US" sz="3600" dirty="0"/>
                        <a:t>Irritants like tobacco smoke, marijuana smoke, and other air pollutants</a:t>
                      </a:r>
                    </a:p>
                    <a:p>
                      <a:r>
                        <a:rPr lang="en-US" sz="3600" dirty="0"/>
                        <a:t>Respiratory infections</a:t>
                      </a:r>
                      <a:endParaRPr lang="en-UG" sz="3600" dirty="0"/>
                    </a:p>
                  </a:txBody>
                  <a:tcPr/>
                </a:tc>
                <a:tc>
                  <a:txBody>
                    <a:bodyPr/>
                    <a:lstStyle/>
                    <a:p>
                      <a:pPr marL="571500" indent="-571500">
                        <a:buFont typeface="Arial" panose="020B0604020202020204" pitchFamily="34" charset="0"/>
                        <a:buChar char="•"/>
                      </a:pPr>
                      <a:r>
                        <a:rPr lang="en-US" sz="3600" dirty="0"/>
                        <a:t>Shortness of breath</a:t>
                      </a:r>
                    </a:p>
                    <a:p>
                      <a:pPr marL="571500" indent="-571500">
                        <a:buFont typeface="Arial" panose="020B0604020202020204" pitchFamily="34" charset="0"/>
                        <a:buChar char="•"/>
                      </a:pPr>
                      <a:r>
                        <a:rPr lang="en-US" sz="3600" dirty="0"/>
                        <a:t>Long term cough </a:t>
                      </a:r>
                    </a:p>
                    <a:p>
                      <a:pPr marL="571500" indent="-571500">
                        <a:buFont typeface="Arial" panose="020B0604020202020204" pitchFamily="34" charset="0"/>
                        <a:buChar char="•"/>
                      </a:pPr>
                      <a:r>
                        <a:rPr lang="en-US" sz="3600" dirty="0"/>
                        <a:t>Wheezing </a:t>
                      </a:r>
                    </a:p>
                    <a:p>
                      <a:pPr marL="571500" indent="-571500">
                        <a:buFont typeface="Arial" panose="020B0604020202020204" pitchFamily="34" charset="0"/>
                        <a:buChar char="•"/>
                      </a:pPr>
                      <a:r>
                        <a:rPr lang="en-US" sz="3600" dirty="0"/>
                        <a:t>Increased production of mucus</a:t>
                      </a:r>
                      <a:endParaRPr lang="en-UG" sz="3600" dirty="0"/>
                    </a:p>
                  </a:txBody>
                  <a:tcPr/>
                </a:tc>
                <a:tc>
                  <a:txBody>
                    <a:bodyPr/>
                    <a:lstStyle/>
                    <a:p>
                      <a:pPr marL="571500" indent="-571500" algn="just">
                        <a:buFont typeface="Arial" panose="020B0604020202020204" pitchFamily="34" charset="0"/>
                        <a:buChar char="•"/>
                      </a:pPr>
                      <a:r>
                        <a:rPr lang="en-US" sz="3600" dirty="0"/>
                        <a:t>Bronchodilators to relieve coughing and breathing problems.</a:t>
                      </a:r>
                    </a:p>
                    <a:p>
                      <a:pPr marL="571500" marR="0" lvl="0" indent="-5715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t>Taking antibiotics</a:t>
                      </a:r>
                    </a:p>
                    <a:p>
                      <a:pPr marL="571500" marR="0" lvl="0" indent="-5715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3600" dirty="0"/>
                        <a:t>Anti-inflammatory medications </a:t>
                      </a:r>
                    </a:p>
                    <a:p>
                      <a:endParaRPr lang="en-US" sz="3600" dirty="0"/>
                    </a:p>
                    <a:p>
                      <a:endParaRPr lang="en-UG" sz="3600" dirty="0"/>
                    </a:p>
                  </a:txBody>
                  <a:tcPr/>
                </a:tc>
                <a:extLst>
                  <a:ext uri="{0D108BD9-81ED-4DB2-BD59-A6C34878D82A}">
                    <a16:rowId xmlns:a16="http://schemas.microsoft.com/office/drawing/2014/main" val="939754268"/>
                  </a:ext>
                </a:extLst>
              </a:tr>
            </a:tbl>
          </a:graphicData>
        </a:graphic>
      </p:graphicFrame>
    </p:spTree>
    <p:extLst>
      <p:ext uri="{BB962C8B-B14F-4D97-AF65-F5344CB8AC3E}">
        <p14:creationId xmlns:p14="http://schemas.microsoft.com/office/powerpoint/2010/main" val="321835602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2CB2CB-4F55-61BF-E430-68A0A7E6F832}"/>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8A4F0F4F-A255-0A5B-43DB-AF4DF33C2148}"/>
              </a:ext>
            </a:extLst>
          </p:cNvPr>
          <p:cNvSpPr>
            <a:spLocks noGrp="1"/>
          </p:cNvSpPr>
          <p:nvPr>
            <p:ph idx="1"/>
          </p:nvPr>
        </p:nvSpPr>
        <p:spPr/>
        <p:txBody>
          <a:bodyPr/>
          <a:lstStyle/>
          <a:p>
            <a:endParaRPr lang="en-UG"/>
          </a:p>
        </p:txBody>
      </p:sp>
      <p:pic>
        <p:nvPicPr>
          <p:cNvPr id="2050" name="Picture 2" descr="Patient Basics: Emphysema | 2 Minute Medicine">
            <a:extLst>
              <a:ext uri="{FF2B5EF4-FFF2-40B4-BE49-F238E27FC236}">
                <a16:creationId xmlns:a16="http://schemas.microsoft.com/office/drawing/2014/main" id="{1F08C0FD-4E5E-1B63-C269-25F7E64C5C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346" t="2955" r="1923" b="5403"/>
          <a:stretch/>
        </p:blipFill>
        <p:spPr bwMode="auto">
          <a:xfrm>
            <a:off x="2050" y="0"/>
            <a:ext cx="12175882"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890626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0E32E5E9-E9AC-D224-D78B-CF17827ED938}"/>
              </a:ext>
            </a:extLst>
          </p:cNvPr>
          <p:cNvGraphicFramePr>
            <a:graphicFrameLocks noGrp="1"/>
          </p:cNvGraphicFramePr>
          <p:nvPr>
            <p:ph idx="1"/>
            <p:extLst>
              <p:ext uri="{D42A27DB-BD31-4B8C-83A1-F6EECF244321}">
                <p14:modId xmlns:p14="http://schemas.microsoft.com/office/powerpoint/2010/main" val="4050717"/>
              </p:ext>
            </p:extLst>
          </p:nvPr>
        </p:nvGraphicFramePr>
        <p:xfrm>
          <a:off x="120316" y="32911"/>
          <a:ext cx="11947359" cy="6512268"/>
        </p:xfrm>
        <a:graphic>
          <a:graphicData uri="http://schemas.openxmlformats.org/drawingml/2006/table">
            <a:tbl>
              <a:tblPr firstRow="1" bandRow="1">
                <a:tableStyleId>{616DA210-FB5B-4158-B5E0-FEB733F419BA}</a:tableStyleId>
              </a:tblPr>
              <a:tblGrid>
                <a:gridCol w="3982453">
                  <a:extLst>
                    <a:ext uri="{9D8B030D-6E8A-4147-A177-3AD203B41FA5}">
                      <a16:colId xmlns:a16="http://schemas.microsoft.com/office/drawing/2014/main" val="1546617819"/>
                    </a:ext>
                  </a:extLst>
                </a:gridCol>
                <a:gridCol w="3982453">
                  <a:extLst>
                    <a:ext uri="{9D8B030D-6E8A-4147-A177-3AD203B41FA5}">
                      <a16:colId xmlns:a16="http://schemas.microsoft.com/office/drawing/2014/main" val="491303726"/>
                    </a:ext>
                  </a:extLst>
                </a:gridCol>
                <a:gridCol w="3982453">
                  <a:extLst>
                    <a:ext uri="{9D8B030D-6E8A-4147-A177-3AD203B41FA5}">
                      <a16:colId xmlns:a16="http://schemas.microsoft.com/office/drawing/2014/main" val="2015513667"/>
                    </a:ext>
                  </a:extLst>
                </a:gridCol>
              </a:tblGrid>
              <a:tr h="1128793">
                <a:tc gridSpan="3">
                  <a:txBody>
                    <a:bodyPr/>
                    <a:lstStyle/>
                    <a:p>
                      <a:r>
                        <a:rPr lang="en-US" sz="3200" dirty="0"/>
                        <a:t>Lung cancer: uncontrolled division of cells in the lungs  leading to tumors </a:t>
                      </a:r>
                      <a:endParaRPr lang="en-UG" sz="3200" dirty="0"/>
                    </a:p>
                  </a:txBody>
                  <a:tcPr/>
                </a:tc>
                <a:tc hMerge="1">
                  <a:txBody>
                    <a:bodyPr/>
                    <a:lstStyle/>
                    <a:p>
                      <a:endParaRPr lang="en-UG" sz="3600"/>
                    </a:p>
                  </a:txBody>
                  <a:tcPr/>
                </a:tc>
                <a:tc hMerge="1">
                  <a:txBody>
                    <a:bodyPr/>
                    <a:lstStyle/>
                    <a:p>
                      <a:endParaRPr lang="en-UG" sz="3600" dirty="0"/>
                    </a:p>
                  </a:txBody>
                  <a:tcPr/>
                </a:tc>
                <a:extLst>
                  <a:ext uri="{0D108BD9-81ED-4DB2-BD59-A6C34878D82A}">
                    <a16:rowId xmlns:a16="http://schemas.microsoft.com/office/drawing/2014/main" val="3426793506"/>
                  </a:ext>
                </a:extLst>
              </a:tr>
              <a:tr h="607812">
                <a:tc>
                  <a:txBody>
                    <a:bodyPr/>
                    <a:lstStyle/>
                    <a:p>
                      <a:r>
                        <a:rPr lang="en-US" sz="3200" dirty="0"/>
                        <a:t>Causes </a:t>
                      </a:r>
                      <a:endParaRPr lang="en-UG" sz="3200" dirty="0"/>
                    </a:p>
                  </a:txBody>
                  <a:tcPr/>
                </a:tc>
                <a:tc>
                  <a:txBody>
                    <a:bodyPr/>
                    <a:lstStyle/>
                    <a:p>
                      <a:r>
                        <a:rPr lang="en-US" sz="3200" dirty="0"/>
                        <a:t>Symptoms </a:t>
                      </a:r>
                      <a:endParaRPr lang="en-UG" sz="3200" dirty="0"/>
                    </a:p>
                  </a:txBody>
                  <a:tcPr/>
                </a:tc>
                <a:tc>
                  <a:txBody>
                    <a:bodyPr/>
                    <a:lstStyle/>
                    <a:p>
                      <a:r>
                        <a:rPr lang="en-US" sz="3200" dirty="0"/>
                        <a:t>Treatment </a:t>
                      </a:r>
                      <a:endParaRPr lang="en-UG" sz="3200" dirty="0"/>
                    </a:p>
                  </a:txBody>
                  <a:tcPr/>
                </a:tc>
                <a:extLst>
                  <a:ext uri="{0D108BD9-81ED-4DB2-BD59-A6C34878D82A}">
                    <a16:rowId xmlns:a16="http://schemas.microsoft.com/office/drawing/2014/main" val="2893418858"/>
                  </a:ext>
                </a:extLst>
              </a:tr>
              <a:tr h="4775663">
                <a:tc>
                  <a:txBody>
                    <a:bodyPr/>
                    <a:lstStyle/>
                    <a:p>
                      <a:pPr marL="457200" indent="-457200">
                        <a:buFont typeface="Arial" panose="020B0604020202020204" pitchFamily="34" charset="0"/>
                        <a:buChar char="•"/>
                      </a:pPr>
                      <a:r>
                        <a:rPr lang="en-US" sz="3200" dirty="0"/>
                        <a:t>Smoking tobacco </a:t>
                      </a:r>
                    </a:p>
                    <a:p>
                      <a:pPr marL="457200" indent="-457200">
                        <a:buFont typeface="Arial" panose="020B0604020202020204" pitchFamily="34" charset="0"/>
                        <a:buChar char="•"/>
                      </a:pPr>
                      <a:r>
                        <a:rPr lang="en-US" sz="3200" dirty="0"/>
                        <a:t>Exposure to radioactive substances such as arsenic, uranium, Lead, </a:t>
                      </a:r>
                      <a:r>
                        <a:rPr lang="en-US" sz="3200" dirty="0" err="1"/>
                        <a:t>etc</a:t>
                      </a:r>
                      <a:r>
                        <a:rPr lang="en-US" sz="3200" dirty="0"/>
                        <a:t> and radiations like x-rays</a:t>
                      </a:r>
                    </a:p>
                  </a:txBody>
                  <a:tcPr/>
                </a:tc>
                <a:tc>
                  <a:txBody>
                    <a:bodyPr/>
                    <a:lstStyle/>
                    <a:p>
                      <a:pPr marL="457200" indent="-457200">
                        <a:buFont typeface="Arial" panose="020B0604020202020204" pitchFamily="34" charset="0"/>
                        <a:buChar char="•"/>
                      </a:pPr>
                      <a:r>
                        <a:rPr lang="en-US" sz="3200" dirty="0"/>
                        <a:t>Coughing up blood or phlegm</a:t>
                      </a:r>
                    </a:p>
                    <a:p>
                      <a:pPr marL="457200" indent="-457200">
                        <a:buFont typeface="Arial" panose="020B0604020202020204" pitchFamily="34" charset="0"/>
                        <a:buChar char="•"/>
                      </a:pPr>
                      <a:r>
                        <a:rPr lang="en-US" sz="3200" dirty="0"/>
                        <a:t>Chest pain </a:t>
                      </a:r>
                    </a:p>
                    <a:p>
                      <a:pPr marL="457200" indent="-457200">
                        <a:buFont typeface="Arial" panose="020B0604020202020204" pitchFamily="34" charset="0"/>
                        <a:buChar char="•"/>
                      </a:pPr>
                      <a:r>
                        <a:rPr lang="en-US" sz="3200" dirty="0"/>
                        <a:t>Wheezing</a:t>
                      </a:r>
                    </a:p>
                    <a:p>
                      <a:pPr marL="457200" indent="-457200">
                        <a:buFont typeface="Arial" panose="020B0604020202020204" pitchFamily="34" charset="0"/>
                        <a:buChar char="•"/>
                      </a:pPr>
                      <a:r>
                        <a:rPr lang="en-US" sz="3200" dirty="0"/>
                        <a:t>Shortness of breath</a:t>
                      </a:r>
                    </a:p>
                    <a:p>
                      <a:pPr marL="457200" indent="-457200">
                        <a:buFont typeface="Arial" panose="020B0604020202020204" pitchFamily="34" charset="0"/>
                        <a:buChar char="•"/>
                      </a:pPr>
                      <a:r>
                        <a:rPr lang="en-US" sz="3200" dirty="0"/>
                        <a:t>Fatigue and weakness</a:t>
                      </a:r>
                    </a:p>
                    <a:p>
                      <a:pPr marL="457200" indent="-457200">
                        <a:buFont typeface="Arial" panose="020B0604020202020204" pitchFamily="34" charset="0"/>
                        <a:buChar char="•"/>
                      </a:pPr>
                      <a:r>
                        <a:rPr lang="en-US" sz="3200" dirty="0"/>
                        <a:t>Weight loss </a:t>
                      </a:r>
                    </a:p>
                    <a:p>
                      <a:pPr marL="457200" indent="-457200">
                        <a:buFont typeface="Arial" panose="020B0604020202020204" pitchFamily="34" charset="0"/>
                        <a:buChar char="•"/>
                      </a:pPr>
                      <a:r>
                        <a:rPr lang="en-US" sz="3200" dirty="0"/>
                        <a:t>Loss of appetite </a:t>
                      </a:r>
                      <a:endParaRPr lang="en-UG" sz="3200" dirty="0"/>
                    </a:p>
                  </a:txBody>
                  <a:tcPr/>
                </a:tc>
                <a:tc>
                  <a:txBody>
                    <a:bodyPr/>
                    <a:lstStyle/>
                    <a:p>
                      <a:pPr marL="457200" indent="-457200">
                        <a:buFont typeface="Arial" panose="020B0604020202020204" pitchFamily="34" charset="0"/>
                        <a:buChar char="•"/>
                      </a:pPr>
                      <a:r>
                        <a:rPr lang="en-US" sz="3200" dirty="0"/>
                        <a:t>Surgery to remove tumor from the lung</a:t>
                      </a:r>
                    </a:p>
                    <a:p>
                      <a:pPr marL="457200" indent="-457200">
                        <a:buFont typeface="Arial" panose="020B0604020202020204" pitchFamily="34" charset="0"/>
                        <a:buChar char="•"/>
                      </a:pPr>
                      <a:r>
                        <a:rPr lang="en-US" sz="3200" dirty="0"/>
                        <a:t>Chemotherapy</a:t>
                      </a:r>
                    </a:p>
                    <a:p>
                      <a:pPr marL="457200" indent="-457200">
                        <a:buFont typeface="Arial" panose="020B0604020202020204" pitchFamily="34" charset="0"/>
                        <a:buChar char="•"/>
                      </a:pPr>
                      <a:r>
                        <a:rPr lang="en-US" sz="3200" dirty="0"/>
                        <a:t>Radiotherapy</a:t>
                      </a:r>
                    </a:p>
                    <a:p>
                      <a:pPr marL="457200" indent="-457200">
                        <a:buFont typeface="Arial" panose="020B0604020202020204" pitchFamily="34" charset="0"/>
                        <a:buChar char="•"/>
                      </a:pPr>
                      <a:r>
                        <a:rPr lang="en-US" sz="3200" dirty="0"/>
                        <a:t>Immunotherapy </a:t>
                      </a:r>
                      <a:endParaRPr lang="en-UG" sz="3200" dirty="0"/>
                    </a:p>
                  </a:txBody>
                  <a:tcPr/>
                </a:tc>
                <a:extLst>
                  <a:ext uri="{0D108BD9-81ED-4DB2-BD59-A6C34878D82A}">
                    <a16:rowId xmlns:a16="http://schemas.microsoft.com/office/drawing/2014/main" val="4245243900"/>
                  </a:ext>
                </a:extLst>
              </a:tr>
            </a:tbl>
          </a:graphicData>
        </a:graphic>
      </p:graphicFrame>
    </p:spTree>
    <p:extLst>
      <p:ext uri="{BB962C8B-B14F-4D97-AF65-F5344CB8AC3E}">
        <p14:creationId xmlns:p14="http://schemas.microsoft.com/office/powerpoint/2010/main" val="130225865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39F23-87DB-9845-F172-03806973D95D}"/>
              </a:ext>
            </a:extLst>
          </p:cNvPr>
          <p:cNvSpPr>
            <a:spLocks noGrp="1"/>
          </p:cNvSpPr>
          <p:nvPr>
            <p:ph type="title"/>
          </p:nvPr>
        </p:nvSpPr>
        <p:spPr/>
        <p:txBody>
          <a:bodyPr/>
          <a:lstStyle/>
          <a:p>
            <a:endParaRPr lang="en-UG"/>
          </a:p>
        </p:txBody>
      </p:sp>
      <p:sp>
        <p:nvSpPr>
          <p:cNvPr id="3" name="Content Placeholder 2">
            <a:extLst>
              <a:ext uri="{FF2B5EF4-FFF2-40B4-BE49-F238E27FC236}">
                <a16:creationId xmlns:a16="http://schemas.microsoft.com/office/drawing/2014/main" id="{EA0E394C-2DDF-2C58-6829-9DFAD62F7370}"/>
              </a:ext>
            </a:extLst>
          </p:cNvPr>
          <p:cNvSpPr>
            <a:spLocks noGrp="1"/>
          </p:cNvSpPr>
          <p:nvPr>
            <p:ph idx="1"/>
          </p:nvPr>
        </p:nvSpPr>
        <p:spPr/>
        <p:txBody>
          <a:bodyPr/>
          <a:lstStyle/>
          <a:p>
            <a:endParaRPr lang="en-UG" dirty="0"/>
          </a:p>
        </p:txBody>
      </p:sp>
      <p:pic>
        <p:nvPicPr>
          <p:cNvPr id="3076" name="Picture 4" descr="Illustration of trachea and lungs, showing large tumor in upper lobe of left lung.">
            <a:extLst>
              <a:ext uri="{FF2B5EF4-FFF2-40B4-BE49-F238E27FC236}">
                <a16:creationId xmlns:a16="http://schemas.microsoft.com/office/drawing/2014/main" id="{EAECC056-1BF5-7491-C549-F338B1A44A9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409" t="9931" r="2803" b="8307"/>
          <a:stretch/>
        </p:blipFill>
        <p:spPr bwMode="auto">
          <a:xfrm>
            <a:off x="0" y="0"/>
            <a:ext cx="7329268" cy="68580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4" descr="Lung Disease Treatment">
            <a:extLst>
              <a:ext uri="{FF2B5EF4-FFF2-40B4-BE49-F238E27FC236}">
                <a16:creationId xmlns:a16="http://schemas.microsoft.com/office/drawing/2014/main" id="{28E1E937-5E2D-6DF8-2863-22BF5AF270C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120" t="3282"/>
          <a:stretch/>
        </p:blipFill>
        <p:spPr bwMode="auto">
          <a:xfrm>
            <a:off x="7294229" y="0"/>
            <a:ext cx="4897769" cy="6857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23524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Content Placeholder 6">
            <a:extLst>
              <a:ext uri="{FF2B5EF4-FFF2-40B4-BE49-F238E27FC236}">
                <a16:creationId xmlns:a16="http://schemas.microsoft.com/office/drawing/2014/main" id="{F182AD4D-B0CA-05A2-7853-8EDAFF18DA21}"/>
              </a:ext>
            </a:extLst>
          </p:cNvPr>
          <p:cNvGraphicFramePr>
            <a:graphicFrameLocks noGrp="1"/>
          </p:cNvGraphicFramePr>
          <p:nvPr>
            <p:ph idx="1"/>
            <p:extLst>
              <p:ext uri="{D42A27DB-BD31-4B8C-83A1-F6EECF244321}">
                <p14:modId xmlns:p14="http://schemas.microsoft.com/office/powerpoint/2010/main" val="2942772830"/>
              </p:ext>
            </p:extLst>
          </p:nvPr>
        </p:nvGraphicFramePr>
        <p:xfrm>
          <a:off x="26504" y="0"/>
          <a:ext cx="12165137" cy="6817794"/>
        </p:xfrm>
        <a:graphic>
          <a:graphicData uri="http://schemas.openxmlformats.org/drawingml/2006/table">
            <a:tbl>
              <a:tblPr firstRow="1" bandRow="1">
                <a:tableStyleId>{616DA210-FB5B-4158-B5E0-FEB733F419BA}</a:tableStyleId>
              </a:tblPr>
              <a:tblGrid>
                <a:gridCol w="3676947">
                  <a:extLst>
                    <a:ext uri="{9D8B030D-6E8A-4147-A177-3AD203B41FA5}">
                      <a16:colId xmlns:a16="http://schemas.microsoft.com/office/drawing/2014/main" val="668903125"/>
                    </a:ext>
                  </a:extLst>
                </a:gridCol>
                <a:gridCol w="3957732">
                  <a:extLst>
                    <a:ext uri="{9D8B030D-6E8A-4147-A177-3AD203B41FA5}">
                      <a16:colId xmlns:a16="http://schemas.microsoft.com/office/drawing/2014/main" val="3992087111"/>
                    </a:ext>
                  </a:extLst>
                </a:gridCol>
                <a:gridCol w="4530458">
                  <a:extLst>
                    <a:ext uri="{9D8B030D-6E8A-4147-A177-3AD203B41FA5}">
                      <a16:colId xmlns:a16="http://schemas.microsoft.com/office/drawing/2014/main" val="2486693924"/>
                    </a:ext>
                  </a:extLst>
                </a:gridCol>
              </a:tblGrid>
              <a:tr h="1011260">
                <a:tc gridSpan="3">
                  <a:txBody>
                    <a:bodyPr/>
                    <a:lstStyle/>
                    <a:p>
                      <a:r>
                        <a:rPr lang="en-US" sz="3200" b="0" dirty="0"/>
                        <a:t>Chronic cough: cough that lasts more than eight weeks in adults and four weeks in children</a:t>
                      </a:r>
                      <a:endParaRPr lang="en-UG" sz="3200" b="0" dirty="0"/>
                    </a:p>
                  </a:txBody>
                  <a:tcPr/>
                </a:tc>
                <a:tc hMerge="1">
                  <a:txBody>
                    <a:bodyPr/>
                    <a:lstStyle/>
                    <a:p>
                      <a:endParaRPr lang="en-UG" sz="3200"/>
                    </a:p>
                  </a:txBody>
                  <a:tcPr/>
                </a:tc>
                <a:tc hMerge="1">
                  <a:txBody>
                    <a:bodyPr/>
                    <a:lstStyle/>
                    <a:p>
                      <a:endParaRPr lang="en-UG" sz="3200" dirty="0"/>
                    </a:p>
                  </a:txBody>
                  <a:tcPr/>
                </a:tc>
                <a:extLst>
                  <a:ext uri="{0D108BD9-81ED-4DB2-BD59-A6C34878D82A}">
                    <a16:rowId xmlns:a16="http://schemas.microsoft.com/office/drawing/2014/main" val="2727863386"/>
                  </a:ext>
                </a:extLst>
              </a:tr>
              <a:tr h="548970">
                <a:tc>
                  <a:txBody>
                    <a:bodyPr/>
                    <a:lstStyle/>
                    <a:p>
                      <a:r>
                        <a:rPr lang="en-US" sz="3200" dirty="0"/>
                        <a:t>Cause </a:t>
                      </a:r>
                      <a:endParaRPr lang="en-UG" sz="3200" dirty="0"/>
                    </a:p>
                  </a:txBody>
                  <a:tcPr/>
                </a:tc>
                <a:tc>
                  <a:txBody>
                    <a:bodyPr/>
                    <a:lstStyle/>
                    <a:p>
                      <a:r>
                        <a:rPr lang="en-US" sz="3200" dirty="0"/>
                        <a:t>Symptoms</a:t>
                      </a:r>
                      <a:endParaRPr lang="en-UG" sz="3200" dirty="0"/>
                    </a:p>
                  </a:txBody>
                  <a:tcPr/>
                </a:tc>
                <a:tc>
                  <a:txBody>
                    <a:bodyPr/>
                    <a:lstStyle/>
                    <a:p>
                      <a:r>
                        <a:rPr lang="en-US" sz="3200" dirty="0"/>
                        <a:t>Treatment</a:t>
                      </a:r>
                      <a:endParaRPr lang="en-UG" sz="3200" dirty="0"/>
                    </a:p>
                  </a:txBody>
                  <a:tcPr/>
                </a:tc>
                <a:extLst>
                  <a:ext uri="{0D108BD9-81ED-4DB2-BD59-A6C34878D82A}">
                    <a16:rowId xmlns:a16="http://schemas.microsoft.com/office/drawing/2014/main" val="4144637373"/>
                  </a:ext>
                </a:extLst>
              </a:tr>
              <a:tr h="5171874">
                <a:tc>
                  <a:txBody>
                    <a:bodyPr/>
                    <a:lstStyle/>
                    <a:p>
                      <a:pPr marL="457200" indent="-457200">
                        <a:buFont typeface="Arial" panose="020B0604020202020204" pitchFamily="34" charset="0"/>
                        <a:buChar char="•"/>
                      </a:pPr>
                      <a:r>
                        <a:rPr lang="en-US" sz="3200" dirty="0"/>
                        <a:t>Smoking tobacco</a:t>
                      </a:r>
                    </a:p>
                    <a:p>
                      <a:pPr marL="457200" indent="-457200">
                        <a:buFont typeface="Arial" panose="020B0604020202020204" pitchFamily="34" charset="0"/>
                        <a:buChar char="•"/>
                      </a:pPr>
                      <a:r>
                        <a:rPr lang="en-US" sz="3200" dirty="0"/>
                        <a:t>Asthma</a:t>
                      </a:r>
                    </a:p>
                    <a:p>
                      <a:pPr marL="457200" indent="-457200">
                        <a:buFont typeface="Arial" panose="020B0604020202020204" pitchFamily="34" charset="0"/>
                        <a:buChar char="•"/>
                      </a:pPr>
                      <a:r>
                        <a:rPr lang="en-US" sz="3200" dirty="0"/>
                        <a:t>Respiratory tract infection, e.g. tuberculosis, whooping cough</a:t>
                      </a:r>
                    </a:p>
                    <a:p>
                      <a:pPr marL="457200" indent="-457200">
                        <a:buFont typeface="Arial" panose="020B0604020202020204" pitchFamily="34" charset="0"/>
                        <a:buChar char="•"/>
                      </a:pPr>
                      <a:r>
                        <a:rPr lang="en-US" sz="3200" dirty="0"/>
                        <a:t>Postnasal drip</a:t>
                      </a:r>
                    </a:p>
                    <a:p>
                      <a:pPr marL="457200" indent="-457200">
                        <a:buFont typeface="Arial" panose="020B0604020202020204" pitchFamily="34" charset="0"/>
                        <a:buChar char="•"/>
                      </a:pPr>
                      <a:r>
                        <a:rPr lang="en-US" sz="3200" dirty="0"/>
                        <a:t>Acid reflux</a:t>
                      </a:r>
                      <a:endParaRPr lang="en-UG" sz="3200" dirty="0"/>
                    </a:p>
                  </a:txBody>
                  <a:tcPr/>
                </a:tc>
                <a:tc>
                  <a:txBody>
                    <a:bodyPr/>
                    <a:lstStyle/>
                    <a:p>
                      <a:pPr marL="457200" indent="-457200">
                        <a:buFont typeface="Arial" panose="020B0604020202020204" pitchFamily="34" charset="0"/>
                        <a:buChar char="•"/>
                      </a:pPr>
                      <a:r>
                        <a:rPr lang="en-US" sz="3200" dirty="0"/>
                        <a:t>High fever</a:t>
                      </a:r>
                    </a:p>
                    <a:p>
                      <a:pPr marL="457200" indent="-457200">
                        <a:buFont typeface="Arial" panose="020B0604020202020204" pitchFamily="34" charset="0"/>
                        <a:buChar char="•"/>
                      </a:pPr>
                      <a:r>
                        <a:rPr lang="en-US" sz="3200" dirty="0"/>
                        <a:t>Coughing up blood Coughing up phlegm/sputum</a:t>
                      </a:r>
                    </a:p>
                    <a:p>
                      <a:pPr marL="457200" indent="-457200">
                        <a:buFont typeface="Arial" panose="020B0604020202020204" pitchFamily="34" charset="0"/>
                        <a:buChar char="•"/>
                      </a:pPr>
                      <a:r>
                        <a:rPr lang="en-US" sz="3200" dirty="0"/>
                        <a:t>Shortness of breath</a:t>
                      </a:r>
                    </a:p>
                    <a:p>
                      <a:pPr marL="457200" indent="-457200">
                        <a:buFont typeface="Arial" panose="020B0604020202020204" pitchFamily="34" charset="0"/>
                        <a:buChar char="•"/>
                      </a:pPr>
                      <a:r>
                        <a:rPr lang="en-US" sz="3200" dirty="0"/>
                        <a:t>Frequent coughing</a:t>
                      </a:r>
                    </a:p>
                    <a:p>
                      <a:pPr marL="457200" indent="-457200">
                        <a:buFont typeface="Arial" panose="020B0604020202020204" pitchFamily="34" charset="0"/>
                        <a:buChar char="•"/>
                      </a:pPr>
                      <a:r>
                        <a:rPr lang="en-US" sz="3200" dirty="0"/>
                        <a:t>Weight loss</a:t>
                      </a:r>
                    </a:p>
                    <a:p>
                      <a:pPr marL="457200" indent="-457200">
                        <a:buFont typeface="Arial" panose="020B0604020202020204" pitchFamily="34" charset="0"/>
                        <a:buChar char="•"/>
                      </a:pPr>
                      <a:r>
                        <a:rPr lang="en-US" sz="3200" dirty="0"/>
                        <a:t>Fatigue </a:t>
                      </a:r>
                    </a:p>
                    <a:p>
                      <a:pPr marL="457200" indent="-457200">
                        <a:buFont typeface="Arial" panose="020B0604020202020204" pitchFamily="34" charset="0"/>
                        <a:buChar char="•"/>
                      </a:pPr>
                      <a:r>
                        <a:rPr lang="en-US" sz="3200" dirty="0"/>
                        <a:t>Chest pain </a:t>
                      </a:r>
                    </a:p>
                    <a:p>
                      <a:endParaRPr lang="en-UG" sz="3200" dirty="0"/>
                    </a:p>
                  </a:txBody>
                  <a:tcPr/>
                </a:tc>
                <a:tc>
                  <a:txBody>
                    <a:bodyPr/>
                    <a:lstStyle/>
                    <a:p>
                      <a:pPr marL="457200" indent="-457200">
                        <a:buFont typeface="Arial" panose="020B0604020202020204" pitchFamily="34" charset="0"/>
                        <a:buChar char="•"/>
                      </a:pPr>
                      <a:r>
                        <a:rPr lang="en-US" sz="3200" dirty="0"/>
                        <a:t>Elevating the head during sleep</a:t>
                      </a:r>
                    </a:p>
                    <a:p>
                      <a:pPr marL="457200" indent="-457200">
                        <a:buFont typeface="Arial" panose="020B0604020202020204" pitchFamily="34" charset="0"/>
                        <a:buChar char="•"/>
                      </a:pPr>
                      <a:r>
                        <a:rPr lang="en-US" sz="3200" dirty="0"/>
                        <a:t>Treating underlying conditions</a:t>
                      </a:r>
                    </a:p>
                    <a:p>
                      <a:pPr marL="457200" indent="-457200">
                        <a:buFont typeface="Arial" panose="020B0604020202020204" pitchFamily="34" charset="0"/>
                        <a:buChar char="•"/>
                      </a:pPr>
                      <a:r>
                        <a:rPr lang="en-US" sz="3200" dirty="0"/>
                        <a:t>Avoid irritants like smoke or strong odors.</a:t>
                      </a:r>
                    </a:p>
                    <a:p>
                      <a:pPr marL="457200" indent="-457200">
                        <a:buFont typeface="Arial" panose="020B0604020202020204" pitchFamily="34" charset="0"/>
                        <a:buChar char="•"/>
                      </a:pPr>
                      <a:r>
                        <a:rPr lang="en-US" sz="3200" dirty="0"/>
                        <a:t>Antibacterials or antivirals for respiratory tract infections</a:t>
                      </a:r>
                      <a:endParaRPr lang="en-UG" sz="3200" dirty="0"/>
                    </a:p>
                  </a:txBody>
                  <a:tcPr/>
                </a:tc>
                <a:extLst>
                  <a:ext uri="{0D108BD9-81ED-4DB2-BD59-A6C34878D82A}">
                    <a16:rowId xmlns:a16="http://schemas.microsoft.com/office/drawing/2014/main" val="4183498755"/>
                  </a:ext>
                </a:extLst>
              </a:tr>
            </a:tbl>
          </a:graphicData>
        </a:graphic>
      </p:graphicFrame>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490BF8E0-05F2-C678-8A6B-B985610D1F17}"/>
                  </a:ext>
                </a:extLst>
              </p14:cNvPr>
              <p14:cNvContentPartPr/>
              <p14:nvPr/>
            </p14:nvContentPartPr>
            <p14:xfrm>
              <a:off x="-914926" y="2221948"/>
              <a:ext cx="360" cy="360"/>
            </p14:xfrm>
          </p:contentPart>
        </mc:Choice>
        <mc:Fallback xmlns="">
          <p:pic>
            <p:nvPicPr>
              <p:cNvPr id="2" name="Ink 1">
                <a:extLst>
                  <a:ext uri="{FF2B5EF4-FFF2-40B4-BE49-F238E27FC236}">
                    <a16:creationId xmlns:a16="http://schemas.microsoft.com/office/drawing/2014/main" id="{490BF8E0-05F2-C678-8A6B-B985610D1F17}"/>
                  </a:ext>
                </a:extLst>
              </p:cNvPr>
              <p:cNvPicPr/>
              <p:nvPr/>
            </p:nvPicPr>
            <p:blipFill>
              <a:blip r:embed="rId3"/>
              <a:stretch>
                <a:fillRect/>
              </a:stretch>
            </p:blipFill>
            <p:spPr>
              <a:xfrm>
                <a:off x="-921046" y="2215828"/>
                <a:ext cx="12600" cy="12600"/>
              </a:xfrm>
              <a:prstGeom prst="rect">
                <a:avLst/>
              </a:prstGeom>
            </p:spPr>
          </p:pic>
        </mc:Fallback>
      </mc:AlternateContent>
    </p:spTree>
    <p:extLst>
      <p:ext uri="{BB962C8B-B14F-4D97-AF65-F5344CB8AC3E}">
        <p14:creationId xmlns:p14="http://schemas.microsoft.com/office/powerpoint/2010/main" val="1239754015"/>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8A3FF4-73D9-3E19-0184-20C8CDCC6FA0}"/>
              </a:ext>
            </a:extLst>
          </p:cNvPr>
          <p:cNvSpPr>
            <a:spLocks noGrp="1"/>
          </p:cNvSpPr>
          <p:nvPr>
            <p:ph idx="1"/>
          </p:nvPr>
        </p:nvSpPr>
        <p:spPr>
          <a:xfrm>
            <a:off x="106017" y="106023"/>
            <a:ext cx="11979966" cy="1749287"/>
          </a:xfrm>
        </p:spPr>
        <p:txBody>
          <a:bodyPr>
            <a:normAutofit/>
          </a:bodyPr>
          <a:lstStyle/>
          <a:p>
            <a:pPr algn="just"/>
            <a:r>
              <a:rPr lang="en-US" sz="3600" dirty="0"/>
              <a:t>Chronic obstructive pulmonary disease (COPD) refers to a group of diseases that includes chronic bronchitis and emphysema.</a:t>
            </a:r>
            <a:endParaRPr lang="en-UG" sz="3600" dirty="0"/>
          </a:p>
        </p:txBody>
      </p:sp>
      <p:pic>
        <p:nvPicPr>
          <p:cNvPr id="4098" name="Picture 2" descr="Editorial: When Will This Pandemic Officially End? | The Scientist Magazine®">
            <a:extLst>
              <a:ext uri="{FF2B5EF4-FFF2-40B4-BE49-F238E27FC236}">
                <a16:creationId xmlns:a16="http://schemas.microsoft.com/office/drawing/2014/main" id="{3686F7CA-A40E-848D-9677-31CC8F87F0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81218" y="1557174"/>
            <a:ext cx="7572083" cy="5300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955657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B197A-2723-FAA5-BD53-0319FCC6E877}"/>
              </a:ext>
            </a:extLst>
          </p:cNvPr>
          <p:cNvSpPr>
            <a:spLocks noGrp="1"/>
          </p:cNvSpPr>
          <p:nvPr>
            <p:ph type="title"/>
          </p:nvPr>
        </p:nvSpPr>
        <p:spPr/>
        <p:txBody>
          <a:bodyPr/>
          <a:lstStyle/>
          <a:p>
            <a:r>
              <a:rPr lang="en-US" b="1" dirty="0">
                <a:effectLst>
                  <a:outerShdw blurRad="38100" dist="38100" dir="2700000" algn="tl">
                    <a:srgbClr val="000000">
                      <a:alpha val="43137"/>
                    </a:srgbClr>
                  </a:outerShdw>
                </a:effectLst>
              </a:rPr>
              <a:t>Activity of integration</a:t>
            </a:r>
            <a:r>
              <a:rPr lang="en-US" dirty="0"/>
              <a:t> </a:t>
            </a:r>
            <a:endParaRPr lang="en-UG" dirty="0"/>
          </a:p>
        </p:txBody>
      </p:sp>
      <p:sp>
        <p:nvSpPr>
          <p:cNvPr id="3" name="Content Placeholder 2">
            <a:extLst>
              <a:ext uri="{FF2B5EF4-FFF2-40B4-BE49-F238E27FC236}">
                <a16:creationId xmlns:a16="http://schemas.microsoft.com/office/drawing/2014/main" id="{424B9481-1FFD-992D-0E14-D857DDA83447}"/>
              </a:ext>
            </a:extLst>
          </p:cNvPr>
          <p:cNvSpPr>
            <a:spLocks noGrp="1"/>
          </p:cNvSpPr>
          <p:nvPr>
            <p:ph idx="1"/>
          </p:nvPr>
        </p:nvSpPr>
        <p:spPr>
          <a:xfrm>
            <a:off x="225287" y="1825625"/>
            <a:ext cx="11688417" cy="4351338"/>
          </a:xfrm>
        </p:spPr>
        <p:txBody>
          <a:bodyPr>
            <a:normAutofit/>
          </a:bodyPr>
          <a:lstStyle/>
          <a:p>
            <a:pPr marL="0" indent="0" algn="just">
              <a:buNone/>
            </a:pPr>
            <a:r>
              <a:rPr lang="en-US" sz="3600" dirty="0"/>
              <a:t>A teenager who doesn’t smoke hangs out with a gang of boys  who smoke. How can you convince him to leave the gang?</a:t>
            </a:r>
            <a:endParaRPr lang="en-UG" sz="3600" dirty="0"/>
          </a:p>
        </p:txBody>
      </p:sp>
    </p:spTree>
    <p:extLst>
      <p:ext uri="{BB962C8B-B14F-4D97-AF65-F5344CB8AC3E}">
        <p14:creationId xmlns:p14="http://schemas.microsoft.com/office/powerpoint/2010/main" val="16055171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BF74D0-BB13-F188-2742-BF3CAA8B6378}"/>
              </a:ext>
            </a:extLst>
          </p:cNvPr>
          <p:cNvSpPr>
            <a:spLocks noGrp="1"/>
          </p:cNvSpPr>
          <p:nvPr>
            <p:ph type="title"/>
          </p:nvPr>
        </p:nvSpPr>
        <p:spPr>
          <a:xfrm>
            <a:off x="838199" y="616450"/>
            <a:ext cx="10515600" cy="607476"/>
          </a:xfrm>
        </p:spPr>
        <p:txBody>
          <a:bodyPr>
            <a:normAutofit fontScale="90000"/>
          </a:bodyPr>
          <a:lstStyle/>
          <a:p>
            <a:pPr algn="ctr"/>
            <a:r>
              <a:rPr lang="en-US" b="1" u="sng" dirty="0">
                <a:effectLst>
                  <a:outerShdw blurRad="38100" dist="38100" dir="2700000" algn="tl">
                    <a:srgbClr val="000000">
                      <a:alpha val="43137"/>
                    </a:srgbClr>
                  </a:outerShdw>
                </a:effectLst>
              </a:rPr>
              <a:t>Artificial Respiration/Artificial Ventilation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CE5D4D3C-1DEB-B1F4-6AE3-CE5F53F086CC}"/>
              </a:ext>
            </a:extLst>
          </p:cNvPr>
          <p:cNvSpPr>
            <a:spLocks noGrp="1"/>
          </p:cNvSpPr>
          <p:nvPr>
            <p:ph idx="1"/>
          </p:nvPr>
        </p:nvSpPr>
        <p:spPr>
          <a:xfrm>
            <a:off x="152400" y="1586474"/>
            <a:ext cx="11887199" cy="4351338"/>
          </a:xfrm>
        </p:spPr>
        <p:txBody>
          <a:bodyPr>
            <a:normAutofit/>
          </a:bodyPr>
          <a:lstStyle/>
          <a:p>
            <a:pPr algn="just"/>
            <a:r>
              <a:rPr lang="en-US" sz="3600" dirty="0"/>
              <a:t>This is a medical technique used to assist a person to breathe when he/she is unable to breathe. </a:t>
            </a:r>
          </a:p>
          <a:p>
            <a:pPr algn="just"/>
            <a:r>
              <a:rPr lang="en-US" sz="3600" dirty="0"/>
              <a:t>A person may fail to breathe naturally due to injury, sickness, medical procedure, etc.</a:t>
            </a:r>
            <a:endParaRPr lang="en-UG" sz="3600" dirty="0"/>
          </a:p>
        </p:txBody>
      </p:sp>
    </p:spTree>
    <p:extLst>
      <p:ext uri="{BB962C8B-B14F-4D97-AF65-F5344CB8AC3E}">
        <p14:creationId xmlns:p14="http://schemas.microsoft.com/office/powerpoint/2010/main" val="324665516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FF84B-BA83-AF9E-4739-C5B6A3F1625A}"/>
              </a:ext>
            </a:extLst>
          </p:cNvPr>
          <p:cNvSpPr>
            <a:spLocks noGrp="1"/>
          </p:cNvSpPr>
          <p:nvPr>
            <p:ph type="title"/>
          </p:nvPr>
        </p:nvSpPr>
        <p:spPr>
          <a:xfrm>
            <a:off x="838200" y="337621"/>
            <a:ext cx="10515600" cy="874762"/>
          </a:xfrm>
        </p:spPr>
        <p:txBody>
          <a:bodyPr/>
          <a:lstStyle/>
          <a:p>
            <a:pPr algn="ctr"/>
            <a:r>
              <a:rPr lang="en-US" b="1" u="sng" dirty="0">
                <a:effectLst>
                  <a:outerShdw blurRad="38100" dist="38100" dir="2700000" algn="tl">
                    <a:srgbClr val="000000">
                      <a:alpha val="43137"/>
                    </a:srgbClr>
                  </a:outerShdw>
                </a:effectLst>
              </a:rPr>
              <a:t>How to carry out artificial ventilation</a:t>
            </a:r>
            <a:endParaRPr lang="en-UG" b="1" u="sng" dirty="0">
              <a:effectLst>
                <a:outerShdw blurRad="38100" dist="38100" dir="2700000" algn="tl">
                  <a:srgbClr val="000000">
                    <a:alpha val="43137"/>
                  </a:srgbClr>
                </a:outerShdw>
              </a:effectLst>
            </a:endParaRPr>
          </a:p>
        </p:txBody>
      </p:sp>
      <p:sp>
        <p:nvSpPr>
          <p:cNvPr id="3" name="Content Placeholder 2">
            <a:extLst>
              <a:ext uri="{FF2B5EF4-FFF2-40B4-BE49-F238E27FC236}">
                <a16:creationId xmlns:a16="http://schemas.microsoft.com/office/drawing/2014/main" id="{134D77CB-0953-5FF6-D759-0B6077C13417}"/>
              </a:ext>
            </a:extLst>
          </p:cNvPr>
          <p:cNvSpPr>
            <a:spLocks noGrp="1"/>
          </p:cNvSpPr>
          <p:nvPr>
            <p:ph idx="1"/>
          </p:nvPr>
        </p:nvSpPr>
        <p:spPr>
          <a:xfrm>
            <a:off x="393895" y="1561514"/>
            <a:ext cx="11465170" cy="4615449"/>
          </a:xfrm>
        </p:spPr>
        <p:txBody>
          <a:bodyPr>
            <a:normAutofit/>
          </a:bodyPr>
          <a:lstStyle/>
          <a:p>
            <a:pPr algn="just"/>
            <a:r>
              <a:rPr lang="en-US" sz="3600" dirty="0"/>
              <a:t>There are two major methods of artificial respiration namely</a:t>
            </a:r>
          </a:p>
          <a:p>
            <a:pPr marL="0" indent="0" algn="just">
              <a:buNone/>
            </a:pPr>
            <a:r>
              <a:rPr lang="en-US" sz="3600" dirty="0"/>
              <a:t>(</a:t>
            </a:r>
            <a:r>
              <a:rPr lang="en-US" sz="3600" dirty="0" err="1"/>
              <a:t>i</a:t>
            </a:r>
            <a:r>
              <a:rPr lang="en-US" sz="3600" dirty="0"/>
              <a:t>) Mechanical ventilation </a:t>
            </a:r>
          </a:p>
          <a:p>
            <a:pPr algn="just"/>
            <a:r>
              <a:rPr lang="en-US" sz="3600" dirty="0"/>
              <a:t>This involves using a machine called a ventilator which is connected to the patient’s airway through a tube to deliver oxygen to patient’s lungs. It is commonly used in intensive care units of hospitals.</a:t>
            </a:r>
            <a:endParaRPr lang="en-UG" sz="3600" dirty="0"/>
          </a:p>
        </p:txBody>
      </p:sp>
    </p:spTree>
    <p:extLst>
      <p:ext uri="{BB962C8B-B14F-4D97-AF65-F5344CB8AC3E}">
        <p14:creationId xmlns:p14="http://schemas.microsoft.com/office/powerpoint/2010/main" val="16446752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3045D-6D06-9C44-39B3-483859AE3ADA}"/>
              </a:ext>
            </a:extLst>
          </p:cNvPr>
          <p:cNvSpPr>
            <a:spLocks noGrp="1"/>
          </p:cNvSpPr>
          <p:nvPr>
            <p:ph type="title"/>
          </p:nvPr>
        </p:nvSpPr>
        <p:spPr>
          <a:xfrm>
            <a:off x="98473" y="643302"/>
            <a:ext cx="11844997" cy="1182323"/>
          </a:xfrm>
        </p:spPr>
        <p:txBody>
          <a:bodyPr>
            <a:normAutofit fontScale="90000"/>
          </a:bodyPr>
          <a:lstStyle/>
          <a:p>
            <a:pPr algn="just"/>
            <a:r>
              <a:rPr lang="en-US" b="1" dirty="0"/>
              <a:t>(ii) Manual resuscitation/rescue breathing/mouth-to-mouth resuscitation</a:t>
            </a:r>
            <a:endParaRPr lang="en-UG" b="1" dirty="0"/>
          </a:p>
        </p:txBody>
      </p:sp>
      <p:sp>
        <p:nvSpPr>
          <p:cNvPr id="3" name="Content Placeholder 2">
            <a:extLst>
              <a:ext uri="{FF2B5EF4-FFF2-40B4-BE49-F238E27FC236}">
                <a16:creationId xmlns:a16="http://schemas.microsoft.com/office/drawing/2014/main" id="{E4AA2C25-4320-D272-8911-FD5E4014BB2B}"/>
              </a:ext>
            </a:extLst>
          </p:cNvPr>
          <p:cNvSpPr>
            <a:spLocks noGrp="1"/>
          </p:cNvSpPr>
          <p:nvPr>
            <p:ph idx="1"/>
          </p:nvPr>
        </p:nvSpPr>
        <p:spPr>
          <a:xfrm>
            <a:off x="175844" y="2599348"/>
            <a:ext cx="11690253" cy="2915187"/>
          </a:xfrm>
        </p:spPr>
        <p:txBody>
          <a:bodyPr>
            <a:normAutofit/>
          </a:bodyPr>
          <a:lstStyle/>
          <a:p>
            <a:pPr algn="just"/>
            <a:r>
              <a:rPr lang="en-US" sz="3600" dirty="0"/>
              <a:t>It involves a person blowing air into the patient’s mouth while maintaining an open airway of the patient.</a:t>
            </a:r>
          </a:p>
          <a:p>
            <a:pPr algn="just"/>
            <a:r>
              <a:rPr lang="en-US" sz="3600" dirty="0"/>
              <a:t> It is used when a person has stopped breathing.</a:t>
            </a:r>
            <a:endParaRPr lang="en-UG" sz="3600" dirty="0"/>
          </a:p>
        </p:txBody>
      </p:sp>
    </p:spTree>
    <p:extLst>
      <p:ext uri="{BB962C8B-B14F-4D97-AF65-F5344CB8AC3E}">
        <p14:creationId xmlns:p14="http://schemas.microsoft.com/office/powerpoint/2010/main" val="23497116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A771E-CB26-17CD-1F9B-BC3D79B66E4D}"/>
              </a:ext>
            </a:extLst>
          </p:cNvPr>
          <p:cNvSpPr>
            <a:spLocks noGrp="1"/>
          </p:cNvSpPr>
          <p:nvPr>
            <p:ph type="title"/>
          </p:nvPr>
        </p:nvSpPr>
        <p:spPr>
          <a:xfrm>
            <a:off x="838200" y="18255"/>
            <a:ext cx="10515600" cy="1325563"/>
          </a:xfrm>
        </p:spPr>
        <p:txBody>
          <a:bodyPr/>
          <a:lstStyle/>
          <a:p>
            <a:r>
              <a:rPr lang="en-US" dirty="0"/>
              <a:t>Procedure </a:t>
            </a:r>
            <a:endParaRPr lang="en-UG" dirty="0"/>
          </a:p>
        </p:txBody>
      </p:sp>
      <p:sp>
        <p:nvSpPr>
          <p:cNvPr id="3" name="Content Placeholder 2">
            <a:extLst>
              <a:ext uri="{FF2B5EF4-FFF2-40B4-BE49-F238E27FC236}">
                <a16:creationId xmlns:a16="http://schemas.microsoft.com/office/drawing/2014/main" id="{E3C9535A-2924-685E-F760-E77B3B9FD9E9}"/>
              </a:ext>
            </a:extLst>
          </p:cNvPr>
          <p:cNvSpPr>
            <a:spLocks noGrp="1"/>
          </p:cNvSpPr>
          <p:nvPr>
            <p:ph idx="1"/>
          </p:nvPr>
        </p:nvSpPr>
        <p:spPr>
          <a:xfrm>
            <a:off x="0" y="956603"/>
            <a:ext cx="12192000" cy="5669279"/>
          </a:xfrm>
        </p:spPr>
        <p:txBody>
          <a:bodyPr>
            <a:noAutofit/>
          </a:bodyPr>
          <a:lstStyle/>
          <a:p>
            <a:pPr algn="just"/>
            <a:r>
              <a:rPr lang="en-US" sz="3600" dirty="0"/>
              <a:t>Place the person on his/her back on a firm flat surface. Clear any obstacles on the mouth of the victim</a:t>
            </a:r>
          </a:p>
          <a:p>
            <a:pPr algn="just"/>
            <a:r>
              <a:rPr lang="en-US" sz="3600" dirty="0"/>
              <a:t>Tilt the victims head slightly backwards to open his/her airways by lifting his/her chin while pushing down the forehead.</a:t>
            </a:r>
          </a:p>
          <a:p>
            <a:pPr algn="just"/>
            <a:r>
              <a:rPr lang="en-US" sz="3600" dirty="0"/>
              <a:t>Pinch the victims nose shut with your fingers. Take a normal breath. Cover the victim’s mouth with your mouth creating an air-tight seal. </a:t>
            </a:r>
          </a:p>
          <a:p>
            <a:pPr algn="just"/>
            <a:r>
              <a:rPr lang="en-US" sz="3600" dirty="0"/>
              <a:t>Give a breath that last about one second makes his/her chest rise visibly </a:t>
            </a:r>
          </a:p>
          <a:p>
            <a:pPr algn="just"/>
            <a:r>
              <a:rPr lang="en-US" sz="3600" dirty="0"/>
              <a:t> Remove your mouth to allow his/her chest fall.</a:t>
            </a:r>
          </a:p>
        </p:txBody>
      </p:sp>
    </p:spTree>
    <p:extLst>
      <p:ext uri="{BB962C8B-B14F-4D97-AF65-F5344CB8AC3E}">
        <p14:creationId xmlns:p14="http://schemas.microsoft.com/office/powerpoint/2010/main" val="3280218055"/>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AED076-5F0B-106A-E20F-91CB984C2BFE}"/>
              </a:ext>
            </a:extLst>
          </p:cNvPr>
          <p:cNvSpPr>
            <a:spLocks noGrp="1"/>
          </p:cNvSpPr>
          <p:nvPr>
            <p:ph idx="1"/>
          </p:nvPr>
        </p:nvSpPr>
        <p:spPr>
          <a:xfrm>
            <a:off x="576775" y="1333257"/>
            <a:ext cx="11282290" cy="4351338"/>
          </a:xfrm>
        </p:spPr>
        <p:txBody>
          <a:bodyPr>
            <a:normAutofit/>
          </a:bodyPr>
          <a:lstStyle/>
          <a:p>
            <a:pPr algn="just"/>
            <a:r>
              <a:rPr lang="en-US" sz="3600" dirty="0"/>
              <a:t>After giving 2 rescue breaths, switch to chest compressions at a rate of 100-120 compressions per minute with adequate depth </a:t>
            </a:r>
          </a:p>
          <a:p>
            <a:pPr algn="just"/>
            <a:r>
              <a:rPr lang="en-US" sz="3600" dirty="0"/>
              <a:t>After about one minute, give another 2 rescue breaths and switch to compressions of about 30 compressions per minutes. </a:t>
            </a:r>
          </a:p>
          <a:p>
            <a:pPr algn="just"/>
            <a:r>
              <a:rPr lang="en-US" sz="3600" dirty="0"/>
              <a:t>Continue switching rescue breath with chest compressions until the victim starts to breath.</a:t>
            </a:r>
            <a:endParaRPr lang="en-UG" sz="3600" dirty="0"/>
          </a:p>
          <a:p>
            <a:pPr algn="just"/>
            <a:endParaRPr lang="en-UG" sz="3600" dirty="0"/>
          </a:p>
        </p:txBody>
      </p:sp>
    </p:spTree>
    <p:extLst>
      <p:ext uri="{BB962C8B-B14F-4D97-AF65-F5344CB8AC3E}">
        <p14:creationId xmlns:p14="http://schemas.microsoft.com/office/powerpoint/2010/main" val="36551549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Banded Edge">
      <a:fillStyleLst>
        <a:solidFill>
          <a:schemeClr val="phClr"/>
        </a:solidFill>
        <a:solidFill>
          <a:schemeClr val="phClr">
            <a:tint val="50000"/>
          </a:schemeClr>
        </a:solidFill>
        <a:gradFill rotWithShape="1">
          <a:gsLst>
            <a:gs pos="0">
              <a:schemeClr val="phClr"/>
            </a:gs>
            <a:gs pos="90000">
              <a:schemeClr val="phClr">
                <a:shade val="100000"/>
              </a:schemeClr>
            </a:gs>
            <a:gs pos="100000">
              <a:schemeClr val="phClr">
                <a:shade val="85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17779" dir="5400000" rotWithShape="0">
              <a:srgbClr val="000000">
                <a:alpha val="40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3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9385</TotalTime>
  <Words>4082</Words>
  <Application>Microsoft Office PowerPoint</Application>
  <PresentationFormat>Widescreen</PresentationFormat>
  <Paragraphs>506</Paragraphs>
  <Slides>86</Slides>
  <Notes>8</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 Unicode MS</vt:lpstr>
      <vt:lpstr>Arial</vt:lpstr>
      <vt:lpstr>Calibri</vt:lpstr>
      <vt:lpstr>Calibri Light</vt:lpstr>
      <vt:lpstr>Georgia</vt:lpstr>
      <vt:lpstr>Times New Roman</vt:lpstr>
      <vt:lpstr>Office Theme</vt:lpstr>
      <vt:lpstr>GASEOUS EXCHANGE</vt:lpstr>
      <vt:lpstr>PowerPoint Presentation</vt:lpstr>
      <vt:lpstr>PowerPoint Presentation</vt:lpstr>
      <vt:lpstr>PowerPoint Presentation</vt:lpstr>
      <vt:lpstr>PowerPoint Presentation</vt:lpstr>
      <vt:lpstr>Activity: Complete the table below</vt:lpstr>
      <vt:lpstr>PowerPoint Presentation</vt:lpstr>
      <vt:lpstr>Importance/necessity for gaseous exchange</vt:lpstr>
      <vt:lpstr>Surface area to volume ratio and gaseous exchange</vt:lpstr>
      <vt:lpstr>PowerPoint Presentation</vt:lpstr>
      <vt:lpstr>PowerPoint Presentation</vt:lpstr>
      <vt:lpstr>Why multicellular organisms need specialized systems for gaseous exchange</vt:lpstr>
      <vt:lpstr>PowerPoint Presentation</vt:lpstr>
      <vt:lpstr>PowerPoint Presentation</vt:lpstr>
      <vt:lpstr>PowerPoint Presentation</vt:lpstr>
      <vt:lpstr>PowerPoint Presentation</vt:lpstr>
      <vt:lpstr>Gaseous exchange in human being</vt:lpstr>
      <vt:lpstr>Human respiratory system</vt:lpstr>
      <vt:lpstr>PowerPoint Presentation</vt:lpstr>
      <vt:lpstr>A drawing of the human respiratory system.  </vt:lpstr>
      <vt:lpstr>Functions of parts</vt:lpstr>
      <vt:lpstr>PowerPoint Presentation</vt:lpstr>
      <vt:lpstr>PowerPoint Presentation</vt:lpstr>
      <vt:lpstr>Mechanism of breathing/ventilation in human being</vt:lpstr>
      <vt:lpstr>PowerPoint Presentation</vt:lpstr>
      <vt:lpstr>PowerPoint Presentation</vt:lpstr>
      <vt:lpstr>PowerPoint Presentation</vt:lpstr>
      <vt:lpstr>PowerPoint Presentation</vt:lpstr>
      <vt:lpstr>PowerPoint Presentation</vt:lpstr>
      <vt:lpstr>Demonstrating breathing mechanism in man using a model</vt:lpstr>
      <vt:lpstr>PowerPoint Presentation</vt:lpstr>
      <vt:lpstr>PowerPoint Presentation</vt:lpstr>
      <vt:lpstr>PowerPoint Presentation</vt:lpstr>
      <vt:lpstr>Explanation</vt:lpstr>
      <vt:lpstr>Relating the model parts to human respiratory system</vt:lpstr>
      <vt:lpstr>PowerPoint Presentation</vt:lpstr>
      <vt:lpstr>PowerPoint Presentation</vt:lpstr>
      <vt:lpstr>Gaseous exchange at the alveolus</vt:lpstr>
      <vt:lpstr>PowerPoint Presentation</vt:lpstr>
      <vt:lpstr>PowerPoint Presentation</vt:lpstr>
      <vt:lpstr>PowerPoint Presentation</vt:lpstr>
      <vt:lpstr>PowerPoint Presentation</vt:lpstr>
      <vt:lpstr>PowerPoint Presentation</vt:lpstr>
      <vt:lpstr>Composition of inspired and expired air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Comparison of percentage composition by volume of inhaled and exhaled air</vt:lpstr>
      <vt:lpstr>Explanations </vt:lpstr>
      <vt:lpstr>PowerPoint Presentation</vt:lpstr>
      <vt:lpstr>PowerPoint Presentation</vt:lpstr>
      <vt:lpstr>Dangers of Smoking and Air Pollution on Gas Exchange Surfaces in the Lungs</vt:lpstr>
      <vt:lpstr>PowerPoint Presentation</vt:lpstr>
      <vt:lpstr>(ii) Tar</vt:lpstr>
      <vt:lpstr>PowerPoint Presentation</vt:lpstr>
      <vt:lpstr>(iii) Carbon monoxide  </vt:lpstr>
      <vt:lpstr>Demonstrating the effect of cigarette smoke on the respiratory system</vt:lpstr>
      <vt:lpstr>Set up of apparatus</vt:lpstr>
      <vt:lpstr>PowerPoint Presentation</vt:lpstr>
      <vt:lpstr>PowerPoint Presentation</vt:lpstr>
      <vt:lpstr>PowerPoint Presentation</vt:lpstr>
      <vt:lpstr>PowerPoint Presentation</vt:lpstr>
      <vt:lpstr>Analysis </vt:lpstr>
      <vt:lpstr>PowerPoint Presentation</vt:lpstr>
      <vt:lpstr>(b) Air pollution</vt:lpstr>
      <vt:lpstr>Air pollutants:</vt:lpstr>
      <vt:lpstr>Diseases associated respiratory system in humans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Activity of integration </vt:lpstr>
      <vt:lpstr>Artificial Respiration/Artificial Ventilation</vt:lpstr>
      <vt:lpstr>How to carry out artificial ventilation</vt:lpstr>
      <vt:lpstr>(ii) Manual resuscitation/rescue breathing/mouth-to-mouth resuscitation</vt:lpstr>
      <vt:lpstr>Procedure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GASEOUS EXCHANGE</dc:title>
  <dc:creator>DENIS</dc:creator>
  <cp:lastModifiedBy>USER</cp:lastModifiedBy>
  <cp:revision>78</cp:revision>
  <dcterms:created xsi:type="dcterms:W3CDTF">2023-09-25T09:15:34Z</dcterms:created>
  <dcterms:modified xsi:type="dcterms:W3CDTF">2024-05-28T09:09:07Z</dcterms:modified>
</cp:coreProperties>
</file>