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71"/>
  </p:notesMasterIdLst>
  <p:sldIdLst>
    <p:sldId id="256" r:id="rId2"/>
    <p:sldId id="257" r:id="rId3"/>
    <p:sldId id="258" r:id="rId4"/>
    <p:sldId id="259" r:id="rId5"/>
    <p:sldId id="261" r:id="rId6"/>
    <p:sldId id="260" r:id="rId7"/>
    <p:sldId id="263" r:id="rId8"/>
    <p:sldId id="264" r:id="rId9"/>
    <p:sldId id="265" r:id="rId10"/>
    <p:sldId id="267" r:id="rId11"/>
    <p:sldId id="283" r:id="rId12"/>
    <p:sldId id="284" r:id="rId13"/>
    <p:sldId id="270" r:id="rId14"/>
    <p:sldId id="271" r:id="rId15"/>
    <p:sldId id="273" r:id="rId16"/>
    <p:sldId id="268" r:id="rId17"/>
    <p:sldId id="269" r:id="rId18"/>
    <p:sldId id="275" r:id="rId19"/>
    <p:sldId id="276" r:id="rId20"/>
    <p:sldId id="277" r:id="rId21"/>
    <p:sldId id="274" r:id="rId22"/>
    <p:sldId id="278" r:id="rId23"/>
    <p:sldId id="279" r:id="rId24"/>
    <p:sldId id="280" r:id="rId25"/>
    <p:sldId id="281" r:id="rId26"/>
    <p:sldId id="282" r:id="rId27"/>
    <p:sldId id="286" r:id="rId28"/>
    <p:sldId id="287" r:id="rId29"/>
    <p:sldId id="285" r:id="rId30"/>
    <p:sldId id="288" r:id="rId31"/>
    <p:sldId id="266" r:id="rId32"/>
    <p:sldId id="294" r:id="rId33"/>
    <p:sldId id="291" r:id="rId34"/>
    <p:sldId id="296" r:id="rId35"/>
    <p:sldId id="302" r:id="rId36"/>
    <p:sldId id="303" r:id="rId37"/>
    <p:sldId id="290" r:id="rId38"/>
    <p:sldId id="295" r:id="rId39"/>
    <p:sldId id="297" r:id="rId40"/>
    <p:sldId id="292" r:id="rId41"/>
    <p:sldId id="293" r:id="rId42"/>
    <p:sldId id="298" r:id="rId43"/>
    <p:sldId id="300" r:id="rId44"/>
    <p:sldId id="304" r:id="rId45"/>
    <p:sldId id="306" r:id="rId46"/>
    <p:sldId id="307" r:id="rId47"/>
    <p:sldId id="311" r:id="rId48"/>
    <p:sldId id="312" r:id="rId49"/>
    <p:sldId id="327" r:id="rId50"/>
    <p:sldId id="328" r:id="rId51"/>
    <p:sldId id="301" r:id="rId52"/>
    <p:sldId id="313" r:id="rId53"/>
    <p:sldId id="314" r:id="rId54"/>
    <p:sldId id="315" r:id="rId55"/>
    <p:sldId id="316" r:id="rId56"/>
    <p:sldId id="317" r:id="rId57"/>
    <p:sldId id="318" r:id="rId58"/>
    <p:sldId id="326" r:id="rId59"/>
    <p:sldId id="329" r:id="rId60"/>
    <p:sldId id="320" r:id="rId61"/>
    <p:sldId id="321" r:id="rId62"/>
    <p:sldId id="322" r:id="rId63"/>
    <p:sldId id="323" r:id="rId64"/>
    <p:sldId id="324" r:id="rId65"/>
    <p:sldId id="325" r:id="rId66"/>
    <p:sldId id="330" r:id="rId67"/>
    <p:sldId id="331" r:id="rId68"/>
    <p:sldId id="332" r:id="rId69"/>
    <p:sldId id="262"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slide" Target="slides/slide67.xml" /><Relationship Id="rId7" Type="http://schemas.openxmlformats.org/officeDocument/2006/relationships/slide" Target="slides/slide6.xml" /><Relationship Id="rId71"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61" Type="http://schemas.openxmlformats.org/officeDocument/2006/relationships/slide" Target="slides/slide60.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presProps" Target="presProps.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A10151-A724-4536-820B-097AF0F3866D}" type="datetimeFigureOut">
              <a:rPr lang="en-UG" smtClean="0"/>
              <a:t>02/12/2024</a:t>
            </a:fld>
            <a:endParaRPr lang="en-U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7471F2-2270-4827-B3FF-F74C71DC97C6}" type="slidenum">
              <a:rPr lang="en-UG" smtClean="0"/>
              <a:t>‹#›</a:t>
            </a:fld>
            <a:endParaRPr lang="en-UG"/>
          </a:p>
        </p:txBody>
      </p:sp>
    </p:spTree>
    <p:extLst>
      <p:ext uri="{BB962C8B-B14F-4D97-AF65-F5344CB8AC3E}">
        <p14:creationId xmlns:p14="http://schemas.microsoft.com/office/powerpoint/2010/main" val="383404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Gaseous exchange: Diffusion of respiratory gases across gas exchange surface. </a:t>
            </a:r>
          </a:p>
          <a:p>
            <a:r>
              <a:rPr lang="en-US" dirty="0"/>
              <a:t>Breathing: Active process of bringing respiratory medium (air) to the respiratory surface through muscular contractions and relaxations.</a:t>
            </a:r>
            <a:endParaRPr lang="en-UG" dirty="0"/>
          </a:p>
        </p:txBody>
      </p:sp>
      <p:sp>
        <p:nvSpPr>
          <p:cNvPr id="4" name="Slide Number Placeholder 3"/>
          <p:cNvSpPr>
            <a:spLocks noGrp="1"/>
          </p:cNvSpPr>
          <p:nvPr>
            <p:ph type="sldNum" sz="quarter" idx="5"/>
          </p:nvPr>
        </p:nvSpPr>
        <p:spPr/>
        <p:txBody>
          <a:bodyPr/>
          <a:lstStyle/>
          <a:p>
            <a:fld id="{DC7471F2-2270-4827-B3FF-F74C71DC97C6}" type="slidenum">
              <a:rPr lang="en-UG" smtClean="0"/>
              <a:t>3</a:t>
            </a:fld>
            <a:endParaRPr lang="en-UG"/>
          </a:p>
        </p:txBody>
      </p:sp>
    </p:spTree>
    <p:extLst>
      <p:ext uri="{BB962C8B-B14F-4D97-AF65-F5344CB8AC3E}">
        <p14:creationId xmlns:p14="http://schemas.microsoft.com/office/powerpoint/2010/main" val="2979144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Mechanical ventilation using respirators and mouth-to-mouth resuscitation</a:t>
            </a:r>
          </a:p>
          <a:p>
            <a:pPr marL="228600" indent="-228600">
              <a:buAutoNum type="arabicPeriod"/>
            </a:pPr>
            <a:r>
              <a:rPr lang="en-US" dirty="0"/>
              <a:t>Pesticides can be respiratory poisons.</a:t>
            </a:r>
          </a:p>
          <a:p>
            <a:pPr marL="228600" indent="-228600">
              <a:buAutoNum type="arabicPeriod"/>
            </a:pPr>
            <a:r>
              <a:rPr lang="en-US" dirty="0"/>
              <a:t>We breath faster/heavily during and after exercise, supplying more oxygen to body cells therefore food is broken down faster to release energy, hence feeling hungry.</a:t>
            </a:r>
            <a:endParaRPr lang="en-UG" dirty="0"/>
          </a:p>
        </p:txBody>
      </p:sp>
      <p:sp>
        <p:nvSpPr>
          <p:cNvPr id="4" name="Slide Number Placeholder 3"/>
          <p:cNvSpPr>
            <a:spLocks noGrp="1"/>
          </p:cNvSpPr>
          <p:nvPr>
            <p:ph type="sldNum" sz="quarter" idx="5"/>
          </p:nvPr>
        </p:nvSpPr>
        <p:spPr/>
        <p:txBody>
          <a:bodyPr/>
          <a:lstStyle/>
          <a:p>
            <a:fld id="{DC7471F2-2270-4827-B3FF-F74C71DC97C6}" type="slidenum">
              <a:rPr lang="en-UG" smtClean="0"/>
              <a:t>9</a:t>
            </a:fld>
            <a:endParaRPr lang="en-UG"/>
          </a:p>
        </p:txBody>
      </p:sp>
    </p:spTree>
    <p:extLst>
      <p:ext uri="{BB962C8B-B14F-4D97-AF65-F5344CB8AC3E}">
        <p14:creationId xmlns:p14="http://schemas.microsoft.com/office/powerpoint/2010/main" val="1651468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arenR"/>
            </a:pPr>
            <a:r>
              <a:rPr lang="en-US" dirty="0"/>
              <a:t>Measure temperature changes</a:t>
            </a:r>
          </a:p>
          <a:p>
            <a:pPr marL="228600" indent="-228600">
              <a:buAutoNum type="alphaLcParenR"/>
            </a:pPr>
            <a:r>
              <a:rPr lang="en-US" dirty="0"/>
              <a:t>Prevent heat loss/gain from the environment </a:t>
            </a:r>
          </a:p>
          <a:p>
            <a:pPr marL="228600" indent="-228600">
              <a:buAutoNum type="alphaLcParenR"/>
            </a:pPr>
            <a:r>
              <a:rPr lang="en-US" dirty="0"/>
              <a:t>Prevent decomposition of seeds due to bacterial/fungal activity.</a:t>
            </a:r>
          </a:p>
          <a:p>
            <a:pPr marL="228600" indent="-228600">
              <a:buAutoNum type="alphaLcParenR"/>
            </a:pPr>
            <a:r>
              <a:rPr lang="en-US" dirty="0"/>
              <a:t>Allow circulation of gases.</a:t>
            </a:r>
          </a:p>
          <a:p>
            <a:pPr marL="228600" indent="-228600">
              <a:buAutoNum type="alphaLcParenR"/>
            </a:pPr>
            <a:r>
              <a:rPr lang="en-US" dirty="0"/>
              <a:t>A control set is used for comparison and provide a basis for drawing conclusion.</a:t>
            </a:r>
            <a:endParaRPr lang="en-UG" dirty="0"/>
          </a:p>
        </p:txBody>
      </p:sp>
      <p:sp>
        <p:nvSpPr>
          <p:cNvPr id="4" name="Slide Number Placeholder 3"/>
          <p:cNvSpPr>
            <a:spLocks noGrp="1"/>
          </p:cNvSpPr>
          <p:nvPr>
            <p:ph type="sldNum" sz="quarter" idx="5"/>
          </p:nvPr>
        </p:nvSpPr>
        <p:spPr/>
        <p:txBody>
          <a:bodyPr/>
          <a:lstStyle/>
          <a:p>
            <a:fld id="{DC7471F2-2270-4827-B3FF-F74C71DC97C6}" type="slidenum">
              <a:rPr lang="en-UG" smtClean="0"/>
              <a:t>23</a:t>
            </a:fld>
            <a:endParaRPr lang="en-UG"/>
          </a:p>
        </p:txBody>
      </p:sp>
    </p:spTree>
    <p:extLst>
      <p:ext uri="{BB962C8B-B14F-4D97-AF65-F5344CB8AC3E}">
        <p14:creationId xmlns:p14="http://schemas.microsoft.com/office/powerpoint/2010/main" val="2646559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DC7471F2-2270-4827-B3FF-F74C71DC97C6}" type="slidenum">
              <a:rPr lang="en-UG" smtClean="0"/>
              <a:t>25</a:t>
            </a:fld>
            <a:endParaRPr lang="en-UG"/>
          </a:p>
        </p:txBody>
      </p:sp>
    </p:spTree>
    <p:extLst>
      <p:ext uri="{BB962C8B-B14F-4D97-AF65-F5344CB8AC3E}">
        <p14:creationId xmlns:p14="http://schemas.microsoft.com/office/powerpoint/2010/main" val="2309344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lgn="just">
              <a:buAutoNum type="arabicPeriod"/>
            </a:pPr>
            <a:r>
              <a:rPr lang="en-US" sz="1200" dirty="0"/>
              <a:t>To ensure that the only heat reaching the test tube is from the burning seed.</a:t>
            </a:r>
          </a:p>
          <a:p>
            <a:pPr marL="514350" indent="-514350" algn="just">
              <a:buAutoNum type="arabicPeriod"/>
            </a:pPr>
            <a:r>
              <a:rPr lang="en-US" sz="1200" dirty="0"/>
              <a:t>a) from heat provided by the Bunsen burner</a:t>
            </a:r>
          </a:p>
          <a:p>
            <a:pPr marL="0" indent="0" algn="just">
              <a:buNone/>
            </a:pPr>
            <a:r>
              <a:rPr lang="en-US" sz="1200" dirty="0"/>
              <a:t>b) From food stored in the seed</a:t>
            </a:r>
          </a:p>
          <a:p>
            <a:pPr marL="0" indent="0" algn="just">
              <a:buNone/>
            </a:pPr>
            <a:r>
              <a:rPr lang="en-US" sz="1200" dirty="0"/>
              <a:t>3. No. Heat energy is lost to the air and some absorbed by the glass of the test tube</a:t>
            </a:r>
          </a:p>
          <a:p>
            <a:pPr marL="0" indent="0" algn="just">
              <a:buNone/>
            </a:pPr>
            <a:r>
              <a:rPr lang="en-US" sz="1200" dirty="0"/>
              <a:t>4. Carry out the experiment in a vacuum chamber</a:t>
            </a:r>
          </a:p>
          <a:p>
            <a:pPr marL="0" indent="0" algn="just">
              <a:buNone/>
            </a:pPr>
            <a:r>
              <a:rPr lang="en-US" sz="1200" dirty="0"/>
              <a:t>Using a very thin glass tube</a:t>
            </a:r>
          </a:p>
          <a:p>
            <a:pPr marL="0" indent="0" algn="just">
              <a:buNone/>
            </a:pPr>
            <a:r>
              <a:rPr lang="en-US" sz="1200" dirty="0"/>
              <a:t>Use dry seed/food that can easily burn</a:t>
            </a:r>
          </a:p>
          <a:p>
            <a:endParaRPr lang="en-UG" dirty="0"/>
          </a:p>
        </p:txBody>
      </p:sp>
      <p:sp>
        <p:nvSpPr>
          <p:cNvPr id="4" name="Slide Number Placeholder 3"/>
          <p:cNvSpPr>
            <a:spLocks noGrp="1"/>
          </p:cNvSpPr>
          <p:nvPr>
            <p:ph type="sldNum" sz="quarter" idx="5"/>
          </p:nvPr>
        </p:nvSpPr>
        <p:spPr/>
        <p:txBody>
          <a:bodyPr/>
          <a:lstStyle/>
          <a:p>
            <a:fld id="{DC7471F2-2270-4827-B3FF-F74C71DC97C6}" type="slidenum">
              <a:rPr lang="en-UG" smtClean="0"/>
              <a:t>31</a:t>
            </a:fld>
            <a:endParaRPr lang="en-UG"/>
          </a:p>
        </p:txBody>
      </p:sp>
    </p:spTree>
    <p:extLst>
      <p:ext uri="{BB962C8B-B14F-4D97-AF65-F5344CB8AC3E}">
        <p14:creationId xmlns:p14="http://schemas.microsoft.com/office/powerpoint/2010/main" val="3916794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9F3AF2-2E80-47AC-B4BA-9650647CDDEB}" type="datetimeFigureOut">
              <a:rPr lang="en-UG" smtClean="0"/>
              <a:t>02/12/2024</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0777F52F-E9EE-46DA-98F6-ACCB2CD89828}" type="slidenum">
              <a:rPr lang="en-UG" smtClean="0"/>
              <a:t>‹#›</a:t>
            </a:fld>
            <a:endParaRPr lang="en-UG"/>
          </a:p>
        </p:txBody>
      </p:sp>
    </p:spTree>
    <p:extLst>
      <p:ext uri="{BB962C8B-B14F-4D97-AF65-F5344CB8AC3E}">
        <p14:creationId xmlns:p14="http://schemas.microsoft.com/office/powerpoint/2010/main" val="895343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9F3AF2-2E80-47AC-B4BA-9650647CDDEB}" type="datetimeFigureOut">
              <a:rPr lang="en-UG" smtClean="0"/>
              <a:t>02/12/2024</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0777F52F-E9EE-46DA-98F6-ACCB2CD89828}" type="slidenum">
              <a:rPr lang="en-UG" smtClean="0"/>
              <a:t>‹#›</a:t>
            </a:fld>
            <a:endParaRPr lang="en-UG"/>
          </a:p>
        </p:txBody>
      </p:sp>
    </p:spTree>
    <p:extLst>
      <p:ext uri="{BB962C8B-B14F-4D97-AF65-F5344CB8AC3E}">
        <p14:creationId xmlns:p14="http://schemas.microsoft.com/office/powerpoint/2010/main" val="2634174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9F3AF2-2E80-47AC-B4BA-9650647CDDEB}" type="datetimeFigureOut">
              <a:rPr lang="en-UG" smtClean="0"/>
              <a:t>02/12/2024</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0777F52F-E9EE-46DA-98F6-ACCB2CD89828}" type="slidenum">
              <a:rPr lang="en-UG" smtClean="0"/>
              <a:t>‹#›</a:t>
            </a:fld>
            <a:endParaRPr lang="en-UG"/>
          </a:p>
        </p:txBody>
      </p:sp>
    </p:spTree>
    <p:extLst>
      <p:ext uri="{BB962C8B-B14F-4D97-AF65-F5344CB8AC3E}">
        <p14:creationId xmlns:p14="http://schemas.microsoft.com/office/powerpoint/2010/main" val="3574540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9F3AF2-2E80-47AC-B4BA-9650647CDDEB}" type="datetimeFigureOut">
              <a:rPr lang="en-UG" smtClean="0"/>
              <a:t>02/12/2024</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0777F52F-E9EE-46DA-98F6-ACCB2CD89828}" type="slidenum">
              <a:rPr lang="en-UG" smtClean="0"/>
              <a:t>‹#›</a:t>
            </a:fld>
            <a:endParaRPr lang="en-UG"/>
          </a:p>
        </p:txBody>
      </p:sp>
    </p:spTree>
    <p:extLst>
      <p:ext uri="{BB962C8B-B14F-4D97-AF65-F5344CB8AC3E}">
        <p14:creationId xmlns:p14="http://schemas.microsoft.com/office/powerpoint/2010/main" val="2906037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9F3AF2-2E80-47AC-B4BA-9650647CDDEB}" type="datetimeFigureOut">
              <a:rPr lang="en-UG" smtClean="0"/>
              <a:t>02/12/2024</a:t>
            </a:fld>
            <a:endParaRPr lang="en-UG"/>
          </a:p>
        </p:txBody>
      </p:sp>
      <p:sp>
        <p:nvSpPr>
          <p:cNvPr id="8" name="Footer Placeholder 7"/>
          <p:cNvSpPr>
            <a:spLocks noGrp="1"/>
          </p:cNvSpPr>
          <p:nvPr>
            <p:ph type="ftr" sz="quarter" idx="11"/>
          </p:nvPr>
        </p:nvSpPr>
        <p:spPr/>
        <p:txBody>
          <a:bodyPr/>
          <a:lstStyle/>
          <a:p>
            <a:endParaRPr lang="en-UG"/>
          </a:p>
        </p:txBody>
      </p:sp>
      <p:sp>
        <p:nvSpPr>
          <p:cNvPr id="9" name="Slide Number Placeholder 8"/>
          <p:cNvSpPr>
            <a:spLocks noGrp="1"/>
          </p:cNvSpPr>
          <p:nvPr>
            <p:ph type="sldNum" sz="quarter" idx="12"/>
          </p:nvPr>
        </p:nvSpPr>
        <p:spPr/>
        <p:txBody>
          <a:bodyPr/>
          <a:lstStyle/>
          <a:p>
            <a:fld id="{0777F52F-E9EE-46DA-98F6-ACCB2CD89828}" type="slidenum">
              <a:rPr lang="en-UG" smtClean="0"/>
              <a:t>‹#›</a:t>
            </a:fld>
            <a:endParaRPr lang="en-UG"/>
          </a:p>
        </p:txBody>
      </p:sp>
    </p:spTree>
    <p:extLst>
      <p:ext uri="{BB962C8B-B14F-4D97-AF65-F5344CB8AC3E}">
        <p14:creationId xmlns:p14="http://schemas.microsoft.com/office/powerpoint/2010/main" val="4177875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9F3AF2-2E80-47AC-B4BA-9650647CDDEB}" type="datetimeFigureOut">
              <a:rPr lang="en-UG" smtClean="0"/>
              <a:t>02/12/2024</a:t>
            </a:fld>
            <a:endParaRPr lang="en-UG"/>
          </a:p>
        </p:txBody>
      </p:sp>
      <p:sp>
        <p:nvSpPr>
          <p:cNvPr id="4" name="Footer Placeholder 3"/>
          <p:cNvSpPr>
            <a:spLocks noGrp="1"/>
          </p:cNvSpPr>
          <p:nvPr>
            <p:ph type="ftr" sz="quarter" idx="11"/>
          </p:nvPr>
        </p:nvSpPr>
        <p:spPr/>
        <p:txBody>
          <a:bodyPr/>
          <a:lstStyle/>
          <a:p>
            <a:endParaRPr lang="en-UG"/>
          </a:p>
        </p:txBody>
      </p:sp>
      <p:sp>
        <p:nvSpPr>
          <p:cNvPr id="5" name="Slide Number Placeholder 4"/>
          <p:cNvSpPr>
            <a:spLocks noGrp="1"/>
          </p:cNvSpPr>
          <p:nvPr>
            <p:ph type="sldNum" sz="quarter" idx="12"/>
          </p:nvPr>
        </p:nvSpPr>
        <p:spPr/>
        <p:txBody>
          <a:bodyPr/>
          <a:lstStyle/>
          <a:p>
            <a:fld id="{0777F52F-E9EE-46DA-98F6-ACCB2CD89828}" type="slidenum">
              <a:rPr lang="en-UG" smtClean="0"/>
              <a:t>‹#›</a:t>
            </a:fld>
            <a:endParaRPr lang="en-UG"/>
          </a:p>
        </p:txBody>
      </p:sp>
    </p:spTree>
    <p:extLst>
      <p:ext uri="{BB962C8B-B14F-4D97-AF65-F5344CB8AC3E}">
        <p14:creationId xmlns:p14="http://schemas.microsoft.com/office/powerpoint/2010/main" val="514153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9F3AF2-2E80-47AC-B4BA-9650647CDDEB}" type="datetimeFigureOut">
              <a:rPr lang="en-UG" smtClean="0"/>
              <a:t>02/12/2024</a:t>
            </a:fld>
            <a:endParaRPr lang="en-UG"/>
          </a:p>
        </p:txBody>
      </p:sp>
      <p:sp>
        <p:nvSpPr>
          <p:cNvPr id="3" name="Footer Placeholder 2"/>
          <p:cNvSpPr>
            <a:spLocks noGrp="1"/>
          </p:cNvSpPr>
          <p:nvPr>
            <p:ph type="ftr" sz="quarter" idx="11"/>
          </p:nvPr>
        </p:nvSpPr>
        <p:spPr/>
        <p:txBody>
          <a:bodyPr/>
          <a:lstStyle/>
          <a:p>
            <a:endParaRPr lang="en-UG"/>
          </a:p>
        </p:txBody>
      </p:sp>
      <p:sp>
        <p:nvSpPr>
          <p:cNvPr id="4" name="Slide Number Placeholder 3"/>
          <p:cNvSpPr>
            <a:spLocks noGrp="1"/>
          </p:cNvSpPr>
          <p:nvPr>
            <p:ph type="sldNum" sz="quarter" idx="12"/>
          </p:nvPr>
        </p:nvSpPr>
        <p:spPr/>
        <p:txBody>
          <a:bodyPr/>
          <a:lstStyle/>
          <a:p>
            <a:fld id="{0777F52F-E9EE-46DA-98F6-ACCB2CD89828}" type="slidenum">
              <a:rPr lang="en-UG" smtClean="0"/>
              <a:t>‹#›</a:t>
            </a:fld>
            <a:endParaRPr lang="en-UG"/>
          </a:p>
        </p:txBody>
      </p:sp>
    </p:spTree>
    <p:extLst>
      <p:ext uri="{BB962C8B-B14F-4D97-AF65-F5344CB8AC3E}">
        <p14:creationId xmlns:p14="http://schemas.microsoft.com/office/powerpoint/2010/main" val="2503004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9F3AF2-2E80-47AC-B4BA-9650647CDDEB}" type="datetimeFigureOut">
              <a:rPr lang="en-UG" smtClean="0"/>
              <a:t>02/12/2024</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0777F52F-E9EE-46DA-98F6-ACCB2CD89828}" type="slidenum">
              <a:rPr lang="en-UG" smtClean="0"/>
              <a:t>‹#›</a:t>
            </a:fld>
            <a:endParaRPr lang="en-UG"/>
          </a:p>
        </p:txBody>
      </p:sp>
    </p:spTree>
    <p:extLst>
      <p:ext uri="{BB962C8B-B14F-4D97-AF65-F5344CB8AC3E}">
        <p14:creationId xmlns:p14="http://schemas.microsoft.com/office/powerpoint/2010/main" val="3408505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9F3AF2-2E80-47AC-B4BA-9650647CDDEB}" type="datetimeFigureOut">
              <a:rPr lang="en-UG" smtClean="0"/>
              <a:t>02/12/2024</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0777F52F-E9EE-46DA-98F6-ACCB2CD89828}" type="slidenum">
              <a:rPr lang="en-UG" smtClean="0"/>
              <a:t>‹#›</a:t>
            </a:fld>
            <a:endParaRPr lang="en-UG"/>
          </a:p>
        </p:txBody>
      </p:sp>
    </p:spTree>
    <p:extLst>
      <p:ext uri="{BB962C8B-B14F-4D97-AF65-F5344CB8AC3E}">
        <p14:creationId xmlns:p14="http://schemas.microsoft.com/office/powerpoint/2010/main" val="1353953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9F3AF2-2E80-47AC-B4BA-9650647CDDEB}" type="datetimeFigureOut">
              <a:rPr lang="en-UG" smtClean="0"/>
              <a:t>02/12/2024</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0777F52F-E9EE-46DA-98F6-ACCB2CD89828}" type="slidenum">
              <a:rPr lang="en-UG" smtClean="0"/>
              <a:t>‹#›</a:t>
            </a:fld>
            <a:endParaRPr lang="en-UG"/>
          </a:p>
        </p:txBody>
      </p:sp>
    </p:spTree>
    <p:extLst>
      <p:ext uri="{BB962C8B-B14F-4D97-AF65-F5344CB8AC3E}">
        <p14:creationId xmlns:p14="http://schemas.microsoft.com/office/powerpoint/2010/main" val="1679330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9F3AF2-2E80-47AC-B4BA-9650647CDDEB}" type="datetimeFigureOut">
              <a:rPr lang="en-UG" smtClean="0"/>
              <a:t>02/12/2024</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0777F52F-E9EE-46DA-98F6-ACCB2CD89828}" type="slidenum">
              <a:rPr lang="en-UG" smtClean="0"/>
              <a:t>‹#›</a:t>
            </a:fld>
            <a:endParaRPr lang="en-UG"/>
          </a:p>
        </p:txBody>
      </p:sp>
    </p:spTree>
    <p:extLst>
      <p:ext uri="{BB962C8B-B14F-4D97-AF65-F5344CB8AC3E}">
        <p14:creationId xmlns:p14="http://schemas.microsoft.com/office/powerpoint/2010/main" val="1374986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9F3AF2-2E80-47AC-B4BA-9650647CDDEB}" type="datetimeFigureOut">
              <a:rPr lang="en-UG" smtClean="0"/>
              <a:t>02/12/2024</a:t>
            </a:fld>
            <a:endParaRPr lang="en-U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77F52F-E9EE-46DA-98F6-ACCB2CD89828}" type="slidenum">
              <a:rPr lang="en-UG" smtClean="0"/>
              <a:t>‹#›</a:t>
            </a:fld>
            <a:endParaRPr lang="en-UG"/>
          </a:p>
        </p:txBody>
      </p:sp>
    </p:spTree>
    <p:extLst>
      <p:ext uri="{BB962C8B-B14F-4D97-AF65-F5344CB8AC3E}">
        <p14:creationId xmlns:p14="http://schemas.microsoft.com/office/powerpoint/2010/main" val="1047206600"/>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notesSlide" Target="../notesSlides/notesSlide3.xml" /><Relationship Id="rId1" Type="http://schemas.openxmlformats.org/officeDocument/2006/relationships/slideLayout" Target="../slideLayouts/slideLayout4.xml" /></Relationships>
</file>

<file path=ppt/slides/_rels/slide24.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2" Type="http://schemas.openxmlformats.org/officeDocument/2006/relationships/image" Target="../media/image21.png" /><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01560-D4E4-A85E-A654-09622700BD7F}"/>
              </a:ext>
            </a:extLst>
          </p:cNvPr>
          <p:cNvSpPr>
            <a:spLocks noGrp="1"/>
          </p:cNvSpPr>
          <p:nvPr>
            <p:ph type="ctrTitle"/>
          </p:nvPr>
        </p:nvSpPr>
        <p:spPr>
          <a:xfrm>
            <a:off x="119270" y="-185526"/>
            <a:ext cx="12072730" cy="978451"/>
          </a:xfrm>
        </p:spPr>
        <p:txBody>
          <a:bodyPr>
            <a:normAutofit fontScale="90000"/>
          </a:bodyPr>
          <a:lstStyle/>
          <a:p>
            <a:r>
              <a:rPr lang="en-US" b="1" u="sng" dirty="0"/>
              <a:t>CELLULAR/TISSUE/INTERNAL RESPIRATION</a:t>
            </a:r>
            <a:endParaRPr lang="en-UG" b="1" u="sng" dirty="0"/>
          </a:p>
        </p:txBody>
      </p:sp>
      <p:pic>
        <p:nvPicPr>
          <p:cNvPr id="1032" name="Picture 8" descr="Get Energized with Cellular Respiration! | Lesson Plan">
            <a:extLst>
              <a:ext uri="{FF2B5EF4-FFF2-40B4-BE49-F238E27FC236}">
                <a16:creationId xmlns:a16="http://schemas.microsoft.com/office/drawing/2014/main" id="{C1B3F500-F345-D638-65EF-F08598387B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0747" y="848138"/>
            <a:ext cx="9170505" cy="600986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Cellular respiration is an aerobic process vector de Stock | Adobe Stock">
            <a:extLst>
              <a:ext uri="{FF2B5EF4-FFF2-40B4-BE49-F238E27FC236}">
                <a16:creationId xmlns:a16="http://schemas.microsoft.com/office/drawing/2014/main" id="{4D6A90EE-CD69-1A62-B46B-B4FC8D8B6F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05" t="10048" r="2386" b="2319"/>
          <a:stretch/>
        </p:blipFill>
        <p:spPr bwMode="auto">
          <a:xfrm>
            <a:off x="0" y="662608"/>
            <a:ext cx="12192000" cy="6195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499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D56FD-1085-68A2-DB12-456F9CBF43F4}"/>
              </a:ext>
            </a:extLst>
          </p:cNvPr>
          <p:cNvSpPr>
            <a:spLocks noGrp="1"/>
          </p:cNvSpPr>
          <p:nvPr>
            <p:ph type="title"/>
          </p:nvPr>
        </p:nvSpPr>
        <p:spPr>
          <a:xfrm>
            <a:off x="838200" y="33823"/>
            <a:ext cx="10515600" cy="734805"/>
          </a:xfrm>
        </p:spPr>
        <p:txBody>
          <a:bodyPr/>
          <a:lstStyle/>
          <a:p>
            <a:pPr algn="ctr"/>
            <a:r>
              <a:rPr lang="en-US" b="1" u="sng" dirty="0">
                <a:effectLst>
                  <a:outerShdw blurRad="38100" dist="38100" dir="2700000" algn="tl">
                    <a:srgbClr val="000000">
                      <a:alpha val="43137"/>
                    </a:srgbClr>
                  </a:outerShdw>
                </a:effectLst>
              </a:rPr>
              <a:t>Outline for reading</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369E7220-9C99-AEB9-CA31-BE4E99B448BB}"/>
              </a:ext>
            </a:extLst>
          </p:cNvPr>
          <p:cNvSpPr>
            <a:spLocks noGrp="1"/>
          </p:cNvSpPr>
          <p:nvPr>
            <p:ph idx="1"/>
          </p:nvPr>
        </p:nvSpPr>
        <p:spPr>
          <a:xfrm>
            <a:off x="145774" y="830848"/>
            <a:ext cx="11900452" cy="5834995"/>
          </a:xfrm>
        </p:spPr>
        <p:txBody>
          <a:bodyPr>
            <a:noAutofit/>
          </a:bodyPr>
          <a:lstStyle/>
          <a:p>
            <a:pPr marL="514350" indent="-514350" algn="just">
              <a:buFont typeface="+mj-lt"/>
              <a:buAutoNum type="arabicPeriod"/>
            </a:pPr>
            <a:r>
              <a:rPr lang="en-US" sz="3200" dirty="0"/>
              <a:t>Importance of respiration</a:t>
            </a:r>
          </a:p>
          <a:p>
            <a:pPr marL="514350" indent="-514350" algn="just">
              <a:buFont typeface="+mj-lt"/>
              <a:buAutoNum type="arabicPeriod"/>
            </a:pPr>
            <a:r>
              <a:rPr lang="en-US" sz="3200" dirty="0"/>
              <a:t> The process and site of aerobic respiration</a:t>
            </a:r>
          </a:p>
          <a:p>
            <a:pPr marL="514350" indent="-514350" algn="just">
              <a:buFont typeface="+mj-lt"/>
              <a:buAutoNum type="arabicPeriod"/>
            </a:pPr>
            <a:r>
              <a:rPr lang="en-US" sz="3200" dirty="0"/>
              <a:t> The relationship between plants and animals in relation to aerobic respiration and photosynthesis</a:t>
            </a:r>
          </a:p>
          <a:p>
            <a:pPr marL="514350" indent="-514350" algn="just">
              <a:buFont typeface="+mj-lt"/>
              <a:buAutoNum type="arabicPeriod"/>
            </a:pPr>
            <a:r>
              <a:rPr lang="en-US" sz="3200" dirty="0"/>
              <a:t>Circumstances in which organisms including humans use anaerobic respiration </a:t>
            </a:r>
          </a:p>
          <a:p>
            <a:pPr marL="514350" indent="-514350" algn="just">
              <a:buFont typeface="+mj-lt"/>
              <a:buAutoNum type="arabicPeriod"/>
            </a:pPr>
            <a:r>
              <a:rPr lang="en-US" sz="3200" dirty="0"/>
              <a:t>Outline the process of anaerobic respiration </a:t>
            </a:r>
          </a:p>
          <a:p>
            <a:pPr marL="514350" indent="-514350" algn="just">
              <a:buFont typeface="+mj-lt"/>
              <a:buAutoNum type="arabicPeriod"/>
            </a:pPr>
            <a:r>
              <a:rPr lang="en-US" sz="3200" dirty="0"/>
              <a:t> Carry out investigations to find the products of anaerobic respiration in plants and animals</a:t>
            </a:r>
          </a:p>
          <a:p>
            <a:pPr marL="514350" indent="-514350" algn="just">
              <a:buFont typeface="+mj-lt"/>
              <a:buAutoNum type="arabicPeriod"/>
            </a:pPr>
            <a:r>
              <a:rPr lang="en-US" sz="3200" dirty="0"/>
              <a:t> Some applications of anaerobic respiration in everyday life</a:t>
            </a:r>
          </a:p>
          <a:p>
            <a:pPr marL="514350" indent="-514350" algn="just">
              <a:buFont typeface="+mj-lt"/>
              <a:buAutoNum type="arabicPeriod"/>
            </a:pPr>
            <a:r>
              <a:rPr lang="en-US" sz="3200" dirty="0"/>
              <a:t>Compare aerobic with anaerobic respiration </a:t>
            </a:r>
            <a:endParaRPr lang="en-UG" sz="3200" dirty="0"/>
          </a:p>
        </p:txBody>
      </p:sp>
    </p:spTree>
    <p:extLst>
      <p:ext uri="{BB962C8B-B14F-4D97-AF65-F5344CB8AC3E}">
        <p14:creationId xmlns:p14="http://schemas.microsoft.com/office/powerpoint/2010/main" val="3204926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E732A9-6BDF-7950-EF13-713C76DEC00E}"/>
              </a:ext>
            </a:extLst>
          </p:cNvPr>
          <p:cNvSpPr>
            <a:spLocks noGrp="1"/>
          </p:cNvSpPr>
          <p:nvPr>
            <p:ph idx="1"/>
          </p:nvPr>
        </p:nvSpPr>
        <p:spPr>
          <a:xfrm>
            <a:off x="331304" y="195610"/>
            <a:ext cx="11529391" cy="4351338"/>
          </a:xfrm>
        </p:spPr>
        <p:txBody>
          <a:bodyPr>
            <a:normAutofit/>
          </a:bodyPr>
          <a:lstStyle/>
          <a:p>
            <a:pPr marL="0" indent="0" algn="just">
              <a:buNone/>
            </a:pPr>
            <a:r>
              <a:rPr lang="en-US" sz="3600" b="1" u="sng" dirty="0">
                <a:effectLst>
                  <a:outerShdw blurRad="38100" dist="38100" dir="2700000" algn="tl">
                    <a:srgbClr val="000000">
                      <a:alpha val="43137"/>
                    </a:srgbClr>
                  </a:outerShdw>
                </a:effectLst>
              </a:rPr>
              <a:t>Definition:</a:t>
            </a:r>
          </a:p>
          <a:p>
            <a:pPr marL="0" indent="0" algn="just">
              <a:buNone/>
            </a:pPr>
            <a:r>
              <a:rPr lang="en-US" sz="3600" dirty="0"/>
              <a:t>It is the chemical breakdown of complex organic food substances/respiratory substrates inside living cells to release energy.</a:t>
            </a:r>
          </a:p>
          <a:p>
            <a:pPr marL="0" indent="0" algn="just">
              <a:buNone/>
            </a:pPr>
            <a:endParaRPr lang="en-UG" sz="3600" dirty="0"/>
          </a:p>
        </p:txBody>
      </p:sp>
      <p:pic>
        <p:nvPicPr>
          <p:cNvPr id="3076" name="Picture 4" descr="Thinking Emoji Images – Browse 10,862 Stock Photos, Vectors, and Video |  Adobe Stock">
            <a:extLst>
              <a:ext uri="{FF2B5EF4-FFF2-40B4-BE49-F238E27FC236}">
                <a16:creationId xmlns:a16="http://schemas.microsoft.com/office/drawing/2014/main" id="{78A0EB75-9F62-F284-C71F-3EA3AB94C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533970"/>
            <a:ext cx="4011739" cy="4324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D074F5F-ED0F-2D7C-8D82-FE7C89017BC5}"/>
              </a:ext>
            </a:extLst>
          </p:cNvPr>
          <p:cNvSpPr txBox="1"/>
          <p:nvPr/>
        </p:nvSpPr>
        <p:spPr>
          <a:xfrm>
            <a:off x="4161182" y="2716696"/>
            <a:ext cx="7848957" cy="2308324"/>
          </a:xfrm>
          <a:prstGeom prst="rect">
            <a:avLst/>
          </a:prstGeom>
          <a:noFill/>
        </p:spPr>
        <p:txBody>
          <a:bodyPr wrap="square" rtlCol="0">
            <a:spAutoFit/>
          </a:bodyPr>
          <a:lstStyle/>
          <a:p>
            <a:r>
              <a:rPr lang="en-US" sz="3600" b="1" i="1" dirty="0">
                <a:effectLst>
                  <a:outerShdw blurRad="38100" dist="38100" dir="2700000" algn="tl">
                    <a:srgbClr val="000000">
                      <a:alpha val="43137"/>
                    </a:srgbClr>
                  </a:outerShdw>
                </a:effectLst>
              </a:rPr>
              <a:t>Think about: How different is tissue respiration from:</a:t>
            </a:r>
          </a:p>
          <a:p>
            <a:pPr marL="571500" indent="-571500">
              <a:buFont typeface="Wingdings" panose="05000000000000000000" pitchFamily="2" charset="2"/>
              <a:buChar char="q"/>
            </a:pPr>
            <a:r>
              <a:rPr lang="en-US" sz="3600" b="1" i="1" dirty="0">
                <a:effectLst>
                  <a:outerShdw blurRad="38100" dist="38100" dir="2700000" algn="tl">
                    <a:srgbClr val="000000">
                      <a:alpha val="43137"/>
                    </a:srgbClr>
                  </a:outerShdw>
                </a:effectLst>
              </a:rPr>
              <a:t>Gaseous exchange?</a:t>
            </a:r>
          </a:p>
          <a:p>
            <a:pPr marL="571500" indent="-571500">
              <a:buFont typeface="Wingdings" panose="05000000000000000000" pitchFamily="2" charset="2"/>
              <a:buChar char="q"/>
            </a:pPr>
            <a:r>
              <a:rPr lang="en-US" sz="3600" b="1" i="1" dirty="0">
                <a:effectLst>
                  <a:outerShdw blurRad="38100" dist="38100" dir="2700000" algn="tl">
                    <a:srgbClr val="000000">
                      <a:alpha val="43137"/>
                    </a:srgbClr>
                  </a:outerShdw>
                </a:effectLst>
              </a:rPr>
              <a:t>Breathing? </a:t>
            </a:r>
            <a:endParaRPr lang="en-UG" sz="3600" b="1"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17703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466370-5C29-BBE9-1FE7-E9AB6CDD2044}"/>
              </a:ext>
            </a:extLst>
          </p:cNvPr>
          <p:cNvSpPr>
            <a:spLocks noGrp="1"/>
          </p:cNvSpPr>
          <p:nvPr>
            <p:ph idx="1"/>
          </p:nvPr>
        </p:nvSpPr>
        <p:spPr>
          <a:xfrm>
            <a:off x="295422" y="995284"/>
            <a:ext cx="11521440" cy="4955346"/>
          </a:xfrm>
        </p:spPr>
        <p:txBody>
          <a:bodyPr>
            <a:noAutofit/>
          </a:bodyPr>
          <a:lstStyle/>
          <a:p>
            <a:pPr algn="just"/>
            <a:r>
              <a:rPr lang="en-US" sz="3600" dirty="0"/>
              <a:t>It is a process controlled by enzymes.</a:t>
            </a:r>
          </a:p>
          <a:p>
            <a:pPr algn="just"/>
            <a:r>
              <a:rPr lang="en-US" sz="3600" dirty="0"/>
              <a:t>Energy released is temporarily stored in form of a chemical compound known as Adenosine Triphosphate (ATP).</a:t>
            </a:r>
          </a:p>
          <a:p>
            <a:pPr algn="just"/>
            <a:r>
              <a:rPr lang="en-US" sz="3600" dirty="0"/>
              <a:t>Heat energy is also produced.</a:t>
            </a:r>
          </a:p>
          <a:p>
            <a:pPr algn="just"/>
            <a:r>
              <a:rPr lang="en-US" sz="3600" dirty="0"/>
              <a:t>Respiratory substrates are organic substances which are broken down inside living cells to release energy.</a:t>
            </a:r>
          </a:p>
          <a:p>
            <a:pPr algn="just"/>
            <a:r>
              <a:rPr lang="en-US" sz="3600" dirty="0"/>
              <a:t>Glucose is the main respiratory substrate. </a:t>
            </a:r>
          </a:p>
          <a:p>
            <a:pPr algn="just"/>
            <a:r>
              <a:rPr lang="en-US" sz="3600" dirty="0"/>
              <a:t>Others respiratory substrates are lipids and proteins.</a:t>
            </a:r>
          </a:p>
        </p:txBody>
      </p:sp>
    </p:spTree>
    <p:extLst>
      <p:ext uri="{BB962C8B-B14F-4D97-AF65-F5344CB8AC3E}">
        <p14:creationId xmlns:p14="http://schemas.microsoft.com/office/powerpoint/2010/main" val="4067759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BEB7F-7636-BF6C-F111-74747FC068E8}"/>
              </a:ext>
            </a:extLst>
          </p:cNvPr>
          <p:cNvSpPr>
            <a:spLocks noGrp="1"/>
          </p:cNvSpPr>
          <p:nvPr>
            <p:ph type="title"/>
          </p:nvPr>
        </p:nvSpPr>
        <p:spPr/>
        <p:txBody>
          <a:bodyPr/>
          <a:lstStyle/>
          <a:p>
            <a:r>
              <a:rPr lang="en-US" b="1" u="sng" dirty="0">
                <a:effectLst>
                  <a:outerShdw blurRad="38100" dist="38100" dir="2700000" algn="tl">
                    <a:srgbClr val="000000">
                      <a:alpha val="43137"/>
                    </a:srgbClr>
                  </a:outerShdw>
                </a:effectLst>
              </a:rPr>
              <a:t>Types of respiration</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A292DD36-26B6-E164-9761-7C2934FA9C37}"/>
              </a:ext>
            </a:extLst>
          </p:cNvPr>
          <p:cNvSpPr>
            <a:spLocks noGrp="1"/>
          </p:cNvSpPr>
          <p:nvPr>
            <p:ph idx="1"/>
          </p:nvPr>
        </p:nvSpPr>
        <p:spPr/>
        <p:txBody>
          <a:bodyPr/>
          <a:lstStyle/>
          <a:p>
            <a:pPr marL="571500" indent="-571500" algn="just">
              <a:buFont typeface="+mj-lt"/>
              <a:buAutoNum type="romanLcPeriod"/>
            </a:pPr>
            <a:r>
              <a:rPr lang="en-US" sz="3600" dirty="0"/>
              <a:t>Aerobic respiration: takes place in presence of oxygen</a:t>
            </a:r>
          </a:p>
          <a:p>
            <a:pPr marL="571500" indent="-571500" algn="just">
              <a:buFont typeface="+mj-lt"/>
              <a:buAutoNum type="romanLcPeriod"/>
            </a:pPr>
            <a:r>
              <a:rPr lang="en-US" sz="3600" dirty="0"/>
              <a:t>Anaerobic respiration: takes place in absence of oxygen </a:t>
            </a:r>
          </a:p>
          <a:p>
            <a:endParaRPr lang="en-UG" dirty="0"/>
          </a:p>
        </p:txBody>
      </p:sp>
    </p:spTree>
    <p:extLst>
      <p:ext uri="{BB962C8B-B14F-4D97-AF65-F5344CB8AC3E}">
        <p14:creationId xmlns:p14="http://schemas.microsoft.com/office/powerpoint/2010/main" val="3624201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61280-18D1-79AE-671D-6F0919A10FB0}"/>
              </a:ext>
            </a:extLst>
          </p:cNvPr>
          <p:cNvSpPr>
            <a:spLocks noGrp="1"/>
          </p:cNvSpPr>
          <p:nvPr>
            <p:ph type="title"/>
          </p:nvPr>
        </p:nvSpPr>
        <p:spPr>
          <a:xfrm>
            <a:off x="838200" y="0"/>
            <a:ext cx="10515600" cy="1350497"/>
          </a:xfrm>
        </p:spPr>
        <p:txBody>
          <a:bodyPr>
            <a:normAutofit/>
          </a:bodyPr>
          <a:lstStyle/>
          <a:p>
            <a:r>
              <a:rPr lang="en-US" b="1" u="sng" dirty="0">
                <a:effectLst>
                  <a:outerShdw blurRad="38100" dist="38100" dir="2700000" algn="tl">
                    <a:srgbClr val="000000">
                      <a:alpha val="43137"/>
                    </a:srgbClr>
                  </a:outerShdw>
                </a:effectLst>
              </a:rPr>
              <a:t>Importance of tissue respiration</a:t>
            </a:r>
            <a:br>
              <a:rPr lang="en-US" b="1" u="sng" dirty="0">
                <a:effectLst>
                  <a:outerShdw blurRad="38100" dist="38100" dir="2700000" algn="tl">
                    <a:srgbClr val="000000">
                      <a:alpha val="43137"/>
                    </a:srgbClr>
                  </a:outerShdw>
                </a:effectLst>
              </a:rPr>
            </a:b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A1C04C27-30BF-B476-11DB-3501737D9AD0}"/>
              </a:ext>
            </a:extLst>
          </p:cNvPr>
          <p:cNvSpPr>
            <a:spLocks noGrp="1"/>
          </p:cNvSpPr>
          <p:nvPr>
            <p:ph idx="1"/>
          </p:nvPr>
        </p:nvSpPr>
        <p:spPr>
          <a:xfrm>
            <a:off x="182881" y="717452"/>
            <a:ext cx="11859064" cy="6020973"/>
          </a:xfrm>
        </p:spPr>
        <p:txBody>
          <a:bodyPr>
            <a:noAutofit/>
          </a:bodyPr>
          <a:lstStyle/>
          <a:p>
            <a:pPr algn="just"/>
            <a:r>
              <a:rPr lang="en-US" sz="3600" dirty="0"/>
              <a:t>It produces energy in cells used for;</a:t>
            </a:r>
          </a:p>
          <a:p>
            <a:pPr algn="just">
              <a:buFont typeface="Wingdings" panose="05000000000000000000" pitchFamily="2" charset="2"/>
              <a:buChar char="ü"/>
            </a:pPr>
            <a:r>
              <a:rPr lang="en-US" sz="3600" dirty="0"/>
              <a:t>Active uptake of mineral salts from the soil and active transport of substances across membranes.</a:t>
            </a:r>
          </a:p>
          <a:p>
            <a:pPr algn="just">
              <a:buFont typeface="Wingdings" panose="05000000000000000000" pitchFamily="2" charset="2"/>
              <a:buChar char="ü"/>
            </a:pPr>
            <a:r>
              <a:rPr lang="en-US" sz="3600" dirty="0"/>
              <a:t>Muscular contraction for movement and locomotion.</a:t>
            </a:r>
          </a:p>
          <a:p>
            <a:pPr algn="just">
              <a:buFont typeface="Wingdings" panose="05000000000000000000" pitchFamily="2" charset="2"/>
              <a:buChar char="ü"/>
            </a:pPr>
            <a:r>
              <a:rPr lang="en-US" sz="3600" dirty="0"/>
              <a:t>Cell division (formation of new cells) to cause growth.</a:t>
            </a:r>
          </a:p>
          <a:p>
            <a:pPr algn="just">
              <a:buFont typeface="Wingdings" panose="05000000000000000000" pitchFamily="2" charset="2"/>
              <a:buChar char="ü"/>
            </a:pPr>
            <a:r>
              <a:rPr lang="en-US" sz="3600" dirty="0"/>
              <a:t>Regulation of body temperature by production of heat.</a:t>
            </a:r>
          </a:p>
          <a:p>
            <a:pPr algn="just">
              <a:buFont typeface="Wingdings" panose="05000000000000000000" pitchFamily="2" charset="2"/>
              <a:buChar char="ü"/>
            </a:pPr>
            <a:r>
              <a:rPr lang="en-US" sz="3600" dirty="0"/>
              <a:t>Transmission of nerve impulses in response to stimuli.</a:t>
            </a:r>
          </a:p>
          <a:p>
            <a:pPr algn="just">
              <a:buFont typeface="Wingdings" panose="05000000000000000000" pitchFamily="2" charset="2"/>
              <a:buChar char="ü"/>
            </a:pPr>
            <a:r>
              <a:rPr lang="en-US" sz="3600" dirty="0"/>
              <a:t>Repair of worn out tissues.</a:t>
            </a:r>
          </a:p>
          <a:p>
            <a:pPr algn="just">
              <a:buFont typeface="Wingdings" panose="05000000000000000000" pitchFamily="2" charset="2"/>
              <a:buChar char="ü"/>
            </a:pPr>
            <a:r>
              <a:rPr lang="en-US" sz="3600" dirty="0"/>
              <a:t>Synthesis of proteins.</a:t>
            </a:r>
          </a:p>
          <a:p>
            <a:pPr algn="just">
              <a:buFont typeface="Wingdings" panose="05000000000000000000" pitchFamily="2" charset="2"/>
              <a:buChar char="ü"/>
            </a:pPr>
            <a:r>
              <a:rPr lang="en-US" sz="3600" dirty="0"/>
              <a:t>Synthesis of nucleic acids. (e.g. DNA &amp; RNA), etc.</a:t>
            </a:r>
          </a:p>
          <a:p>
            <a:pPr algn="just">
              <a:buFont typeface="Wingdings" panose="05000000000000000000" pitchFamily="2" charset="2"/>
              <a:buChar char="ü"/>
            </a:pPr>
            <a:endParaRPr lang="en-UG" sz="3600" dirty="0"/>
          </a:p>
        </p:txBody>
      </p:sp>
    </p:spTree>
    <p:extLst>
      <p:ext uri="{BB962C8B-B14F-4D97-AF65-F5344CB8AC3E}">
        <p14:creationId xmlns:p14="http://schemas.microsoft.com/office/powerpoint/2010/main" val="1453680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4C3AD-CD45-15C6-BD46-6BA22A9B0081}"/>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Respiration failure</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01CCA0DC-DA53-A32A-8F9F-48C8FBE0091C}"/>
              </a:ext>
            </a:extLst>
          </p:cNvPr>
          <p:cNvSpPr>
            <a:spLocks noGrp="1"/>
          </p:cNvSpPr>
          <p:nvPr>
            <p:ph idx="1"/>
          </p:nvPr>
        </p:nvSpPr>
        <p:spPr>
          <a:xfrm>
            <a:off x="295423" y="1825625"/>
            <a:ext cx="11465168" cy="4351338"/>
          </a:xfrm>
        </p:spPr>
        <p:txBody>
          <a:bodyPr>
            <a:normAutofit/>
          </a:bodyPr>
          <a:lstStyle/>
          <a:p>
            <a:pPr algn="just"/>
            <a:r>
              <a:rPr lang="en-US" sz="3600" dirty="0"/>
              <a:t>Lung diseases (e.g. COPD), drowning, chocking, electric shock, damage to the tissues and ribs around the lungs etc. impair gas exchange.</a:t>
            </a:r>
          </a:p>
          <a:p>
            <a:pPr algn="just"/>
            <a:r>
              <a:rPr lang="en-US" sz="3600" dirty="0"/>
              <a:t> Respiratory poisons  (e.g. cyanide) prevent respiratory enzymes from working.</a:t>
            </a:r>
            <a:endParaRPr lang="en-UG" sz="3600" dirty="0"/>
          </a:p>
        </p:txBody>
      </p:sp>
    </p:spTree>
    <p:extLst>
      <p:ext uri="{BB962C8B-B14F-4D97-AF65-F5344CB8AC3E}">
        <p14:creationId xmlns:p14="http://schemas.microsoft.com/office/powerpoint/2010/main" val="1808094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C7B76-2C03-8BDF-BFB0-90ABAB944300}"/>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Effects of respiration failure</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DBC30F7D-C525-5143-D0CD-5DB305B7E6E0}"/>
              </a:ext>
            </a:extLst>
          </p:cNvPr>
          <p:cNvSpPr>
            <a:spLocks noGrp="1"/>
          </p:cNvSpPr>
          <p:nvPr>
            <p:ph idx="1"/>
          </p:nvPr>
        </p:nvSpPr>
        <p:spPr>
          <a:xfrm>
            <a:off x="838200" y="1392702"/>
            <a:ext cx="10515600" cy="4784261"/>
          </a:xfrm>
        </p:spPr>
        <p:txBody>
          <a:bodyPr>
            <a:normAutofit lnSpcReduction="10000"/>
          </a:bodyPr>
          <a:lstStyle/>
          <a:p>
            <a:r>
              <a:rPr lang="en-US" sz="3600" dirty="0"/>
              <a:t>Shortness of breath</a:t>
            </a:r>
          </a:p>
          <a:p>
            <a:r>
              <a:rPr lang="en-US" sz="3600" dirty="0"/>
              <a:t>Fatigue</a:t>
            </a:r>
          </a:p>
          <a:p>
            <a:r>
              <a:rPr lang="en-US" sz="3600" dirty="0"/>
              <a:t>Rapid breathing</a:t>
            </a:r>
          </a:p>
          <a:p>
            <a:r>
              <a:rPr lang="en-US" sz="3600" dirty="0"/>
              <a:t>Increased heart rate</a:t>
            </a:r>
          </a:p>
          <a:p>
            <a:r>
              <a:rPr lang="en-US" sz="3600" dirty="0"/>
              <a:t>Headache</a:t>
            </a:r>
          </a:p>
          <a:p>
            <a:r>
              <a:rPr lang="en-US" sz="3600" dirty="0"/>
              <a:t>Unconsciousness/Fainting </a:t>
            </a:r>
          </a:p>
          <a:p>
            <a:r>
              <a:rPr lang="en-US" sz="3600" dirty="0"/>
              <a:t>Heart failure</a:t>
            </a:r>
          </a:p>
          <a:p>
            <a:r>
              <a:rPr lang="en-US" sz="3600" dirty="0"/>
              <a:t>Death at the extreme</a:t>
            </a:r>
            <a:endParaRPr lang="en-UG" sz="3600" dirty="0"/>
          </a:p>
        </p:txBody>
      </p:sp>
    </p:spTree>
    <p:extLst>
      <p:ext uri="{BB962C8B-B14F-4D97-AF65-F5344CB8AC3E}">
        <p14:creationId xmlns:p14="http://schemas.microsoft.com/office/powerpoint/2010/main" val="2611093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A9E9DF-344C-51B2-68AE-0DFFEB55F9FE}"/>
              </a:ext>
            </a:extLst>
          </p:cNvPr>
          <p:cNvSpPr>
            <a:spLocks noGrp="1"/>
          </p:cNvSpPr>
          <p:nvPr>
            <p:ph idx="1"/>
          </p:nvPr>
        </p:nvSpPr>
        <p:spPr>
          <a:xfrm>
            <a:off x="6096001" y="675249"/>
            <a:ext cx="5847470" cy="5852160"/>
          </a:xfrm>
        </p:spPr>
        <p:txBody>
          <a:bodyPr>
            <a:normAutofit/>
          </a:bodyPr>
          <a:lstStyle/>
          <a:p>
            <a:pPr marL="742950" indent="-742950" algn="just">
              <a:buAutoNum type="arabicPeriod"/>
            </a:pPr>
            <a:r>
              <a:rPr lang="en-US" sz="3600" dirty="0"/>
              <a:t>How can you help a friend who has drowned in water and has failed to breathe?</a:t>
            </a:r>
          </a:p>
          <a:p>
            <a:pPr marL="742950" indent="-742950" algn="just">
              <a:buAutoNum type="arabicPeriod"/>
            </a:pPr>
            <a:r>
              <a:rPr lang="en-US" sz="3600" dirty="0"/>
              <a:t>Why should you ensure that most pesticides are kept out of rich of children?</a:t>
            </a:r>
          </a:p>
          <a:p>
            <a:pPr marL="742950" indent="-742950" algn="just">
              <a:buAutoNum type="arabicPeriod"/>
            </a:pPr>
            <a:r>
              <a:rPr lang="en-US" sz="3600" dirty="0"/>
              <a:t>After a hard physical activity, we feel hungry. Explain why?</a:t>
            </a:r>
            <a:endParaRPr lang="en-UG" sz="3600" dirty="0"/>
          </a:p>
        </p:txBody>
      </p:sp>
      <p:pic>
        <p:nvPicPr>
          <p:cNvPr id="5122" name="Picture 2" descr="The Definition of a Problem - a Critical Step | Indra Process and  Performance Consulting">
            <a:extLst>
              <a:ext uri="{FF2B5EF4-FFF2-40B4-BE49-F238E27FC236}">
                <a16:creationId xmlns:a16="http://schemas.microsoft.com/office/drawing/2014/main" id="{1DBC4798-8BD7-DA24-6861-5A0F5BB68B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42" t="8409" r="12595" b="12821"/>
          <a:stretch/>
        </p:blipFill>
        <p:spPr bwMode="auto">
          <a:xfrm>
            <a:off x="1" y="0"/>
            <a:ext cx="6095999" cy="6963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3370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88AD4-12DA-3C98-E3A0-90D8EF20AC73}"/>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AEROBIC RESPIRATION</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AA189B42-9574-184D-3A86-5EE3417F86DC}"/>
              </a:ext>
            </a:extLst>
          </p:cNvPr>
          <p:cNvSpPr>
            <a:spLocks noGrp="1"/>
          </p:cNvSpPr>
          <p:nvPr>
            <p:ph idx="1"/>
          </p:nvPr>
        </p:nvSpPr>
        <p:spPr/>
        <p:txBody>
          <a:bodyPr>
            <a:normAutofit lnSpcReduction="10000"/>
          </a:bodyPr>
          <a:lstStyle/>
          <a:p>
            <a:pPr algn="just"/>
            <a:r>
              <a:rPr lang="en-US" sz="3600" dirty="0"/>
              <a:t>It is the chemical breakdown of glucose in the presence of oxygen to release energy</a:t>
            </a:r>
          </a:p>
          <a:p>
            <a:pPr algn="just"/>
            <a:r>
              <a:rPr lang="en-US" sz="3600" dirty="0"/>
              <a:t>It takes place both in</a:t>
            </a:r>
            <a:r>
              <a:rPr lang="en-US" sz="3600" b="1" u="sng" dirty="0"/>
              <a:t> cytoplasm </a:t>
            </a:r>
            <a:r>
              <a:rPr lang="en-US" sz="3600" dirty="0"/>
              <a:t>and </a:t>
            </a:r>
            <a:r>
              <a:rPr lang="en-US" sz="3600" b="1" u="sng" dirty="0"/>
              <a:t>mitochondria </a:t>
            </a:r>
            <a:r>
              <a:rPr lang="en-US" sz="3600" dirty="0"/>
              <a:t>of the cell.</a:t>
            </a:r>
          </a:p>
          <a:p>
            <a:pPr algn="just"/>
            <a:r>
              <a:rPr lang="en-US" sz="3600" dirty="0"/>
              <a:t>The organisms that respire aerobically are called </a:t>
            </a:r>
            <a:r>
              <a:rPr lang="en-US" sz="3600" b="1" u="sng" dirty="0"/>
              <a:t>aerobes</a:t>
            </a:r>
          </a:p>
          <a:p>
            <a:pPr algn="just"/>
            <a:r>
              <a:rPr lang="en-US" sz="3600" dirty="0"/>
              <a:t>It takes place through a series of enzyme controlled reactions.</a:t>
            </a:r>
          </a:p>
          <a:p>
            <a:pPr algn="just"/>
            <a:endParaRPr lang="en-UG" sz="3600" dirty="0"/>
          </a:p>
        </p:txBody>
      </p:sp>
    </p:spTree>
    <p:extLst>
      <p:ext uri="{BB962C8B-B14F-4D97-AF65-F5344CB8AC3E}">
        <p14:creationId xmlns:p14="http://schemas.microsoft.com/office/powerpoint/2010/main" val="1188140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68E39-6148-E3D5-E01A-9FAB3F232A5A}"/>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4CB89112-7B6D-A2FF-46C1-F0EE24F7B209}"/>
              </a:ext>
            </a:extLst>
          </p:cNvPr>
          <p:cNvSpPr>
            <a:spLocks noGrp="1"/>
          </p:cNvSpPr>
          <p:nvPr>
            <p:ph idx="1"/>
          </p:nvPr>
        </p:nvSpPr>
        <p:spPr/>
        <p:txBody>
          <a:bodyPr/>
          <a:lstStyle/>
          <a:p>
            <a:r>
              <a:rPr lang="en-US" dirty="0"/>
              <a:t>✓ During glycolysis, which occurs in the cytoplasm of the cell, cells break glucose down into pyruvate, a three-carbon compound. After glycolysis, pyruvate is broken down into a two-carbon molecule called acetyl-</a:t>
            </a:r>
            <a:r>
              <a:rPr lang="en-US" dirty="0" err="1"/>
              <a:t>coA</a:t>
            </a:r>
            <a:r>
              <a:rPr lang="en-US" dirty="0"/>
              <a:t>. </a:t>
            </a:r>
          </a:p>
          <a:p>
            <a:r>
              <a:rPr lang="en-US" dirty="0"/>
              <a:t>✓ After pyruvate is converted to acetyl-</a:t>
            </a:r>
            <a:r>
              <a:rPr lang="en-US" dirty="0" err="1"/>
              <a:t>coA</a:t>
            </a:r>
            <a:r>
              <a:rPr lang="en-US" dirty="0"/>
              <a:t>, cells use the Krebs cycle (which occurs in the matrix of the mitochondrion) to break down </a:t>
            </a:r>
            <a:r>
              <a:rPr lang="en-US" dirty="0" err="1"/>
              <a:t>acetylcoA</a:t>
            </a:r>
            <a:r>
              <a:rPr lang="en-US" dirty="0"/>
              <a:t> into carbon dioxide. </a:t>
            </a:r>
          </a:p>
          <a:p>
            <a:r>
              <a:rPr lang="en-US" dirty="0"/>
              <a:t>✓ During oxidative phosphorylation, which occurs in the inner membrane or cristae of the mitochondrion), cells transfer energy from the breakdown of food to</a:t>
            </a:r>
            <a:endParaRPr lang="en-UG" dirty="0"/>
          </a:p>
        </p:txBody>
      </p:sp>
    </p:spTree>
    <p:extLst>
      <p:ext uri="{BB962C8B-B14F-4D97-AF65-F5344CB8AC3E}">
        <p14:creationId xmlns:p14="http://schemas.microsoft.com/office/powerpoint/2010/main" val="4011437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816E1-B18E-189F-9976-C0AB3379F777}"/>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FE768999-AE04-7BB4-3ABB-0DA76966F5CF}"/>
              </a:ext>
            </a:extLst>
          </p:cNvPr>
          <p:cNvSpPr>
            <a:spLocks noGrp="1"/>
          </p:cNvSpPr>
          <p:nvPr>
            <p:ph idx="1"/>
          </p:nvPr>
        </p:nvSpPr>
        <p:spPr/>
        <p:txBody>
          <a:bodyPr/>
          <a:lstStyle/>
          <a:p>
            <a:endParaRPr lang="en-UG"/>
          </a:p>
        </p:txBody>
      </p:sp>
      <p:pic>
        <p:nvPicPr>
          <p:cNvPr id="5" name="Picture 4">
            <a:extLst>
              <a:ext uri="{FF2B5EF4-FFF2-40B4-BE49-F238E27FC236}">
                <a16:creationId xmlns:a16="http://schemas.microsoft.com/office/drawing/2014/main" id="{781DD7C0-9406-AE6D-3681-E67C89307DC1}"/>
              </a:ext>
            </a:extLst>
          </p:cNvPr>
          <p:cNvPicPr>
            <a:picLocks noChangeAspect="1"/>
          </p:cNvPicPr>
          <p:nvPr/>
        </p:nvPicPr>
        <p:blipFill>
          <a:blip r:embed="rId2"/>
          <a:stretch>
            <a:fillRect/>
          </a:stretch>
        </p:blipFill>
        <p:spPr>
          <a:xfrm>
            <a:off x="746238" y="520505"/>
            <a:ext cx="10607561" cy="5766993"/>
          </a:xfrm>
          <a:prstGeom prst="rect">
            <a:avLst/>
          </a:prstGeom>
        </p:spPr>
      </p:pic>
    </p:spTree>
    <p:extLst>
      <p:ext uri="{BB962C8B-B14F-4D97-AF65-F5344CB8AC3E}">
        <p14:creationId xmlns:p14="http://schemas.microsoft.com/office/powerpoint/2010/main" val="603456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021A2-3F6C-57C9-DC03-AE67E8AFC999}"/>
              </a:ext>
            </a:extLst>
          </p:cNvPr>
          <p:cNvSpPr>
            <a:spLocks noGrp="1"/>
          </p:cNvSpPr>
          <p:nvPr>
            <p:ph type="title"/>
          </p:nvPr>
        </p:nvSpPr>
        <p:spPr>
          <a:xfrm>
            <a:off x="838200" y="55632"/>
            <a:ext cx="10515600" cy="709808"/>
          </a:xfrm>
        </p:spPr>
        <p:txBody>
          <a:bodyPr/>
          <a:lstStyle/>
          <a:p>
            <a:pPr algn="ctr"/>
            <a:r>
              <a:rPr lang="en-US" u="sng" dirty="0">
                <a:effectLst>
                  <a:outerShdw blurRad="38100" dist="38100" dir="2700000" algn="tl">
                    <a:srgbClr val="000000">
                      <a:alpha val="43137"/>
                    </a:srgbClr>
                  </a:outerShdw>
                </a:effectLst>
              </a:rPr>
              <a:t>The process of aerobic respiration</a:t>
            </a:r>
            <a:endParaRPr lang="en-UG"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41D82589-6D1B-6887-8AC4-EA0FB5288750}"/>
              </a:ext>
            </a:extLst>
          </p:cNvPr>
          <p:cNvSpPr>
            <a:spLocks noGrp="1"/>
          </p:cNvSpPr>
          <p:nvPr>
            <p:ph idx="1"/>
          </p:nvPr>
        </p:nvSpPr>
        <p:spPr>
          <a:xfrm>
            <a:off x="140677" y="695103"/>
            <a:ext cx="11901268" cy="5956419"/>
          </a:xfrm>
        </p:spPr>
        <p:txBody>
          <a:bodyPr>
            <a:noAutofit/>
          </a:bodyPr>
          <a:lstStyle/>
          <a:p>
            <a:pPr marL="0" indent="0">
              <a:buNone/>
            </a:pPr>
            <a:r>
              <a:rPr lang="en-US" sz="3600" dirty="0"/>
              <a:t>It is a complex process summarized as below:</a:t>
            </a:r>
          </a:p>
          <a:p>
            <a:pPr marL="0" indent="0">
              <a:buNone/>
            </a:pPr>
            <a:r>
              <a:rPr lang="en-US" sz="3600" dirty="0"/>
              <a:t> 1. Glycolysis </a:t>
            </a:r>
          </a:p>
          <a:p>
            <a:r>
              <a:rPr lang="en-US" sz="3600" dirty="0"/>
              <a:t> Occurs in the cytoplasm.</a:t>
            </a:r>
          </a:p>
          <a:p>
            <a:r>
              <a:rPr lang="en-US" sz="3600" dirty="0"/>
              <a:t>No oxygen is required (anaerobic).</a:t>
            </a:r>
          </a:p>
          <a:p>
            <a:r>
              <a:rPr lang="en-US" sz="3600" dirty="0"/>
              <a:t>Glucose molecule broken down into 2, producing 2ATP molecules. </a:t>
            </a:r>
          </a:p>
          <a:p>
            <a:pPr marL="0" indent="0">
              <a:buNone/>
            </a:pPr>
            <a:r>
              <a:rPr lang="en-US" sz="3600" dirty="0"/>
              <a:t>2. </a:t>
            </a:r>
            <a:r>
              <a:rPr lang="en-US" sz="3600" dirty="0" err="1"/>
              <a:t>Kreb’s</a:t>
            </a:r>
            <a:r>
              <a:rPr lang="en-US" sz="3600" dirty="0"/>
              <a:t> cycle</a:t>
            </a:r>
          </a:p>
          <a:p>
            <a:r>
              <a:rPr lang="en-US" sz="3600" dirty="0"/>
              <a:t>Occurs inside the mitochondrion.</a:t>
            </a:r>
          </a:p>
          <a:p>
            <a:r>
              <a:rPr lang="en-US" sz="3600" dirty="0"/>
              <a:t>Oxygen is required.</a:t>
            </a:r>
          </a:p>
          <a:p>
            <a:r>
              <a:rPr lang="en-US" sz="3600" dirty="0"/>
              <a:t>Produces 2ATP molecules.</a:t>
            </a:r>
          </a:p>
          <a:p>
            <a:pPr marL="0" indent="0">
              <a:buNone/>
            </a:pPr>
            <a:endParaRPr lang="en-US" sz="3600" dirty="0"/>
          </a:p>
          <a:p>
            <a:endParaRPr lang="en-US" sz="3600" dirty="0"/>
          </a:p>
          <a:p>
            <a:endParaRPr lang="en-UG" sz="3600" dirty="0"/>
          </a:p>
        </p:txBody>
      </p:sp>
    </p:spTree>
    <p:extLst>
      <p:ext uri="{BB962C8B-B14F-4D97-AF65-F5344CB8AC3E}">
        <p14:creationId xmlns:p14="http://schemas.microsoft.com/office/powerpoint/2010/main" val="948557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41508D-132F-EFFD-7362-74B7AD6E06C4}"/>
              </a:ext>
            </a:extLst>
          </p:cNvPr>
          <p:cNvSpPr>
            <a:spLocks noGrp="1"/>
          </p:cNvSpPr>
          <p:nvPr>
            <p:ph idx="1"/>
          </p:nvPr>
        </p:nvSpPr>
        <p:spPr>
          <a:xfrm>
            <a:off x="356381" y="1237957"/>
            <a:ext cx="11479237" cy="5093751"/>
          </a:xfrm>
        </p:spPr>
        <p:txBody>
          <a:bodyPr>
            <a:normAutofit/>
          </a:bodyPr>
          <a:lstStyle/>
          <a:p>
            <a:pPr marL="0" indent="0">
              <a:buNone/>
            </a:pPr>
            <a:r>
              <a:rPr lang="en-US" sz="3600" dirty="0"/>
              <a:t>3. Electron transfer chain</a:t>
            </a:r>
          </a:p>
          <a:p>
            <a:pPr algn="just"/>
            <a:r>
              <a:rPr lang="en-US" sz="3600" dirty="0"/>
              <a:t>Occurs inside the mitochondrion (on inner surface membranes called cristae).</a:t>
            </a:r>
          </a:p>
          <a:p>
            <a:pPr algn="just"/>
            <a:r>
              <a:rPr lang="en-US" sz="3600" dirty="0"/>
              <a:t>Requires oxygen.</a:t>
            </a:r>
          </a:p>
          <a:p>
            <a:pPr algn="just"/>
            <a:r>
              <a:rPr lang="en-US" sz="3600" dirty="0"/>
              <a:t>Produces 34 ATP molecules.</a:t>
            </a:r>
            <a:endParaRPr lang="en-UG" sz="3600" dirty="0"/>
          </a:p>
        </p:txBody>
      </p:sp>
    </p:spTree>
    <p:extLst>
      <p:ext uri="{BB962C8B-B14F-4D97-AF65-F5344CB8AC3E}">
        <p14:creationId xmlns:p14="http://schemas.microsoft.com/office/powerpoint/2010/main" val="2223516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AE92F-98B3-B77D-1942-A932C90ACC23}"/>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3B94D94D-E0A9-F1B3-0C33-FE75BC9EB7E9}"/>
              </a:ext>
            </a:extLst>
          </p:cNvPr>
          <p:cNvSpPr>
            <a:spLocks noGrp="1"/>
          </p:cNvSpPr>
          <p:nvPr>
            <p:ph idx="1"/>
          </p:nvPr>
        </p:nvSpPr>
        <p:spPr/>
        <p:txBody>
          <a:bodyPr/>
          <a:lstStyle/>
          <a:p>
            <a:endParaRPr lang="en-UG"/>
          </a:p>
        </p:txBody>
      </p:sp>
      <p:pic>
        <p:nvPicPr>
          <p:cNvPr id="2050" name="Picture 2" descr="Aerobic Respiration - Biology | Socratic">
            <a:extLst>
              <a:ext uri="{FF2B5EF4-FFF2-40B4-BE49-F238E27FC236}">
                <a16:creationId xmlns:a16="http://schemas.microsoft.com/office/drawing/2014/main" id="{F979BC63-FF87-93CB-BD12-262846A01C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9" y="0"/>
            <a:ext cx="12206019" cy="6851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32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65179-86EA-DDA5-EDAC-6AE94492F1AC}"/>
              </a:ext>
            </a:extLst>
          </p:cNvPr>
          <p:cNvSpPr>
            <a:spLocks noGrp="1"/>
          </p:cNvSpPr>
          <p:nvPr>
            <p:ph type="title"/>
          </p:nvPr>
        </p:nvSpPr>
        <p:spPr>
          <a:xfrm>
            <a:off x="825595" y="0"/>
            <a:ext cx="10515600" cy="701837"/>
          </a:xfrm>
        </p:spPr>
        <p:txBody>
          <a:bodyPr/>
          <a:lstStyle/>
          <a:p>
            <a:r>
              <a:rPr lang="en-US" b="1" u="sng" dirty="0">
                <a:effectLst>
                  <a:outerShdw blurRad="38100" dist="38100" dir="2700000" algn="tl">
                    <a:srgbClr val="000000">
                      <a:alpha val="43137"/>
                    </a:srgbClr>
                  </a:outerShdw>
                </a:effectLst>
              </a:rPr>
              <a:t>The aerobic respiration equation</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AD13CB3B-870A-58C6-BD28-1FE1B1C736A4}"/>
              </a:ext>
            </a:extLst>
          </p:cNvPr>
          <p:cNvSpPr>
            <a:spLocks noGrp="1"/>
          </p:cNvSpPr>
          <p:nvPr>
            <p:ph idx="1"/>
          </p:nvPr>
        </p:nvSpPr>
        <p:spPr>
          <a:xfrm>
            <a:off x="247356" y="758109"/>
            <a:ext cx="11930575" cy="4351338"/>
          </a:xfrm>
        </p:spPr>
        <p:txBody>
          <a:bodyPr>
            <a:normAutofit/>
          </a:bodyPr>
          <a:lstStyle/>
          <a:p>
            <a:r>
              <a:rPr lang="en-US" sz="3600" dirty="0"/>
              <a:t>It occurs in a series of steps, the overall equation is as below:</a:t>
            </a:r>
            <a:endParaRPr lang="en-UG" sz="3600" dirty="0"/>
          </a:p>
        </p:txBody>
      </p:sp>
      <p:pic>
        <p:nvPicPr>
          <p:cNvPr id="9" name="Picture 8">
            <a:extLst>
              <a:ext uri="{FF2B5EF4-FFF2-40B4-BE49-F238E27FC236}">
                <a16:creationId xmlns:a16="http://schemas.microsoft.com/office/drawing/2014/main" id="{CCEEEEFA-B5AD-9695-2673-09809BC9B1E4}"/>
              </a:ext>
            </a:extLst>
          </p:cNvPr>
          <p:cNvPicPr>
            <a:picLocks noChangeAspect="1"/>
          </p:cNvPicPr>
          <p:nvPr/>
        </p:nvPicPr>
        <p:blipFill>
          <a:blip r:embed="rId2"/>
          <a:stretch>
            <a:fillRect/>
          </a:stretch>
        </p:blipFill>
        <p:spPr>
          <a:xfrm>
            <a:off x="0" y="1421432"/>
            <a:ext cx="12192000" cy="5436567"/>
          </a:xfrm>
          <a:prstGeom prst="rect">
            <a:avLst/>
          </a:prstGeom>
        </p:spPr>
      </p:pic>
    </p:spTree>
    <p:extLst>
      <p:ext uri="{BB962C8B-B14F-4D97-AF65-F5344CB8AC3E}">
        <p14:creationId xmlns:p14="http://schemas.microsoft.com/office/powerpoint/2010/main" val="580873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88828F-CFF7-6AA2-8FBD-AE3BF8C6B07F}"/>
              </a:ext>
            </a:extLst>
          </p:cNvPr>
          <p:cNvSpPr>
            <a:spLocks noGrp="1"/>
          </p:cNvSpPr>
          <p:nvPr>
            <p:ph idx="1"/>
          </p:nvPr>
        </p:nvSpPr>
        <p:spPr>
          <a:xfrm>
            <a:off x="556846" y="2064777"/>
            <a:ext cx="11471030" cy="1916380"/>
          </a:xfrm>
        </p:spPr>
        <p:txBody>
          <a:bodyPr>
            <a:normAutofit/>
          </a:bodyPr>
          <a:lstStyle/>
          <a:p>
            <a:pPr marL="0" indent="0">
              <a:buNone/>
            </a:pPr>
            <a:r>
              <a:rPr lang="en-US" sz="3600" dirty="0"/>
              <a:t>From the equation above:</a:t>
            </a:r>
          </a:p>
          <a:p>
            <a:r>
              <a:rPr lang="en-US" sz="3600" b="1" dirty="0"/>
              <a:t>Reactants</a:t>
            </a:r>
            <a:r>
              <a:rPr lang="en-US" sz="3600" dirty="0"/>
              <a:t>: glucose and oxygen</a:t>
            </a:r>
          </a:p>
          <a:p>
            <a:r>
              <a:rPr lang="en-US" sz="3600" b="1" dirty="0"/>
              <a:t>Products: </a:t>
            </a:r>
            <a:r>
              <a:rPr lang="en-US" sz="3600" dirty="0"/>
              <a:t>carbon dioxide, water and energy</a:t>
            </a:r>
            <a:endParaRPr lang="en-UG" sz="3600" dirty="0"/>
          </a:p>
        </p:txBody>
      </p:sp>
    </p:spTree>
    <p:extLst>
      <p:ext uri="{BB962C8B-B14F-4D97-AF65-F5344CB8AC3E}">
        <p14:creationId xmlns:p14="http://schemas.microsoft.com/office/powerpoint/2010/main" val="2855353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86051-0B90-D21B-129D-6ABB1E6DD327}"/>
              </a:ext>
            </a:extLst>
          </p:cNvPr>
          <p:cNvSpPr>
            <a:spLocks noGrp="1"/>
          </p:cNvSpPr>
          <p:nvPr>
            <p:ph type="title"/>
          </p:nvPr>
        </p:nvSpPr>
        <p:spPr>
          <a:xfrm>
            <a:off x="838200" y="18255"/>
            <a:ext cx="10515600" cy="1325563"/>
          </a:xfrm>
        </p:spPr>
        <p:txBody>
          <a:bodyPr/>
          <a:lstStyle/>
          <a:p>
            <a:pPr algn="ctr"/>
            <a:r>
              <a:rPr lang="en-US" b="1" u="sng" dirty="0">
                <a:effectLst>
                  <a:outerShdw blurRad="38100" dist="38100" dir="2700000" algn="tl">
                    <a:srgbClr val="000000">
                      <a:alpha val="43137"/>
                    </a:srgbClr>
                  </a:outerShdw>
                </a:effectLst>
              </a:rPr>
              <a:t>Experiment to show that heat energy is produced during respiration</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9258AAAF-EB13-D537-9536-B3A418B0B352}"/>
              </a:ext>
            </a:extLst>
          </p:cNvPr>
          <p:cNvSpPr>
            <a:spLocks noGrp="1"/>
          </p:cNvSpPr>
          <p:nvPr>
            <p:ph idx="1"/>
          </p:nvPr>
        </p:nvSpPr>
        <p:spPr/>
        <p:txBody>
          <a:bodyPr>
            <a:normAutofit/>
          </a:bodyPr>
          <a:lstStyle/>
          <a:p>
            <a:pPr marL="0" indent="0">
              <a:buNone/>
            </a:pPr>
            <a:r>
              <a:rPr lang="en-US" sz="3600" b="1" u="sng" dirty="0"/>
              <a:t>Materials and apparatus</a:t>
            </a:r>
          </a:p>
          <a:p>
            <a:r>
              <a:rPr lang="en-US" sz="3600" dirty="0"/>
              <a:t>2 thermometers.</a:t>
            </a:r>
          </a:p>
          <a:p>
            <a:r>
              <a:rPr lang="en-US" sz="3600" dirty="0"/>
              <a:t>2 vacuum flasks</a:t>
            </a:r>
          </a:p>
          <a:p>
            <a:r>
              <a:rPr lang="en-US" sz="3600" dirty="0"/>
              <a:t>Bean seeds.</a:t>
            </a:r>
          </a:p>
          <a:p>
            <a:r>
              <a:rPr lang="en-US" sz="3600" dirty="0"/>
              <a:t>Heat source</a:t>
            </a:r>
          </a:p>
          <a:p>
            <a:r>
              <a:rPr lang="en-US" sz="3600" dirty="0"/>
              <a:t>Sodium hypochlorite (or formaldehyde)</a:t>
            </a:r>
          </a:p>
          <a:p>
            <a:pPr marL="0" indent="0">
              <a:buNone/>
            </a:pPr>
            <a:endParaRPr lang="en-US" sz="3600" dirty="0"/>
          </a:p>
        </p:txBody>
      </p:sp>
    </p:spTree>
    <p:extLst>
      <p:ext uri="{BB962C8B-B14F-4D97-AF65-F5344CB8AC3E}">
        <p14:creationId xmlns:p14="http://schemas.microsoft.com/office/powerpoint/2010/main" val="1232920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3E29B1-B3EA-19EB-C0A4-139BACD1D5A0}"/>
              </a:ext>
            </a:extLst>
          </p:cNvPr>
          <p:cNvSpPr>
            <a:spLocks noGrp="1"/>
          </p:cNvSpPr>
          <p:nvPr>
            <p:ph idx="1"/>
          </p:nvPr>
        </p:nvSpPr>
        <p:spPr>
          <a:xfrm>
            <a:off x="112545" y="830000"/>
            <a:ext cx="11887200" cy="4909620"/>
          </a:xfrm>
        </p:spPr>
        <p:txBody>
          <a:bodyPr>
            <a:noAutofit/>
          </a:bodyPr>
          <a:lstStyle/>
          <a:p>
            <a:pPr marL="0" indent="0" algn="just">
              <a:lnSpc>
                <a:spcPct val="100000"/>
              </a:lnSpc>
              <a:buNone/>
            </a:pPr>
            <a:r>
              <a:rPr lang="en-US" sz="3600" b="1" u="sng" dirty="0"/>
              <a:t>Procedure</a:t>
            </a:r>
          </a:p>
          <a:p>
            <a:pPr algn="just">
              <a:lnSpc>
                <a:spcPct val="100000"/>
              </a:lnSpc>
            </a:pPr>
            <a:r>
              <a:rPr lang="en-US" sz="3600" dirty="0"/>
              <a:t>Soak bean seeds in water for 24 hours after which divide the seeds into two equal portions. </a:t>
            </a:r>
          </a:p>
          <a:p>
            <a:pPr algn="just">
              <a:lnSpc>
                <a:spcPct val="100000"/>
              </a:lnSpc>
            </a:pPr>
            <a:r>
              <a:rPr lang="en-US" sz="3600" dirty="0"/>
              <a:t>Boil one portion for 10 minutes to kill the seeds. </a:t>
            </a:r>
          </a:p>
          <a:p>
            <a:pPr algn="just">
              <a:lnSpc>
                <a:spcPct val="100000"/>
              </a:lnSpc>
            </a:pPr>
            <a:r>
              <a:rPr lang="en-US" sz="3600" dirty="0"/>
              <a:t>Soak both the boiled and unboiled seeds in formaldehyde/sodium hypochlorite solution.</a:t>
            </a:r>
          </a:p>
          <a:p>
            <a:pPr algn="just">
              <a:lnSpc>
                <a:spcPct val="100000"/>
              </a:lnSpc>
            </a:pPr>
            <a:r>
              <a:rPr lang="en-US" sz="3600" dirty="0"/>
              <a:t>Place unboiled beans in vacuum flask A and the boiled beans in vacuum flask B. </a:t>
            </a:r>
            <a:endParaRPr lang="en-UG" sz="3600" dirty="0"/>
          </a:p>
        </p:txBody>
      </p:sp>
    </p:spTree>
    <p:extLst>
      <p:ext uri="{BB962C8B-B14F-4D97-AF65-F5344CB8AC3E}">
        <p14:creationId xmlns:p14="http://schemas.microsoft.com/office/powerpoint/2010/main" val="2669294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58141C-6A7A-5007-A924-1BD47832167D}"/>
              </a:ext>
            </a:extLst>
          </p:cNvPr>
          <p:cNvSpPr>
            <a:spLocks noGrp="1"/>
          </p:cNvSpPr>
          <p:nvPr>
            <p:ph idx="1"/>
          </p:nvPr>
        </p:nvSpPr>
        <p:spPr>
          <a:xfrm>
            <a:off x="393895" y="1108173"/>
            <a:ext cx="11619914" cy="4351338"/>
          </a:xfrm>
        </p:spPr>
        <p:txBody>
          <a:bodyPr>
            <a:normAutofit/>
          </a:bodyPr>
          <a:lstStyle/>
          <a:p>
            <a:pPr algn="just">
              <a:lnSpc>
                <a:spcPct val="100000"/>
              </a:lnSpc>
            </a:pPr>
            <a:endParaRPr lang="en-US" sz="3600" dirty="0"/>
          </a:p>
          <a:p>
            <a:pPr algn="just">
              <a:lnSpc>
                <a:spcPct val="100000"/>
              </a:lnSpc>
            </a:pPr>
            <a:r>
              <a:rPr lang="en-US" sz="3600" dirty="0"/>
              <a:t>Insert a thermometer in each flask and close the mouth of each flask with cotton wool.</a:t>
            </a:r>
          </a:p>
          <a:p>
            <a:pPr algn="just">
              <a:lnSpc>
                <a:spcPct val="100000"/>
              </a:lnSpc>
            </a:pPr>
            <a:r>
              <a:rPr lang="en-US" sz="3600" dirty="0"/>
              <a:t>Take note of the initial reading of the thermometer.</a:t>
            </a:r>
          </a:p>
          <a:p>
            <a:pPr algn="just">
              <a:lnSpc>
                <a:spcPct val="100000"/>
              </a:lnSpc>
            </a:pPr>
            <a:r>
              <a:rPr lang="en-US" sz="3600" dirty="0"/>
              <a:t>Leave the set up for at least three (3) days as you record the temperature readings at regular intervals of time.</a:t>
            </a:r>
          </a:p>
          <a:p>
            <a:pPr algn="just">
              <a:lnSpc>
                <a:spcPct val="100000"/>
              </a:lnSpc>
            </a:pPr>
            <a:endParaRPr lang="en-UG" sz="3600" dirty="0"/>
          </a:p>
          <a:p>
            <a:endParaRPr lang="en-UG" sz="3600" dirty="0"/>
          </a:p>
        </p:txBody>
      </p:sp>
    </p:spTree>
    <p:extLst>
      <p:ext uri="{BB962C8B-B14F-4D97-AF65-F5344CB8AC3E}">
        <p14:creationId xmlns:p14="http://schemas.microsoft.com/office/powerpoint/2010/main" val="188782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0F489-12E5-DA8E-62F0-BDD05CC86D76}"/>
              </a:ext>
            </a:extLst>
          </p:cNvPr>
          <p:cNvSpPr>
            <a:spLocks noGrp="1"/>
          </p:cNvSpPr>
          <p:nvPr>
            <p:ph type="title"/>
          </p:nvPr>
        </p:nvSpPr>
        <p:spPr>
          <a:xfrm>
            <a:off x="838200" y="-113175"/>
            <a:ext cx="10515600" cy="704019"/>
          </a:xfrm>
        </p:spPr>
        <p:txBody>
          <a:bodyPr/>
          <a:lstStyle/>
          <a:p>
            <a:r>
              <a:rPr lang="en-US" dirty="0"/>
              <a:t>Set up of apparatus</a:t>
            </a:r>
            <a:endParaRPr lang="en-UG" dirty="0"/>
          </a:p>
        </p:txBody>
      </p:sp>
      <p:sp>
        <p:nvSpPr>
          <p:cNvPr id="3" name="Content Placeholder 2">
            <a:extLst>
              <a:ext uri="{FF2B5EF4-FFF2-40B4-BE49-F238E27FC236}">
                <a16:creationId xmlns:a16="http://schemas.microsoft.com/office/drawing/2014/main" id="{9820F744-491F-D3C6-502C-ACF0AB7D1097}"/>
              </a:ext>
            </a:extLst>
          </p:cNvPr>
          <p:cNvSpPr>
            <a:spLocks noGrp="1"/>
          </p:cNvSpPr>
          <p:nvPr>
            <p:ph idx="1"/>
          </p:nvPr>
        </p:nvSpPr>
        <p:spPr/>
        <p:txBody>
          <a:bodyPr/>
          <a:lstStyle/>
          <a:p>
            <a:endParaRPr lang="en-UG"/>
          </a:p>
        </p:txBody>
      </p:sp>
      <p:pic>
        <p:nvPicPr>
          <p:cNvPr id="5" name="Picture 4">
            <a:extLst>
              <a:ext uri="{FF2B5EF4-FFF2-40B4-BE49-F238E27FC236}">
                <a16:creationId xmlns:a16="http://schemas.microsoft.com/office/drawing/2014/main" id="{B0E94A31-FAD9-7F4D-00D0-590D80C3432C}"/>
              </a:ext>
            </a:extLst>
          </p:cNvPr>
          <p:cNvPicPr>
            <a:picLocks noChangeAspect="1"/>
          </p:cNvPicPr>
          <p:nvPr/>
        </p:nvPicPr>
        <p:blipFill>
          <a:blip r:embed="rId2"/>
          <a:stretch>
            <a:fillRect/>
          </a:stretch>
        </p:blipFill>
        <p:spPr>
          <a:xfrm>
            <a:off x="0" y="492369"/>
            <a:ext cx="12191999" cy="6365631"/>
          </a:xfrm>
          <a:prstGeom prst="rect">
            <a:avLst/>
          </a:prstGeom>
        </p:spPr>
      </p:pic>
    </p:spTree>
    <p:extLst>
      <p:ext uri="{BB962C8B-B14F-4D97-AF65-F5344CB8AC3E}">
        <p14:creationId xmlns:p14="http://schemas.microsoft.com/office/powerpoint/2010/main" val="1086977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71138B-7399-3BB3-4334-8D00D51FE7A0}"/>
              </a:ext>
            </a:extLst>
          </p:cNvPr>
          <p:cNvSpPr>
            <a:spLocks noGrp="1"/>
          </p:cNvSpPr>
          <p:nvPr>
            <p:ph idx="1"/>
          </p:nvPr>
        </p:nvSpPr>
        <p:spPr>
          <a:xfrm>
            <a:off x="323557" y="970671"/>
            <a:ext cx="11591778" cy="5206292"/>
          </a:xfrm>
        </p:spPr>
        <p:txBody>
          <a:bodyPr>
            <a:normAutofit/>
          </a:bodyPr>
          <a:lstStyle/>
          <a:p>
            <a:pPr marL="0" indent="0" algn="just">
              <a:buNone/>
            </a:pPr>
            <a:r>
              <a:rPr lang="en-US" sz="3600" b="1" u="sng" dirty="0"/>
              <a:t>Observation</a:t>
            </a:r>
          </a:p>
          <a:p>
            <a:pPr algn="just"/>
            <a:r>
              <a:rPr lang="en-US" sz="3600" dirty="0"/>
              <a:t>There is an increase in thermometer reading in flask A but that in flask B temperature remains constant.</a:t>
            </a:r>
          </a:p>
          <a:p>
            <a:pPr marL="0" indent="0" algn="just">
              <a:buNone/>
            </a:pPr>
            <a:r>
              <a:rPr lang="en-US" sz="3600" b="1" u="sng" dirty="0"/>
              <a:t>Conclusion</a:t>
            </a:r>
          </a:p>
          <a:p>
            <a:pPr algn="just"/>
            <a:r>
              <a:rPr lang="en-US" sz="3600" dirty="0"/>
              <a:t>Germinating seeds produce heat during aerobic respiration</a:t>
            </a:r>
          </a:p>
          <a:p>
            <a:pPr algn="just"/>
            <a:endParaRPr lang="en-UG" sz="3600" dirty="0"/>
          </a:p>
        </p:txBody>
      </p:sp>
    </p:spTree>
    <p:extLst>
      <p:ext uri="{BB962C8B-B14F-4D97-AF65-F5344CB8AC3E}">
        <p14:creationId xmlns:p14="http://schemas.microsoft.com/office/powerpoint/2010/main" val="3479770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2F9708-B65F-2C9F-AE86-3F5E915902B3}"/>
              </a:ext>
            </a:extLst>
          </p:cNvPr>
          <p:cNvSpPr>
            <a:spLocks noGrp="1"/>
          </p:cNvSpPr>
          <p:nvPr>
            <p:ph type="title"/>
          </p:nvPr>
        </p:nvSpPr>
        <p:spPr>
          <a:xfrm>
            <a:off x="838200" y="42204"/>
            <a:ext cx="10515600" cy="520505"/>
          </a:xfrm>
        </p:spPr>
        <p:txBody>
          <a:bodyPr>
            <a:normAutofit fontScale="90000"/>
          </a:bodyPr>
          <a:lstStyle/>
          <a:p>
            <a:pPr algn="ctr"/>
            <a:r>
              <a:rPr lang="en-US" dirty="0">
                <a:effectLst>
                  <a:outerShdw blurRad="38100" dist="38100" dir="2700000" algn="tl">
                    <a:srgbClr val="000000">
                      <a:alpha val="43137"/>
                    </a:srgbClr>
                  </a:outerShdw>
                </a:effectLst>
              </a:rPr>
              <a:t>Analysis</a:t>
            </a:r>
            <a:r>
              <a:rPr lang="en-US" dirty="0"/>
              <a:t> </a:t>
            </a:r>
            <a:endParaRPr lang="en-UG" dirty="0"/>
          </a:p>
        </p:txBody>
      </p:sp>
      <p:sp>
        <p:nvSpPr>
          <p:cNvPr id="6" name="Content Placeholder 5">
            <a:extLst>
              <a:ext uri="{FF2B5EF4-FFF2-40B4-BE49-F238E27FC236}">
                <a16:creationId xmlns:a16="http://schemas.microsoft.com/office/drawing/2014/main" id="{2BBA43B3-33C2-3D6C-22C4-BE6FD6E76319}"/>
              </a:ext>
            </a:extLst>
          </p:cNvPr>
          <p:cNvSpPr>
            <a:spLocks noGrp="1"/>
          </p:cNvSpPr>
          <p:nvPr>
            <p:ph sz="half" idx="2"/>
          </p:nvPr>
        </p:nvSpPr>
        <p:spPr>
          <a:xfrm>
            <a:off x="6293962" y="582176"/>
            <a:ext cx="5898038" cy="6233620"/>
          </a:xfrm>
        </p:spPr>
        <p:txBody>
          <a:bodyPr>
            <a:noAutofit/>
          </a:bodyPr>
          <a:lstStyle/>
          <a:p>
            <a:pPr marL="0" indent="0">
              <a:buNone/>
            </a:pPr>
            <a:r>
              <a:rPr lang="en-US" sz="3600" dirty="0"/>
              <a:t>1. Give reason a reason for the observation in each flask.</a:t>
            </a:r>
          </a:p>
          <a:p>
            <a:pPr marL="0" indent="0">
              <a:buNone/>
            </a:pPr>
            <a:r>
              <a:rPr lang="en-US" sz="3600" dirty="0"/>
              <a:t>3. Why was the following  used in the experiment?</a:t>
            </a:r>
          </a:p>
          <a:p>
            <a:pPr marL="514350" indent="-514350">
              <a:buFont typeface="+mj-lt"/>
              <a:buAutoNum type="alphaLcParenR"/>
            </a:pPr>
            <a:r>
              <a:rPr lang="en-US" sz="3600" dirty="0"/>
              <a:t>Thermometer</a:t>
            </a:r>
          </a:p>
          <a:p>
            <a:pPr marL="514350" indent="-514350">
              <a:buFont typeface="+mj-lt"/>
              <a:buAutoNum type="alphaLcParenR"/>
            </a:pPr>
            <a:r>
              <a:rPr lang="en-US" sz="3600" dirty="0"/>
              <a:t>Vacuum flasks</a:t>
            </a:r>
          </a:p>
          <a:p>
            <a:pPr marL="514350" indent="-514350">
              <a:buFont typeface="+mj-lt"/>
              <a:buAutoNum type="alphaLcParenR"/>
            </a:pPr>
            <a:r>
              <a:rPr lang="en-US" sz="3600" dirty="0"/>
              <a:t>Formaldehyde </a:t>
            </a:r>
          </a:p>
          <a:p>
            <a:pPr marL="514350" indent="-514350">
              <a:buFont typeface="+mj-lt"/>
              <a:buAutoNum type="alphaLcParenR"/>
            </a:pPr>
            <a:r>
              <a:rPr lang="en-US" sz="3600" dirty="0"/>
              <a:t>Cotton wool</a:t>
            </a:r>
          </a:p>
          <a:p>
            <a:pPr marL="0" indent="0">
              <a:buNone/>
            </a:pPr>
            <a:r>
              <a:rPr lang="en-US" sz="3600" dirty="0"/>
              <a:t>4.  Why is a control set up important?</a:t>
            </a:r>
          </a:p>
          <a:p>
            <a:pPr marL="0" indent="0">
              <a:buNone/>
            </a:pPr>
            <a:endParaRPr lang="en-UG" sz="3600" dirty="0"/>
          </a:p>
        </p:txBody>
      </p:sp>
      <p:pic>
        <p:nvPicPr>
          <p:cNvPr id="7" name="Picture 2" descr="Lesson on Identifying the Outcome and the Problem. - Project Accelerator  News">
            <a:extLst>
              <a:ext uri="{FF2B5EF4-FFF2-40B4-BE49-F238E27FC236}">
                <a16:creationId xmlns:a16="http://schemas.microsoft.com/office/drawing/2014/main" id="{2841C816-A16C-0B14-0AF6-0E9714575511}"/>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0" y="582176"/>
            <a:ext cx="6293962" cy="6275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447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230E8C-5AF4-4B1E-8DAB-64B2EEEEC42A}"/>
              </a:ext>
            </a:extLst>
          </p:cNvPr>
          <p:cNvSpPr>
            <a:spLocks noGrp="1"/>
          </p:cNvSpPr>
          <p:nvPr>
            <p:ph type="title"/>
          </p:nvPr>
        </p:nvSpPr>
        <p:spPr>
          <a:xfrm>
            <a:off x="838200" y="27498"/>
            <a:ext cx="10515600" cy="661817"/>
          </a:xfrm>
        </p:spPr>
        <p:txBody>
          <a:bodyPr>
            <a:normAutofit fontScale="90000"/>
          </a:bodyPr>
          <a:lstStyle/>
          <a:p>
            <a:r>
              <a:rPr lang="en-US" dirty="0"/>
              <a:t>Activity: Study the set up below carefully</a:t>
            </a:r>
            <a:endParaRPr lang="en-UG" dirty="0"/>
          </a:p>
        </p:txBody>
      </p:sp>
      <p:sp>
        <p:nvSpPr>
          <p:cNvPr id="6" name="Content Placeholder 5">
            <a:extLst>
              <a:ext uri="{FF2B5EF4-FFF2-40B4-BE49-F238E27FC236}">
                <a16:creationId xmlns:a16="http://schemas.microsoft.com/office/drawing/2014/main" id="{E8DFDD85-582A-FBE9-FD69-A8FD307368A7}"/>
              </a:ext>
            </a:extLst>
          </p:cNvPr>
          <p:cNvSpPr>
            <a:spLocks noGrp="1"/>
          </p:cNvSpPr>
          <p:nvPr>
            <p:ph idx="1"/>
          </p:nvPr>
        </p:nvSpPr>
        <p:spPr/>
        <p:txBody>
          <a:bodyPr/>
          <a:lstStyle/>
          <a:p>
            <a:endParaRPr lang="en-UG" dirty="0"/>
          </a:p>
        </p:txBody>
      </p:sp>
      <p:pic>
        <p:nvPicPr>
          <p:cNvPr id="8" name="Picture 7">
            <a:extLst>
              <a:ext uri="{FF2B5EF4-FFF2-40B4-BE49-F238E27FC236}">
                <a16:creationId xmlns:a16="http://schemas.microsoft.com/office/drawing/2014/main" id="{48671DCA-257D-F27F-514D-411F5354D9C4}"/>
              </a:ext>
            </a:extLst>
          </p:cNvPr>
          <p:cNvPicPr>
            <a:picLocks noChangeAspect="1"/>
          </p:cNvPicPr>
          <p:nvPr/>
        </p:nvPicPr>
        <p:blipFill rotWithShape="1">
          <a:blip r:embed="rId2"/>
          <a:srcRect l="2317" r="4251"/>
          <a:stretch/>
        </p:blipFill>
        <p:spPr>
          <a:xfrm>
            <a:off x="0" y="689315"/>
            <a:ext cx="12191999" cy="6167941"/>
          </a:xfrm>
          <a:prstGeom prst="rect">
            <a:avLst/>
          </a:prstGeom>
        </p:spPr>
      </p:pic>
    </p:spTree>
    <p:extLst>
      <p:ext uri="{BB962C8B-B14F-4D97-AF65-F5344CB8AC3E}">
        <p14:creationId xmlns:p14="http://schemas.microsoft.com/office/powerpoint/2010/main" val="35940127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5A39853-046D-951C-2207-9CC9C327D976}"/>
              </a:ext>
            </a:extLst>
          </p:cNvPr>
          <p:cNvGraphicFramePr>
            <a:graphicFrameLocks noGrp="1"/>
          </p:cNvGraphicFramePr>
          <p:nvPr>
            <p:ph idx="1"/>
            <p:extLst>
              <p:ext uri="{D42A27DB-BD31-4B8C-83A1-F6EECF244321}">
                <p14:modId xmlns:p14="http://schemas.microsoft.com/office/powerpoint/2010/main" val="760215924"/>
              </p:ext>
            </p:extLst>
          </p:nvPr>
        </p:nvGraphicFramePr>
        <p:xfrm>
          <a:off x="838200" y="1085167"/>
          <a:ext cx="10515600" cy="2560320"/>
        </p:xfrm>
        <a:graphic>
          <a:graphicData uri="http://schemas.openxmlformats.org/drawingml/2006/table">
            <a:tbl>
              <a:tblPr firstRow="1" bandRow="1">
                <a:tableStyleId>{5940675A-B579-460E-94D1-54222C63F5DA}</a:tableStyleId>
              </a:tblPr>
              <a:tblGrid>
                <a:gridCol w="1497037">
                  <a:extLst>
                    <a:ext uri="{9D8B030D-6E8A-4147-A177-3AD203B41FA5}">
                      <a16:colId xmlns:a16="http://schemas.microsoft.com/office/drawing/2014/main" val="3261704363"/>
                    </a:ext>
                  </a:extLst>
                </a:gridCol>
                <a:gridCol w="4360985">
                  <a:extLst>
                    <a:ext uri="{9D8B030D-6E8A-4147-A177-3AD203B41FA5}">
                      <a16:colId xmlns:a16="http://schemas.microsoft.com/office/drawing/2014/main" val="4282727640"/>
                    </a:ext>
                  </a:extLst>
                </a:gridCol>
                <a:gridCol w="4657578">
                  <a:extLst>
                    <a:ext uri="{9D8B030D-6E8A-4147-A177-3AD203B41FA5}">
                      <a16:colId xmlns:a16="http://schemas.microsoft.com/office/drawing/2014/main" val="137437537"/>
                    </a:ext>
                  </a:extLst>
                </a:gridCol>
              </a:tblGrid>
              <a:tr h="480207">
                <a:tc rowSpan="2">
                  <a:txBody>
                    <a:bodyPr/>
                    <a:lstStyle/>
                    <a:p>
                      <a:r>
                        <a:rPr lang="en-US" sz="3600" dirty="0"/>
                        <a:t>Set up </a:t>
                      </a:r>
                      <a:endParaRPr lang="en-UG" sz="3600" dirty="0"/>
                    </a:p>
                  </a:txBody>
                  <a:tcPr/>
                </a:tc>
                <a:tc gridSpan="2">
                  <a:txBody>
                    <a:bodyPr/>
                    <a:lstStyle/>
                    <a:p>
                      <a:r>
                        <a:rPr lang="en-US" sz="3600" dirty="0"/>
                        <a:t>Observation </a:t>
                      </a:r>
                      <a:endParaRPr lang="en-UG" sz="3600" dirty="0"/>
                    </a:p>
                  </a:txBody>
                  <a:tcPr/>
                </a:tc>
                <a:tc hMerge="1">
                  <a:txBody>
                    <a:bodyPr/>
                    <a:lstStyle/>
                    <a:p>
                      <a:endParaRPr lang="en-UG" sz="3600" dirty="0"/>
                    </a:p>
                  </a:txBody>
                  <a:tcPr/>
                </a:tc>
                <a:extLst>
                  <a:ext uri="{0D108BD9-81ED-4DB2-BD59-A6C34878D82A}">
                    <a16:rowId xmlns:a16="http://schemas.microsoft.com/office/drawing/2014/main" val="2319421845"/>
                  </a:ext>
                </a:extLst>
              </a:tr>
              <a:tr h="370840">
                <a:tc vMerge="1">
                  <a:txBody>
                    <a:bodyPr/>
                    <a:lstStyle/>
                    <a:p>
                      <a:endParaRPr lang="en-UG" sz="3600" dirty="0"/>
                    </a:p>
                  </a:txBody>
                  <a:tcPr/>
                </a:tc>
                <a:tc>
                  <a:txBody>
                    <a:bodyPr/>
                    <a:lstStyle/>
                    <a:p>
                      <a:r>
                        <a:rPr lang="en-US" sz="3600" dirty="0"/>
                        <a:t>At the start</a:t>
                      </a:r>
                      <a:endParaRPr lang="en-UG" sz="3600" dirty="0"/>
                    </a:p>
                  </a:txBody>
                  <a:tcPr/>
                </a:tc>
                <a:tc>
                  <a:txBody>
                    <a:bodyPr/>
                    <a:lstStyle/>
                    <a:p>
                      <a:r>
                        <a:rPr lang="en-US" sz="3600" dirty="0"/>
                        <a:t>After 30 minutes</a:t>
                      </a:r>
                      <a:endParaRPr lang="en-UG" sz="3600" dirty="0"/>
                    </a:p>
                  </a:txBody>
                  <a:tcPr/>
                </a:tc>
                <a:extLst>
                  <a:ext uri="{0D108BD9-81ED-4DB2-BD59-A6C34878D82A}">
                    <a16:rowId xmlns:a16="http://schemas.microsoft.com/office/drawing/2014/main" val="2648044522"/>
                  </a:ext>
                </a:extLst>
              </a:tr>
              <a:tr h="370840">
                <a:tc>
                  <a:txBody>
                    <a:bodyPr/>
                    <a:lstStyle/>
                    <a:p>
                      <a:r>
                        <a:rPr lang="en-US" sz="3600" dirty="0"/>
                        <a:t>A</a:t>
                      </a:r>
                      <a:endParaRPr lang="en-UG" sz="3600" dirty="0"/>
                    </a:p>
                  </a:txBody>
                  <a:tcPr/>
                </a:tc>
                <a:tc>
                  <a:txBody>
                    <a:bodyPr/>
                    <a:lstStyle/>
                    <a:p>
                      <a:endParaRPr lang="en-UG" sz="3600" dirty="0"/>
                    </a:p>
                  </a:txBody>
                  <a:tcPr/>
                </a:tc>
                <a:tc>
                  <a:txBody>
                    <a:bodyPr/>
                    <a:lstStyle/>
                    <a:p>
                      <a:endParaRPr lang="en-UG" sz="3600" dirty="0"/>
                    </a:p>
                  </a:txBody>
                  <a:tcPr/>
                </a:tc>
                <a:extLst>
                  <a:ext uri="{0D108BD9-81ED-4DB2-BD59-A6C34878D82A}">
                    <a16:rowId xmlns:a16="http://schemas.microsoft.com/office/drawing/2014/main" val="3154063267"/>
                  </a:ext>
                </a:extLst>
              </a:tr>
              <a:tr h="370840">
                <a:tc>
                  <a:txBody>
                    <a:bodyPr/>
                    <a:lstStyle/>
                    <a:p>
                      <a:r>
                        <a:rPr lang="en-US" sz="3600" dirty="0"/>
                        <a:t>B</a:t>
                      </a:r>
                      <a:endParaRPr lang="en-UG" sz="3600" dirty="0"/>
                    </a:p>
                  </a:txBody>
                  <a:tcPr/>
                </a:tc>
                <a:tc>
                  <a:txBody>
                    <a:bodyPr/>
                    <a:lstStyle/>
                    <a:p>
                      <a:endParaRPr lang="en-UG" sz="3600"/>
                    </a:p>
                  </a:txBody>
                  <a:tcPr/>
                </a:tc>
                <a:tc>
                  <a:txBody>
                    <a:bodyPr/>
                    <a:lstStyle/>
                    <a:p>
                      <a:endParaRPr lang="en-UG" sz="3600" dirty="0"/>
                    </a:p>
                  </a:txBody>
                  <a:tcPr/>
                </a:tc>
                <a:extLst>
                  <a:ext uri="{0D108BD9-81ED-4DB2-BD59-A6C34878D82A}">
                    <a16:rowId xmlns:a16="http://schemas.microsoft.com/office/drawing/2014/main" val="3828320301"/>
                  </a:ext>
                </a:extLst>
              </a:tr>
            </a:tbl>
          </a:graphicData>
        </a:graphic>
      </p:graphicFrame>
      <p:sp>
        <p:nvSpPr>
          <p:cNvPr id="5" name="TextBox 4">
            <a:extLst>
              <a:ext uri="{FF2B5EF4-FFF2-40B4-BE49-F238E27FC236}">
                <a16:creationId xmlns:a16="http://schemas.microsoft.com/office/drawing/2014/main" id="{0BE0FE08-302E-8CC6-927E-447374164E73}"/>
              </a:ext>
            </a:extLst>
          </p:cNvPr>
          <p:cNvSpPr txBox="1"/>
          <p:nvPr/>
        </p:nvSpPr>
        <p:spPr>
          <a:xfrm>
            <a:off x="838200" y="450166"/>
            <a:ext cx="5689209" cy="646331"/>
          </a:xfrm>
          <a:prstGeom prst="rect">
            <a:avLst/>
          </a:prstGeom>
          <a:noFill/>
        </p:spPr>
        <p:txBody>
          <a:bodyPr wrap="square" rtlCol="0">
            <a:spAutoFit/>
          </a:bodyPr>
          <a:lstStyle/>
          <a:p>
            <a:r>
              <a:rPr lang="en-US" sz="3600" dirty="0"/>
              <a:t>a. Fill the table below:</a:t>
            </a:r>
            <a:endParaRPr lang="en-UG" sz="3600" dirty="0"/>
          </a:p>
        </p:txBody>
      </p:sp>
      <p:sp>
        <p:nvSpPr>
          <p:cNvPr id="6" name="TextBox 5">
            <a:extLst>
              <a:ext uri="{FF2B5EF4-FFF2-40B4-BE49-F238E27FC236}">
                <a16:creationId xmlns:a16="http://schemas.microsoft.com/office/drawing/2014/main" id="{AA25EB34-0DB6-46A1-4A90-AF1C80B0362C}"/>
              </a:ext>
            </a:extLst>
          </p:cNvPr>
          <p:cNvSpPr txBox="1"/>
          <p:nvPr/>
        </p:nvSpPr>
        <p:spPr>
          <a:xfrm>
            <a:off x="838200" y="3882683"/>
            <a:ext cx="10515600" cy="2308324"/>
          </a:xfrm>
          <a:prstGeom prst="rect">
            <a:avLst/>
          </a:prstGeom>
          <a:noFill/>
        </p:spPr>
        <p:txBody>
          <a:bodyPr wrap="square" rtlCol="0">
            <a:spAutoFit/>
          </a:bodyPr>
          <a:lstStyle/>
          <a:p>
            <a:r>
              <a:rPr lang="en-US" sz="3600" dirty="0"/>
              <a:t>b. What conclusion can you draw from the experiment above?</a:t>
            </a:r>
          </a:p>
          <a:p>
            <a:r>
              <a:rPr lang="en-US" sz="3600" dirty="0"/>
              <a:t>c. What other reagent can be used instead of copper(II)sulphate crystals?</a:t>
            </a:r>
            <a:endParaRPr lang="en-UG" sz="3600" dirty="0"/>
          </a:p>
        </p:txBody>
      </p:sp>
    </p:spTree>
    <p:extLst>
      <p:ext uri="{BB962C8B-B14F-4D97-AF65-F5344CB8AC3E}">
        <p14:creationId xmlns:p14="http://schemas.microsoft.com/office/powerpoint/2010/main" val="3009212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D1E50-1A97-FC6A-C193-500DAC0D8CD6}"/>
              </a:ext>
            </a:extLst>
          </p:cNvPr>
          <p:cNvSpPr>
            <a:spLocks noGrp="1"/>
          </p:cNvSpPr>
          <p:nvPr>
            <p:ph type="title"/>
          </p:nvPr>
        </p:nvSpPr>
        <p:spPr>
          <a:xfrm>
            <a:off x="494126" y="481582"/>
            <a:ext cx="11203745" cy="1308930"/>
          </a:xfrm>
        </p:spPr>
        <p:txBody>
          <a:bodyPr>
            <a:normAutofit fontScale="90000"/>
          </a:bodyPr>
          <a:lstStyle/>
          <a:p>
            <a:pPr algn="ctr"/>
            <a:r>
              <a:rPr lang="en-US" b="1" u="sng" dirty="0"/>
              <a:t>Investigating that food releases energy when oxidized.</a:t>
            </a:r>
            <a:br>
              <a:rPr lang="en-US" dirty="0"/>
            </a:br>
            <a:br>
              <a:rPr lang="en-US" dirty="0"/>
            </a:br>
            <a:r>
              <a:rPr lang="en-US" dirty="0"/>
              <a:t>Q. Can oxidation of ground nut seeds release energy to boil water?</a:t>
            </a:r>
            <a:endParaRPr lang="en-UG" dirty="0"/>
          </a:p>
        </p:txBody>
      </p:sp>
      <p:sp>
        <p:nvSpPr>
          <p:cNvPr id="3" name="Content Placeholder 2">
            <a:extLst>
              <a:ext uri="{FF2B5EF4-FFF2-40B4-BE49-F238E27FC236}">
                <a16:creationId xmlns:a16="http://schemas.microsoft.com/office/drawing/2014/main" id="{FFDEBD26-7AE2-DE9A-2D3F-985D3D785055}"/>
              </a:ext>
            </a:extLst>
          </p:cNvPr>
          <p:cNvSpPr>
            <a:spLocks noGrp="1"/>
          </p:cNvSpPr>
          <p:nvPr>
            <p:ph idx="1"/>
          </p:nvPr>
        </p:nvSpPr>
        <p:spPr>
          <a:xfrm>
            <a:off x="838198" y="2025080"/>
            <a:ext cx="10515600" cy="4351338"/>
          </a:xfrm>
        </p:spPr>
        <p:txBody>
          <a:bodyPr>
            <a:normAutofit/>
          </a:bodyPr>
          <a:lstStyle/>
          <a:p>
            <a:pPr marL="0" indent="0">
              <a:buNone/>
            </a:pPr>
            <a:r>
              <a:rPr lang="en-US" sz="3600" b="1" dirty="0"/>
              <a:t>Materials required:</a:t>
            </a:r>
          </a:p>
          <a:p>
            <a:r>
              <a:rPr lang="en-US" sz="3600" dirty="0"/>
              <a:t>Test tube</a:t>
            </a:r>
          </a:p>
          <a:p>
            <a:r>
              <a:rPr lang="en-US" sz="3600" dirty="0"/>
              <a:t>Thermometer </a:t>
            </a:r>
          </a:p>
          <a:p>
            <a:r>
              <a:rPr lang="en-US" sz="3600" dirty="0"/>
              <a:t>Heat source</a:t>
            </a:r>
          </a:p>
          <a:p>
            <a:r>
              <a:rPr lang="en-US" sz="3600" dirty="0"/>
              <a:t>Water</a:t>
            </a:r>
          </a:p>
          <a:p>
            <a:r>
              <a:rPr lang="en-US" sz="3600" dirty="0"/>
              <a:t>Heat source</a:t>
            </a:r>
          </a:p>
          <a:p>
            <a:r>
              <a:rPr lang="en-US" sz="3600" dirty="0"/>
              <a:t>Ground nut seeds</a:t>
            </a:r>
            <a:endParaRPr lang="en-UG" sz="3600" dirty="0"/>
          </a:p>
        </p:txBody>
      </p:sp>
    </p:spTree>
    <p:extLst>
      <p:ext uri="{BB962C8B-B14F-4D97-AF65-F5344CB8AC3E}">
        <p14:creationId xmlns:p14="http://schemas.microsoft.com/office/powerpoint/2010/main" val="1224972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A1756-A651-9F57-440A-DDC011B7D7C6}"/>
              </a:ext>
            </a:extLst>
          </p:cNvPr>
          <p:cNvSpPr>
            <a:spLocks noGrp="1"/>
          </p:cNvSpPr>
          <p:nvPr>
            <p:ph type="title"/>
          </p:nvPr>
        </p:nvSpPr>
        <p:spPr>
          <a:xfrm>
            <a:off x="838200" y="125970"/>
            <a:ext cx="10515600" cy="760290"/>
          </a:xfrm>
        </p:spPr>
        <p:txBody>
          <a:bodyPr/>
          <a:lstStyle/>
          <a:p>
            <a:r>
              <a:rPr lang="en-US" dirty="0"/>
              <a:t>Procedure </a:t>
            </a:r>
            <a:endParaRPr lang="en-UG" dirty="0"/>
          </a:p>
        </p:txBody>
      </p:sp>
      <p:sp>
        <p:nvSpPr>
          <p:cNvPr id="3" name="Content Placeholder 2">
            <a:extLst>
              <a:ext uri="{FF2B5EF4-FFF2-40B4-BE49-F238E27FC236}">
                <a16:creationId xmlns:a16="http://schemas.microsoft.com/office/drawing/2014/main" id="{5BA9BA69-09F1-64C8-66D1-80303791B8EC}"/>
              </a:ext>
            </a:extLst>
          </p:cNvPr>
          <p:cNvSpPr>
            <a:spLocks noGrp="1"/>
          </p:cNvSpPr>
          <p:nvPr>
            <p:ph idx="1"/>
          </p:nvPr>
        </p:nvSpPr>
        <p:spPr>
          <a:xfrm>
            <a:off x="321212" y="801849"/>
            <a:ext cx="11870788" cy="5499161"/>
          </a:xfrm>
        </p:spPr>
        <p:txBody>
          <a:bodyPr>
            <a:noAutofit/>
          </a:bodyPr>
          <a:lstStyle/>
          <a:p>
            <a:r>
              <a:rPr lang="en-US" sz="3600" dirty="0"/>
              <a:t>Add 4cm</a:t>
            </a:r>
            <a:r>
              <a:rPr lang="en-US" sz="3600" baseline="30000" dirty="0"/>
              <a:t>3</a:t>
            </a:r>
            <a:r>
              <a:rPr lang="en-US" sz="3600" dirty="0"/>
              <a:t> of water in a test tube and clamp it  to a retort stand.</a:t>
            </a:r>
          </a:p>
          <a:p>
            <a:r>
              <a:rPr lang="en-US" sz="3600" dirty="0"/>
              <a:t>Record the initial temperature of the water (T</a:t>
            </a:r>
            <a:r>
              <a:rPr lang="en-US" sz="3600" baseline="-25000" dirty="0"/>
              <a:t>1</a:t>
            </a:r>
            <a:r>
              <a:rPr lang="en-US" sz="3600" dirty="0"/>
              <a:t>)and mass of the nut (m).</a:t>
            </a:r>
          </a:p>
          <a:p>
            <a:r>
              <a:rPr lang="en-US" sz="3600" dirty="0"/>
              <a:t>Using a mounted needle, hold the  nut over a Bunsen burner flame until it catches fire and keep away the Bunsen burner</a:t>
            </a:r>
          </a:p>
          <a:p>
            <a:r>
              <a:rPr lang="en-US" sz="3600" dirty="0"/>
              <a:t>Hold the burning nut under the test tube of water until it stops burning.</a:t>
            </a:r>
          </a:p>
          <a:p>
            <a:r>
              <a:rPr lang="en-US" sz="3600" dirty="0"/>
              <a:t>Record the maximum temperature reached by the water (T</a:t>
            </a:r>
            <a:r>
              <a:rPr lang="en-US" sz="3600" baseline="-25000" dirty="0"/>
              <a:t>2</a:t>
            </a:r>
            <a:r>
              <a:rPr lang="en-US" sz="3600" dirty="0"/>
              <a:t>).</a:t>
            </a:r>
          </a:p>
          <a:p>
            <a:pPr marL="0" indent="0">
              <a:buNone/>
            </a:pPr>
            <a:endParaRPr lang="en-UG" sz="3600" dirty="0"/>
          </a:p>
        </p:txBody>
      </p:sp>
    </p:spTree>
    <p:extLst>
      <p:ext uri="{BB962C8B-B14F-4D97-AF65-F5344CB8AC3E}">
        <p14:creationId xmlns:p14="http://schemas.microsoft.com/office/powerpoint/2010/main" val="600854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Energy Content of Food Lab Report Answers | SchoolWorkHelper">
            <a:extLst>
              <a:ext uri="{FF2B5EF4-FFF2-40B4-BE49-F238E27FC236}">
                <a16:creationId xmlns:a16="http://schemas.microsoft.com/office/drawing/2014/main" id="{08F13FF7-357C-BA29-121E-9E0D0EF49F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376" b="9514"/>
          <a:stretch/>
        </p:blipFill>
        <p:spPr bwMode="auto">
          <a:xfrm>
            <a:off x="1358708" y="-14068"/>
            <a:ext cx="919206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69114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793B3C-4680-57E4-4D20-5182DCCC207F}"/>
              </a:ext>
            </a:extLst>
          </p:cNvPr>
          <p:cNvPicPr>
            <a:picLocks noChangeAspect="1"/>
          </p:cNvPicPr>
          <p:nvPr/>
        </p:nvPicPr>
        <p:blipFill>
          <a:blip r:embed="rId2"/>
          <a:stretch>
            <a:fillRect/>
          </a:stretch>
        </p:blipFill>
        <p:spPr>
          <a:xfrm>
            <a:off x="2349305" y="-25636"/>
            <a:ext cx="7465586" cy="6883636"/>
          </a:xfrm>
          <a:prstGeom prst="rect">
            <a:avLst/>
          </a:prstGeom>
        </p:spPr>
      </p:pic>
    </p:spTree>
    <p:extLst>
      <p:ext uri="{BB962C8B-B14F-4D97-AF65-F5344CB8AC3E}">
        <p14:creationId xmlns:p14="http://schemas.microsoft.com/office/powerpoint/2010/main" val="1250183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E2BA4-9EF7-9546-74BE-F7C23E93F576}"/>
              </a:ext>
            </a:extLst>
          </p:cNvPr>
          <p:cNvSpPr>
            <a:spLocks noGrp="1"/>
          </p:cNvSpPr>
          <p:nvPr>
            <p:ph type="title"/>
          </p:nvPr>
        </p:nvSpPr>
        <p:spPr/>
        <p:txBody>
          <a:bodyPr/>
          <a:lstStyle/>
          <a:p>
            <a:r>
              <a:rPr lang="en-US" dirty="0"/>
              <a:t>Data and observation</a:t>
            </a:r>
            <a:endParaRPr lang="en-UG" dirty="0"/>
          </a:p>
        </p:txBody>
      </p:sp>
      <p:graphicFrame>
        <p:nvGraphicFramePr>
          <p:cNvPr id="7" name="Content Placeholder 6">
            <a:extLst>
              <a:ext uri="{FF2B5EF4-FFF2-40B4-BE49-F238E27FC236}">
                <a16:creationId xmlns:a16="http://schemas.microsoft.com/office/drawing/2014/main" id="{F0CD441C-1724-E1BD-6F9B-9EAA3ED29172}"/>
              </a:ext>
            </a:extLst>
          </p:cNvPr>
          <p:cNvGraphicFramePr>
            <a:graphicFrameLocks noGrp="1"/>
          </p:cNvGraphicFramePr>
          <p:nvPr>
            <p:ph idx="1"/>
            <p:extLst>
              <p:ext uri="{D42A27DB-BD31-4B8C-83A1-F6EECF244321}">
                <p14:modId xmlns:p14="http://schemas.microsoft.com/office/powerpoint/2010/main" val="2321962374"/>
              </p:ext>
            </p:extLst>
          </p:nvPr>
        </p:nvGraphicFramePr>
        <p:xfrm>
          <a:off x="534576" y="1516135"/>
          <a:ext cx="11169748" cy="1828800"/>
        </p:xfrm>
        <a:graphic>
          <a:graphicData uri="http://schemas.openxmlformats.org/drawingml/2006/table">
            <a:tbl>
              <a:tblPr firstRow="1" bandRow="1">
                <a:tableStyleId>{5C22544A-7EE6-4342-B048-85BDC9FD1C3A}</a:tableStyleId>
              </a:tblPr>
              <a:tblGrid>
                <a:gridCol w="2905132">
                  <a:extLst>
                    <a:ext uri="{9D8B030D-6E8A-4147-A177-3AD203B41FA5}">
                      <a16:colId xmlns:a16="http://schemas.microsoft.com/office/drawing/2014/main" val="273153979"/>
                    </a:ext>
                  </a:extLst>
                </a:gridCol>
                <a:gridCol w="4541367">
                  <a:extLst>
                    <a:ext uri="{9D8B030D-6E8A-4147-A177-3AD203B41FA5}">
                      <a16:colId xmlns:a16="http://schemas.microsoft.com/office/drawing/2014/main" val="2785296888"/>
                    </a:ext>
                  </a:extLst>
                </a:gridCol>
                <a:gridCol w="3723249">
                  <a:extLst>
                    <a:ext uri="{9D8B030D-6E8A-4147-A177-3AD203B41FA5}">
                      <a16:colId xmlns:a16="http://schemas.microsoft.com/office/drawing/2014/main" val="2341105262"/>
                    </a:ext>
                  </a:extLst>
                </a:gridCol>
              </a:tblGrid>
              <a:tr h="370840">
                <a:tc>
                  <a:txBody>
                    <a:bodyPr/>
                    <a:lstStyle/>
                    <a:p>
                      <a:r>
                        <a:rPr lang="en-US" sz="3600" dirty="0"/>
                        <a:t>Mass of water in grams</a:t>
                      </a:r>
                      <a:endParaRPr lang="en-UG" sz="3600" dirty="0"/>
                    </a:p>
                  </a:txBody>
                  <a:tcPr/>
                </a:tc>
                <a:tc>
                  <a:txBody>
                    <a:bodyPr/>
                    <a:lstStyle/>
                    <a:p>
                      <a:r>
                        <a:rPr lang="en-US" sz="3600" dirty="0"/>
                        <a:t>Starting temperature of water/</a:t>
                      </a:r>
                      <a:r>
                        <a:rPr lang="en-US" sz="3600" baseline="30000" dirty="0" err="1"/>
                        <a:t>o</a:t>
                      </a:r>
                      <a:r>
                        <a:rPr lang="en-US" sz="3600" dirty="0" err="1"/>
                        <a:t>C</a:t>
                      </a:r>
                      <a:r>
                        <a:rPr lang="en-US" sz="3600" dirty="0"/>
                        <a:t> </a:t>
                      </a:r>
                      <a:endParaRPr lang="en-UG" sz="3600" dirty="0"/>
                    </a:p>
                  </a:txBody>
                  <a:tcPr/>
                </a:tc>
                <a:tc>
                  <a:txBody>
                    <a:bodyPr/>
                    <a:lstStyle/>
                    <a:p>
                      <a:r>
                        <a:rPr lang="en-US" sz="3600" dirty="0"/>
                        <a:t>Final temperature of water/</a:t>
                      </a:r>
                      <a:r>
                        <a:rPr lang="en-US" sz="3600" baseline="30000" dirty="0" err="1"/>
                        <a:t>o</a:t>
                      </a:r>
                      <a:r>
                        <a:rPr lang="en-US" sz="3600" dirty="0" err="1"/>
                        <a:t>C</a:t>
                      </a:r>
                      <a:endParaRPr lang="en-UG" sz="3600" dirty="0"/>
                    </a:p>
                  </a:txBody>
                  <a:tcPr/>
                </a:tc>
                <a:extLst>
                  <a:ext uri="{0D108BD9-81ED-4DB2-BD59-A6C34878D82A}">
                    <a16:rowId xmlns:a16="http://schemas.microsoft.com/office/drawing/2014/main" val="2500065390"/>
                  </a:ext>
                </a:extLst>
              </a:tr>
              <a:tr h="370840">
                <a:tc>
                  <a:txBody>
                    <a:bodyPr/>
                    <a:lstStyle/>
                    <a:p>
                      <a:endParaRPr lang="en-UG" sz="3600"/>
                    </a:p>
                  </a:txBody>
                  <a:tcPr/>
                </a:tc>
                <a:tc>
                  <a:txBody>
                    <a:bodyPr/>
                    <a:lstStyle/>
                    <a:p>
                      <a:endParaRPr lang="en-UG" sz="3600"/>
                    </a:p>
                  </a:txBody>
                  <a:tcPr/>
                </a:tc>
                <a:tc>
                  <a:txBody>
                    <a:bodyPr/>
                    <a:lstStyle/>
                    <a:p>
                      <a:endParaRPr lang="en-UG" sz="3600" dirty="0"/>
                    </a:p>
                  </a:txBody>
                  <a:tcPr/>
                </a:tc>
                <a:extLst>
                  <a:ext uri="{0D108BD9-81ED-4DB2-BD59-A6C34878D82A}">
                    <a16:rowId xmlns:a16="http://schemas.microsoft.com/office/drawing/2014/main" val="1364395718"/>
                  </a:ext>
                </a:extLst>
              </a:tr>
            </a:tbl>
          </a:graphicData>
        </a:graphic>
      </p:graphicFrame>
      <p:sp>
        <p:nvSpPr>
          <p:cNvPr id="8" name="TextBox 7">
            <a:extLst>
              <a:ext uri="{FF2B5EF4-FFF2-40B4-BE49-F238E27FC236}">
                <a16:creationId xmlns:a16="http://schemas.microsoft.com/office/drawing/2014/main" id="{DA940758-8A26-4D6D-E3E9-C5C10168D2FA}"/>
              </a:ext>
            </a:extLst>
          </p:cNvPr>
          <p:cNvSpPr txBox="1"/>
          <p:nvPr/>
        </p:nvSpPr>
        <p:spPr>
          <a:xfrm>
            <a:off x="534576" y="3545058"/>
            <a:ext cx="11380759" cy="2308324"/>
          </a:xfrm>
          <a:prstGeom prst="rect">
            <a:avLst/>
          </a:prstGeom>
          <a:noFill/>
        </p:spPr>
        <p:txBody>
          <a:bodyPr wrap="square" rtlCol="0">
            <a:spAutoFit/>
          </a:bodyPr>
          <a:lstStyle/>
          <a:p>
            <a:r>
              <a:rPr lang="en-US" sz="3600" dirty="0"/>
              <a:t>The energy content of the burnt food is calculated using the formula: </a:t>
            </a:r>
          </a:p>
          <a:p>
            <a:r>
              <a:rPr lang="en-US" sz="3600" dirty="0"/>
              <a:t>Energy in joules = Mass of water x Specific heat capacity of water x change in temperature.</a:t>
            </a:r>
            <a:endParaRPr lang="en-UG" sz="3600" dirty="0"/>
          </a:p>
        </p:txBody>
      </p:sp>
    </p:spTree>
    <p:extLst>
      <p:ext uri="{BB962C8B-B14F-4D97-AF65-F5344CB8AC3E}">
        <p14:creationId xmlns:p14="http://schemas.microsoft.com/office/powerpoint/2010/main" val="2295734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Lesson on Identifying the Outcome and the Problem. - Project Accelerator  News">
            <a:extLst>
              <a:ext uri="{FF2B5EF4-FFF2-40B4-BE49-F238E27FC236}">
                <a16:creationId xmlns:a16="http://schemas.microsoft.com/office/drawing/2014/main" id="{77D7B585-F993-31C7-0935-B0FB770C11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045" t="4718" r="23707" b="9129"/>
          <a:stretch/>
        </p:blipFill>
        <p:spPr bwMode="auto">
          <a:xfrm>
            <a:off x="0" y="0"/>
            <a:ext cx="4490357"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A78609B-729F-5952-043B-21A1C84935D0}"/>
              </a:ext>
            </a:extLst>
          </p:cNvPr>
          <p:cNvSpPr txBox="1"/>
          <p:nvPr/>
        </p:nvSpPr>
        <p:spPr>
          <a:xfrm>
            <a:off x="4628270" y="14065"/>
            <a:ext cx="7427741" cy="7848302"/>
          </a:xfrm>
          <a:prstGeom prst="rect">
            <a:avLst/>
          </a:prstGeom>
          <a:noFill/>
        </p:spPr>
        <p:txBody>
          <a:bodyPr wrap="square" rtlCol="0">
            <a:spAutoFit/>
          </a:bodyPr>
          <a:lstStyle/>
          <a:p>
            <a:r>
              <a:rPr lang="en-US" sz="3600" dirty="0"/>
              <a:t>Discussion:</a:t>
            </a:r>
          </a:p>
          <a:p>
            <a:pPr marL="742950" indent="-742950">
              <a:buAutoNum type="arabicPeriod"/>
            </a:pPr>
            <a:r>
              <a:rPr lang="en-US" sz="3600" dirty="0"/>
              <a:t>Why was the Bunsen burner kept away from the test tube?</a:t>
            </a:r>
          </a:p>
          <a:p>
            <a:pPr marL="742950" indent="-742950">
              <a:buAutoNum type="arabicPeriod"/>
            </a:pPr>
            <a:r>
              <a:rPr lang="en-US" sz="3600" dirty="0"/>
              <a:t>Where did the energy to</a:t>
            </a:r>
          </a:p>
          <a:p>
            <a:pPr marL="742950" indent="-742950">
              <a:buAutoNum type="alphaLcParenR"/>
            </a:pPr>
            <a:r>
              <a:rPr lang="en-US" sz="3600" dirty="0"/>
              <a:t>Start the burning of the nut come from?</a:t>
            </a:r>
          </a:p>
          <a:p>
            <a:pPr marL="742950" indent="-742950">
              <a:buAutoNum type="alphaLcParenR"/>
            </a:pPr>
            <a:r>
              <a:rPr lang="en-US" sz="3600" dirty="0"/>
              <a:t>Raise the temperature of water come from?</a:t>
            </a:r>
          </a:p>
          <a:p>
            <a:r>
              <a:rPr lang="en-US" sz="3600" dirty="0"/>
              <a:t>3. Did all the energy released from the nut reach the water? Explain.</a:t>
            </a:r>
          </a:p>
          <a:p>
            <a:r>
              <a:rPr lang="en-US" sz="3600" dirty="0"/>
              <a:t>4. How can this experiment be improved be more accurate?</a:t>
            </a:r>
          </a:p>
          <a:p>
            <a:endParaRPr lang="en-US" sz="3600" dirty="0"/>
          </a:p>
          <a:p>
            <a:r>
              <a:rPr lang="en-US" sz="3600" dirty="0"/>
              <a:t>  </a:t>
            </a:r>
            <a:endParaRPr lang="en-UG" sz="3600" dirty="0"/>
          </a:p>
        </p:txBody>
      </p:sp>
    </p:spTree>
    <p:extLst>
      <p:ext uri="{BB962C8B-B14F-4D97-AF65-F5344CB8AC3E}">
        <p14:creationId xmlns:p14="http://schemas.microsoft.com/office/powerpoint/2010/main" val="3164109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717B02-F97E-5041-4303-4FD598D64F3C}"/>
              </a:ext>
            </a:extLst>
          </p:cNvPr>
          <p:cNvSpPr>
            <a:spLocks noGrp="1"/>
          </p:cNvSpPr>
          <p:nvPr>
            <p:ph idx="1"/>
          </p:nvPr>
        </p:nvSpPr>
        <p:spPr>
          <a:xfrm>
            <a:off x="168812" y="1026942"/>
            <a:ext cx="11788725" cy="5711483"/>
          </a:xfrm>
        </p:spPr>
        <p:txBody>
          <a:bodyPr>
            <a:noAutofit/>
          </a:bodyPr>
          <a:lstStyle/>
          <a:p>
            <a:r>
              <a:rPr lang="en-US" sz="3200" dirty="0"/>
              <a:t>Photosynthesis only occurs in plants whereas aerobic respiration occurs in both plants and animals.</a:t>
            </a:r>
          </a:p>
          <a:p>
            <a:r>
              <a:rPr lang="en-US" sz="3200" dirty="0"/>
              <a:t>Photosynthesis and aerobic respiration complement each other (one provides what the other lacks). </a:t>
            </a:r>
          </a:p>
          <a:p>
            <a:r>
              <a:rPr lang="en-US" sz="3200" dirty="0"/>
              <a:t>Photosynthesis produces oxygen and glucose which are used in aerobic respiration whereas aerobic respiration produces carbon dioxide and water which are used in photosynthesis</a:t>
            </a:r>
          </a:p>
          <a:p>
            <a:r>
              <a:rPr lang="en-US" sz="3200" dirty="0"/>
              <a:t>During the day, plants carry out both photosynthesis and respiration. At night photosynthesis does not occur but respiration occurs.</a:t>
            </a:r>
            <a:endParaRPr lang="en-UG" sz="3200" dirty="0"/>
          </a:p>
        </p:txBody>
      </p:sp>
      <p:sp>
        <p:nvSpPr>
          <p:cNvPr id="4" name="TextBox 3">
            <a:extLst>
              <a:ext uri="{FF2B5EF4-FFF2-40B4-BE49-F238E27FC236}">
                <a16:creationId xmlns:a16="http://schemas.microsoft.com/office/drawing/2014/main" id="{4F859299-9AB3-7119-F566-71B4E55E6254}"/>
              </a:ext>
            </a:extLst>
          </p:cNvPr>
          <p:cNvSpPr txBox="1"/>
          <p:nvPr/>
        </p:nvSpPr>
        <p:spPr>
          <a:xfrm>
            <a:off x="467553" y="218765"/>
            <a:ext cx="11489984" cy="584775"/>
          </a:xfrm>
          <a:prstGeom prst="rect">
            <a:avLst/>
          </a:prstGeom>
          <a:noFill/>
        </p:spPr>
        <p:txBody>
          <a:bodyPr wrap="square" rtlCol="0">
            <a:spAutoFit/>
          </a:bodyPr>
          <a:lstStyle/>
          <a:p>
            <a:pPr algn="ctr"/>
            <a:r>
              <a:rPr lang="en-US" sz="3200" b="1" u="sng" dirty="0"/>
              <a:t>Relationship between photosynthesis and aerobic respiration </a:t>
            </a:r>
            <a:endParaRPr lang="en-UG" sz="3200" b="1" u="sng" dirty="0"/>
          </a:p>
        </p:txBody>
      </p:sp>
    </p:spTree>
    <p:extLst>
      <p:ext uri="{BB962C8B-B14F-4D97-AF65-F5344CB8AC3E}">
        <p14:creationId xmlns:p14="http://schemas.microsoft.com/office/powerpoint/2010/main" val="34132318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C88AB-D2C5-4B20-E9DC-0EFA0062418B}"/>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EBEE0B21-9B7C-CAD8-6BAC-4D2B250F15F2}"/>
              </a:ext>
            </a:extLst>
          </p:cNvPr>
          <p:cNvSpPr>
            <a:spLocks noGrp="1"/>
          </p:cNvSpPr>
          <p:nvPr>
            <p:ph idx="1"/>
          </p:nvPr>
        </p:nvSpPr>
        <p:spPr/>
        <p:txBody>
          <a:bodyPr/>
          <a:lstStyle/>
          <a:p>
            <a:endParaRPr lang="en-UG" dirty="0"/>
          </a:p>
        </p:txBody>
      </p:sp>
      <p:pic>
        <p:nvPicPr>
          <p:cNvPr id="1026" name="Picture 2" descr="Photosynthesis vs Cellular Respiration with Equations &amp; Diagram">
            <a:extLst>
              <a:ext uri="{FF2B5EF4-FFF2-40B4-BE49-F238E27FC236}">
                <a16:creationId xmlns:a16="http://schemas.microsoft.com/office/drawing/2014/main" id="{764BE707-E104-25BA-4227-F09B3B6FFD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20" t="8000" r="7520" b="3385"/>
          <a:stretch/>
        </p:blipFill>
        <p:spPr bwMode="auto">
          <a:xfrm>
            <a:off x="0" y="0"/>
            <a:ext cx="12192000" cy="6875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16951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EAFCAE-FCFD-1477-3D9E-925F6480E916}"/>
              </a:ext>
            </a:extLst>
          </p:cNvPr>
          <p:cNvSpPr>
            <a:spLocks noGrp="1"/>
          </p:cNvSpPr>
          <p:nvPr>
            <p:ph idx="1"/>
          </p:nvPr>
        </p:nvSpPr>
        <p:spPr/>
        <p:txBody>
          <a:bodyPr>
            <a:normAutofit/>
          </a:bodyPr>
          <a:lstStyle/>
          <a:p>
            <a:r>
              <a:rPr lang="en-US" sz="3200" dirty="0"/>
              <a:t>Photosynthesis and aerobic respiration form a cycle that keeps the level of oxygen and carbon dioxide fairly constant.</a:t>
            </a:r>
            <a:endParaRPr lang="en-UG" sz="3200" dirty="0"/>
          </a:p>
        </p:txBody>
      </p:sp>
    </p:spTree>
    <p:extLst>
      <p:ext uri="{BB962C8B-B14F-4D97-AF65-F5344CB8AC3E}">
        <p14:creationId xmlns:p14="http://schemas.microsoft.com/office/powerpoint/2010/main" val="32832787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458E8-1874-4EE3-0E43-463867B051BE}"/>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Similarities between photosynthesis and aerobic respiration</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889E28BC-AD7D-E810-4489-9471184986AD}"/>
              </a:ext>
            </a:extLst>
          </p:cNvPr>
          <p:cNvSpPr>
            <a:spLocks noGrp="1"/>
          </p:cNvSpPr>
          <p:nvPr>
            <p:ph idx="1"/>
          </p:nvPr>
        </p:nvSpPr>
        <p:spPr/>
        <p:txBody>
          <a:bodyPr>
            <a:normAutofit/>
          </a:bodyPr>
          <a:lstStyle/>
          <a:p>
            <a:r>
              <a:rPr lang="en-US" sz="3200" dirty="0"/>
              <a:t>Both are controlled by enzymes.</a:t>
            </a:r>
          </a:p>
          <a:p>
            <a:r>
              <a:rPr lang="en-US" sz="3200" dirty="0"/>
              <a:t>Both involve conversion of energy from one form to another through a series of reactions.</a:t>
            </a:r>
          </a:p>
          <a:p>
            <a:r>
              <a:rPr lang="en-US" sz="3200" dirty="0"/>
              <a:t>Both require initial input of energy.</a:t>
            </a:r>
          </a:p>
          <a:p>
            <a:r>
              <a:rPr lang="en-US" sz="3200" dirty="0"/>
              <a:t>Both occur in living cells</a:t>
            </a:r>
            <a:endParaRPr lang="en-UG" sz="3200" dirty="0"/>
          </a:p>
        </p:txBody>
      </p:sp>
    </p:spTree>
    <p:extLst>
      <p:ext uri="{BB962C8B-B14F-4D97-AF65-F5344CB8AC3E}">
        <p14:creationId xmlns:p14="http://schemas.microsoft.com/office/powerpoint/2010/main" val="9242873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6B9AF-8EF8-A6DC-590C-A8A12F2F76A8}"/>
              </a:ext>
            </a:extLst>
          </p:cNvPr>
          <p:cNvSpPr>
            <a:spLocks noGrp="1"/>
          </p:cNvSpPr>
          <p:nvPr>
            <p:ph type="title"/>
          </p:nvPr>
        </p:nvSpPr>
        <p:spPr>
          <a:xfrm>
            <a:off x="0" y="41563"/>
            <a:ext cx="12192000" cy="1325563"/>
          </a:xfrm>
        </p:spPr>
        <p:txBody>
          <a:bodyPr>
            <a:normAutofit/>
          </a:bodyPr>
          <a:lstStyle/>
          <a:p>
            <a:r>
              <a:rPr lang="en-US" sz="3600" dirty="0"/>
              <a:t>Differences between photosynthesis and aerobic respiration</a:t>
            </a:r>
            <a:endParaRPr lang="en-UG" sz="3600" dirty="0"/>
          </a:p>
        </p:txBody>
      </p:sp>
      <p:graphicFrame>
        <p:nvGraphicFramePr>
          <p:cNvPr id="4" name="Content Placeholder 3">
            <a:extLst>
              <a:ext uri="{FF2B5EF4-FFF2-40B4-BE49-F238E27FC236}">
                <a16:creationId xmlns:a16="http://schemas.microsoft.com/office/drawing/2014/main" id="{E8624368-CEAB-00A9-0DC1-41BF07702F8F}"/>
              </a:ext>
            </a:extLst>
          </p:cNvPr>
          <p:cNvGraphicFramePr>
            <a:graphicFrameLocks noGrp="1"/>
          </p:cNvGraphicFramePr>
          <p:nvPr>
            <p:ph idx="1"/>
            <p:extLst>
              <p:ext uri="{D42A27DB-BD31-4B8C-83A1-F6EECF244321}">
                <p14:modId xmlns:p14="http://schemas.microsoft.com/office/powerpoint/2010/main" val="1548761406"/>
              </p:ext>
            </p:extLst>
          </p:nvPr>
        </p:nvGraphicFramePr>
        <p:xfrm>
          <a:off x="126608" y="1023762"/>
          <a:ext cx="11943472" cy="5749942"/>
        </p:xfrm>
        <a:graphic>
          <a:graphicData uri="http://schemas.openxmlformats.org/drawingml/2006/table">
            <a:tbl>
              <a:tblPr firstRow="1" bandRow="1">
                <a:tableStyleId>{073A0DAA-6AF3-43AB-8588-CEC1D06C72B9}</a:tableStyleId>
              </a:tblPr>
              <a:tblGrid>
                <a:gridCol w="5971736">
                  <a:extLst>
                    <a:ext uri="{9D8B030D-6E8A-4147-A177-3AD203B41FA5}">
                      <a16:colId xmlns:a16="http://schemas.microsoft.com/office/drawing/2014/main" val="21542271"/>
                    </a:ext>
                  </a:extLst>
                </a:gridCol>
                <a:gridCol w="5971736">
                  <a:extLst>
                    <a:ext uri="{9D8B030D-6E8A-4147-A177-3AD203B41FA5}">
                      <a16:colId xmlns:a16="http://schemas.microsoft.com/office/drawing/2014/main" val="3101805840"/>
                    </a:ext>
                  </a:extLst>
                </a:gridCol>
              </a:tblGrid>
              <a:tr h="614181">
                <a:tc>
                  <a:txBody>
                    <a:bodyPr/>
                    <a:lstStyle/>
                    <a:p>
                      <a:r>
                        <a:rPr lang="en-US" sz="2800" dirty="0"/>
                        <a:t>Aerobic respiration </a:t>
                      </a:r>
                      <a:endParaRPr lang="en-UG" sz="2800" dirty="0"/>
                    </a:p>
                  </a:txBody>
                  <a:tcPr/>
                </a:tc>
                <a:tc>
                  <a:txBody>
                    <a:bodyPr/>
                    <a:lstStyle/>
                    <a:p>
                      <a:r>
                        <a:rPr lang="en-US" sz="2800" dirty="0"/>
                        <a:t>Photosynthesis </a:t>
                      </a:r>
                      <a:endParaRPr lang="en-UG" sz="2800" dirty="0"/>
                    </a:p>
                  </a:txBody>
                  <a:tcPr/>
                </a:tc>
                <a:extLst>
                  <a:ext uri="{0D108BD9-81ED-4DB2-BD59-A6C34878D82A}">
                    <a16:rowId xmlns:a16="http://schemas.microsoft.com/office/drawing/2014/main" val="4292680915"/>
                  </a:ext>
                </a:extLst>
              </a:tr>
              <a:tr h="614181">
                <a:tc>
                  <a:txBody>
                    <a:bodyPr/>
                    <a:lstStyle/>
                    <a:p>
                      <a:pPr marL="457200" indent="-457200">
                        <a:buFont typeface="Arial" panose="020B0604020202020204" pitchFamily="34" charset="0"/>
                        <a:buChar char="•"/>
                      </a:pPr>
                      <a:r>
                        <a:rPr lang="en-US" sz="2800" dirty="0"/>
                        <a:t>Occurs in all organisms</a:t>
                      </a:r>
                      <a:endParaRPr lang="en-UG" sz="2800" dirty="0"/>
                    </a:p>
                  </a:txBody>
                  <a:tcPr/>
                </a:tc>
                <a:tc>
                  <a:txBody>
                    <a:bodyPr/>
                    <a:lstStyle/>
                    <a:p>
                      <a:pPr marL="457200" indent="-457200">
                        <a:buFont typeface="Arial" panose="020B0604020202020204" pitchFamily="34" charset="0"/>
                        <a:buChar char="•"/>
                      </a:pPr>
                      <a:r>
                        <a:rPr lang="en-US" sz="2800" dirty="0"/>
                        <a:t>Occurs only in photoautotrophs</a:t>
                      </a:r>
                      <a:endParaRPr lang="en-UG" sz="2800" dirty="0"/>
                    </a:p>
                  </a:txBody>
                  <a:tcPr/>
                </a:tc>
                <a:extLst>
                  <a:ext uri="{0D108BD9-81ED-4DB2-BD59-A6C34878D82A}">
                    <a16:rowId xmlns:a16="http://schemas.microsoft.com/office/drawing/2014/main" val="896956793"/>
                  </a:ext>
                </a:extLst>
              </a:tr>
              <a:tr h="614181">
                <a:tc>
                  <a:txBody>
                    <a:bodyPr/>
                    <a:lstStyle/>
                    <a:p>
                      <a:pPr marL="457200" indent="-457200">
                        <a:buFont typeface="Arial" panose="020B0604020202020204" pitchFamily="34" charset="0"/>
                        <a:buChar char="•"/>
                      </a:pPr>
                      <a:r>
                        <a:rPr lang="en-US" sz="2800" dirty="0"/>
                        <a:t>Glucose and oxygen are reactants</a:t>
                      </a:r>
                      <a:endParaRPr lang="en-UG" sz="2800" dirty="0"/>
                    </a:p>
                  </a:txBody>
                  <a:tcPr/>
                </a:tc>
                <a:tc>
                  <a:txBody>
                    <a:bodyPr/>
                    <a:lstStyle/>
                    <a:p>
                      <a:pPr marL="457200" indent="-457200">
                        <a:buFont typeface="Arial" panose="020B0604020202020204" pitchFamily="34" charset="0"/>
                        <a:buChar char="•"/>
                      </a:pPr>
                      <a:r>
                        <a:rPr lang="en-US" sz="2800" dirty="0"/>
                        <a:t>Carbon dioxide and water are reactants</a:t>
                      </a:r>
                      <a:endParaRPr lang="en-UG" sz="2800" dirty="0"/>
                    </a:p>
                  </a:txBody>
                  <a:tcPr/>
                </a:tc>
                <a:extLst>
                  <a:ext uri="{0D108BD9-81ED-4DB2-BD59-A6C34878D82A}">
                    <a16:rowId xmlns:a16="http://schemas.microsoft.com/office/drawing/2014/main" val="683240490"/>
                  </a:ext>
                </a:extLst>
              </a:tr>
              <a:tr h="1119976">
                <a:tc>
                  <a:txBody>
                    <a:bodyPr/>
                    <a:lstStyle/>
                    <a:p>
                      <a:pPr marL="457200" indent="-457200">
                        <a:buFont typeface="Arial" panose="020B0604020202020204" pitchFamily="34" charset="0"/>
                        <a:buChar char="•"/>
                      </a:pPr>
                      <a:r>
                        <a:rPr lang="en-US" sz="2800" dirty="0"/>
                        <a:t>No sunlight required (Occurs all the time)</a:t>
                      </a:r>
                      <a:endParaRPr lang="en-UG" sz="2800" dirty="0"/>
                    </a:p>
                  </a:txBody>
                  <a:tcPr/>
                </a:tc>
                <a:tc>
                  <a:txBody>
                    <a:bodyPr/>
                    <a:lstStyle/>
                    <a:p>
                      <a:pPr marL="457200" indent="-457200">
                        <a:buFont typeface="Arial" panose="020B0604020202020204" pitchFamily="34" charset="0"/>
                        <a:buChar char="•"/>
                      </a:pPr>
                      <a:r>
                        <a:rPr lang="en-US" sz="2800" dirty="0"/>
                        <a:t>Requires sunlight (occurs during day time)</a:t>
                      </a:r>
                    </a:p>
                  </a:txBody>
                  <a:tcPr/>
                </a:tc>
                <a:extLst>
                  <a:ext uri="{0D108BD9-81ED-4DB2-BD59-A6C34878D82A}">
                    <a16:rowId xmlns:a16="http://schemas.microsoft.com/office/drawing/2014/main" val="4243164665"/>
                  </a:ext>
                </a:extLst>
              </a:tr>
              <a:tr h="614181">
                <a:tc>
                  <a:txBody>
                    <a:bodyPr/>
                    <a:lstStyle/>
                    <a:p>
                      <a:pPr marL="457200" indent="-457200">
                        <a:buFont typeface="Arial" panose="020B0604020202020204" pitchFamily="34" charset="0"/>
                        <a:buChar char="•"/>
                      </a:pPr>
                      <a:r>
                        <a:rPr lang="en-US" sz="2800" dirty="0"/>
                        <a:t>Oxygen is used</a:t>
                      </a:r>
                      <a:endParaRPr lang="en-UG" sz="2800" dirty="0"/>
                    </a:p>
                  </a:txBody>
                  <a:tcPr/>
                </a:tc>
                <a:tc>
                  <a:txBody>
                    <a:bodyPr/>
                    <a:lstStyle/>
                    <a:p>
                      <a:pPr marL="457200" indent="-457200">
                        <a:buFont typeface="Arial" panose="020B0604020202020204" pitchFamily="34" charset="0"/>
                        <a:buChar char="•"/>
                      </a:pPr>
                      <a:r>
                        <a:rPr lang="en-US" sz="2800" dirty="0"/>
                        <a:t>Oxygen is produced</a:t>
                      </a:r>
                    </a:p>
                  </a:txBody>
                  <a:tcPr/>
                </a:tc>
                <a:extLst>
                  <a:ext uri="{0D108BD9-81ED-4DB2-BD59-A6C34878D82A}">
                    <a16:rowId xmlns:a16="http://schemas.microsoft.com/office/drawing/2014/main" val="544372214"/>
                  </a:ext>
                </a:extLst>
              </a:tr>
              <a:tr h="614181">
                <a:tc>
                  <a:txBody>
                    <a:bodyPr/>
                    <a:lstStyle/>
                    <a:p>
                      <a:pPr marL="457200" indent="-457200">
                        <a:buFont typeface="Arial" panose="020B0604020202020204" pitchFamily="34" charset="0"/>
                        <a:buChar char="•"/>
                      </a:pPr>
                      <a:r>
                        <a:rPr lang="en-US" sz="2800" dirty="0"/>
                        <a:t>Water is produced</a:t>
                      </a:r>
                      <a:endParaRPr lang="en-UG" sz="2800" dirty="0"/>
                    </a:p>
                  </a:txBody>
                  <a:tcPr/>
                </a:tc>
                <a:tc>
                  <a:txBody>
                    <a:bodyPr/>
                    <a:lstStyle/>
                    <a:p>
                      <a:pPr marL="457200" indent="-457200">
                        <a:buFont typeface="Arial" panose="020B0604020202020204" pitchFamily="34" charset="0"/>
                        <a:buChar char="•"/>
                      </a:pPr>
                      <a:r>
                        <a:rPr lang="en-US" sz="2800" dirty="0"/>
                        <a:t>Water is used</a:t>
                      </a:r>
                    </a:p>
                  </a:txBody>
                  <a:tcPr/>
                </a:tc>
                <a:extLst>
                  <a:ext uri="{0D108BD9-81ED-4DB2-BD59-A6C34878D82A}">
                    <a16:rowId xmlns:a16="http://schemas.microsoft.com/office/drawing/2014/main" val="864172147"/>
                  </a:ext>
                </a:extLst>
              </a:tr>
              <a:tr h="614181">
                <a:tc>
                  <a:txBody>
                    <a:bodyPr/>
                    <a:lstStyle/>
                    <a:p>
                      <a:pPr marL="457200" indent="-457200">
                        <a:buFont typeface="Arial" panose="020B0604020202020204" pitchFamily="34" charset="0"/>
                        <a:buChar char="•"/>
                      </a:pPr>
                      <a:r>
                        <a:rPr lang="en-US" sz="2800" dirty="0"/>
                        <a:t>Food is broken down</a:t>
                      </a:r>
                      <a:endParaRPr lang="en-UG" sz="2800" dirty="0"/>
                    </a:p>
                  </a:txBody>
                  <a:tcPr/>
                </a:tc>
                <a:tc>
                  <a:txBody>
                    <a:bodyPr/>
                    <a:lstStyle/>
                    <a:p>
                      <a:pPr marL="457200" indent="-457200">
                        <a:buFont typeface="Arial" panose="020B0604020202020204" pitchFamily="34" charset="0"/>
                        <a:buChar char="•"/>
                      </a:pPr>
                      <a:r>
                        <a:rPr lang="en-US" sz="2800" dirty="0"/>
                        <a:t>Food is made</a:t>
                      </a:r>
                    </a:p>
                  </a:txBody>
                  <a:tcPr/>
                </a:tc>
                <a:extLst>
                  <a:ext uri="{0D108BD9-81ED-4DB2-BD59-A6C34878D82A}">
                    <a16:rowId xmlns:a16="http://schemas.microsoft.com/office/drawing/2014/main" val="2544674418"/>
                  </a:ext>
                </a:extLst>
              </a:tr>
              <a:tr h="614181">
                <a:tc>
                  <a:txBody>
                    <a:bodyPr/>
                    <a:lstStyle/>
                    <a:p>
                      <a:pPr marL="457200" indent="-457200">
                        <a:buFont typeface="Arial" panose="020B0604020202020204" pitchFamily="34" charset="0"/>
                        <a:buChar char="•"/>
                      </a:pPr>
                      <a:r>
                        <a:rPr lang="en-US" sz="2800" dirty="0"/>
                        <a:t>Energy is produced</a:t>
                      </a:r>
                      <a:endParaRPr lang="en-UG" sz="2800" dirty="0"/>
                    </a:p>
                  </a:txBody>
                  <a:tcPr/>
                </a:tc>
                <a:tc>
                  <a:txBody>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t>Energy is used</a:t>
                      </a:r>
                    </a:p>
                  </a:txBody>
                  <a:tcPr/>
                </a:tc>
                <a:extLst>
                  <a:ext uri="{0D108BD9-81ED-4DB2-BD59-A6C34878D82A}">
                    <a16:rowId xmlns:a16="http://schemas.microsoft.com/office/drawing/2014/main" val="3942334487"/>
                  </a:ext>
                </a:extLst>
              </a:tr>
            </a:tbl>
          </a:graphicData>
        </a:graphic>
      </p:graphicFrame>
    </p:spTree>
    <p:extLst>
      <p:ext uri="{BB962C8B-B14F-4D97-AF65-F5344CB8AC3E}">
        <p14:creationId xmlns:p14="http://schemas.microsoft.com/office/powerpoint/2010/main" val="36349269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C587D-1469-A8E8-85CA-BF076DB7722C}"/>
              </a:ext>
            </a:extLst>
          </p:cNvPr>
          <p:cNvSpPr>
            <a:spLocks noGrp="1"/>
          </p:cNvSpPr>
          <p:nvPr>
            <p:ph type="title"/>
          </p:nvPr>
        </p:nvSpPr>
        <p:spPr/>
        <p:txBody>
          <a:bodyPr>
            <a:normAutofit/>
          </a:bodyPr>
          <a:lstStyle/>
          <a:p>
            <a:pPr algn="ctr"/>
            <a:r>
              <a:rPr lang="en-US" u="sng" dirty="0">
                <a:effectLst>
                  <a:outerShdw blurRad="38100" dist="38100" dir="2700000" algn="tl">
                    <a:srgbClr val="000000">
                      <a:alpha val="43137"/>
                    </a:srgbClr>
                  </a:outerShdw>
                </a:effectLst>
              </a:rPr>
              <a:t>R</a:t>
            </a:r>
            <a:r>
              <a:rPr lang="en-US" sz="4400" u="sng" dirty="0">
                <a:effectLst>
                  <a:outerShdw blurRad="38100" dist="38100" dir="2700000" algn="tl">
                    <a:srgbClr val="000000">
                      <a:alpha val="43137"/>
                    </a:srgbClr>
                  </a:outerShdw>
                </a:effectLst>
              </a:rPr>
              <a:t>elationship between plants and animals</a:t>
            </a:r>
            <a:endParaRPr lang="en-UG"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FCF9B2CD-9B6E-CF3C-7B20-7EC1E682656E}"/>
              </a:ext>
            </a:extLst>
          </p:cNvPr>
          <p:cNvSpPr>
            <a:spLocks noGrp="1"/>
          </p:cNvSpPr>
          <p:nvPr>
            <p:ph idx="1"/>
          </p:nvPr>
        </p:nvSpPr>
        <p:spPr>
          <a:xfrm>
            <a:off x="838200" y="3165231"/>
            <a:ext cx="10515600" cy="3011732"/>
          </a:xfrm>
        </p:spPr>
        <p:txBody>
          <a:bodyPr>
            <a:normAutofit/>
          </a:bodyPr>
          <a:lstStyle/>
          <a:p>
            <a:pPr marL="0" indent="0" algn="ctr">
              <a:buNone/>
            </a:pPr>
            <a:r>
              <a:rPr lang="en-US" sz="3200" u="sng" dirty="0">
                <a:effectLst>
                  <a:outerShdw blurRad="38100" dist="38100" dir="2700000" algn="tl">
                    <a:srgbClr val="000000">
                      <a:alpha val="43137"/>
                    </a:srgbClr>
                  </a:outerShdw>
                </a:effectLst>
              </a:rPr>
              <a:t>DEBATE</a:t>
            </a:r>
            <a:r>
              <a:rPr lang="en-US" sz="3200" dirty="0"/>
              <a:t> </a:t>
            </a:r>
          </a:p>
          <a:p>
            <a:pPr marL="0" indent="0">
              <a:buNone/>
            </a:pPr>
            <a:r>
              <a:rPr lang="en-US" sz="3200" dirty="0"/>
              <a:t>MOTION: PLANTS AND ANIMALS CAN LIVE AND SURVIVE ENITRELY INDEPENDENT OF EACH OTHER</a:t>
            </a:r>
            <a:endParaRPr lang="en-UG" sz="3200" dirty="0"/>
          </a:p>
        </p:txBody>
      </p:sp>
    </p:spTree>
    <p:extLst>
      <p:ext uri="{BB962C8B-B14F-4D97-AF65-F5344CB8AC3E}">
        <p14:creationId xmlns:p14="http://schemas.microsoft.com/office/powerpoint/2010/main" val="11364044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B1837-E583-3B46-4670-F4C5379C3A92}"/>
              </a:ext>
            </a:extLst>
          </p:cNvPr>
          <p:cNvSpPr>
            <a:spLocks noGrp="1"/>
          </p:cNvSpPr>
          <p:nvPr>
            <p:ph type="title"/>
          </p:nvPr>
        </p:nvSpPr>
        <p:spPr>
          <a:xfrm>
            <a:off x="838200" y="13428"/>
            <a:ext cx="10515600" cy="667609"/>
          </a:xfrm>
        </p:spPr>
        <p:txBody>
          <a:bodyPr>
            <a:normAutofit fontScale="90000"/>
          </a:bodyPr>
          <a:lstStyle/>
          <a:p>
            <a:pPr algn="ctr"/>
            <a:r>
              <a:rPr lang="en-US" b="1" u="sng" dirty="0">
                <a:effectLst>
                  <a:outerShdw blurRad="38100" dist="38100" dir="2700000" algn="tl">
                    <a:srgbClr val="000000">
                      <a:alpha val="43137"/>
                    </a:srgbClr>
                  </a:outerShdw>
                </a:effectLst>
              </a:rPr>
              <a:t>Interdependency of plants and animals</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558109AA-649A-2031-8841-6F04D0CB76D8}"/>
              </a:ext>
            </a:extLst>
          </p:cNvPr>
          <p:cNvSpPr>
            <a:spLocks noGrp="1"/>
          </p:cNvSpPr>
          <p:nvPr>
            <p:ph idx="1"/>
          </p:nvPr>
        </p:nvSpPr>
        <p:spPr>
          <a:xfrm>
            <a:off x="208670" y="1028246"/>
            <a:ext cx="11774659" cy="4992724"/>
          </a:xfrm>
        </p:spPr>
        <p:txBody>
          <a:bodyPr>
            <a:noAutofit/>
          </a:bodyPr>
          <a:lstStyle/>
          <a:p>
            <a:pPr marL="514350" indent="-514350" algn="just">
              <a:buAutoNum type="arabicPeriod"/>
            </a:pPr>
            <a:r>
              <a:rPr lang="en-US" sz="3200" dirty="0"/>
              <a:t>Plants produce oxygen used by animals. Animals exhale carbon dioxide used by plants for photosynthesis.</a:t>
            </a:r>
          </a:p>
          <a:p>
            <a:pPr marL="514350" indent="-514350" algn="just">
              <a:buAutoNum type="arabicPeriod"/>
            </a:pPr>
            <a:r>
              <a:rPr lang="en-US" sz="3200" dirty="0"/>
              <a:t>Animals need plants for food and shelter. </a:t>
            </a:r>
          </a:p>
          <a:p>
            <a:pPr marL="514350" indent="-514350" algn="just">
              <a:buAutoNum type="arabicPeriod"/>
            </a:pPr>
            <a:r>
              <a:rPr lang="en-US" sz="3200" dirty="0"/>
              <a:t>Plants need animals for seed dispersal and pollination. </a:t>
            </a:r>
          </a:p>
          <a:p>
            <a:pPr marL="514350" indent="-514350" algn="just">
              <a:buAutoNum type="arabicPeriod"/>
            </a:pPr>
            <a:r>
              <a:rPr lang="en-US" sz="3200" dirty="0"/>
              <a:t>Some animals eat plants.</a:t>
            </a:r>
          </a:p>
          <a:p>
            <a:pPr marL="514350" indent="-514350" algn="just">
              <a:buAutoNum type="arabicPeriod"/>
            </a:pPr>
            <a:r>
              <a:rPr lang="en-US" sz="3200" dirty="0"/>
              <a:t>When animals die and decompose, the plants use the nutrients that were deposited back into the soil from the decomposing organism. </a:t>
            </a:r>
          </a:p>
          <a:p>
            <a:pPr marL="514350" indent="-514350" algn="just">
              <a:buAutoNum type="arabicPeriod"/>
            </a:pPr>
            <a:r>
              <a:rPr lang="en-US" sz="3200" dirty="0"/>
              <a:t>Forests and wetlands filter water so it is clean, and animals need clean water to drink.</a:t>
            </a:r>
            <a:endParaRPr lang="en-UG" sz="3200" dirty="0"/>
          </a:p>
        </p:txBody>
      </p:sp>
    </p:spTree>
    <p:extLst>
      <p:ext uri="{BB962C8B-B14F-4D97-AF65-F5344CB8AC3E}">
        <p14:creationId xmlns:p14="http://schemas.microsoft.com/office/powerpoint/2010/main" val="14700287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550602-0D67-6366-9D69-655DA318435C}"/>
              </a:ext>
            </a:extLst>
          </p:cNvPr>
          <p:cNvPicPr>
            <a:picLocks noChangeAspect="1"/>
          </p:cNvPicPr>
          <p:nvPr/>
        </p:nvPicPr>
        <p:blipFill rotWithShape="1">
          <a:blip r:embed="rId2"/>
          <a:srcRect l="4295" t="2604"/>
          <a:stretch/>
        </p:blipFill>
        <p:spPr>
          <a:xfrm>
            <a:off x="0" y="0"/>
            <a:ext cx="12192000" cy="6858000"/>
          </a:xfrm>
          <a:prstGeom prst="rect">
            <a:avLst/>
          </a:prstGeom>
        </p:spPr>
      </p:pic>
    </p:spTree>
    <p:extLst>
      <p:ext uri="{BB962C8B-B14F-4D97-AF65-F5344CB8AC3E}">
        <p14:creationId xmlns:p14="http://schemas.microsoft.com/office/powerpoint/2010/main" val="28458292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7B741E-B3C8-833F-F48A-C62A290F6A6A}"/>
              </a:ext>
            </a:extLst>
          </p:cNvPr>
          <p:cNvSpPr>
            <a:spLocks noGrp="1"/>
          </p:cNvSpPr>
          <p:nvPr>
            <p:ph idx="1"/>
          </p:nvPr>
        </p:nvSpPr>
        <p:spPr>
          <a:xfrm>
            <a:off x="4490357" y="0"/>
            <a:ext cx="7701643" cy="6858000"/>
          </a:xfrm>
        </p:spPr>
        <p:txBody>
          <a:bodyPr>
            <a:normAutofit/>
          </a:bodyPr>
          <a:lstStyle/>
          <a:p>
            <a:endParaRPr lang="en-US" sz="3200" dirty="0"/>
          </a:p>
          <a:p>
            <a:endParaRPr lang="en-US" sz="3200" dirty="0"/>
          </a:p>
          <a:p>
            <a:endParaRPr lang="en-US" sz="3200" dirty="0"/>
          </a:p>
          <a:p>
            <a:endParaRPr lang="en-US" sz="3200" dirty="0"/>
          </a:p>
          <a:p>
            <a:endParaRPr lang="en-US" sz="3200" dirty="0"/>
          </a:p>
          <a:p>
            <a:r>
              <a:rPr lang="en-US" sz="3200" dirty="0"/>
              <a:t>Why is it important to have plants around the homestead?</a:t>
            </a:r>
          </a:p>
          <a:p>
            <a:r>
              <a:rPr lang="en-US" sz="3200" dirty="0"/>
              <a:t>Why is it dangerous to have plants indoors?</a:t>
            </a:r>
            <a:endParaRPr lang="en-UG" sz="3200" dirty="0"/>
          </a:p>
        </p:txBody>
      </p:sp>
      <p:pic>
        <p:nvPicPr>
          <p:cNvPr id="4" name="Picture 2" descr="Lesson on Identifying the Outcome and the Problem. - Project Accelerator  News">
            <a:extLst>
              <a:ext uri="{FF2B5EF4-FFF2-40B4-BE49-F238E27FC236}">
                <a16:creationId xmlns:a16="http://schemas.microsoft.com/office/drawing/2014/main" id="{EDF92B78-DB59-87A7-F1F3-72BC80E07D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45" t="4718" r="23707" b="9129"/>
          <a:stretch/>
        </p:blipFill>
        <p:spPr bwMode="auto">
          <a:xfrm>
            <a:off x="0" y="0"/>
            <a:ext cx="449035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32462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3B0B-784C-6854-57D7-4604896E394A}"/>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ANAEROBIC RESPIRATION </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7CFCF011-8AC4-9323-DC4E-F35CFB485F79}"/>
              </a:ext>
            </a:extLst>
          </p:cNvPr>
          <p:cNvSpPr>
            <a:spLocks noGrp="1"/>
          </p:cNvSpPr>
          <p:nvPr>
            <p:ph idx="1"/>
          </p:nvPr>
        </p:nvSpPr>
        <p:spPr/>
        <p:txBody>
          <a:bodyPr>
            <a:normAutofit/>
          </a:bodyPr>
          <a:lstStyle/>
          <a:p>
            <a:r>
              <a:rPr lang="en-US" sz="3200" dirty="0"/>
              <a:t>This is the breakdown of glucose in the absence of oxygen to release energy.</a:t>
            </a:r>
          </a:p>
          <a:p>
            <a:r>
              <a:rPr lang="en-US" sz="3200" dirty="0"/>
              <a:t>It is also known as fermentation.</a:t>
            </a:r>
          </a:p>
          <a:p>
            <a:r>
              <a:rPr lang="en-US" sz="3200" dirty="0"/>
              <a:t>It occurs only in the cytoplasm of the cell.</a:t>
            </a:r>
          </a:p>
          <a:p>
            <a:r>
              <a:rPr lang="en-US" sz="3200" dirty="0"/>
              <a:t>Organisms that respire anaerobically are called anaerobes.</a:t>
            </a:r>
          </a:p>
          <a:p>
            <a:r>
              <a:rPr lang="en-US" sz="3200" dirty="0"/>
              <a:t>Anaerobic respiration occurs in plants, fungi, animals and some bacteria.</a:t>
            </a:r>
          </a:p>
          <a:p>
            <a:endParaRPr lang="en-UG" sz="3200" dirty="0"/>
          </a:p>
        </p:txBody>
      </p:sp>
    </p:spTree>
    <p:extLst>
      <p:ext uri="{BB962C8B-B14F-4D97-AF65-F5344CB8AC3E}">
        <p14:creationId xmlns:p14="http://schemas.microsoft.com/office/powerpoint/2010/main" val="29192444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746B3-F613-621E-64FC-84357C198F83}"/>
              </a:ext>
            </a:extLst>
          </p:cNvPr>
          <p:cNvSpPr>
            <a:spLocks noGrp="1"/>
          </p:cNvSpPr>
          <p:nvPr>
            <p:ph type="title"/>
          </p:nvPr>
        </p:nvSpPr>
        <p:spPr/>
        <p:txBody>
          <a:bodyPr/>
          <a:lstStyle/>
          <a:p>
            <a:r>
              <a:rPr lang="en-US" sz="4400" dirty="0"/>
              <a:t>Types of anaerobes</a:t>
            </a:r>
            <a:endParaRPr lang="en-UG" dirty="0"/>
          </a:p>
        </p:txBody>
      </p:sp>
      <p:sp>
        <p:nvSpPr>
          <p:cNvPr id="3" name="Content Placeholder 2">
            <a:extLst>
              <a:ext uri="{FF2B5EF4-FFF2-40B4-BE49-F238E27FC236}">
                <a16:creationId xmlns:a16="http://schemas.microsoft.com/office/drawing/2014/main" id="{54A28EAC-EC58-E025-D74D-5953E17C024D}"/>
              </a:ext>
            </a:extLst>
          </p:cNvPr>
          <p:cNvSpPr>
            <a:spLocks noGrp="1"/>
          </p:cNvSpPr>
          <p:nvPr>
            <p:ph idx="1"/>
          </p:nvPr>
        </p:nvSpPr>
        <p:spPr/>
        <p:txBody>
          <a:bodyPr>
            <a:normAutofit/>
          </a:bodyPr>
          <a:lstStyle/>
          <a:p>
            <a:pPr algn="just"/>
            <a:endParaRPr lang="en-US" sz="3200" dirty="0"/>
          </a:p>
          <a:p>
            <a:pPr marL="571500" indent="-571500" algn="just">
              <a:buFont typeface="+mj-lt"/>
              <a:buAutoNum type="romanLcPeriod"/>
            </a:pPr>
            <a:r>
              <a:rPr lang="en-US" sz="3200" dirty="0"/>
              <a:t>Incomplete or facultative anaerobes; can respire both in the presence or absence of oxygen.</a:t>
            </a:r>
          </a:p>
          <a:p>
            <a:pPr marL="571500" indent="-571500" algn="just">
              <a:buFont typeface="+mj-lt"/>
              <a:buAutoNum type="romanLcPeriod"/>
            </a:pPr>
            <a:r>
              <a:rPr lang="en-US" sz="3200" dirty="0"/>
              <a:t>Complete or obligate anaerobes; can only survive in the absence of oxygen. Presence of oxygen become poisonous to them.</a:t>
            </a:r>
          </a:p>
          <a:p>
            <a:pPr algn="just"/>
            <a:endParaRPr lang="en-UG" sz="3200" dirty="0"/>
          </a:p>
        </p:txBody>
      </p:sp>
    </p:spTree>
    <p:extLst>
      <p:ext uri="{BB962C8B-B14F-4D97-AF65-F5344CB8AC3E}">
        <p14:creationId xmlns:p14="http://schemas.microsoft.com/office/powerpoint/2010/main" val="1943460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A1E35-8EE6-B31A-D882-D97CD980285F}"/>
              </a:ext>
            </a:extLst>
          </p:cNvPr>
          <p:cNvSpPr>
            <a:spLocks noGrp="1"/>
          </p:cNvSpPr>
          <p:nvPr>
            <p:ph type="title"/>
          </p:nvPr>
        </p:nvSpPr>
        <p:spPr>
          <a:xfrm>
            <a:off x="140677" y="27501"/>
            <a:ext cx="12051323" cy="689952"/>
          </a:xfrm>
        </p:spPr>
        <p:txBody>
          <a:bodyPr>
            <a:normAutofit/>
          </a:bodyPr>
          <a:lstStyle/>
          <a:p>
            <a:pPr algn="ctr"/>
            <a:r>
              <a:rPr lang="en-US" sz="4000" b="1" u="sng" dirty="0">
                <a:effectLst>
                  <a:outerShdw blurRad="38100" dist="38100" dir="2700000" algn="tl">
                    <a:srgbClr val="000000">
                      <a:alpha val="43137"/>
                    </a:srgbClr>
                  </a:outerShdw>
                </a:effectLst>
              </a:rPr>
              <a:t>Conditions where organisms use anaerobic respiration</a:t>
            </a:r>
            <a:endParaRPr lang="en-UG" sz="4000"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22B56096-0E63-DA9A-EAFB-50DCFEDE79A0}"/>
              </a:ext>
            </a:extLst>
          </p:cNvPr>
          <p:cNvSpPr>
            <a:spLocks noGrp="1"/>
          </p:cNvSpPr>
          <p:nvPr>
            <p:ph idx="1"/>
          </p:nvPr>
        </p:nvSpPr>
        <p:spPr>
          <a:xfrm>
            <a:off x="314178" y="717453"/>
            <a:ext cx="11563643" cy="5992836"/>
          </a:xfrm>
        </p:spPr>
        <p:txBody>
          <a:bodyPr>
            <a:noAutofit/>
          </a:bodyPr>
          <a:lstStyle/>
          <a:p>
            <a:pPr algn="just"/>
            <a:r>
              <a:rPr lang="en-US" sz="3200" dirty="0"/>
              <a:t>Both animals and plants respire anaerobically, when subjected to conditions of little or no oxygen supply.</a:t>
            </a:r>
          </a:p>
          <a:p>
            <a:pPr marL="0" indent="0" algn="just">
              <a:buNone/>
            </a:pPr>
            <a:r>
              <a:rPr lang="en-US" sz="3200" dirty="0"/>
              <a:t>In plants:</a:t>
            </a:r>
          </a:p>
          <a:p>
            <a:pPr algn="just"/>
            <a:r>
              <a:rPr lang="en-US" sz="3200" dirty="0"/>
              <a:t>Roots growing in water logged soils since water-logged soils lack adequate oxygen.</a:t>
            </a:r>
          </a:p>
          <a:p>
            <a:pPr marL="0" indent="0" algn="just">
              <a:buNone/>
            </a:pPr>
            <a:r>
              <a:rPr lang="en-US" sz="3200" dirty="0"/>
              <a:t>In animals:</a:t>
            </a:r>
          </a:p>
          <a:p>
            <a:pPr algn="just"/>
            <a:r>
              <a:rPr lang="en-US" sz="3200" dirty="0"/>
              <a:t>During intense muscular activity like sprinting, boxing, weight lifting, etc. as oxygen supply to the muscles is not enough to meet body demands.</a:t>
            </a:r>
          </a:p>
          <a:p>
            <a:pPr algn="just"/>
            <a:r>
              <a:rPr lang="en-US" sz="3200" dirty="0"/>
              <a:t>Endoparasites such as tapeworms and roundworms live in areas such as gut which contain inadequate oxygen. </a:t>
            </a:r>
            <a:endParaRPr lang="en-UG" sz="3200" dirty="0"/>
          </a:p>
        </p:txBody>
      </p:sp>
    </p:spTree>
    <p:extLst>
      <p:ext uri="{BB962C8B-B14F-4D97-AF65-F5344CB8AC3E}">
        <p14:creationId xmlns:p14="http://schemas.microsoft.com/office/powerpoint/2010/main" val="1402591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BE99B-0FE5-4FB1-6EEF-20306D5530BA}"/>
              </a:ext>
            </a:extLst>
          </p:cNvPr>
          <p:cNvSpPr>
            <a:spLocks noGrp="1"/>
          </p:cNvSpPr>
          <p:nvPr>
            <p:ph type="title"/>
          </p:nvPr>
        </p:nvSpPr>
        <p:spPr>
          <a:xfrm>
            <a:off x="838200" y="934251"/>
            <a:ext cx="10515600" cy="576777"/>
          </a:xfrm>
        </p:spPr>
        <p:txBody>
          <a:bodyPr>
            <a:normAutofit fontScale="90000"/>
          </a:bodyPr>
          <a:lstStyle/>
          <a:p>
            <a:pPr algn="ctr"/>
            <a:r>
              <a:rPr lang="en-US" b="1" u="sng" dirty="0">
                <a:effectLst>
                  <a:outerShdw blurRad="38100" dist="38100" dir="2700000" algn="tl">
                    <a:srgbClr val="000000">
                      <a:alpha val="43137"/>
                    </a:srgbClr>
                  </a:outerShdw>
                </a:effectLst>
              </a:rPr>
              <a:t>Process of anaerobic respiration</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A9D03B1E-FD6C-ED18-E030-C7AC50563994}"/>
              </a:ext>
            </a:extLst>
          </p:cNvPr>
          <p:cNvSpPr>
            <a:spLocks noGrp="1"/>
          </p:cNvSpPr>
          <p:nvPr>
            <p:ph idx="1"/>
          </p:nvPr>
        </p:nvSpPr>
        <p:spPr>
          <a:xfrm>
            <a:off x="838199" y="1941342"/>
            <a:ext cx="10908323" cy="4235621"/>
          </a:xfrm>
        </p:spPr>
        <p:txBody>
          <a:bodyPr>
            <a:normAutofit/>
          </a:bodyPr>
          <a:lstStyle/>
          <a:p>
            <a:pPr algn="just"/>
            <a:r>
              <a:rPr lang="en-US" sz="3600" dirty="0"/>
              <a:t>It occurs in cytoplasm of the cell.</a:t>
            </a:r>
          </a:p>
          <a:p>
            <a:pPr algn="just"/>
            <a:r>
              <a:rPr lang="en-US" sz="3600" dirty="0"/>
              <a:t>It involves glycolysis which results in production of two ATP molecules, hydrogen atoms and pyruvate from one glucose molecule. </a:t>
            </a:r>
          </a:p>
          <a:p>
            <a:pPr algn="just"/>
            <a:r>
              <a:rPr lang="en-US" sz="3600" dirty="0"/>
              <a:t>The pyruvate undergoes fermentation which can be alcoholic or lactic acid (lactate) fermentation</a:t>
            </a:r>
            <a:endParaRPr lang="en-UG" sz="3600" dirty="0"/>
          </a:p>
        </p:txBody>
      </p:sp>
    </p:spTree>
    <p:extLst>
      <p:ext uri="{BB962C8B-B14F-4D97-AF65-F5344CB8AC3E}">
        <p14:creationId xmlns:p14="http://schemas.microsoft.com/office/powerpoint/2010/main" val="28438932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CC1B02-EA84-F555-D78D-91BEA4AFC9E8}"/>
              </a:ext>
            </a:extLst>
          </p:cNvPr>
          <p:cNvSpPr>
            <a:spLocks noGrp="1"/>
          </p:cNvSpPr>
          <p:nvPr>
            <p:ph idx="1"/>
          </p:nvPr>
        </p:nvSpPr>
        <p:spPr>
          <a:xfrm>
            <a:off x="838200" y="351692"/>
            <a:ext cx="10515600" cy="5825271"/>
          </a:xfrm>
        </p:spPr>
        <p:txBody>
          <a:bodyPr/>
          <a:lstStyle/>
          <a:p>
            <a:pPr marL="0" indent="0" algn="just">
              <a:buNone/>
            </a:pPr>
            <a:r>
              <a:rPr lang="en-US" sz="3600" dirty="0"/>
              <a:t>(a) Alcoholic fermentation</a:t>
            </a:r>
          </a:p>
          <a:p>
            <a:pPr algn="just"/>
            <a:r>
              <a:rPr lang="en-US" sz="3600" dirty="0"/>
              <a:t>This occurs in yeast and plants. </a:t>
            </a:r>
          </a:p>
          <a:p>
            <a:pPr algn="just"/>
            <a:r>
              <a:rPr lang="en-US" sz="3600" dirty="0"/>
              <a:t>Produces ethanol (alcohol), carbon dioxide and energy.</a:t>
            </a:r>
          </a:p>
          <a:p>
            <a:pPr marL="0" indent="0">
              <a:buNone/>
            </a:pPr>
            <a:endParaRPr lang="en-UG" dirty="0"/>
          </a:p>
        </p:txBody>
      </p:sp>
      <p:pic>
        <p:nvPicPr>
          <p:cNvPr id="7" name="Picture 6">
            <a:extLst>
              <a:ext uri="{FF2B5EF4-FFF2-40B4-BE49-F238E27FC236}">
                <a16:creationId xmlns:a16="http://schemas.microsoft.com/office/drawing/2014/main" id="{66E87C82-1EF5-9D65-B7A0-704D1EF71156}"/>
              </a:ext>
            </a:extLst>
          </p:cNvPr>
          <p:cNvPicPr>
            <a:picLocks noChangeAspect="1"/>
          </p:cNvPicPr>
          <p:nvPr/>
        </p:nvPicPr>
        <p:blipFill>
          <a:blip r:embed="rId2"/>
          <a:stretch>
            <a:fillRect/>
          </a:stretch>
        </p:blipFill>
        <p:spPr>
          <a:xfrm>
            <a:off x="914400" y="3429000"/>
            <a:ext cx="10363200" cy="1276350"/>
          </a:xfrm>
          <a:prstGeom prst="rect">
            <a:avLst/>
          </a:prstGeom>
        </p:spPr>
      </p:pic>
    </p:spTree>
    <p:extLst>
      <p:ext uri="{BB962C8B-B14F-4D97-AF65-F5344CB8AC3E}">
        <p14:creationId xmlns:p14="http://schemas.microsoft.com/office/powerpoint/2010/main" val="38021545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34F7CC-EBF9-2289-5989-44B13718CA3D}"/>
              </a:ext>
            </a:extLst>
          </p:cNvPr>
          <p:cNvSpPr>
            <a:spLocks noGrp="1"/>
          </p:cNvSpPr>
          <p:nvPr>
            <p:ph idx="1"/>
          </p:nvPr>
        </p:nvSpPr>
        <p:spPr/>
        <p:txBody>
          <a:bodyPr>
            <a:normAutofit/>
          </a:bodyPr>
          <a:lstStyle/>
          <a:p>
            <a:pPr marL="0" indent="0" algn="just">
              <a:buNone/>
            </a:pPr>
            <a:r>
              <a:rPr lang="en-US" sz="3600" dirty="0"/>
              <a:t>(b) Lactic Acid Fermentation</a:t>
            </a:r>
          </a:p>
          <a:p>
            <a:pPr algn="just"/>
            <a:r>
              <a:rPr lang="en-US" sz="3600" dirty="0"/>
              <a:t>This occurs in animals. </a:t>
            </a:r>
          </a:p>
          <a:p>
            <a:pPr algn="just"/>
            <a:r>
              <a:rPr lang="en-US" sz="3600" dirty="0"/>
              <a:t>It produces lactic acid (lactate) and energy only.</a:t>
            </a:r>
          </a:p>
          <a:p>
            <a:endParaRPr lang="en-UG" sz="3600" dirty="0"/>
          </a:p>
        </p:txBody>
      </p:sp>
      <p:pic>
        <p:nvPicPr>
          <p:cNvPr id="5" name="Picture 4">
            <a:extLst>
              <a:ext uri="{FF2B5EF4-FFF2-40B4-BE49-F238E27FC236}">
                <a16:creationId xmlns:a16="http://schemas.microsoft.com/office/drawing/2014/main" id="{BC75A926-9217-385B-CC80-59B6822B734E}"/>
              </a:ext>
            </a:extLst>
          </p:cNvPr>
          <p:cNvPicPr>
            <a:picLocks noChangeAspect="1"/>
          </p:cNvPicPr>
          <p:nvPr/>
        </p:nvPicPr>
        <p:blipFill>
          <a:blip r:embed="rId2"/>
          <a:stretch>
            <a:fillRect/>
          </a:stretch>
        </p:blipFill>
        <p:spPr>
          <a:xfrm>
            <a:off x="949789" y="4001294"/>
            <a:ext cx="10698260" cy="1679892"/>
          </a:xfrm>
          <a:prstGeom prst="rect">
            <a:avLst/>
          </a:prstGeom>
        </p:spPr>
      </p:pic>
    </p:spTree>
    <p:extLst>
      <p:ext uri="{BB962C8B-B14F-4D97-AF65-F5344CB8AC3E}">
        <p14:creationId xmlns:p14="http://schemas.microsoft.com/office/powerpoint/2010/main" val="41080561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9EC421-2EDC-D6F3-3D54-97D1459058C5}"/>
              </a:ext>
            </a:extLst>
          </p:cNvPr>
          <p:cNvSpPr>
            <a:spLocks noGrp="1"/>
          </p:cNvSpPr>
          <p:nvPr>
            <p:ph idx="1"/>
          </p:nvPr>
        </p:nvSpPr>
        <p:spPr>
          <a:xfrm>
            <a:off x="211015" y="323557"/>
            <a:ext cx="11802793" cy="5853406"/>
          </a:xfrm>
        </p:spPr>
        <p:txBody>
          <a:bodyPr>
            <a:noAutofit/>
          </a:bodyPr>
          <a:lstStyle/>
          <a:p>
            <a:pPr marL="0" indent="0" algn="just">
              <a:buNone/>
            </a:pPr>
            <a:r>
              <a:rPr lang="en-US" sz="3200" dirty="0"/>
              <a:t>Lactic Acid:</a:t>
            </a:r>
          </a:p>
          <a:p>
            <a:pPr algn="just"/>
            <a:r>
              <a:rPr lang="en-US" sz="3200" dirty="0"/>
              <a:t>Builds up in muscles and blood during vigorous exercise</a:t>
            </a:r>
          </a:p>
          <a:p>
            <a:pPr algn="just"/>
            <a:r>
              <a:rPr lang="en-US" sz="3200" dirty="0"/>
              <a:t>When lactic acid accumulates in a muscle during intense exercise, it causes pain (cramps), fatigue, and stiffness. This results in the muscle not contracting efficiently. Therefore, lactic acid must be broken down as soon as possible after the exercise.</a:t>
            </a:r>
          </a:p>
          <a:p>
            <a:pPr algn="just"/>
            <a:r>
              <a:rPr lang="en-US" sz="3200" dirty="0"/>
              <a:t>The heart, liver and kidneys need extra oxygen to eliminate it, which causes you to continue breathing heavily after exercise.</a:t>
            </a:r>
          </a:p>
          <a:p>
            <a:pPr algn="just"/>
            <a:r>
              <a:rPr lang="en-US" sz="3200" dirty="0"/>
              <a:t>The extra oxygen is called the</a:t>
            </a:r>
            <a:r>
              <a:rPr lang="en-US" sz="3200" b="1" u="sng" dirty="0"/>
              <a:t> oxygen debt</a:t>
            </a:r>
            <a:r>
              <a:rPr lang="en-US" sz="3200" dirty="0"/>
              <a:t>.</a:t>
            </a:r>
          </a:p>
        </p:txBody>
      </p:sp>
    </p:spTree>
    <p:extLst>
      <p:ext uri="{BB962C8B-B14F-4D97-AF65-F5344CB8AC3E}">
        <p14:creationId xmlns:p14="http://schemas.microsoft.com/office/powerpoint/2010/main" val="21417619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B0201B-45D8-ECF5-FEAB-0E1467B42341}"/>
              </a:ext>
            </a:extLst>
          </p:cNvPr>
          <p:cNvSpPr>
            <a:spLocks noGrp="1"/>
          </p:cNvSpPr>
          <p:nvPr>
            <p:ph idx="1"/>
          </p:nvPr>
        </p:nvSpPr>
        <p:spPr/>
        <p:txBody>
          <a:bodyPr>
            <a:normAutofit/>
          </a:bodyPr>
          <a:lstStyle/>
          <a:p>
            <a:pPr algn="just"/>
            <a:r>
              <a:rPr lang="en-US" sz="3200" dirty="0"/>
              <a:t>Latic acid is removed by:</a:t>
            </a:r>
          </a:p>
          <a:p>
            <a:pPr algn="just">
              <a:buFont typeface="Wingdings" panose="05000000000000000000" pitchFamily="2" charset="2"/>
              <a:buChar char="Ø"/>
            </a:pPr>
            <a:r>
              <a:rPr lang="en-US" sz="3200" dirty="0"/>
              <a:t>continuation of deeper and faster breathing to supply oxygen for aerobic respiration of lactic in the liver</a:t>
            </a:r>
            <a:endParaRPr lang="en-UG" sz="3200" dirty="0"/>
          </a:p>
          <a:p>
            <a:pPr algn="just">
              <a:buFont typeface="Wingdings" panose="05000000000000000000" pitchFamily="2" charset="2"/>
              <a:buChar char="Ø"/>
            </a:pPr>
            <a:r>
              <a:rPr lang="en-US" sz="3200" dirty="0"/>
              <a:t>continuation of fast heart rate to transport lactic acid in the blood from the muscles to the liver</a:t>
            </a:r>
          </a:p>
          <a:p>
            <a:pPr marL="0" indent="0" algn="just">
              <a:buNone/>
            </a:pPr>
            <a:endParaRPr lang="en-UG" sz="3200" dirty="0"/>
          </a:p>
          <a:p>
            <a:pPr algn="just"/>
            <a:endParaRPr lang="en-UG" sz="3200" dirty="0"/>
          </a:p>
          <a:p>
            <a:pPr algn="just"/>
            <a:endParaRPr lang="en-UG" sz="3200" dirty="0"/>
          </a:p>
        </p:txBody>
      </p:sp>
    </p:spTree>
    <p:extLst>
      <p:ext uri="{BB962C8B-B14F-4D97-AF65-F5344CB8AC3E}">
        <p14:creationId xmlns:p14="http://schemas.microsoft.com/office/powerpoint/2010/main" val="40433792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E6F34-C8C5-491B-CB83-08A0366608C1}"/>
              </a:ext>
            </a:extLst>
          </p:cNvPr>
          <p:cNvSpPr>
            <a:spLocks noGrp="1"/>
          </p:cNvSpPr>
          <p:nvPr>
            <p:ph type="title"/>
          </p:nvPr>
        </p:nvSpPr>
        <p:spPr>
          <a:xfrm>
            <a:off x="0" y="13431"/>
            <a:ext cx="12192000" cy="1325563"/>
          </a:xfrm>
        </p:spPr>
        <p:txBody>
          <a:bodyPr/>
          <a:lstStyle/>
          <a:p>
            <a:pPr algn="ctr"/>
            <a:r>
              <a:rPr lang="en-US" u="sng" dirty="0">
                <a:effectLst>
                  <a:outerShdw blurRad="38100" dist="38100" dir="2700000" algn="tl">
                    <a:srgbClr val="000000">
                      <a:alpha val="43137"/>
                    </a:srgbClr>
                  </a:outerShdw>
                </a:effectLst>
              </a:rPr>
              <a:t>Graph showing change in lactic acid concentration during and after exercise</a:t>
            </a:r>
            <a:endParaRPr lang="en-UG"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0DA8B772-5BCE-F116-B848-12D82D538737}"/>
              </a:ext>
            </a:extLst>
          </p:cNvPr>
          <p:cNvSpPr>
            <a:spLocks noGrp="1"/>
          </p:cNvSpPr>
          <p:nvPr>
            <p:ph idx="1"/>
          </p:nvPr>
        </p:nvSpPr>
        <p:spPr/>
        <p:txBody>
          <a:bodyPr/>
          <a:lstStyle/>
          <a:p>
            <a:endParaRPr lang="en-UG" dirty="0"/>
          </a:p>
        </p:txBody>
      </p:sp>
      <p:pic>
        <p:nvPicPr>
          <p:cNvPr id="3074" name="Picture 3">
            <a:extLst>
              <a:ext uri="{FF2B5EF4-FFF2-40B4-BE49-F238E27FC236}">
                <a16:creationId xmlns:a16="http://schemas.microsoft.com/office/drawing/2014/main" id="{C820FA2D-48F4-A07F-920C-771F70DC1A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56786"/>
            <a:ext cx="12191999" cy="56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55627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067D2-4EEA-CFA0-6258-3D891D92A3AC}"/>
              </a:ext>
            </a:extLst>
          </p:cNvPr>
          <p:cNvSpPr>
            <a:spLocks noGrp="1"/>
          </p:cNvSpPr>
          <p:nvPr>
            <p:ph type="title"/>
          </p:nvPr>
        </p:nvSpPr>
        <p:spPr>
          <a:xfrm>
            <a:off x="838200" y="41566"/>
            <a:ext cx="10515600" cy="464871"/>
          </a:xfrm>
        </p:spPr>
        <p:txBody>
          <a:bodyPr>
            <a:normAutofit fontScale="90000"/>
          </a:bodyPr>
          <a:lstStyle/>
          <a:p>
            <a:r>
              <a:rPr lang="en-US" dirty="0"/>
              <a:t>Explanation</a:t>
            </a:r>
            <a:endParaRPr lang="en-UG" dirty="0"/>
          </a:p>
        </p:txBody>
      </p:sp>
      <p:sp>
        <p:nvSpPr>
          <p:cNvPr id="3" name="Content Placeholder 2">
            <a:extLst>
              <a:ext uri="{FF2B5EF4-FFF2-40B4-BE49-F238E27FC236}">
                <a16:creationId xmlns:a16="http://schemas.microsoft.com/office/drawing/2014/main" id="{6F3DF3DF-1323-4C00-1A35-C8CE26FC1B38}"/>
              </a:ext>
            </a:extLst>
          </p:cNvPr>
          <p:cNvSpPr>
            <a:spLocks noGrp="1"/>
          </p:cNvSpPr>
          <p:nvPr>
            <p:ph idx="1"/>
          </p:nvPr>
        </p:nvSpPr>
        <p:spPr>
          <a:xfrm>
            <a:off x="0" y="506436"/>
            <a:ext cx="12192000" cy="6351563"/>
          </a:xfrm>
        </p:spPr>
        <p:txBody>
          <a:bodyPr>
            <a:noAutofit/>
          </a:bodyPr>
          <a:lstStyle/>
          <a:p>
            <a:pPr algn="just"/>
            <a:r>
              <a:rPr lang="en-US" sz="3200" dirty="0"/>
              <a:t>Under normal activity/at rest, there is low concentration of lactic acid in blood. </a:t>
            </a:r>
          </a:p>
          <a:p>
            <a:pPr algn="just"/>
            <a:r>
              <a:rPr lang="en-US" sz="3200" dirty="0"/>
              <a:t>Lactic acid concentration increases rapidly during exercise until the end, because of increased rate of anaerobic respiration caused by little oxygen supply to meet body demands. Therefore, glucose is partially broken down to release energy and lactic acid which accumulates leading to rapid increase in its level. </a:t>
            </a:r>
          </a:p>
          <a:p>
            <a:pPr algn="just"/>
            <a:r>
              <a:rPr lang="en-US" sz="3200" dirty="0"/>
              <a:t>After the exercise, lactic acid concentration in the muscles reduces gradually, because lactic acid is being oxidized/broken down to CO2, H2O and more energy in the liver as more oxygen is taken in by breathing deeply. </a:t>
            </a:r>
          </a:p>
          <a:p>
            <a:pPr algn="just"/>
            <a:endParaRPr lang="en-UG" sz="3200" dirty="0"/>
          </a:p>
        </p:txBody>
      </p:sp>
      <p:pic>
        <p:nvPicPr>
          <p:cNvPr id="6" name="Picture 5">
            <a:extLst>
              <a:ext uri="{FF2B5EF4-FFF2-40B4-BE49-F238E27FC236}">
                <a16:creationId xmlns:a16="http://schemas.microsoft.com/office/drawing/2014/main" id="{91D4147F-F059-4C40-A8F3-3A56B95C6A39}"/>
              </a:ext>
            </a:extLst>
          </p:cNvPr>
          <p:cNvPicPr>
            <a:picLocks noChangeAspect="1"/>
          </p:cNvPicPr>
          <p:nvPr/>
        </p:nvPicPr>
        <p:blipFill>
          <a:blip r:embed="rId2"/>
          <a:stretch>
            <a:fillRect/>
          </a:stretch>
        </p:blipFill>
        <p:spPr>
          <a:xfrm>
            <a:off x="1221104" y="5592934"/>
            <a:ext cx="8766957" cy="1267200"/>
          </a:xfrm>
          <a:prstGeom prst="rect">
            <a:avLst/>
          </a:prstGeom>
        </p:spPr>
      </p:pic>
    </p:spTree>
    <p:extLst>
      <p:ext uri="{BB962C8B-B14F-4D97-AF65-F5344CB8AC3E}">
        <p14:creationId xmlns:p14="http://schemas.microsoft.com/office/powerpoint/2010/main" val="27677052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EC704E-5085-D9B7-B963-BE737A98C9D3}"/>
              </a:ext>
            </a:extLst>
          </p:cNvPr>
          <p:cNvSpPr>
            <a:spLocks noGrp="1"/>
          </p:cNvSpPr>
          <p:nvPr>
            <p:ph idx="1"/>
          </p:nvPr>
        </p:nvSpPr>
        <p:spPr>
          <a:xfrm>
            <a:off x="590843" y="1276643"/>
            <a:ext cx="11043140" cy="3618914"/>
          </a:xfrm>
        </p:spPr>
        <p:txBody>
          <a:bodyPr>
            <a:noAutofit/>
          </a:bodyPr>
          <a:lstStyle/>
          <a:p>
            <a:pPr marL="0" indent="0" algn="ctr">
              <a:buNone/>
            </a:pPr>
            <a:r>
              <a:rPr lang="en-US" sz="3200" u="sng" dirty="0">
                <a:effectLst>
                  <a:outerShdw blurRad="38100" dist="38100" dir="2700000" algn="tl">
                    <a:srgbClr val="000000">
                      <a:alpha val="43137"/>
                    </a:srgbClr>
                  </a:outerShdw>
                </a:effectLst>
              </a:rPr>
              <a:t> Disadvantages of Anaerobic Respiration</a:t>
            </a:r>
            <a:r>
              <a:rPr lang="en-US" sz="3200" dirty="0"/>
              <a:t> </a:t>
            </a:r>
          </a:p>
          <a:p>
            <a:pPr algn="just"/>
            <a:r>
              <a:rPr lang="en-US" sz="3200" dirty="0"/>
              <a:t>Produces little energy per glucose molecule than aerobic respiration. Absence of oxygen leads to partial breakdown of food hence energy is locked up in the intermediate substances formed (ethanol or lactic acid).</a:t>
            </a:r>
          </a:p>
          <a:p>
            <a:pPr algn="just"/>
            <a:r>
              <a:rPr lang="en-US" sz="3200" dirty="0"/>
              <a:t>Produces poisonous substances like lactic acid that can damage cells if allowed to accumulate.</a:t>
            </a:r>
          </a:p>
        </p:txBody>
      </p:sp>
    </p:spTree>
    <p:extLst>
      <p:ext uri="{BB962C8B-B14F-4D97-AF65-F5344CB8AC3E}">
        <p14:creationId xmlns:p14="http://schemas.microsoft.com/office/powerpoint/2010/main" val="36113641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21785-6002-03AF-4C24-84792071476F}"/>
              </a:ext>
            </a:extLst>
          </p:cNvPr>
          <p:cNvSpPr>
            <a:spLocks noGrp="1"/>
          </p:cNvSpPr>
          <p:nvPr>
            <p:ph type="title"/>
          </p:nvPr>
        </p:nvSpPr>
        <p:spPr>
          <a:xfrm>
            <a:off x="739726" y="18256"/>
            <a:ext cx="10515600" cy="938348"/>
          </a:xfrm>
        </p:spPr>
        <p:txBody>
          <a:bodyPr/>
          <a:lstStyle/>
          <a:p>
            <a:pPr algn="ctr"/>
            <a:r>
              <a:rPr lang="en-US" u="sng" dirty="0">
                <a:effectLst>
                  <a:outerShdw blurRad="38100" dist="38100" dir="2700000" algn="tl">
                    <a:srgbClr val="000000">
                      <a:alpha val="43137"/>
                    </a:srgbClr>
                  </a:outerShdw>
                </a:effectLst>
              </a:rPr>
              <a:t>Fermentation in yeast</a:t>
            </a:r>
            <a:endParaRPr lang="en-UG"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96740D07-3A93-F5CA-4992-D8B016C8D6EE}"/>
              </a:ext>
            </a:extLst>
          </p:cNvPr>
          <p:cNvSpPr>
            <a:spLocks noGrp="1"/>
          </p:cNvSpPr>
          <p:nvPr>
            <p:ph idx="1"/>
          </p:nvPr>
        </p:nvSpPr>
        <p:spPr>
          <a:xfrm>
            <a:off x="739726" y="956604"/>
            <a:ext cx="10515600" cy="4351338"/>
          </a:xfrm>
        </p:spPr>
        <p:txBody>
          <a:bodyPr>
            <a:noAutofit/>
          </a:bodyPr>
          <a:lstStyle/>
          <a:p>
            <a:pPr marL="0" indent="0" algn="ctr">
              <a:buNone/>
            </a:pPr>
            <a:r>
              <a:rPr lang="en-US" sz="3600" b="1" u="sng" dirty="0"/>
              <a:t>Experiment to show that yeast cells produce carbon dioxide during anaerobic respiration</a:t>
            </a:r>
          </a:p>
          <a:p>
            <a:pPr marL="0" indent="0" algn="just">
              <a:buNone/>
            </a:pPr>
            <a:endParaRPr lang="en-US" sz="3600" dirty="0"/>
          </a:p>
          <a:p>
            <a:pPr marL="0" indent="0" algn="just">
              <a:buNone/>
            </a:pPr>
            <a:r>
              <a:rPr lang="en-US" sz="3600" b="1" u="sng" dirty="0"/>
              <a:t>Materials </a:t>
            </a:r>
          </a:p>
          <a:p>
            <a:pPr marL="0" indent="0" algn="just">
              <a:buNone/>
            </a:pPr>
            <a:r>
              <a:rPr lang="en-US" sz="3600" dirty="0"/>
              <a:t>Yeast suspension, Glucose solution, Cooking oil/ paraffin, Lime water, Delivery tube, Test tubes, Pipette, Cork/rubber</a:t>
            </a:r>
          </a:p>
          <a:p>
            <a:pPr marL="0" indent="0" algn="just">
              <a:buNone/>
            </a:pPr>
            <a:r>
              <a:rPr lang="en-US" sz="3600" dirty="0"/>
              <a:t> </a:t>
            </a:r>
          </a:p>
          <a:p>
            <a:pPr marL="0" indent="0" algn="just">
              <a:buNone/>
            </a:pPr>
            <a:r>
              <a:rPr lang="en-US" sz="3600" dirty="0"/>
              <a:t> </a:t>
            </a:r>
          </a:p>
          <a:p>
            <a:pPr marL="0" indent="0" algn="just">
              <a:buNone/>
            </a:pPr>
            <a:endParaRPr lang="en-UG" sz="3600" dirty="0"/>
          </a:p>
        </p:txBody>
      </p:sp>
    </p:spTree>
    <p:extLst>
      <p:ext uri="{BB962C8B-B14F-4D97-AF65-F5344CB8AC3E}">
        <p14:creationId xmlns:p14="http://schemas.microsoft.com/office/powerpoint/2010/main" val="32141353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A1C7E-7D4A-C8A0-37F5-506374C90E56}"/>
              </a:ext>
            </a:extLst>
          </p:cNvPr>
          <p:cNvSpPr>
            <a:spLocks noGrp="1"/>
          </p:cNvSpPr>
          <p:nvPr>
            <p:ph type="title"/>
          </p:nvPr>
        </p:nvSpPr>
        <p:spPr>
          <a:xfrm>
            <a:off x="838200" y="18256"/>
            <a:ext cx="10515600" cy="662782"/>
          </a:xfrm>
        </p:spPr>
        <p:txBody>
          <a:bodyPr>
            <a:normAutofit fontScale="90000"/>
          </a:bodyPr>
          <a:lstStyle/>
          <a:p>
            <a:r>
              <a:rPr lang="en-US" b="1" u="sng" dirty="0">
                <a:effectLst>
                  <a:outerShdw blurRad="38100" dist="38100" dir="2700000" algn="tl">
                    <a:srgbClr val="000000">
                      <a:alpha val="43137"/>
                    </a:srgbClr>
                  </a:outerShdw>
                </a:effectLst>
              </a:rPr>
              <a:t>Procedure </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852DB9BA-41ED-E9D9-399D-68C3AB7A02AA}"/>
              </a:ext>
            </a:extLst>
          </p:cNvPr>
          <p:cNvSpPr>
            <a:spLocks noGrp="1"/>
          </p:cNvSpPr>
          <p:nvPr>
            <p:ph idx="1"/>
          </p:nvPr>
        </p:nvSpPr>
        <p:spPr>
          <a:xfrm>
            <a:off x="247943" y="906120"/>
            <a:ext cx="11696114" cy="4411467"/>
          </a:xfrm>
        </p:spPr>
        <p:txBody>
          <a:bodyPr>
            <a:noAutofit/>
          </a:bodyPr>
          <a:lstStyle/>
          <a:p>
            <a:pPr algn="just"/>
            <a:r>
              <a:rPr lang="en-US" sz="3200" dirty="0"/>
              <a:t>Boil some water to expel all the dissolved oxygen.</a:t>
            </a:r>
          </a:p>
          <a:p>
            <a:pPr algn="just"/>
            <a:r>
              <a:rPr lang="en-US" sz="3200" dirty="0"/>
              <a:t>Allow the boiled water to cool while covered to prevent entry of oxygen.</a:t>
            </a:r>
          </a:p>
          <a:p>
            <a:pPr algn="just"/>
            <a:r>
              <a:rPr lang="en-US" sz="3200" dirty="0"/>
              <a:t>Use the boiled water to make a solution of glucose and a suspension of yeast.</a:t>
            </a:r>
          </a:p>
          <a:p>
            <a:pPr algn="just"/>
            <a:r>
              <a:rPr lang="en-US" sz="3200" dirty="0"/>
              <a:t>Put the glucose solution and yeast suspension in a test tube label it A</a:t>
            </a:r>
          </a:p>
          <a:p>
            <a:pPr algn="just"/>
            <a:r>
              <a:rPr lang="en-US" sz="3200" dirty="0"/>
              <a:t>Add a layer of paraffin to prevent entry of oxygen from atmosphere to the mixture.</a:t>
            </a:r>
          </a:p>
          <a:p>
            <a:pPr algn="just"/>
            <a:r>
              <a:rPr lang="en-US" sz="3200" dirty="0"/>
              <a:t>Fit a glass delivery tube to connect test tube A to another test tube containing lime water.</a:t>
            </a:r>
          </a:p>
        </p:txBody>
      </p:sp>
    </p:spTree>
    <p:extLst>
      <p:ext uri="{BB962C8B-B14F-4D97-AF65-F5344CB8AC3E}">
        <p14:creationId xmlns:p14="http://schemas.microsoft.com/office/powerpoint/2010/main" val="13693260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C822BB-38AA-1DC0-F3D3-3CDEECBD51D6}"/>
              </a:ext>
            </a:extLst>
          </p:cNvPr>
          <p:cNvSpPr>
            <a:spLocks noGrp="1"/>
          </p:cNvSpPr>
          <p:nvPr>
            <p:ph idx="1"/>
          </p:nvPr>
        </p:nvSpPr>
        <p:spPr>
          <a:xfrm>
            <a:off x="89096" y="1403594"/>
            <a:ext cx="12013808" cy="4351338"/>
          </a:xfrm>
        </p:spPr>
        <p:txBody>
          <a:bodyPr>
            <a:normAutofit/>
          </a:bodyPr>
          <a:lstStyle/>
          <a:p>
            <a:pPr algn="just"/>
            <a:r>
              <a:rPr lang="en-US" sz="3600" dirty="0"/>
              <a:t>Set up another experimental set up (control) using boiled/ killed yeast and label the set up B </a:t>
            </a:r>
          </a:p>
          <a:p>
            <a:pPr algn="just"/>
            <a:r>
              <a:rPr lang="en-US" sz="3600" dirty="0"/>
              <a:t>Leave the set up for 3o minutes and observe the lime water.</a:t>
            </a:r>
          </a:p>
          <a:p>
            <a:pPr algn="just"/>
            <a:endParaRPr lang="en-UG" sz="3600" dirty="0"/>
          </a:p>
          <a:p>
            <a:endParaRPr lang="en-UG" sz="3600" dirty="0"/>
          </a:p>
        </p:txBody>
      </p:sp>
    </p:spTree>
    <p:extLst>
      <p:ext uri="{BB962C8B-B14F-4D97-AF65-F5344CB8AC3E}">
        <p14:creationId xmlns:p14="http://schemas.microsoft.com/office/powerpoint/2010/main" val="7770082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19851-ECD7-F5F8-B732-C953D9C4ACD6}"/>
              </a:ext>
            </a:extLst>
          </p:cNvPr>
          <p:cNvSpPr>
            <a:spLocks noGrp="1"/>
          </p:cNvSpPr>
          <p:nvPr>
            <p:ph type="title"/>
          </p:nvPr>
        </p:nvSpPr>
        <p:spPr>
          <a:xfrm>
            <a:off x="641252" y="36511"/>
            <a:ext cx="10515600" cy="644526"/>
          </a:xfrm>
        </p:spPr>
        <p:txBody>
          <a:bodyPr>
            <a:normAutofit fontScale="90000"/>
          </a:bodyPr>
          <a:lstStyle/>
          <a:p>
            <a:r>
              <a:rPr lang="en-US" dirty="0"/>
              <a:t>Set up</a:t>
            </a:r>
            <a:endParaRPr lang="en-UG" dirty="0"/>
          </a:p>
        </p:txBody>
      </p:sp>
      <p:sp>
        <p:nvSpPr>
          <p:cNvPr id="3" name="Content Placeholder 2">
            <a:extLst>
              <a:ext uri="{FF2B5EF4-FFF2-40B4-BE49-F238E27FC236}">
                <a16:creationId xmlns:a16="http://schemas.microsoft.com/office/drawing/2014/main" id="{DF6E267A-1E71-0953-83F2-4A414EBBBB4F}"/>
              </a:ext>
            </a:extLst>
          </p:cNvPr>
          <p:cNvSpPr>
            <a:spLocks noGrp="1"/>
          </p:cNvSpPr>
          <p:nvPr>
            <p:ph idx="1"/>
          </p:nvPr>
        </p:nvSpPr>
        <p:spPr/>
        <p:txBody>
          <a:bodyPr/>
          <a:lstStyle/>
          <a:p>
            <a:endParaRPr lang="en-UG" dirty="0"/>
          </a:p>
        </p:txBody>
      </p:sp>
      <p:pic>
        <p:nvPicPr>
          <p:cNvPr id="1026" name="Picture 2">
            <a:extLst>
              <a:ext uri="{FF2B5EF4-FFF2-40B4-BE49-F238E27FC236}">
                <a16:creationId xmlns:a16="http://schemas.microsoft.com/office/drawing/2014/main" id="{4BFB65A0-6DC2-27AF-88C8-ABBD0A31E7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81037"/>
            <a:ext cx="12191999" cy="614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13852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3425DD-25C3-6E60-B9AB-280F00892FF7}"/>
              </a:ext>
            </a:extLst>
          </p:cNvPr>
          <p:cNvSpPr>
            <a:spLocks noGrp="1"/>
          </p:cNvSpPr>
          <p:nvPr>
            <p:ph idx="1"/>
          </p:nvPr>
        </p:nvSpPr>
        <p:spPr>
          <a:xfrm>
            <a:off x="379827" y="337625"/>
            <a:ext cx="11479237" cy="5839338"/>
          </a:xfrm>
        </p:spPr>
        <p:txBody>
          <a:bodyPr>
            <a:noAutofit/>
          </a:bodyPr>
          <a:lstStyle/>
          <a:p>
            <a:pPr marL="0" indent="0" algn="just">
              <a:buNone/>
            </a:pPr>
            <a:r>
              <a:rPr lang="en-US" sz="3600" b="1" u="sng" dirty="0"/>
              <a:t>Observation</a:t>
            </a:r>
            <a:r>
              <a:rPr lang="en-US" sz="3600" dirty="0"/>
              <a:t> </a:t>
            </a:r>
          </a:p>
          <a:p>
            <a:pPr algn="just"/>
            <a:r>
              <a:rPr lang="en-US" sz="3600" dirty="0"/>
              <a:t>Bubbles seen in set up A.</a:t>
            </a:r>
          </a:p>
          <a:p>
            <a:pPr algn="just"/>
            <a:r>
              <a:rPr lang="en-US" sz="3600" dirty="0"/>
              <a:t>No bubbles in B.</a:t>
            </a:r>
          </a:p>
          <a:p>
            <a:pPr algn="just"/>
            <a:r>
              <a:rPr lang="en-US" sz="3600" dirty="0"/>
              <a:t>The lime water in set up A turns milky while that in set up B remains </a:t>
            </a:r>
            <a:r>
              <a:rPr lang="en-US" sz="3600" dirty="0" err="1"/>
              <a:t>colourless</a:t>
            </a:r>
            <a:r>
              <a:rPr lang="en-US" sz="3600" dirty="0"/>
              <a:t>.</a:t>
            </a:r>
          </a:p>
          <a:p>
            <a:pPr marL="0" indent="0" algn="just">
              <a:buNone/>
            </a:pPr>
            <a:r>
              <a:rPr lang="en-US" sz="3600" b="1" u="sng" dirty="0"/>
              <a:t>Conclusion </a:t>
            </a:r>
          </a:p>
          <a:p>
            <a:pPr algn="just"/>
            <a:r>
              <a:rPr lang="en-US" sz="3600" dirty="0"/>
              <a:t>Carbon dioxide is produced during anaerobic respiration by yeast. </a:t>
            </a:r>
          </a:p>
          <a:p>
            <a:pPr algn="just"/>
            <a:endParaRPr lang="en-UG" sz="3600" dirty="0"/>
          </a:p>
        </p:txBody>
      </p:sp>
    </p:spTree>
    <p:extLst>
      <p:ext uri="{BB962C8B-B14F-4D97-AF65-F5344CB8AC3E}">
        <p14:creationId xmlns:p14="http://schemas.microsoft.com/office/powerpoint/2010/main" val="42169388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3E8EBE-E71B-3A0C-B9EC-E2E674D82DAF}"/>
              </a:ext>
            </a:extLst>
          </p:cNvPr>
          <p:cNvSpPr>
            <a:spLocks noGrp="1"/>
          </p:cNvSpPr>
          <p:nvPr>
            <p:ph idx="1"/>
          </p:nvPr>
        </p:nvSpPr>
        <p:spPr/>
        <p:txBody>
          <a:bodyPr>
            <a:normAutofit/>
          </a:bodyPr>
          <a:lstStyle/>
          <a:p>
            <a:r>
              <a:rPr lang="en-US" sz="3600" dirty="0"/>
              <a:t>Discussion Questions</a:t>
            </a:r>
          </a:p>
          <a:p>
            <a:pPr marL="0" indent="0">
              <a:buNone/>
            </a:pPr>
            <a:r>
              <a:rPr lang="en-US" sz="3600" dirty="0"/>
              <a:t>a.	Why is the test tube in set up A be warmed?</a:t>
            </a:r>
          </a:p>
          <a:p>
            <a:pPr marL="0" indent="0">
              <a:buNone/>
            </a:pPr>
            <a:r>
              <a:rPr lang="en-US" sz="3600" dirty="0"/>
              <a:t>b.	Explain your observations above.</a:t>
            </a:r>
          </a:p>
          <a:p>
            <a:endParaRPr lang="en-UG" sz="3600" dirty="0"/>
          </a:p>
        </p:txBody>
      </p:sp>
    </p:spTree>
    <p:extLst>
      <p:ext uri="{BB962C8B-B14F-4D97-AF65-F5344CB8AC3E}">
        <p14:creationId xmlns:p14="http://schemas.microsoft.com/office/powerpoint/2010/main" val="5803910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6EBF-E05B-B6F8-DE1A-CC5509C6EA4B}"/>
              </a:ext>
            </a:extLst>
          </p:cNvPr>
          <p:cNvSpPr>
            <a:spLocks noGrp="1"/>
          </p:cNvSpPr>
          <p:nvPr>
            <p:ph type="title"/>
          </p:nvPr>
        </p:nvSpPr>
        <p:spPr>
          <a:xfrm>
            <a:off x="838200" y="13430"/>
            <a:ext cx="10515600" cy="726371"/>
          </a:xfrm>
        </p:spPr>
        <p:txBody>
          <a:bodyPr/>
          <a:lstStyle/>
          <a:p>
            <a:r>
              <a:rPr lang="en-US" dirty="0"/>
              <a:t>Study the set up below</a:t>
            </a:r>
            <a:endParaRPr lang="en-UG" dirty="0"/>
          </a:p>
        </p:txBody>
      </p:sp>
      <p:sp>
        <p:nvSpPr>
          <p:cNvPr id="3" name="Content Placeholder 2">
            <a:extLst>
              <a:ext uri="{FF2B5EF4-FFF2-40B4-BE49-F238E27FC236}">
                <a16:creationId xmlns:a16="http://schemas.microsoft.com/office/drawing/2014/main" id="{18C42451-8CBE-B150-FC20-B01B6ADE4134}"/>
              </a:ext>
            </a:extLst>
          </p:cNvPr>
          <p:cNvSpPr>
            <a:spLocks noGrp="1"/>
          </p:cNvSpPr>
          <p:nvPr>
            <p:ph idx="1"/>
          </p:nvPr>
        </p:nvSpPr>
        <p:spPr/>
        <p:txBody>
          <a:bodyPr/>
          <a:lstStyle/>
          <a:p>
            <a:endParaRPr lang="en-UG" dirty="0"/>
          </a:p>
        </p:txBody>
      </p:sp>
      <p:pic>
        <p:nvPicPr>
          <p:cNvPr id="2050" name="Picture 2" descr="Yeast respiration experiment, illustration">
            <a:extLst>
              <a:ext uri="{FF2B5EF4-FFF2-40B4-BE49-F238E27FC236}">
                <a16:creationId xmlns:a16="http://schemas.microsoft.com/office/drawing/2014/main" id="{74A14AC9-4BCA-C25D-AFC2-BB355333D5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62" t="21229" r="10000" b="9798"/>
          <a:stretch/>
        </p:blipFill>
        <p:spPr bwMode="auto">
          <a:xfrm>
            <a:off x="0" y="681037"/>
            <a:ext cx="12192000" cy="6176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58257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0867F8-50E2-33F3-EE44-2377DB2AD803}"/>
              </a:ext>
            </a:extLst>
          </p:cNvPr>
          <p:cNvSpPr>
            <a:spLocks noGrp="1"/>
          </p:cNvSpPr>
          <p:nvPr>
            <p:ph idx="1"/>
          </p:nvPr>
        </p:nvSpPr>
        <p:spPr>
          <a:xfrm>
            <a:off x="838200" y="1065969"/>
            <a:ext cx="10515600" cy="4351338"/>
          </a:xfrm>
        </p:spPr>
        <p:txBody>
          <a:bodyPr>
            <a:normAutofit/>
          </a:bodyPr>
          <a:lstStyle/>
          <a:p>
            <a:pPr marL="0" indent="0">
              <a:buNone/>
            </a:pPr>
            <a:r>
              <a:rPr lang="en-US" sz="3600" dirty="0"/>
              <a:t>Task: </a:t>
            </a:r>
          </a:p>
          <a:p>
            <a:pPr marL="0" indent="0">
              <a:buNone/>
            </a:pPr>
            <a:r>
              <a:rPr lang="en-US" sz="3600" dirty="0"/>
              <a:t>1. Identify the:</a:t>
            </a:r>
          </a:p>
          <a:p>
            <a:pPr marL="514350" indent="-514350">
              <a:buFont typeface="+mj-lt"/>
              <a:buAutoNum type="alphaLcParenR"/>
            </a:pPr>
            <a:r>
              <a:rPr lang="en-US" sz="3600" dirty="0"/>
              <a:t>Gas  evolved</a:t>
            </a:r>
          </a:p>
          <a:p>
            <a:pPr marL="514350" indent="-514350">
              <a:buFont typeface="+mj-lt"/>
              <a:buAutoNum type="alphaLcParenR"/>
            </a:pPr>
            <a:r>
              <a:rPr lang="en-US" sz="3600" dirty="0"/>
              <a:t>New compound</a:t>
            </a:r>
          </a:p>
          <a:p>
            <a:pPr marL="0" indent="0">
              <a:buNone/>
            </a:pPr>
            <a:r>
              <a:rPr lang="en-US" sz="3600" dirty="0"/>
              <a:t>2. Basing on the results, explain the role of yeast in</a:t>
            </a:r>
          </a:p>
          <a:p>
            <a:pPr marL="514350" indent="-514350">
              <a:buFont typeface="+mj-lt"/>
              <a:buAutoNum type="alphaLcParenR"/>
            </a:pPr>
            <a:r>
              <a:rPr lang="en-US" sz="3600" dirty="0"/>
              <a:t>Baking</a:t>
            </a:r>
          </a:p>
          <a:p>
            <a:pPr marL="514350" indent="-514350">
              <a:buFont typeface="+mj-lt"/>
              <a:buAutoNum type="alphaLcParenR"/>
            </a:pPr>
            <a:r>
              <a:rPr lang="en-US" sz="3600" dirty="0"/>
              <a:t>Brewing </a:t>
            </a:r>
            <a:endParaRPr lang="en-UG" sz="3600" dirty="0"/>
          </a:p>
        </p:txBody>
      </p:sp>
    </p:spTree>
    <p:extLst>
      <p:ext uri="{BB962C8B-B14F-4D97-AF65-F5344CB8AC3E}">
        <p14:creationId xmlns:p14="http://schemas.microsoft.com/office/powerpoint/2010/main" val="7728976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C3018-04DA-C577-A263-56D121525208}"/>
              </a:ext>
            </a:extLst>
          </p:cNvPr>
          <p:cNvSpPr>
            <a:spLocks noGrp="1"/>
          </p:cNvSpPr>
          <p:nvPr>
            <p:ph type="title"/>
          </p:nvPr>
        </p:nvSpPr>
        <p:spPr>
          <a:xfrm>
            <a:off x="838200" y="41565"/>
            <a:ext cx="10515600" cy="1325563"/>
          </a:xfrm>
        </p:spPr>
        <p:txBody>
          <a:bodyPr/>
          <a:lstStyle/>
          <a:p>
            <a:pPr algn="ctr"/>
            <a:r>
              <a:rPr lang="en-US" b="1" u="sng" dirty="0">
                <a:effectLst>
                  <a:outerShdw blurRad="38100" dist="38100" dir="2700000" algn="tl">
                    <a:srgbClr val="000000">
                      <a:alpha val="43137"/>
                    </a:srgbClr>
                  </a:outerShdw>
                </a:effectLst>
              </a:rPr>
              <a:t>Experiment to demonstrate anaerobic respiration in germinating seeds</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D8ADFC6B-5C83-2D8D-C779-6BF9F7E72EA2}"/>
              </a:ext>
            </a:extLst>
          </p:cNvPr>
          <p:cNvSpPr>
            <a:spLocks noGrp="1"/>
          </p:cNvSpPr>
          <p:nvPr>
            <p:ph idx="1"/>
          </p:nvPr>
        </p:nvSpPr>
        <p:spPr/>
        <p:txBody>
          <a:bodyPr numCol="2">
            <a:noAutofit/>
          </a:bodyPr>
          <a:lstStyle/>
          <a:p>
            <a:pPr marL="0" indent="0">
              <a:buNone/>
            </a:pPr>
            <a:r>
              <a:rPr lang="en-US" sz="3200" b="1" u="sng" dirty="0"/>
              <a:t>Materials and apparatus</a:t>
            </a:r>
          </a:p>
          <a:p>
            <a:r>
              <a:rPr lang="en-US" sz="3200" dirty="0"/>
              <a:t>Pyrogallic acid or Potassium pyrogallate</a:t>
            </a:r>
          </a:p>
          <a:p>
            <a:r>
              <a:rPr lang="en-US" sz="3200" dirty="0"/>
              <a:t>Test tube</a:t>
            </a:r>
          </a:p>
          <a:p>
            <a:r>
              <a:rPr lang="en-US" sz="3200" dirty="0"/>
              <a:t>Formalin or sodium hypochlorite</a:t>
            </a:r>
          </a:p>
          <a:p>
            <a:r>
              <a:rPr lang="en-US" sz="3200" dirty="0"/>
              <a:t>Soaked bean seeds</a:t>
            </a:r>
          </a:p>
          <a:p>
            <a:r>
              <a:rPr lang="en-US" sz="3200" dirty="0"/>
              <a:t>Boiling tube</a:t>
            </a:r>
          </a:p>
          <a:p>
            <a:r>
              <a:rPr lang="en-US" sz="3200" dirty="0"/>
              <a:t>Water</a:t>
            </a:r>
          </a:p>
          <a:p>
            <a:r>
              <a:rPr lang="en-US" sz="3200" dirty="0"/>
              <a:t>Lime water</a:t>
            </a:r>
          </a:p>
          <a:p>
            <a:r>
              <a:rPr lang="en-US" sz="3200" dirty="0"/>
              <a:t>Heat source</a:t>
            </a:r>
          </a:p>
          <a:p>
            <a:r>
              <a:rPr lang="en-US" sz="3200" dirty="0"/>
              <a:t>Two beakers </a:t>
            </a:r>
          </a:p>
          <a:p>
            <a:r>
              <a:rPr lang="en-US" sz="3200" dirty="0"/>
              <a:t>Thermometer</a:t>
            </a:r>
          </a:p>
          <a:p>
            <a:r>
              <a:rPr lang="en-US" sz="3200" dirty="0"/>
              <a:t>Thread</a:t>
            </a:r>
          </a:p>
          <a:p>
            <a:endParaRPr lang="en-UG" sz="3200" dirty="0"/>
          </a:p>
        </p:txBody>
      </p:sp>
    </p:spTree>
    <p:extLst>
      <p:ext uri="{BB962C8B-B14F-4D97-AF65-F5344CB8AC3E}">
        <p14:creationId xmlns:p14="http://schemas.microsoft.com/office/powerpoint/2010/main" val="22327639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541C2-880B-EDF0-E67A-86B5D0583AA3}"/>
              </a:ext>
            </a:extLst>
          </p:cNvPr>
          <p:cNvSpPr>
            <a:spLocks noGrp="1"/>
          </p:cNvSpPr>
          <p:nvPr>
            <p:ph type="title"/>
          </p:nvPr>
        </p:nvSpPr>
        <p:spPr>
          <a:xfrm>
            <a:off x="838200" y="150747"/>
            <a:ext cx="10515600" cy="662782"/>
          </a:xfrm>
        </p:spPr>
        <p:txBody>
          <a:bodyPr>
            <a:normAutofit fontScale="90000"/>
          </a:bodyPr>
          <a:lstStyle/>
          <a:p>
            <a:r>
              <a:rPr lang="en-US" dirty="0"/>
              <a:t>Set up</a:t>
            </a:r>
            <a:endParaRPr lang="en-UG" dirty="0"/>
          </a:p>
        </p:txBody>
      </p:sp>
      <p:sp>
        <p:nvSpPr>
          <p:cNvPr id="3" name="Content Placeholder 2">
            <a:extLst>
              <a:ext uri="{FF2B5EF4-FFF2-40B4-BE49-F238E27FC236}">
                <a16:creationId xmlns:a16="http://schemas.microsoft.com/office/drawing/2014/main" id="{AA2BC317-5355-08E1-7520-7220D4B81220}"/>
              </a:ext>
            </a:extLst>
          </p:cNvPr>
          <p:cNvSpPr>
            <a:spLocks noGrp="1"/>
          </p:cNvSpPr>
          <p:nvPr>
            <p:ph idx="1"/>
          </p:nvPr>
        </p:nvSpPr>
        <p:spPr/>
        <p:txBody>
          <a:bodyPr/>
          <a:lstStyle/>
          <a:p>
            <a:endParaRPr lang="en-UG"/>
          </a:p>
        </p:txBody>
      </p:sp>
      <p:pic>
        <p:nvPicPr>
          <p:cNvPr id="9" name="Picture 8">
            <a:extLst>
              <a:ext uri="{FF2B5EF4-FFF2-40B4-BE49-F238E27FC236}">
                <a16:creationId xmlns:a16="http://schemas.microsoft.com/office/drawing/2014/main" id="{C98DC6B9-B01A-07B9-9371-E7133F8FACF0}"/>
              </a:ext>
            </a:extLst>
          </p:cNvPr>
          <p:cNvPicPr>
            <a:picLocks noChangeAspect="1"/>
          </p:cNvPicPr>
          <p:nvPr/>
        </p:nvPicPr>
        <p:blipFill>
          <a:blip r:embed="rId2"/>
          <a:stretch>
            <a:fillRect/>
          </a:stretch>
        </p:blipFill>
        <p:spPr>
          <a:xfrm>
            <a:off x="-30981" y="1028700"/>
            <a:ext cx="12222981" cy="5829300"/>
          </a:xfrm>
          <a:prstGeom prst="rect">
            <a:avLst/>
          </a:prstGeom>
        </p:spPr>
      </p:pic>
    </p:spTree>
    <p:extLst>
      <p:ext uri="{BB962C8B-B14F-4D97-AF65-F5344CB8AC3E}">
        <p14:creationId xmlns:p14="http://schemas.microsoft.com/office/powerpoint/2010/main" val="38070930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181ECB-9984-B328-85EE-391CAC9A900F}"/>
              </a:ext>
            </a:extLst>
          </p:cNvPr>
          <p:cNvSpPr>
            <a:spLocks noGrp="1"/>
          </p:cNvSpPr>
          <p:nvPr>
            <p:ph idx="1"/>
          </p:nvPr>
        </p:nvSpPr>
        <p:spPr>
          <a:xfrm>
            <a:off x="187569" y="403823"/>
            <a:ext cx="11816862" cy="6050354"/>
          </a:xfrm>
        </p:spPr>
        <p:txBody>
          <a:bodyPr>
            <a:normAutofit/>
          </a:bodyPr>
          <a:lstStyle/>
          <a:p>
            <a:r>
              <a:rPr lang="en-US" sz="3200" dirty="0"/>
              <a:t>Set up a control experiment using boiled seeds washed in forma</a:t>
            </a:r>
            <a:r>
              <a:rPr lang="en-US" sz="3200" b="1" u="sng" dirty="0">
                <a:effectLst>
                  <a:outerShdw blurRad="38100" dist="38100" dir="2700000" algn="tl">
                    <a:srgbClr val="000000">
                      <a:alpha val="43137"/>
                    </a:srgbClr>
                  </a:outerShdw>
                </a:effectLst>
              </a:rPr>
              <a:t>lin.</a:t>
            </a:r>
          </a:p>
          <a:p>
            <a:pPr marL="0" indent="0">
              <a:buNone/>
            </a:pPr>
            <a:endParaRPr lang="en-US" sz="3200" b="1" u="sng" dirty="0">
              <a:effectLst>
                <a:outerShdw blurRad="38100" dist="38100" dir="2700000" algn="tl">
                  <a:srgbClr val="000000">
                    <a:alpha val="43137"/>
                  </a:srgbClr>
                </a:outerShdw>
              </a:effectLst>
            </a:endParaRPr>
          </a:p>
          <a:p>
            <a:pPr marL="0" indent="0">
              <a:buNone/>
            </a:pPr>
            <a:r>
              <a:rPr lang="en-US" sz="3200" b="1" u="sng" dirty="0">
                <a:effectLst>
                  <a:outerShdw blurRad="38100" dist="38100" dir="2700000" algn="tl">
                    <a:srgbClr val="000000">
                      <a:alpha val="43137"/>
                    </a:srgbClr>
                  </a:outerShdw>
                </a:effectLst>
              </a:rPr>
              <a:t>Data and observations</a:t>
            </a:r>
          </a:p>
          <a:p>
            <a:pPr marL="0" indent="0">
              <a:buNone/>
            </a:pPr>
            <a:endParaRPr lang="en-US" sz="3200" b="1" u="sng" dirty="0">
              <a:effectLst>
                <a:outerShdw blurRad="38100" dist="38100" dir="2700000" algn="tl">
                  <a:srgbClr val="000000">
                    <a:alpha val="43137"/>
                  </a:srgbClr>
                </a:outerShdw>
              </a:effectLst>
            </a:endParaRPr>
          </a:p>
          <a:p>
            <a:pPr marL="0" indent="0">
              <a:buNone/>
            </a:pPr>
            <a:endParaRPr lang="en-US" sz="3200" b="1" u="sng" dirty="0">
              <a:effectLst>
                <a:outerShdw blurRad="38100" dist="38100" dir="2700000" algn="tl">
                  <a:srgbClr val="000000">
                    <a:alpha val="43137"/>
                  </a:srgbClr>
                </a:outerShdw>
              </a:effectLst>
            </a:endParaRPr>
          </a:p>
          <a:p>
            <a:pPr marL="0" indent="0">
              <a:buNone/>
            </a:pPr>
            <a:endParaRPr lang="en-US" sz="3200" b="1" u="sng" dirty="0">
              <a:effectLst>
                <a:outerShdw blurRad="38100" dist="38100" dir="2700000" algn="tl">
                  <a:srgbClr val="000000">
                    <a:alpha val="43137"/>
                  </a:srgbClr>
                </a:outerShdw>
              </a:effectLst>
            </a:endParaRPr>
          </a:p>
          <a:p>
            <a:pPr marL="0" indent="0">
              <a:buNone/>
            </a:pPr>
            <a:endParaRPr lang="en-US" sz="3200" b="1" u="sng" dirty="0">
              <a:effectLst>
                <a:outerShdw blurRad="38100" dist="38100" dir="2700000" algn="tl">
                  <a:srgbClr val="000000">
                    <a:alpha val="43137"/>
                  </a:srgbClr>
                </a:outerShdw>
              </a:effectLst>
            </a:endParaRPr>
          </a:p>
          <a:p>
            <a:pPr marL="0" indent="0">
              <a:buNone/>
            </a:pPr>
            <a:endParaRPr lang="en-US" sz="3200" b="1" u="sng" dirty="0">
              <a:effectLst>
                <a:outerShdw blurRad="38100" dist="38100" dir="2700000" algn="tl">
                  <a:srgbClr val="000000">
                    <a:alpha val="43137"/>
                  </a:srgbClr>
                </a:outerShdw>
              </a:effectLst>
            </a:endParaRPr>
          </a:p>
          <a:p>
            <a:pPr marL="0" indent="0">
              <a:buNone/>
            </a:pPr>
            <a:endParaRPr lang="en-US" sz="3200" b="1" u="sng" dirty="0">
              <a:effectLst>
                <a:outerShdw blurRad="38100" dist="38100" dir="2700000" algn="tl">
                  <a:srgbClr val="000000">
                    <a:alpha val="43137"/>
                  </a:srgbClr>
                </a:outerShdw>
              </a:effectLst>
            </a:endParaRPr>
          </a:p>
          <a:p>
            <a:pPr marL="0" indent="0">
              <a:buNone/>
            </a:pPr>
            <a:r>
              <a:rPr lang="en-US" sz="3200" b="1" dirty="0">
                <a:effectLst>
                  <a:outerShdw blurRad="38100" dist="38100" dir="2700000" algn="tl">
                    <a:srgbClr val="000000">
                      <a:alpha val="43137"/>
                    </a:srgbClr>
                  </a:outerShdw>
                </a:effectLst>
              </a:rPr>
              <a:t>Qn. What conclusion can you make from the experiment above?</a:t>
            </a:r>
            <a:endParaRPr lang="en-UG" sz="3200" b="1" dirty="0">
              <a:effectLst>
                <a:outerShdw blurRad="38100" dist="38100" dir="2700000" algn="tl">
                  <a:srgbClr val="000000">
                    <a:alpha val="43137"/>
                  </a:srgbClr>
                </a:outerShdw>
              </a:effectLst>
            </a:endParaRPr>
          </a:p>
        </p:txBody>
      </p:sp>
      <p:graphicFrame>
        <p:nvGraphicFramePr>
          <p:cNvPr id="6" name="Table 5">
            <a:extLst>
              <a:ext uri="{FF2B5EF4-FFF2-40B4-BE49-F238E27FC236}">
                <a16:creationId xmlns:a16="http://schemas.microsoft.com/office/drawing/2014/main" id="{C7B7B93A-C694-ACD5-9F39-13F44065E0A0}"/>
              </a:ext>
            </a:extLst>
          </p:cNvPr>
          <p:cNvGraphicFramePr>
            <a:graphicFrameLocks noGrp="1"/>
          </p:cNvGraphicFramePr>
          <p:nvPr>
            <p:extLst>
              <p:ext uri="{D42A27DB-BD31-4B8C-83A1-F6EECF244321}">
                <p14:modId xmlns:p14="http://schemas.microsoft.com/office/powerpoint/2010/main" val="3320866203"/>
              </p:ext>
            </p:extLst>
          </p:nvPr>
        </p:nvGraphicFramePr>
        <p:xfrm>
          <a:off x="187568" y="2670126"/>
          <a:ext cx="11816862" cy="2427654"/>
        </p:xfrm>
        <a:graphic>
          <a:graphicData uri="http://schemas.openxmlformats.org/drawingml/2006/table">
            <a:tbl>
              <a:tblPr firstRow="1" bandRow="1">
                <a:tableStyleId>{073A0DAA-6AF3-43AB-8588-CEC1D06C72B9}</a:tableStyleId>
              </a:tblPr>
              <a:tblGrid>
                <a:gridCol w="3244949">
                  <a:extLst>
                    <a:ext uri="{9D8B030D-6E8A-4147-A177-3AD203B41FA5}">
                      <a16:colId xmlns:a16="http://schemas.microsoft.com/office/drawing/2014/main" val="3276988012"/>
                    </a:ext>
                  </a:extLst>
                </a:gridCol>
                <a:gridCol w="4632959">
                  <a:extLst>
                    <a:ext uri="{9D8B030D-6E8A-4147-A177-3AD203B41FA5}">
                      <a16:colId xmlns:a16="http://schemas.microsoft.com/office/drawing/2014/main" val="617218745"/>
                    </a:ext>
                  </a:extLst>
                </a:gridCol>
                <a:gridCol w="3938954">
                  <a:extLst>
                    <a:ext uri="{9D8B030D-6E8A-4147-A177-3AD203B41FA5}">
                      <a16:colId xmlns:a16="http://schemas.microsoft.com/office/drawing/2014/main" val="3740178120"/>
                    </a:ext>
                  </a:extLst>
                </a:gridCol>
              </a:tblGrid>
              <a:tr h="781734">
                <a:tc>
                  <a:txBody>
                    <a:bodyPr/>
                    <a:lstStyle/>
                    <a:p>
                      <a:r>
                        <a:rPr lang="en-US" sz="3200" dirty="0"/>
                        <a:t>Apparatus </a:t>
                      </a:r>
                      <a:endParaRPr lang="en-UG" sz="3200" dirty="0"/>
                    </a:p>
                  </a:txBody>
                  <a:tcPr/>
                </a:tc>
                <a:tc>
                  <a:txBody>
                    <a:bodyPr/>
                    <a:lstStyle/>
                    <a:p>
                      <a:r>
                        <a:rPr lang="en-US" sz="3200" dirty="0"/>
                        <a:t>Content of boiling tube</a:t>
                      </a:r>
                      <a:endParaRPr lang="en-UG" sz="3200" dirty="0"/>
                    </a:p>
                  </a:txBody>
                  <a:tcPr/>
                </a:tc>
                <a:tc>
                  <a:txBody>
                    <a:bodyPr/>
                    <a:lstStyle/>
                    <a:p>
                      <a:r>
                        <a:rPr lang="en-US" sz="3200" dirty="0"/>
                        <a:t>Content of test tube</a:t>
                      </a:r>
                      <a:endParaRPr lang="en-UG" sz="3200" dirty="0"/>
                    </a:p>
                  </a:txBody>
                  <a:tcPr/>
                </a:tc>
                <a:extLst>
                  <a:ext uri="{0D108BD9-81ED-4DB2-BD59-A6C34878D82A}">
                    <a16:rowId xmlns:a16="http://schemas.microsoft.com/office/drawing/2014/main" val="1770719992"/>
                  </a:ext>
                </a:extLst>
              </a:tr>
              <a:tr h="370840">
                <a:tc>
                  <a:txBody>
                    <a:bodyPr/>
                    <a:lstStyle/>
                    <a:p>
                      <a:r>
                        <a:rPr lang="en-US" sz="3200" dirty="0"/>
                        <a:t>Control set up</a:t>
                      </a:r>
                      <a:endParaRPr lang="en-UG" sz="3200" dirty="0"/>
                    </a:p>
                  </a:txBody>
                  <a:tcPr/>
                </a:tc>
                <a:tc>
                  <a:txBody>
                    <a:bodyPr/>
                    <a:lstStyle/>
                    <a:p>
                      <a:endParaRPr lang="en-UG" sz="3200"/>
                    </a:p>
                  </a:txBody>
                  <a:tcPr/>
                </a:tc>
                <a:tc>
                  <a:txBody>
                    <a:bodyPr/>
                    <a:lstStyle/>
                    <a:p>
                      <a:endParaRPr lang="en-UG" sz="3200"/>
                    </a:p>
                  </a:txBody>
                  <a:tcPr/>
                </a:tc>
                <a:extLst>
                  <a:ext uri="{0D108BD9-81ED-4DB2-BD59-A6C34878D82A}">
                    <a16:rowId xmlns:a16="http://schemas.microsoft.com/office/drawing/2014/main" val="1632271820"/>
                  </a:ext>
                </a:extLst>
              </a:tr>
              <a:tr h="370840">
                <a:tc>
                  <a:txBody>
                    <a:bodyPr/>
                    <a:lstStyle/>
                    <a:p>
                      <a:r>
                        <a:rPr lang="en-US" sz="3200" dirty="0"/>
                        <a:t>Test experiment set up</a:t>
                      </a:r>
                      <a:endParaRPr lang="en-UG" sz="3200" dirty="0"/>
                    </a:p>
                  </a:txBody>
                  <a:tcPr/>
                </a:tc>
                <a:tc>
                  <a:txBody>
                    <a:bodyPr/>
                    <a:lstStyle/>
                    <a:p>
                      <a:endParaRPr lang="en-UG" sz="3200"/>
                    </a:p>
                  </a:txBody>
                  <a:tcPr/>
                </a:tc>
                <a:tc>
                  <a:txBody>
                    <a:bodyPr/>
                    <a:lstStyle/>
                    <a:p>
                      <a:endParaRPr lang="en-UG" sz="3200" dirty="0"/>
                    </a:p>
                  </a:txBody>
                  <a:tcPr/>
                </a:tc>
                <a:extLst>
                  <a:ext uri="{0D108BD9-81ED-4DB2-BD59-A6C34878D82A}">
                    <a16:rowId xmlns:a16="http://schemas.microsoft.com/office/drawing/2014/main" val="1553319033"/>
                  </a:ext>
                </a:extLst>
              </a:tr>
            </a:tbl>
          </a:graphicData>
        </a:graphic>
      </p:graphicFrame>
    </p:spTree>
    <p:extLst>
      <p:ext uri="{BB962C8B-B14F-4D97-AF65-F5344CB8AC3E}">
        <p14:creationId xmlns:p14="http://schemas.microsoft.com/office/powerpoint/2010/main" val="15197750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CB96F-EB79-E084-7E8F-D579E6A36FE8}"/>
              </a:ext>
            </a:extLst>
          </p:cNvPr>
          <p:cNvSpPr>
            <a:spLocks noGrp="1"/>
          </p:cNvSpPr>
          <p:nvPr>
            <p:ph type="title"/>
          </p:nvPr>
        </p:nvSpPr>
        <p:spPr/>
        <p:txBody>
          <a:bodyPr/>
          <a:lstStyle/>
          <a:p>
            <a:r>
              <a:rPr lang="en-US" dirty="0"/>
              <a:t>Analysis </a:t>
            </a:r>
            <a:endParaRPr lang="en-UG" dirty="0"/>
          </a:p>
        </p:txBody>
      </p:sp>
      <p:sp>
        <p:nvSpPr>
          <p:cNvPr id="3" name="Content Placeholder 2">
            <a:extLst>
              <a:ext uri="{FF2B5EF4-FFF2-40B4-BE49-F238E27FC236}">
                <a16:creationId xmlns:a16="http://schemas.microsoft.com/office/drawing/2014/main" id="{7D3855FC-D5EE-8944-985C-BFC8C0E55709}"/>
              </a:ext>
            </a:extLst>
          </p:cNvPr>
          <p:cNvSpPr>
            <a:spLocks noGrp="1"/>
          </p:cNvSpPr>
          <p:nvPr>
            <p:ph idx="1"/>
          </p:nvPr>
        </p:nvSpPr>
        <p:spPr/>
        <p:txBody>
          <a:bodyPr/>
          <a:lstStyle/>
          <a:p>
            <a:pPr marL="0" indent="0">
              <a:buNone/>
            </a:pPr>
            <a:r>
              <a:rPr lang="en-US" dirty="0"/>
              <a:t>1.Why are seeds soaked in formalin at the start of the experiment?</a:t>
            </a:r>
          </a:p>
          <a:p>
            <a:pPr marL="0" indent="0">
              <a:buNone/>
            </a:pPr>
            <a:r>
              <a:rPr lang="en-US" dirty="0"/>
              <a:t>2.Which seeds germinated and which ones did not? Why?</a:t>
            </a:r>
          </a:p>
          <a:p>
            <a:pPr marL="0" indent="0">
              <a:buNone/>
            </a:pPr>
            <a:r>
              <a:rPr lang="en-US" dirty="0"/>
              <a:t>3.Why was potassium pyrogallate used in setup?</a:t>
            </a:r>
          </a:p>
          <a:p>
            <a:pPr marL="0" indent="0">
              <a:buNone/>
            </a:pPr>
            <a:r>
              <a:rPr lang="en-US" dirty="0"/>
              <a:t>4. State the importance of the water bath in the experiment?</a:t>
            </a:r>
          </a:p>
          <a:p>
            <a:pPr marL="0" indent="0">
              <a:buNone/>
            </a:pPr>
            <a:r>
              <a:rPr lang="en-US" dirty="0"/>
              <a:t>5. Why do some seeds germinate in water logged soils?</a:t>
            </a:r>
          </a:p>
          <a:p>
            <a:pPr marL="0" indent="0">
              <a:buNone/>
            </a:pPr>
            <a:r>
              <a:rPr lang="en-US" dirty="0"/>
              <a:t>6. How was accuracy of results ensured in the experiment?</a:t>
            </a:r>
          </a:p>
          <a:p>
            <a:endParaRPr lang="en-UG" dirty="0"/>
          </a:p>
        </p:txBody>
      </p:sp>
    </p:spTree>
    <p:extLst>
      <p:ext uri="{BB962C8B-B14F-4D97-AF65-F5344CB8AC3E}">
        <p14:creationId xmlns:p14="http://schemas.microsoft.com/office/powerpoint/2010/main" val="13074962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3CF237-74EC-FBF9-2E89-A927D2364B40}"/>
              </a:ext>
            </a:extLst>
          </p:cNvPr>
          <p:cNvSpPr>
            <a:spLocks noGrp="1"/>
          </p:cNvSpPr>
          <p:nvPr>
            <p:ph idx="1"/>
          </p:nvPr>
        </p:nvSpPr>
        <p:spPr>
          <a:xfrm>
            <a:off x="295422" y="-6"/>
            <a:ext cx="11704320" cy="6752498"/>
          </a:xfrm>
        </p:spPr>
        <p:txBody>
          <a:bodyPr>
            <a:noAutofit/>
          </a:bodyPr>
          <a:lstStyle/>
          <a:p>
            <a:pPr marL="0" indent="0">
              <a:buNone/>
            </a:pPr>
            <a:r>
              <a:rPr lang="en-US" sz="3200" b="1" u="sng" dirty="0">
                <a:effectLst>
                  <a:outerShdw blurRad="38100" dist="38100" dir="2700000" algn="tl">
                    <a:srgbClr val="000000">
                      <a:alpha val="43137"/>
                    </a:srgbClr>
                  </a:outerShdw>
                </a:effectLst>
              </a:rPr>
              <a:t>ACTIVITY</a:t>
            </a:r>
          </a:p>
          <a:p>
            <a:pPr marL="0" indent="0">
              <a:buNone/>
            </a:pPr>
            <a:r>
              <a:rPr lang="en-US" sz="3200" dirty="0"/>
              <a:t>The below shows the number of the times a boy could raise a 300g weight with his index finger during three successive one-minute tests with no rest periods in between.</a:t>
            </a:r>
          </a:p>
          <a:p>
            <a:pPr marL="0" indent="0">
              <a:buNone/>
            </a:pPr>
            <a:endParaRPr lang="en-US" sz="3200" dirty="0"/>
          </a:p>
          <a:p>
            <a:pPr marL="0" indent="0">
              <a:buNone/>
            </a:pPr>
            <a:endParaRPr lang="en-US" sz="3200" dirty="0"/>
          </a:p>
          <a:p>
            <a:pPr marL="0" indent="0">
              <a:buNone/>
            </a:pPr>
            <a:endParaRPr lang="en-US" sz="3200" dirty="0"/>
          </a:p>
          <a:p>
            <a:pPr marL="0" indent="0">
              <a:buNone/>
            </a:pPr>
            <a:r>
              <a:rPr lang="en-US" sz="3200" dirty="0"/>
              <a:t>a) How does the number of times the weight was raised vary with tests?</a:t>
            </a:r>
          </a:p>
          <a:p>
            <a:pPr marL="0" indent="0">
              <a:buNone/>
            </a:pPr>
            <a:r>
              <a:rPr lang="en-US" sz="3200" dirty="0"/>
              <a:t>b) Suggest an explanation for the results obtained.</a:t>
            </a:r>
          </a:p>
          <a:p>
            <a:pPr marL="0" indent="0">
              <a:buNone/>
            </a:pPr>
            <a:r>
              <a:rPr lang="en-US" sz="3200" dirty="0"/>
              <a:t>c)If the boy was to conduct a fourth test, how do you think the values would be like? Why?</a:t>
            </a:r>
            <a:endParaRPr lang="en-UG" sz="3200" dirty="0"/>
          </a:p>
        </p:txBody>
      </p:sp>
      <p:graphicFrame>
        <p:nvGraphicFramePr>
          <p:cNvPr id="4" name="Table 3">
            <a:extLst>
              <a:ext uri="{FF2B5EF4-FFF2-40B4-BE49-F238E27FC236}">
                <a16:creationId xmlns:a16="http://schemas.microsoft.com/office/drawing/2014/main" id="{1C1F93C0-008D-180E-3070-F72F75BAA53E}"/>
              </a:ext>
            </a:extLst>
          </p:cNvPr>
          <p:cNvGraphicFramePr>
            <a:graphicFrameLocks noGrp="1"/>
          </p:cNvGraphicFramePr>
          <p:nvPr>
            <p:extLst>
              <p:ext uri="{D42A27DB-BD31-4B8C-83A1-F6EECF244321}">
                <p14:modId xmlns:p14="http://schemas.microsoft.com/office/powerpoint/2010/main" val="1184669043"/>
              </p:ext>
            </p:extLst>
          </p:nvPr>
        </p:nvGraphicFramePr>
        <p:xfrm>
          <a:off x="407964" y="1985765"/>
          <a:ext cx="11186424" cy="1612055"/>
        </p:xfrm>
        <a:graphic>
          <a:graphicData uri="http://schemas.openxmlformats.org/drawingml/2006/table">
            <a:tbl>
              <a:tblPr firstRow="1" bandRow="1">
                <a:tableStyleId>{5C22544A-7EE6-4342-B048-85BDC9FD1C3A}</a:tableStyleId>
              </a:tblPr>
              <a:tblGrid>
                <a:gridCol w="3713871">
                  <a:extLst>
                    <a:ext uri="{9D8B030D-6E8A-4147-A177-3AD203B41FA5}">
                      <a16:colId xmlns:a16="http://schemas.microsoft.com/office/drawing/2014/main" val="174562433"/>
                    </a:ext>
                  </a:extLst>
                </a:gridCol>
                <a:gridCol w="2335237">
                  <a:extLst>
                    <a:ext uri="{9D8B030D-6E8A-4147-A177-3AD203B41FA5}">
                      <a16:colId xmlns:a16="http://schemas.microsoft.com/office/drawing/2014/main" val="723018012"/>
                    </a:ext>
                  </a:extLst>
                </a:gridCol>
                <a:gridCol w="3094892">
                  <a:extLst>
                    <a:ext uri="{9D8B030D-6E8A-4147-A177-3AD203B41FA5}">
                      <a16:colId xmlns:a16="http://schemas.microsoft.com/office/drawing/2014/main" val="3455866638"/>
                    </a:ext>
                  </a:extLst>
                </a:gridCol>
                <a:gridCol w="2042424">
                  <a:extLst>
                    <a:ext uri="{9D8B030D-6E8A-4147-A177-3AD203B41FA5}">
                      <a16:colId xmlns:a16="http://schemas.microsoft.com/office/drawing/2014/main" val="2376030064"/>
                    </a:ext>
                  </a:extLst>
                </a:gridCol>
              </a:tblGrid>
              <a:tr h="656069">
                <a:tc>
                  <a:txBody>
                    <a:bodyPr/>
                    <a:lstStyle/>
                    <a:p>
                      <a:endParaRPr lang="en-UG" sz="2800" dirty="0"/>
                    </a:p>
                  </a:txBody>
                  <a:tcPr/>
                </a:tc>
                <a:tc>
                  <a:txBody>
                    <a:bodyPr/>
                    <a:lstStyle/>
                    <a:p>
                      <a:r>
                        <a:rPr lang="en-US" sz="2800" dirty="0"/>
                        <a:t>First test </a:t>
                      </a:r>
                      <a:endParaRPr lang="en-UG" sz="2800" dirty="0"/>
                    </a:p>
                  </a:txBody>
                  <a:tcPr/>
                </a:tc>
                <a:tc>
                  <a:txBody>
                    <a:bodyPr/>
                    <a:lstStyle/>
                    <a:p>
                      <a:r>
                        <a:rPr lang="en-US" sz="2800" dirty="0"/>
                        <a:t>Second test</a:t>
                      </a:r>
                      <a:endParaRPr lang="en-UG" sz="2800" dirty="0"/>
                    </a:p>
                  </a:txBody>
                  <a:tcPr/>
                </a:tc>
                <a:tc>
                  <a:txBody>
                    <a:bodyPr/>
                    <a:lstStyle/>
                    <a:p>
                      <a:r>
                        <a:rPr lang="en-US" sz="2800" dirty="0"/>
                        <a:t>Third test</a:t>
                      </a:r>
                      <a:endParaRPr lang="en-UG" sz="2800" dirty="0"/>
                    </a:p>
                  </a:txBody>
                  <a:tcPr/>
                </a:tc>
                <a:extLst>
                  <a:ext uri="{0D108BD9-81ED-4DB2-BD59-A6C34878D82A}">
                    <a16:rowId xmlns:a16="http://schemas.microsoft.com/office/drawing/2014/main" val="1144266288"/>
                  </a:ext>
                </a:extLst>
              </a:tr>
              <a:tr h="955986">
                <a:tc>
                  <a:txBody>
                    <a:bodyPr/>
                    <a:lstStyle/>
                    <a:p>
                      <a:r>
                        <a:rPr lang="en-US" sz="2800" dirty="0"/>
                        <a:t>Number of times raised</a:t>
                      </a:r>
                      <a:endParaRPr lang="en-UG" sz="2800" dirty="0"/>
                    </a:p>
                  </a:txBody>
                  <a:tcPr/>
                </a:tc>
                <a:tc>
                  <a:txBody>
                    <a:bodyPr/>
                    <a:lstStyle/>
                    <a:p>
                      <a:r>
                        <a:rPr lang="en-US" sz="2800" dirty="0"/>
                        <a:t>98</a:t>
                      </a:r>
                      <a:endParaRPr lang="en-UG" sz="2800" dirty="0"/>
                    </a:p>
                  </a:txBody>
                  <a:tcPr/>
                </a:tc>
                <a:tc>
                  <a:txBody>
                    <a:bodyPr/>
                    <a:lstStyle/>
                    <a:p>
                      <a:r>
                        <a:rPr lang="en-US" sz="2800" dirty="0"/>
                        <a:t>82</a:t>
                      </a:r>
                      <a:endParaRPr lang="en-UG" sz="2800" dirty="0"/>
                    </a:p>
                  </a:txBody>
                  <a:tcPr/>
                </a:tc>
                <a:tc>
                  <a:txBody>
                    <a:bodyPr/>
                    <a:lstStyle/>
                    <a:p>
                      <a:r>
                        <a:rPr lang="en-US" sz="2800" dirty="0"/>
                        <a:t>71</a:t>
                      </a:r>
                      <a:endParaRPr lang="en-UG" sz="2800" dirty="0"/>
                    </a:p>
                  </a:txBody>
                  <a:tcPr/>
                </a:tc>
                <a:extLst>
                  <a:ext uri="{0D108BD9-81ED-4DB2-BD59-A6C34878D82A}">
                    <a16:rowId xmlns:a16="http://schemas.microsoft.com/office/drawing/2014/main" val="3288188663"/>
                  </a:ext>
                </a:extLst>
              </a:tr>
            </a:tbl>
          </a:graphicData>
        </a:graphic>
      </p:graphicFrame>
    </p:spTree>
    <p:extLst>
      <p:ext uri="{BB962C8B-B14F-4D97-AF65-F5344CB8AC3E}">
        <p14:creationId xmlns:p14="http://schemas.microsoft.com/office/powerpoint/2010/main" val="34984771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F81ACD-BEB0-A07B-2D81-603CC94551B1}"/>
              </a:ext>
            </a:extLst>
          </p:cNvPr>
          <p:cNvSpPr>
            <a:spLocks noGrp="1"/>
          </p:cNvSpPr>
          <p:nvPr>
            <p:ph idx="1"/>
          </p:nvPr>
        </p:nvSpPr>
        <p:spPr>
          <a:xfrm>
            <a:off x="618978" y="1291053"/>
            <a:ext cx="10734822" cy="4351338"/>
          </a:xfrm>
        </p:spPr>
        <p:txBody>
          <a:bodyPr>
            <a:normAutofit/>
          </a:bodyPr>
          <a:lstStyle/>
          <a:p>
            <a:pPr marL="0" indent="0">
              <a:buNone/>
            </a:pPr>
            <a:endParaRPr lang="en-US" sz="3200" dirty="0"/>
          </a:p>
          <a:p>
            <a:pPr marL="0" indent="0">
              <a:buNone/>
            </a:pPr>
            <a:r>
              <a:rPr lang="en-US" sz="3200" dirty="0"/>
              <a:t>d)How does conducting strenuous exercise for a longer period of time affect your body?</a:t>
            </a:r>
          </a:p>
          <a:p>
            <a:pPr marL="0" indent="0">
              <a:buNone/>
            </a:pPr>
            <a:endParaRPr lang="en-US" sz="3200" dirty="0"/>
          </a:p>
          <a:p>
            <a:pPr marL="0" indent="0">
              <a:buNone/>
            </a:pPr>
            <a:endParaRPr lang="en-UG" sz="3200" dirty="0"/>
          </a:p>
          <a:p>
            <a:endParaRPr lang="en-UG" sz="3200" dirty="0"/>
          </a:p>
        </p:txBody>
      </p:sp>
    </p:spTree>
    <p:extLst>
      <p:ext uri="{BB962C8B-B14F-4D97-AF65-F5344CB8AC3E}">
        <p14:creationId xmlns:p14="http://schemas.microsoft.com/office/powerpoint/2010/main" val="11578059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BE74B-0B2F-8689-FE50-906CD174ADCA}"/>
              </a:ext>
            </a:extLst>
          </p:cNvPr>
          <p:cNvSpPr>
            <a:spLocks noGrp="1"/>
          </p:cNvSpPr>
          <p:nvPr>
            <p:ph type="title"/>
          </p:nvPr>
        </p:nvSpPr>
        <p:spPr>
          <a:xfrm>
            <a:off x="112541" y="-408602"/>
            <a:ext cx="11929403" cy="1325563"/>
          </a:xfrm>
        </p:spPr>
        <p:txBody>
          <a:bodyPr/>
          <a:lstStyle/>
          <a:p>
            <a:pPr algn="ctr"/>
            <a:r>
              <a:rPr lang="en-US" b="1" u="sng" dirty="0">
                <a:effectLst>
                  <a:outerShdw blurRad="38100" dist="38100" dir="2700000" algn="tl">
                    <a:srgbClr val="000000">
                      <a:alpha val="43137"/>
                    </a:srgbClr>
                  </a:outerShdw>
                </a:effectLst>
              </a:rPr>
              <a:t>Applications of Anaerobic Respiration in Everyday Life</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7C7289DF-F5BA-3120-A77F-6537CEAF6449}"/>
              </a:ext>
            </a:extLst>
          </p:cNvPr>
          <p:cNvSpPr>
            <a:spLocks noGrp="1"/>
          </p:cNvSpPr>
          <p:nvPr>
            <p:ph idx="1"/>
          </p:nvPr>
        </p:nvSpPr>
        <p:spPr>
          <a:xfrm>
            <a:off x="112541" y="658009"/>
            <a:ext cx="12079459" cy="5855335"/>
          </a:xfrm>
        </p:spPr>
        <p:txBody>
          <a:bodyPr>
            <a:noAutofit/>
          </a:bodyPr>
          <a:lstStyle/>
          <a:p>
            <a:r>
              <a:rPr lang="en-US" sz="3200" dirty="0"/>
              <a:t>Commercial brewing to produce alcohol by fermentation.</a:t>
            </a:r>
          </a:p>
          <a:p>
            <a:r>
              <a:rPr lang="en-US" sz="3200" dirty="0"/>
              <a:t>Baking of bread as production of CO</a:t>
            </a:r>
            <a:r>
              <a:rPr lang="en-US" sz="3200" baseline="-25000" dirty="0"/>
              <a:t>2</a:t>
            </a:r>
            <a:r>
              <a:rPr lang="en-US" sz="3200" dirty="0"/>
              <a:t> by yeast cells, expand the dough.</a:t>
            </a:r>
          </a:p>
          <a:p>
            <a:r>
              <a:rPr lang="en-US" sz="3200" dirty="0"/>
              <a:t>Production of biogas (mixture of methane gas and carbon dioxide used as fuel)</a:t>
            </a:r>
          </a:p>
          <a:p>
            <a:r>
              <a:rPr lang="en-US" sz="3200" dirty="0"/>
              <a:t>Sewage treatment.</a:t>
            </a:r>
          </a:p>
          <a:p>
            <a:r>
              <a:rPr lang="en-US" sz="3200" dirty="0"/>
              <a:t>Production of dairy products </a:t>
            </a:r>
            <a:r>
              <a:rPr lang="en-US" sz="3200" dirty="0" err="1"/>
              <a:t>eg</a:t>
            </a:r>
            <a:r>
              <a:rPr lang="en-US" sz="3200" dirty="0"/>
              <a:t> yoghurt, cheese, ghee, butter and sour milk</a:t>
            </a:r>
          </a:p>
          <a:p>
            <a:r>
              <a:rPr lang="en-US" sz="3200" dirty="0"/>
              <a:t>Manufacture medicine e.g. penicillin.</a:t>
            </a:r>
          </a:p>
          <a:p>
            <a:r>
              <a:rPr lang="en-US" sz="3200" dirty="0"/>
              <a:t>Manufacture of some organic acids.</a:t>
            </a:r>
          </a:p>
          <a:p>
            <a:r>
              <a:rPr lang="en-US" sz="3200" dirty="0"/>
              <a:t>Production of silage (fermented green forage stored in airtight silos)</a:t>
            </a:r>
          </a:p>
          <a:p>
            <a:endParaRPr lang="en-UG" sz="3200" dirty="0"/>
          </a:p>
        </p:txBody>
      </p:sp>
    </p:spTree>
    <p:extLst>
      <p:ext uri="{BB962C8B-B14F-4D97-AF65-F5344CB8AC3E}">
        <p14:creationId xmlns:p14="http://schemas.microsoft.com/office/powerpoint/2010/main" val="21690980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954D2-14F0-EB4C-07DE-EC609D400B89}"/>
              </a:ext>
            </a:extLst>
          </p:cNvPr>
          <p:cNvSpPr>
            <a:spLocks noGrp="1"/>
          </p:cNvSpPr>
          <p:nvPr>
            <p:ph type="title"/>
          </p:nvPr>
        </p:nvSpPr>
        <p:spPr>
          <a:xfrm>
            <a:off x="838200" y="3"/>
            <a:ext cx="11133406" cy="635611"/>
          </a:xfrm>
        </p:spPr>
        <p:txBody>
          <a:bodyPr>
            <a:normAutofit fontScale="90000"/>
          </a:bodyPr>
          <a:lstStyle/>
          <a:p>
            <a:r>
              <a:rPr lang="en-US" b="1" u="sng" dirty="0">
                <a:effectLst>
                  <a:outerShdw blurRad="38100" dist="38100" dir="2700000" algn="tl">
                    <a:srgbClr val="000000">
                      <a:alpha val="43137"/>
                    </a:srgbClr>
                  </a:outerShdw>
                </a:effectLst>
              </a:rPr>
              <a:t>Comparison of Aerobic and Anaerobic respiration</a:t>
            </a:r>
            <a:endParaRPr lang="en-UG" b="1" u="sng" dirty="0">
              <a:effectLst>
                <a:outerShdw blurRad="38100" dist="38100" dir="2700000" algn="tl">
                  <a:srgbClr val="000000">
                    <a:alpha val="43137"/>
                  </a:srgbClr>
                </a:outerShdw>
              </a:effectLst>
            </a:endParaRPr>
          </a:p>
        </p:txBody>
      </p:sp>
      <p:graphicFrame>
        <p:nvGraphicFramePr>
          <p:cNvPr id="4" name="Content Placeholder 3">
            <a:extLst>
              <a:ext uri="{FF2B5EF4-FFF2-40B4-BE49-F238E27FC236}">
                <a16:creationId xmlns:a16="http://schemas.microsoft.com/office/drawing/2014/main" id="{F1FD95A3-863C-1B8C-18FD-97777B5FF789}"/>
              </a:ext>
            </a:extLst>
          </p:cNvPr>
          <p:cNvGraphicFramePr>
            <a:graphicFrameLocks noGrp="1"/>
          </p:cNvGraphicFramePr>
          <p:nvPr>
            <p:ph idx="1"/>
            <p:extLst>
              <p:ext uri="{D42A27DB-BD31-4B8C-83A1-F6EECF244321}">
                <p14:modId xmlns:p14="http://schemas.microsoft.com/office/powerpoint/2010/main" val="3163333987"/>
              </p:ext>
            </p:extLst>
          </p:nvPr>
        </p:nvGraphicFramePr>
        <p:xfrm>
          <a:off x="110197" y="556102"/>
          <a:ext cx="11971606" cy="6290916"/>
        </p:xfrm>
        <a:graphic>
          <a:graphicData uri="http://schemas.openxmlformats.org/drawingml/2006/table">
            <a:tbl>
              <a:tblPr firstRow="1" firstCol="1" bandRow="1">
                <a:tableStyleId>{5C22544A-7EE6-4342-B048-85BDC9FD1C3A}</a:tableStyleId>
              </a:tblPr>
              <a:tblGrid>
                <a:gridCol w="5985803">
                  <a:extLst>
                    <a:ext uri="{9D8B030D-6E8A-4147-A177-3AD203B41FA5}">
                      <a16:colId xmlns:a16="http://schemas.microsoft.com/office/drawing/2014/main" val="2188461594"/>
                    </a:ext>
                  </a:extLst>
                </a:gridCol>
                <a:gridCol w="5985803">
                  <a:extLst>
                    <a:ext uri="{9D8B030D-6E8A-4147-A177-3AD203B41FA5}">
                      <a16:colId xmlns:a16="http://schemas.microsoft.com/office/drawing/2014/main" val="1073988308"/>
                    </a:ext>
                  </a:extLst>
                </a:gridCol>
              </a:tblGrid>
              <a:tr h="0">
                <a:tc>
                  <a:txBody>
                    <a:bodyPr/>
                    <a:lstStyle/>
                    <a:p>
                      <a:pPr>
                        <a:lnSpc>
                          <a:spcPct val="107000"/>
                        </a:lnSpc>
                        <a:spcAft>
                          <a:spcPts val="800"/>
                        </a:spcAft>
                      </a:pPr>
                      <a:r>
                        <a:rPr lang="en-US" sz="3200" b="1" kern="100" dirty="0">
                          <a:effectLst>
                            <a:outerShdw blurRad="38100" dist="38100" dir="2700000" algn="tl">
                              <a:srgbClr val="000000">
                                <a:alpha val="43137"/>
                              </a:srgbClr>
                            </a:outerShdw>
                          </a:effectLst>
                        </a:rPr>
                        <a:t>Aerobic respiration</a:t>
                      </a:r>
                      <a:endParaRPr lang="en-UG" sz="3200" b="1" kern="1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tc>
                  <a:txBody>
                    <a:bodyPr/>
                    <a:lstStyle/>
                    <a:p>
                      <a:pPr>
                        <a:lnSpc>
                          <a:spcPct val="107000"/>
                        </a:lnSpc>
                        <a:spcAft>
                          <a:spcPts val="800"/>
                        </a:spcAft>
                      </a:pPr>
                      <a:r>
                        <a:rPr lang="en-US" sz="3200" b="1" kern="100" dirty="0">
                          <a:effectLst>
                            <a:outerShdw blurRad="38100" dist="38100" dir="2700000" algn="tl">
                              <a:srgbClr val="000000">
                                <a:alpha val="43137"/>
                              </a:srgbClr>
                            </a:outerShdw>
                          </a:effectLst>
                        </a:rPr>
                        <a:t>Anaerobic respiration</a:t>
                      </a:r>
                      <a:endParaRPr lang="en-UG" sz="3200" b="1" kern="1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extLst>
                  <a:ext uri="{0D108BD9-81ED-4DB2-BD59-A6C34878D82A}">
                    <a16:rowId xmlns:a16="http://schemas.microsoft.com/office/drawing/2014/main" val="558889298"/>
                  </a:ext>
                </a:extLst>
              </a:tr>
              <a:tr h="548640">
                <a:tc>
                  <a:txBody>
                    <a:bodyPr/>
                    <a:lstStyle/>
                    <a:p>
                      <a:pPr>
                        <a:lnSpc>
                          <a:spcPct val="107000"/>
                        </a:lnSpc>
                        <a:spcAft>
                          <a:spcPts val="800"/>
                        </a:spcAft>
                      </a:pPr>
                      <a:r>
                        <a:rPr lang="en-US" sz="3200" b="0" kern="100" dirty="0">
                          <a:effectLst/>
                        </a:rPr>
                        <a:t>It occurs in presence of oxygen</a:t>
                      </a:r>
                      <a:endParaRPr lang="en-UG" sz="32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tc>
                  <a:txBody>
                    <a:bodyPr/>
                    <a:lstStyle/>
                    <a:p>
                      <a:pPr>
                        <a:lnSpc>
                          <a:spcPct val="107000"/>
                        </a:lnSpc>
                        <a:spcAft>
                          <a:spcPts val="800"/>
                        </a:spcAft>
                      </a:pPr>
                      <a:r>
                        <a:rPr lang="en-US" sz="3200" b="0" kern="100">
                          <a:effectLst/>
                        </a:rPr>
                        <a:t>It occurs in absence of oxygen</a:t>
                      </a:r>
                      <a:endParaRPr lang="en-UG" sz="3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extLst>
                  <a:ext uri="{0D108BD9-81ED-4DB2-BD59-A6C34878D82A}">
                    <a16:rowId xmlns:a16="http://schemas.microsoft.com/office/drawing/2014/main" val="1712969150"/>
                  </a:ext>
                </a:extLst>
              </a:tr>
              <a:tr h="520505">
                <a:tc>
                  <a:txBody>
                    <a:bodyPr/>
                    <a:lstStyle/>
                    <a:p>
                      <a:pPr>
                        <a:lnSpc>
                          <a:spcPct val="107000"/>
                        </a:lnSpc>
                        <a:spcAft>
                          <a:spcPts val="800"/>
                        </a:spcAft>
                      </a:pPr>
                      <a:r>
                        <a:rPr lang="en-US" sz="3200" b="0" kern="100">
                          <a:effectLst/>
                        </a:rPr>
                        <a:t>It occurs in the mitochondria</a:t>
                      </a:r>
                      <a:endParaRPr lang="en-UG" sz="3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tc>
                  <a:txBody>
                    <a:bodyPr/>
                    <a:lstStyle/>
                    <a:p>
                      <a:pPr>
                        <a:lnSpc>
                          <a:spcPct val="107000"/>
                        </a:lnSpc>
                        <a:spcAft>
                          <a:spcPts val="800"/>
                        </a:spcAft>
                      </a:pPr>
                      <a:r>
                        <a:rPr lang="en-US" sz="3200" b="0" kern="100">
                          <a:effectLst/>
                        </a:rPr>
                        <a:t>It occurs in cytoplasm</a:t>
                      </a:r>
                      <a:endParaRPr lang="en-UG" sz="3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extLst>
                  <a:ext uri="{0D108BD9-81ED-4DB2-BD59-A6C34878D82A}">
                    <a16:rowId xmlns:a16="http://schemas.microsoft.com/office/drawing/2014/main" val="1557584864"/>
                  </a:ext>
                </a:extLst>
              </a:tr>
              <a:tr h="1139483">
                <a:tc>
                  <a:txBody>
                    <a:bodyPr/>
                    <a:lstStyle/>
                    <a:p>
                      <a:pPr>
                        <a:lnSpc>
                          <a:spcPct val="107000"/>
                        </a:lnSpc>
                        <a:spcAft>
                          <a:spcPts val="800"/>
                        </a:spcAft>
                      </a:pPr>
                      <a:r>
                        <a:rPr lang="en-US" sz="3200" b="0" kern="100" dirty="0">
                          <a:effectLst/>
                        </a:rPr>
                        <a:t>One molecule of glucose produces 38ATP molecules (more energy)</a:t>
                      </a:r>
                      <a:endParaRPr lang="en-UG" sz="32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tc>
                  <a:txBody>
                    <a:bodyPr/>
                    <a:lstStyle/>
                    <a:p>
                      <a:pPr>
                        <a:lnSpc>
                          <a:spcPct val="107000"/>
                        </a:lnSpc>
                        <a:spcAft>
                          <a:spcPts val="800"/>
                        </a:spcAft>
                      </a:pPr>
                      <a:r>
                        <a:rPr lang="en-US" sz="3200" b="0" kern="100" dirty="0">
                          <a:effectLst/>
                        </a:rPr>
                        <a:t>One molecule of glucose produces 2ATP molecules (less energy)</a:t>
                      </a:r>
                      <a:endParaRPr lang="en-UG" sz="32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extLst>
                  <a:ext uri="{0D108BD9-81ED-4DB2-BD59-A6C34878D82A}">
                    <a16:rowId xmlns:a16="http://schemas.microsoft.com/office/drawing/2014/main" val="3533255005"/>
                  </a:ext>
                </a:extLst>
              </a:tr>
              <a:tr h="1512990">
                <a:tc>
                  <a:txBody>
                    <a:bodyPr/>
                    <a:lstStyle/>
                    <a:p>
                      <a:pPr>
                        <a:lnSpc>
                          <a:spcPct val="107000"/>
                        </a:lnSpc>
                        <a:spcAft>
                          <a:spcPts val="800"/>
                        </a:spcAft>
                      </a:pPr>
                      <a:r>
                        <a:rPr lang="en-US" sz="3200" b="0" kern="100">
                          <a:effectLst/>
                        </a:rPr>
                        <a:t>Its products are water, carbon dioxide, and ATP (energy)</a:t>
                      </a:r>
                      <a:endParaRPr lang="en-UG" sz="3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tc>
                  <a:txBody>
                    <a:bodyPr/>
                    <a:lstStyle/>
                    <a:p>
                      <a:pPr>
                        <a:lnSpc>
                          <a:spcPct val="107000"/>
                        </a:lnSpc>
                        <a:spcAft>
                          <a:spcPts val="800"/>
                        </a:spcAft>
                      </a:pPr>
                      <a:r>
                        <a:rPr lang="en-US" sz="3200" b="0" kern="100" dirty="0">
                          <a:effectLst/>
                        </a:rPr>
                        <a:t>Its products are carbon dioxide and ethanol in plants and yeast or lactic acid in animals</a:t>
                      </a:r>
                      <a:endParaRPr lang="en-UG" sz="32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extLst>
                  <a:ext uri="{0D108BD9-81ED-4DB2-BD59-A6C34878D82A}">
                    <a16:rowId xmlns:a16="http://schemas.microsoft.com/office/drawing/2014/main" val="1279300381"/>
                  </a:ext>
                </a:extLst>
              </a:tr>
              <a:tr h="937984">
                <a:tc>
                  <a:txBody>
                    <a:bodyPr/>
                    <a:lstStyle/>
                    <a:p>
                      <a:pPr>
                        <a:lnSpc>
                          <a:spcPct val="107000"/>
                        </a:lnSpc>
                        <a:spcAft>
                          <a:spcPts val="800"/>
                        </a:spcAft>
                      </a:pPr>
                      <a:r>
                        <a:rPr lang="en-US" sz="3200" b="0" kern="100">
                          <a:effectLst/>
                        </a:rPr>
                        <a:t>It involves glycolysis, Krebs cycle and oxidative phosphorylation</a:t>
                      </a:r>
                      <a:endParaRPr lang="en-UG" sz="3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tc>
                  <a:txBody>
                    <a:bodyPr/>
                    <a:lstStyle/>
                    <a:p>
                      <a:pPr>
                        <a:lnSpc>
                          <a:spcPct val="107000"/>
                        </a:lnSpc>
                        <a:spcAft>
                          <a:spcPts val="800"/>
                        </a:spcAft>
                      </a:pPr>
                      <a:r>
                        <a:rPr lang="en-US" sz="3200" b="0" kern="100">
                          <a:effectLst/>
                        </a:rPr>
                        <a:t>It involves glycolysis and fermentation</a:t>
                      </a:r>
                      <a:endParaRPr lang="en-UG" sz="3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extLst>
                  <a:ext uri="{0D108BD9-81ED-4DB2-BD59-A6C34878D82A}">
                    <a16:rowId xmlns:a16="http://schemas.microsoft.com/office/drawing/2014/main" val="3153692539"/>
                  </a:ext>
                </a:extLst>
              </a:tr>
              <a:tr h="964334">
                <a:tc>
                  <a:txBody>
                    <a:bodyPr/>
                    <a:lstStyle/>
                    <a:p>
                      <a:pPr>
                        <a:lnSpc>
                          <a:spcPct val="107000"/>
                        </a:lnSpc>
                        <a:spcAft>
                          <a:spcPts val="800"/>
                        </a:spcAft>
                      </a:pPr>
                      <a:r>
                        <a:rPr lang="en-US" sz="3200" b="0" kern="100">
                          <a:effectLst/>
                        </a:rPr>
                        <a:t>There is complete oxidation of glucose</a:t>
                      </a:r>
                      <a:endParaRPr lang="en-UG" sz="3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tc>
                  <a:txBody>
                    <a:bodyPr/>
                    <a:lstStyle/>
                    <a:p>
                      <a:pPr>
                        <a:lnSpc>
                          <a:spcPct val="107000"/>
                        </a:lnSpc>
                        <a:spcAft>
                          <a:spcPts val="800"/>
                        </a:spcAft>
                      </a:pPr>
                      <a:r>
                        <a:rPr lang="en-US" sz="3200" b="0" kern="100" dirty="0">
                          <a:effectLst/>
                        </a:rPr>
                        <a:t>There is incomplete oxidation of glucose</a:t>
                      </a:r>
                      <a:endParaRPr lang="en-UG" sz="32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2337" marR="42337" marT="0" marB="0"/>
                </a:tc>
                <a:extLst>
                  <a:ext uri="{0D108BD9-81ED-4DB2-BD59-A6C34878D82A}">
                    <a16:rowId xmlns:a16="http://schemas.microsoft.com/office/drawing/2014/main" val="3242525121"/>
                  </a:ext>
                </a:extLst>
              </a:tr>
            </a:tbl>
          </a:graphicData>
        </a:graphic>
      </p:graphicFrame>
    </p:spTree>
    <p:extLst>
      <p:ext uri="{BB962C8B-B14F-4D97-AF65-F5344CB8AC3E}">
        <p14:creationId xmlns:p14="http://schemas.microsoft.com/office/powerpoint/2010/main" val="15996091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A9CA4-A9B0-DD50-DA1F-95EDE8F4DD99}"/>
              </a:ext>
            </a:extLst>
          </p:cNvPr>
          <p:cNvSpPr>
            <a:spLocks noGrp="1"/>
          </p:cNvSpPr>
          <p:nvPr>
            <p:ph type="title"/>
          </p:nvPr>
        </p:nvSpPr>
        <p:spPr/>
        <p:txBody>
          <a:bodyPr/>
          <a:lstStyle/>
          <a:p>
            <a:r>
              <a:rPr lang="en-US" b="1" u="sng" dirty="0">
                <a:effectLst>
                  <a:outerShdw blurRad="38100" dist="38100" dir="2700000" algn="tl">
                    <a:srgbClr val="000000">
                      <a:alpha val="43137"/>
                    </a:srgbClr>
                  </a:outerShdw>
                </a:effectLst>
              </a:rPr>
              <a:t>Similarities </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330EBBDB-5F2A-7A8D-28CD-54D633BBB6D4}"/>
              </a:ext>
            </a:extLst>
          </p:cNvPr>
          <p:cNvSpPr>
            <a:spLocks noGrp="1"/>
          </p:cNvSpPr>
          <p:nvPr>
            <p:ph idx="1"/>
          </p:nvPr>
        </p:nvSpPr>
        <p:spPr/>
        <p:txBody>
          <a:bodyPr>
            <a:normAutofit/>
          </a:bodyPr>
          <a:lstStyle/>
          <a:p>
            <a:r>
              <a:rPr lang="en-US" sz="3600" dirty="0"/>
              <a:t>Both occur in living cells</a:t>
            </a:r>
          </a:p>
          <a:p>
            <a:r>
              <a:rPr lang="en-US" sz="3600" dirty="0"/>
              <a:t>Both release energy</a:t>
            </a:r>
          </a:p>
          <a:p>
            <a:r>
              <a:rPr lang="en-US" sz="3600" dirty="0"/>
              <a:t>Both use glucose as respiratory substrate.</a:t>
            </a:r>
          </a:p>
          <a:p>
            <a:r>
              <a:rPr lang="en-US" sz="3600" dirty="0"/>
              <a:t>Both involve enzymes</a:t>
            </a:r>
          </a:p>
          <a:p>
            <a:r>
              <a:rPr lang="en-US" sz="3600" dirty="0"/>
              <a:t>Both produce carbon dioxide</a:t>
            </a:r>
          </a:p>
          <a:p>
            <a:pPr marL="0" indent="0">
              <a:buNone/>
            </a:pPr>
            <a:endParaRPr lang="en-UG" sz="3600" dirty="0"/>
          </a:p>
        </p:txBody>
      </p:sp>
    </p:spTree>
    <p:extLst>
      <p:ext uri="{BB962C8B-B14F-4D97-AF65-F5344CB8AC3E}">
        <p14:creationId xmlns:p14="http://schemas.microsoft.com/office/powerpoint/2010/main" val="40708811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13937-2767-A582-7DD7-67D88DA483A2}"/>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7C8AF6B5-F591-D21F-212B-B9AF007E422D}"/>
              </a:ext>
            </a:extLst>
          </p:cNvPr>
          <p:cNvSpPr>
            <a:spLocks noGrp="1"/>
          </p:cNvSpPr>
          <p:nvPr>
            <p:ph idx="1"/>
          </p:nvPr>
        </p:nvSpPr>
        <p:spPr/>
        <p:txBody>
          <a:bodyPr/>
          <a:lstStyle/>
          <a:p>
            <a:endParaRPr lang="en-UG"/>
          </a:p>
        </p:txBody>
      </p:sp>
      <p:pic>
        <p:nvPicPr>
          <p:cNvPr id="5" name="Picture 4">
            <a:extLst>
              <a:ext uri="{FF2B5EF4-FFF2-40B4-BE49-F238E27FC236}">
                <a16:creationId xmlns:a16="http://schemas.microsoft.com/office/drawing/2014/main" id="{3AAD4AFB-E8E4-E9E2-EF3D-9CE25EF1BF9E}"/>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50098826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7049</TotalTime>
  <Words>3056</Words>
  <Application>Microsoft Office PowerPoint</Application>
  <PresentationFormat>Widescreen</PresentationFormat>
  <Paragraphs>374</Paragraphs>
  <Slides>69</Slides>
  <Notes>5</Notes>
  <HiddenSlides>0</HiddenSlides>
  <MMClips>0</MMClips>
  <ScaleCrop>false</ScaleCrop>
  <HeadingPairs>
    <vt:vector size="4" baseType="variant">
      <vt:variant>
        <vt:lpstr>Theme</vt:lpstr>
      </vt:variant>
      <vt:variant>
        <vt:i4>1</vt:i4>
      </vt:variant>
      <vt:variant>
        <vt:lpstr>Slide Titles</vt:lpstr>
      </vt:variant>
      <vt:variant>
        <vt:i4>69</vt:i4>
      </vt:variant>
    </vt:vector>
  </HeadingPairs>
  <TitlesOfParts>
    <vt:vector size="70" baseType="lpstr">
      <vt:lpstr>Office Theme</vt:lpstr>
      <vt:lpstr>CELLULAR/TISSUE/INTERNAL RESPIRATION</vt:lpstr>
      <vt:lpstr>Outline for reading</vt:lpstr>
      <vt:lpstr>PowerPoint Presentation</vt:lpstr>
      <vt:lpstr>PowerPoint Presentation</vt:lpstr>
      <vt:lpstr>Types of respiration</vt:lpstr>
      <vt:lpstr>Importance of tissue respiration </vt:lpstr>
      <vt:lpstr>Respiration failure</vt:lpstr>
      <vt:lpstr>Effects of respiration failure</vt:lpstr>
      <vt:lpstr>PowerPoint Presentation</vt:lpstr>
      <vt:lpstr>AEROBIC RESPIRATION</vt:lpstr>
      <vt:lpstr>PowerPoint Presentation</vt:lpstr>
      <vt:lpstr>PowerPoint Presentation</vt:lpstr>
      <vt:lpstr>The process of aerobic respiration</vt:lpstr>
      <vt:lpstr>PowerPoint Presentation</vt:lpstr>
      <vt:lpstr>PowerPoint Presentation</vt:lpstr>
      <vt:lpstr>The aerobic respiration equation</vt:lpstr>
      <vt:lpstr>PowerPoint Presentation</vt:lpstr>
      <vt:lpstr>Experiment to show that heat energy is produced during respiration</vt:lpstr>
      <vt:lpstr>PowerPoint Presentation</vt:lpstr>
      <vt:lpstr>PowerPoint Presentation</vt:lpstr>
      <vt:lpstr>Set up of apparatus</vt:lpstr>
      <vt:lpstr>PowerPoint Presentation</vt:lpstr>
      <vt:lpstr>Analysis </vt:lpstr>
      <vt:lpstr>Activity: Study the set up below carefully</vt:lpstr>
      <vt:lpstr>PowerPoint Presentation</vt:lpstr>
      <vt:lpstr>Investigating that food releases energy when oxidized.  Q. Can oxidation of ground nut seeds release energy to boil water?</vt:lpstr>
      <vt:lpstr>Procedure </vt:lpstr>
      <vt:lpstr>PowerPoint Presentation</vt:lpstr>
      <vt:lpstr>PowerPoint Presentation</vt:lpstr>
      <vt:lpstr>Data and observation</vt:lpstr>
      <vt:lpstr>PowerPoint Presentation</vt:lpstr>
      <vt:lpstr>PowerPoint Presentation</vt:lpstr>
      <vt:lpstr>PowerPoint Presentation</vt:lpstr>
      <vt:lpstr>PowerPoint Presentation</vt:lpstr>
      <vt:lpstr>Similarities between photosynthesis and aerobic respiration</vt:lpstr>
      <vt:lpstr>Differences between photosynthesis and aerobic respiration</vt:lpstr>
      <vt:lpstr>Relationship between plants and animals</vt:lpstr>
      <vt:lpstr>Interdependency of plants and animals</vt:lpstr>
      <vt:lpstr>PowerPoint Presentation</vt:lpstr>
      <vt:lpstr>PowerPoint Presentation</vt:lpstr>
      <vt:lpstr>ANAEROBIC RESPIRATION </vt:lpstr>
      <vt:lpstr>Types of anaerobes</vt:lpstr>
      <vt:lpstr>Conditions where organisms use anaerobic respiration</vt:lpstr>
      <vt:lpstr>Process of anaerobic respiration</vt:lpstr>
      <vt:lpstr>PowerPoint Presentation</vt:lpstr>
      <vt:lpstr>PowerPoint Presentation</vt:lpstr>
      <vt:lpstr>PowerPoint Presentation</vt:lpstr>
      <vt:lpstr>PowerPoint Presentation</vt:lpstr>
      <vt:lpstr>Graph showing change in lactic acid concentration during and after exercise</vt:lpstr>
      <vt:lpstr>Explanation</vt:lpstr>
      <vt:lpstr>PowerPoint Presentation</vt:lpstr>
      <vt:lpstr>Fermentation in yeast</vt:lpstr>
      <vt:lpstr>Procedure </vt:lpstr>
      <vt:lpstr>PowerPoint Presentation</vt:lpstr>
      <vt:lpstr>Set up</vt:lpstr>
      <vt:lpstr>PowerPoint Presentation</vt:lpstr>
      <vt:lpstr>PowerPoint Presentation</vt:lpstr>
      <vt:lpstr>Study the set up below</vt:lpstr>
      <vt:lpstr>PowerPoint Presentation</vt:lpstr>
      <vt:lpstr>Experiment to demonstrate anaerobic respiration in germinating seeds</vt:lpstr>
      <vt:lpstr>Set up</vt:lpstr>
      <vt:lpstr>PowerPoint Presentation</vt:lpstr>
      <vt:lpstr>Analysis </vt:lpstr>
      <vt:lpstr>PowerPoint Presentation</vt:lpstr>
      <vt:lpstr>PowerPoint Presentation</vt:lpstr>
      <vt:lpstr>Applications of Anaerobic Respiration in Everyday Life</vt:lpstr>
      <vt:lpstr>Comparison of Aerobic and Anaerobic respiration</vt:lpstr>
      <vt:lpstr>Similarities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CELLULAR/TISSUE/INTERNAL RESPIRATION</dc:title>
  <dc:creator>DENIS</dc:creator>
  <cp:lastModifiedBy>Denis Otiti</cp:lastModifiedBy>
  <cp:revision>51</cp:revision>
  <dcterms:created xsi:type="dcterms:W3CDTF">2023-10-28T12:28:30Z</dcterms:created>
  <dcterms:modified xsi:type="dcterms:W3CDTF">2024-02-12T14:46:54Z</dcterms:modified>
</cp:coreProperties>
</file>