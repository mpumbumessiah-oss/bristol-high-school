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72" r:id="rId1"/>
  </p:sldMasterIdLst>
  <p:notesMasterIdLst>
    <p:notesMasterId r:id="rId372"/>
  </p:notesMasterIdLst>
  <p:sldIdLst>
    <p:sldId id="256" r:id="rId2"/>
    <p:sldId id="493"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97" r:id="rId25"/>
    <p:sldId id="278" r:id="rId26"/>
    <p:sldId id="279" r:id="rId27"/>
    <p:sldId id="280" r:id="rId28"/>
    <p:sldId id="281" r:id="rId29"/>
    <p:sldId id="282" r:id="rId30"/>
    <p:sldId id="283" r:id="rId31"/>
    <p:sldId id="311" r:id="rId32"/>
    <p:sldId id="312" r:id="rId33"/>
    <p:sldId id="313" r:id="rId34"/>
    <p:sldId id="284" r:id="rId35"/>
    <p:sldId id="285" r:id="rId36"/>
    <p:sldId id="286" r:id="rId37"/>
    <p:sldId id="287" r:id="rId38"/>
    <p:sldId id="314" r:id="rId39"/>
    <p:sldId id="288" r:id="rId40"/>
    <p:sldId id="315" r:id="rId41"/>
    <p:sldId id="289" r:id="rId42"/>
    <p:sldId id="290" r:id="rId43"/>
    <p:sldId id="560" r:id="rId44"/>
    <p:sldId id="291" r:id="rId45"/>
    <p:sldId id="561" r:id="rId46"/>
    <p:sldId id="292" r:id="rId47"/>
    <p:sldId id="293" r:id="rId48"/>
    <p:sldId id="294" r:id="rId49"/>
    <p:sldId id="295" r:id="rId50"/>
    <p:sldId id="296" r:id="rId51"/>
    <p:sldId id="298" r:id="rId52"/>
    <p:sldId id="299" r:id="rId53"/>
    <p:sldId id="300" r:id="rId54"/>
    <p:sldId id="301" r:id="rId55"/>
    <p:sldId id="302" r:id="rId56"/>
    <p:sldId id="303" r:id="rId57"/>
    <p:sldId id="304" r:id="rId58"/>
    <p:sldId id="305" r:id="rId59"/>
    <p:sldId id="306" r:id="rId60"/>
    <p:sldId id="307" r:id="rId61"/>
    <p:sldId id="316" r:id="rId62"/>
    <p:sldId id="308" r:id="rId63"/>
    <p:sldId id="309" r:id="rId64"/>
    <p:sldId id="317" r:id="rId65"/>
    <p:sldId id="322" r:id="rId66"/>
    <p:sldId id="318" r:id="rId67"/>
    <p:sldId id="319" r:id="rId68"/>
    <p:sldId id="320" r:id="rId69"/>
    <p:sldId id="325" r:id="rId70"/>
    <p:sldId id="323" r:id="rId71"/>
    <p:sldId id="324" r:id="rId72"/>
    <p:sldId id="326" r:id="rId73"/>
    <p:sldId id="327" r:id="rId74"/>
    <p:sldId id="310" r:id="rId75"/>
    <p:sldId id="321" r:id="rId76"/>
    <p:sldId id="328" r:id="rId77"/>
    <p:sldId id="329" r:id="rId78"/>
    <p:sldId id="330" r:id="rId79"/>
    <p:sldId id="331" r:id="rId80"/>
    <p:sldId id="332" r:id="rId81"/>
    <p:sldId id="333" r:id="rId82"/>
    <p:sldId id="337" r:id="rId83"/>
    <p:sldId id="335" r:id="rId84"/>
    <p:sldId id="336" r:id="rId85"/>
    <p:sldId id="344" r:id="rId86"/>
    <p:sldId id="338" r:id="rId87"/>
    <p:sldId id="339" r:id="rId88"/>
    <p:sldId id="345" r:id="rId89"/>
    <p:sldId id="346" r:id="rId90"/>
    <p:sldId id="347" r:id="rId91"/>
    <p:sldId id="348" r:id="rId92"/>
    <p:sldId id="349" r:id="rId93"/>
    <p:sldId id="343" r:id="rId94"/>
    <p:sldId id="340" r:id="rId95"/>
    <p:sldId id="350" r:id="rId96"/>
    <p:sldId id="341" r:id="rId97"/>
    <p:sldId id="342" r:id="rId98"/>
    <p:sldId id="356" r:id="rId99"/>
    <p:sldId id="353" r:id="rId100"/>
    <p:sldId id="354" r:id="rId101"/>
    <p:sldId id="355" r:id="rId102"/>
    <p:sldId id="357" r:id="rId103"/>
    <p:sldId id="351" r:id="rId104"/>
    <p:sldId id="374" r:id="rId105"/>
    <p:sldId id="352" r:id="rId106"/>
    <p:sldId id="368" r:id="rId107"/>
    <p:sldId id="370" r:id="rId108"/>
    <p:sldId id="371" r:id="rId109"/>
    <p:sldId id="369" r:id="rId110"/>
    <p:sldId id="372" r:id="rId111"/>
    <p:sldId id="373" r:id="rId112"/>
    <p:sldId id="358" r:id="rId113"/>
    <p:sldId id="359" r:id="rId114"/>
    <p:sldId id="360" r:id="rId115"/>
    <p:sldId id="361" r:id="rId116"/>
    <p:sldId id="364" r:id="rId117"/>
    <p:sldId id="365" r:id="rId118"/>
    <p:sldId id="366" r:id="rId119"/>
    <p:sldId id="367" r:id="rId120"/>
    <p:sldId id="362" r:id="rId121"/>
    <p:sldId id="363"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425" r:id="rId135"/>
    <p:sldId id="633" r:id="rId136"/>
    <p:sldId id="387" r:id="rId137"/>
    <p:sldId id="388" r:id="rId138"/>
    <p:sldId id="445" r:id="rId139"/>
    <p:sldId id="446" r:id="rId140"/>
    <p:sldId id="390"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35" r:id="rId155"/>
    <p:sldId id="405" r:id="rId156"/>
    <p:sldId id="406" r:id="rId157"/>
    <p:sldId id="407" r:id="rId158"/>
    <p:sldId id="408" r:id="rId159"/>
    <p:sldId id="409" r:id="rId160"/>
    <p:sldId id="416" r:id="rId161"/>
    <p:sldId id="417" r:id="rId162"/>
    <p:sldId id="418" r:id="rId163"/>
    <p:sldId id="419" r:id="rId164"/>
    <p:sldId id="420" r:id="rId165"/>
    <p:sldId id="421" r:id="rId166"/>
    <p:sldId id="422" r:id="rId167"/>
    <p:sldId id="423" r:id="rId168"/>
    <p:sldId id="424" r:id="rId169"/>
    <p:sldId id="391" r:id="rId170"/>
    <p:sldId id="426" r:id="rId171"/>
    <p:sldId id="427" r:id="rId172"/>
    <p:sldId id="414" r:id="rId173"/>
    <p:sldId id="410" r:id="rId174"/>
    <p:sldId id="411" r:id="rId175"/>
    <p:sldId id="412" r:id="rId176"/>
    <p:sldId id="413" r:id="rId177"/>
    <p:sldId id="415" r:id="rId178"/>
    <p:sldId id="428" r:id="rId179"/>
    <p:sldId id="429" r:id="rId180"/>
    <p:sldId id="431" r:id="rId181"/>
    <p:sldId id="432" r:id="rId182"/>
    <p:sldId id="430" r:id="rId183"/>
    <p:sldId id="433" r:id="rId184"/>
    <p:sldId id="434" r:id="rId185"/>
    <p:sldId id="438" r:id="rId186"/>
    <p:sldId id="622" r:id="rId187"/>
    <p:sldId id="436" r:id="rId188"/>
    <p:sldId id="439" r:id="rId189"/>
    <p:sldId id="440" r:id="rId190"/>
    <p:sldId id="441" r:id="rId191"/>
    <p:sldId id="442" r:id="rId192"/>
    <p:sldId id="443" r:id="rId193"/>
    <p:sldId id="444" r:id="rId194"/>
    <p:sldId id="447" r:id="rId195"/>
    <p:sldId id="449" r:id="rId196"/>
    <p:sldId id="451" r:id="rId197"/>
    <p:sldId id="450" r:id="rId198"/>
    <p:sldId id="454" r:id="rId199"/>
    <p:sldId id="455" r:id="rId200"/>
    <p:sldId id="459" r:id="rId201"/>
    <p:sldId id="456" r:id="rId202"/>
    <p:sldId id="457" r:id="rId203"/>
    <p:sldId id="458" r:id="rId204"/>
    <p:sldId id="452" r:id="rId205"/>
    <p:sldId id="453" r:id="rId206"/>
    <p:sldId id="460" r:id="rId207"/>
    <p:sldId id="462" r:id="rId208"/>
    <p:sldId id="468" r:id="rId209"/>
    <p:sldId id="479" r:id="rId210"/>
    <p:sldId id="463" r:id="rId211"/>
    <p:sldId id="465" r:id="rId212"/>
    <p:sldId id="466" r:id="rId213"/>
    <p:sldId id="467" r:id="rId214"/>
    <p:sldId id="464" r:id="rId215"/>
    <p:sldId id="480" r:id="rId216"/>
    <p:sldId id="461" r:id="rId217"/>
    <p:sldId id="469" r:id="rId218"/>
    <p:sldId id="470" r:id="rId219"/>
    <p:sldId id="471" r:id="rId220"/>
    <p:sldId id="472" r:id="rId221"/>
    <p:sldId id="473" r:id="rId222"/>
    <p:sldId id="474" r:id="rId223"/>
    <p:sldId id="476" r:id="rId224"/>
    <p:sldId id="488" r:id="rId225"/>
    <p:sldId id="481" r:id="rId226"/>
    <p:sldId id="478" r:id="rId227"/>
    <p:sldId id="482" r:id="rId228"/>
    <p:sldId id="477" r:id="rId229"/>
    <p:sldId id="483" r:id="rId230"/>
    <p:sldId id="484" r:id="rId231"/>
    <p:sldId id="485" r:id="rId232"/>
    <p:sldId id="486" r:id="rId233"/>
    <p:sldId id="487" r:id="rId234"/>
    <p:sldId id="489" r:id="rId235"/>
    <p:sldId id="490" r:id="rId236"/>
    <p:sldId id="491" r:id="rId237"/>
    <p:sldId id="492" r:id="rId238"/>
    <p:sldId id="502" r:id="rId239"/>
    <p:sldId id="494" r:id="rId240"/>
    <p:sldId id="495" r:id="rId241"/>
    <p:sldId id="496" r:id="rId242"/>
    <p:sldId id="497" r:id="rId243"/>
    <p:sldId id="498" r:id="rId244"/>
    <p:sldId id="499" r:id="rId245"/>
    <p:sldId id="500" r:id="rId246"/>
    <p:sldId id="506" r:id="rId247"/>
    <p:sldId id="501" r:id="rId248"/>
    <p:sldId id="503" r:id="rId249"/>
    <p:sldId id="504" r:id="rId250"/>
    <p:sldId id="505" r:id="rId251"/>
    <p:sldId id="507" r:id="rId252"/>
    <p:sldId id="508" r:id="rId253"/>
    <p:sldId id="509" r:id="rId254"/>
    <p:sldId id="510" r:id="rId255"/>
    <p:sldId id="511" r:id="rId256"/>
    <p:sldId id="512" r:id="rId257"/>
    <p:sldId id="513" r:id="rId258"/>
    <p:sldId id="514" r:id="rId259"/>
    <p:sldId id="515" r:id="rId260"/>
    <p:sldId id="517" r:id="rId261"/>
    <p:sldId id="516" r:id="rId262"/>
    <p:sldId id="518" r:id="rId263"/>
    <p:sldId id="519" r:id="rId264"/>
    <p:sldId id="520" r:id="rId265"/>
    <p:sldId id="521" r:id="rId266"/>
    <p:sldId id="522" r:id="rId267"/>
    <p:sldId id="523" r:id="rId268"/>
    <p:sldId id="524" r:id="rId269"/>
    <p:sldId id="525" r:id="rId270"/>
    <p:sldId id="526" r:id="rId271"/>
    <p:sldId id="527" r:id="rId272"/>
    <p:sldId id="528" r:id="rId273"/>
    <p:sldId id="529" r:id="rId274"/>
    <p:sldId id="530" r:id="rId275"/>
    <p:sldId id="531" r:id="rId276"/>
    <p:sldId id="532" r:id="rId277"/>
    <p:sldId id="534" r:id="rId278"/>
    <p:sldId id="533" r:id="rId279"/>
    <p:sldId id="535" r:id="rId280"/>
    <p:sldId id="536" r:id="rId281"/>
    <p:sldId id="537" r:id="rId282"/>
    <p:sldId id="538" r:id="rId283"/>
    <p:sldId id="539" r:id="rId284"/>
    <p:sldId id="540" r:id="rId285"/>
    <p:sldId id="541" r:id="rId286"/>
    <p:sldId id="542" r:id="rId287"/>
    <p:sldId id="544" r:id="rId288"/>
    <p:sldId id="562" r:id="rId289"/>
    <p:sldId id="545" r:id="rId290"/>
    <p:sldId id="546" r:id="rId291"/>
    <p:sldId id="547" r:id="rId292"/>
    <p:sldId id="543" r:id="rId293"/>
    <p:sldId id="550" r:id="rId294"/>
    <p:sldId id="548" r:id="rId295"/>
    <p:sldId id="549" r:id="rId296"/>
    <p:sldId id="556" r:id="rId297"/>
    <p:sldId id="557" r:id="rId298"/>
    <p:sldId id="553" r:id="rId299"/>
    <p:sldId id="563" r:id="rId300"/>
    <p:sldId id="554" r:id="rId301"/>
    <p:sldId id="564" r:id="rId302"/>
    <p:sldId id="555" r:id="rId303"/>
    <p:sldId id="565" r:id="rId304"/>
    <p:sldId id="558" r:id="rId305"/>
    <p:sldId id="559" r:id="rId306"/>
    <p:sldId id="566" r:id="rId307"/>
    <p:sldId id="567" r:id="rId308"/>
    <p:sldId id="569" r:id="rId309"/>
    <p:sldId id="568" r:id="rId310"/>
    <p:sldId id="570" r:id="rId311"/>
    <p:sldId id="571" r:id="rId312"/>
    <p:sldId id="572" r:id="rId313"/>
    <p:sldId id="573" r:id="rId314"/>
    <p:sldId id="574" r:id="rId315"/>
    <p:sldId id="575" r:id="rId316"/>
    <p:sldId id="580" r:id="rId317"/>
    <p:sldId id="581" r:id="rId318"/>
    <p:sldId id="576" r:id="rId319"/>
    <p:sldId id="577" r:id="rId320"/>
    <p:sldId id="578" r:id="rId321"/>
    <p:sldId id="579" r:id="rId322"/>
    <p:sldId id="582" r:id="rId323"/>
    <p:sldId id="583" r:id="rId324"/>
    <p:sldId id="584" r:id="rId325"/>
    <p:sldId id="585" r:id="rId326"/>
    <p:sldId id="587" r:id="rId327"/>
    <p:sldId id="586" r:id="rId328"/>
    <p:sldId id="588" r:id="rId329"/>
    <p:sldId id="590" r:id="rId330"/>
    <p:sldId id="589" r:id="rId331"/>
    <p:sldId id="591" r:id="rId332"/>
    <p:sldId id="592" r:id="rId333"/>
    <p:sldId id="593" r:id="rId334"/>
    <p:sldId id="595" r:id="rId335"/>
    <p:sldId id="594" r:id="rId336"/>
    <p:sldId id="596" r:id="rId337"/>
    <p:sldId id="597" r:id="rId338"/>
    <p:sldId id="598" r:id="rId339"/>
    <p:sldId id="603" r:id="rId340"/>
    <p:sldId id="602" r:id="rId341"/>
    <p:sldId id="604" r:id="rId342"/>
    <p:sldId id="605" r:id="rId343"/>
    <p:sldId id="606" r:id="rId344"/>
    <p:sldId id="599" r:id="rId345"/>
    <p:sldId id="600" r:id="rId346"/>
    <p:sldId id="601" r:id="rId347"/>
    <p:sldId id="607" r:id="rId348"/>
    <p:sldId id="608" r:id="rId349"/>
    <p:sldId id="609" r:id="rId350"/>
    <p:sldId id="610" r:id="rId351"/>
    <p:sldId id="611" r:id="rId352"/>
    <p:sldId id="612" r:id="rId353"/>
    <p:sldId id="613" r:id="rId354"/>
    <p:sldId id="614" r:id="rId355"/>
    <p:sldId id="615" r:id="rId356"/>
    <p:sldId id="616" r:id="rId357"/>
    <p:sldId id="617" r:id="rId358"/>
    <p:sldId id="618" r:id="rId359"/>
    <p:sldId id="619" r:id="rId360"/>
    <p:sldId id="620" r:id="rId361"/>
    <p:sldId id="623" r:id="rId362"/>
    <p:sldId id="624" r:id="rId363"/>
    <p:sldId id="632" r:id="rId364"/>
    <p:sldId id="625" r:id="rId365"/>
    <p:sldId id="630" r:id="rId366"/>
    <p:sldId id="626" r:id="rId367"/>
    <p:sldId id="627" r:id="rId368"/>
    <p:sldId id="628" r:id="rId369"/>
    <p:sldId id="631" r:id="rId370"/>
    <p:sldId id="621" r:id="rId37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721" autoAdjust="0"/>
    <p:restoredTop sz="94660"/>
  </p:normalViewPr>
  <p:slideViewPr>
    <p:cSldViewPr snapToGrid="0">
      <p:cViewPr varScale="1">
        <p:scale>
          <a:sx n="73" d="100"/>
          <a:sy n="73" d="100"/>
        </p:scale>
        <p:origin x="510" y="7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366" Type="http://schemas.openxmlformats.org/officeDocument/2006/relationships/slide" Target="slides/slide365.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openxmlformats.org/officeDocument/2006/relationships/slide" Target="slides/slide345.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357" Type="http://schemas.openxmlformats.org/officeDocument/2006/relationships/slide" Target="slides/slide356.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65" Type="http://schemas.openxmlformats.org/officeDocument/2006/relationships/slide" Target="slides/slide64.xml"/><Relationship Id="rId130" Type="http://schemas.openxmlformats.org/officeDocument/2006/relationships/slide" Target="slides/slide129.xml"/><Relationship Id="rId368" Type="http://schemas.openxmlformats.org/officeDocument/2006/relationships/slide" Target="slides/slide367.xml"/><Relationship Id="rId172" Type="http://schemas.openxmlformats.org/officeDocument/2006/relationships/slide" Target="slides/slide171.xml"/><Relationship Id="rId228" Type="http://schemas.openxmlformats.org/officeDocument/2006/relationships/slide" Target="slides/slide227.xml"/><Relationship Id="rId281" Type="http://schemas.openxmlformats.org/officeDocument/2006/relationships/slide" Target="slides/slide280.xml"/><Relationship Id="rId337" Type="http://schemas.openxmlformats.org/officeDocument/2006/relationships/slide" Target="slides/slide336.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45" Type="http://schemas.openxmlformats.org/officeDocument/2006/relationships/slide" Target="slides/slide44.xml"/><Relationship Id="rId87" Type="http://schemas.openxmlformats.org/officeDocument/2006/relationships/slide" Target="slides/slide86.xml"/><Relationship Id="rId110" Type="http://schemas.openxmlformats.org/officeDocument/2006/relationships/slide" Target="slides/slide109.xml"/><Relationship Id="rId348" Type="http://schemas.openxmlformats.org/officeDocument/2006/relationships/slide" Target="slides/slide347.xml"/><Relationship Id="rId152" Type="http://schemas.openxmlformats.org/officeDocument/2006/relationships/slide" Target="slides/slide151.xml"/><Relationship Id="rId194" Type="http://schemas.openxmlformats.org/officeDocument/2006/relationships/slide" Target="slides/slide193.xml"/><Relationship Id="rId208" Type="http://schemas.openxmlformats.org/officeDocument/2006/relationships/slide" Target="slides/slide207.xml"/><Relationship Id="rId261" Type="http://schemas.openxmlformats.org/officeDocument/2006/relationships/slide" Target="slides/slide260.xml"/><Relationship Id="rId14" Type="http://schemas.openxmlformats.org/officeDocument/2006/relationships/slide" Target="slides/slide13.xml"/><Relationship Id="rId56" Type="http://schemas.openxmlformats.org/officeDocument/2006/relationships/slide" Target="slides/slide55.xml"/><Relationship Id="rId317" Type="http://schemas.openxmlformats.org/officeDocument/2006/relationships/slide" Target="slides/slide316.xml"/><Relationship Id="rId359" Type="http://schemas.openxmlformats.org/officeDocument/2006/relationships/slide" Target="slides/slide358.xml"/><Relationship Id="rId98" Type="http://schemas.openxmlformats.org/officeDocument/2006/relationships/slide" Target="slides/slide97.xml"/><Relationship Id="rId121" Type="http://schemas.openxmlformats.org/officeDocument/2006/relationships/slide" Target="slides/slide120.xml"/><Relationship Id="rId163" Type="http://schemas.openxmlformats.org/officeDocument/2006/relationships/slide" Target="slides/slide162.xml"/><Relationship Id="rId219" Type="http://schemas.openxmlformats.org/officeDocument/2006/relationships/slide" Target="slides/slide218.xml"/><Relationship Id="rId370" Type="http://schemas.openxmlformats.org/officeDocument/2006/relationships/slide" Target="slides/slide369.xml"/><Relationship Id="rId230" Type="http://schemas.openxmlformats.org/officeDocument/2006/relationships/slide" Target="slides/slide229.xml"/><Relationship Id="rId25" Type="http://schemas.openxmlformats.org/officeDocument/2006/relationships/slide" Target="slides/slide24.xml"/><Relationship Id="rId67" Type="http://schemas.openxmlformats.org/officeDocument/2006/relationships/slide" Target="slides/slide66.xml"/><Relationship Id="rId272" Type="http://schemas.openxmlformats.org/officeDocument/2006/relationships/slide" Target="slides/slide271.xml"/><Relationship Id="rId328" Type="http://schemas.openxmlformats.org/officeDocument/2006/relationships/slide" Target="slides/slide327.xml"/><Relationship Id="rId132" Type="http://schemas.openxmlformats.org/officeDocument/2006/relationships/slide" Target="slides/slide131.xml"/><Relationship Id="rId174" Type="http://schemas.openxmlformats.org/officeDocument/2006/relationships/slide" Target="slides/slide173.xml"/><Relationship Id="rId241" Type="http://schemas.openxmlformats.org/officeDocument/2006/relationships/slide" Target="slides/slide240.xml"/><Relationship Id="rId36" Type="http://schemas.openxmlformats.org/officeDocument/2006/relationships/slide" Target="slides/slide35.xml"/><Relationship Id="rId283" Type="http://schemas.openxmlformats.org/officeDocument/2006/relationships/slide" Target="slides/slide282.xml"/><Relationship Id="rId339" Type="http://schemas.openxmlformats.org/officeDocument/2006/relationships/slide" Target="slides/slide338.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350" Type="http://schemas.openxmlformats.org/officeDocument/2006/relationships/slide" Target="slides/slide349.xml"/><Relationship Id="rId371" Type="http://schemas.openxmlformats.org/officeDocument/2006/relationships/slide" Target="slides/slide370.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329" Type="http://schemas.openxmlformats.org/officeDocument/2006/relationships/slide" Target="slides/slide328.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340" Type="http://schemas.openxmlformats.org/officeDocument/2006/relationships/slide" Target="slides/slide339.xml"/><Relationship Id="rId361" Type="http://schemas.openxmlformats.org/officeDocument/2006/relationships/slide" Target="slides/slide360.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351" Type="http://schemas.openxmlformats.org/officeDocument/2006/relationships/slide" Target="slides/slide350.xml"/><Relationship Id="rId372" Type="http://schemas.openxmlformats.org/officeDocument/2006/relationships/notesMaster" Target="notesMasters/notesMaster1.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slide" Target="slides/slide340.xml"/><Relationship Id="rId362" Type="http://schemas.openxmlformats.org/officeDocument/2006/relationships/slide" Target="slides/slide361.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352" Type="http://schemas.openxmlformats.org/officeDocument/2006/relationships/slide" Target="slides/slide351.xml"/><Relationship Id="rId373" Type="http://schemas.openxmlformats.org/officeDocument/2006/relationships/presProps" Target="presProps.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slide" Target="slides/slide341.xml"/><Relationship Id="rId363" Type="http://schemas.openxmlformats.org/officeDocument/2006/relationships/slide" Target="slides/slide362.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353" Type="http://schemas.openxmlformats.org/officeDocument/2006/relationships/slide" Target="slides/slide352.xml"/><Relationship Id="rId374" Type="http://schemas.openxmlformats.org/officeDocument/2006/relationships/viewProps" Target="viewProps.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364" Type="http://schemas.openxmlformats.org/officeDocument/2006/relationships/slide" Target="slides/slide363.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slide" Target="slides/slide353.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75" Type="http://schemas.openxmlformats.org/officeDocument/2006/relationships/theme" Target="theme/theme1.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365" Type="http://schemas.openxmlformats.org/officeDocument/2006/relationships/slide" Target="slides/slide364.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slide" Target="slides/slide354.xml"/><Relationship Id="rId376" Type="http://schemas.openxmlformats.org/officeDocument/2006/relationships/tableStyles" Target="tableStyles.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356" Type="http://schemas.openxmlformats.org/officeDocument/2006/relationships/slide" Target="slides/slide355.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367" Type="http://schemas.openxmlformats.org/officeDocument/2006/relationships/slide" Target="slides/slide366.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347" Type="http://schemas.openxmlformats.org/officeDocument/2006/relationships/slide" Target="slides/slide346.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358" Type="http://schemas.openxmlformats.org/officeDocument/2006/relationships/slide" Target="slides/slide357.xml"/><Relationship Id="rId162" Type="http://schemas.openxmlformats.org/officeDocument/2006/relationships/slide" Target="slides/slide161.xml"/><Relationship Id="rId218" Type="http://schemas.openxmlformats.org/officeDocument/2006/relationships/slide" Target="slides/slide217.xml"/><Relationship Id="rId271" Type="http://schemas.openxmlformats.org/officeDocument/2006/relationships/slide" Target="slides/slide270.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369" Type="http://schemas.openxmlformats.org/officeDocument/2006/relationships/slide" Target="slides/slide368.xml"/><Relationship Id="rId173" Type="http://schemas.openxmlformats.org/officeDocument/2006/relationships/slide" Target="slides/slide172.xml"/><Relationship Id="rId229" Type="http://schemas.openxmlformats.org/officeDocument/2006/relationships/slide" Target="slides/slide228.xml"/><Relationship Id="rId240" Type="http://schemas.openxmlformats.org/officeDocument/2006/relationships/slide" Target="slides/slide239.xml"/><Relationship Id="rId35" Type="http://schemas.openxmlformats.org/officeDocument/2006/relationships/slide" Target="slides/slide34.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38" Type="http://schemas.openxmlformats.org/officeDocument/2006/relationships/slide" Target="slides/slide337.xml"/><Relationship Id="rId8" Type="http://schemas.openxmlformats.org/officeDocument/2006/relationships/slide" Target="slides/slide7.xml"/><Relationship Id="rId142" Type="http://schemas.openxmlformats.org/officeDocument/2006/relationships/slide" Target="slides/slide141.xml"/><Relationship Id="rId184" Type="http://schemas.openxmlformats.org/officeDocument/2006/relationships/slide" Target="slides/slide183.xml"/><Relationship Id="rId251" Type="http://schemas.openxmlformats.org/officeDocument/2006/relationships/slide" Target="slides/slide250.xml"/><Relationship Id="rId46" Type="http://schemas.openxmlformats.org/officeDocument/2006/relationships/slide" Target="slides/slide45.xml"/><Relationship Id="rId293" Type="http://schemas.openxmlformats.org/officeDocument/2006/relationships/slide" Target="slides/slide292.xml"/><Relationship Id="rId307" Type="http://schemas.openxmlformats.org/officeDocument/2006/relationships/slide" Target="slides/slide306.xml"/><Relationship Id="rId349" Type="http://schemas.openxmlformats.org/officeDocument/2006/relationships/slide" Target="slides/slide348.xml"/><Relationship Id="rId88" Type="http://schemas.openxmlformats.org/officeDocument/2006/relationships/slide" Target="slides/slide87.xml"/><Relationship Id="rId111" Type="http://schemas.openxmlformats.org/officeDocument/2006/relationships/slide" Target="slides/slide110.xml"/><Relationship Id="rId153" Type="http://schemas.openxmlformats.org/officeDocument/2006/relationships/slide" Target="slides/slide152.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220" Type="http://schemas.openxmlformats.org/officeDocument/2006/relationships/slide" Target="slides/slide219.xml"/><Relationship Id="rId15" Type="http://schemas.openxmlformats.org/officeDocument/2006/relationships/slide" Target="slides/slide14.xml"/><Relationship Id="rId57" Type="http://schemas.openxmlformats.org/officeDocument/2006/relationships/slide" Target="slides/slide56.xml"/><Relationship Id="rId262" Type="http://schemas.openxmlformats.org/officeDocument/2006/relationships/slide" Target="slides/slide261.xml"/><Relationship Id="rId318" Type="http://schemas.openxmlformats.org/officeDocument/2006/relationships/slide" Target="slides/slide3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FCEDB9-3651-4F84-A9B6-88125EB874C7}" type="datetimeFigureOut">
              <a:rPr lang="en-US" smtClean="0"/>
              <a:t>3/18/2024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51A881-D349-49FD-8810-034F3BC4D84B}" type="slidenum">
              <a:rPr lang="en-US" smtClean="0"/>
              <a:t>‹#›</a:t>
            </a:fld>
            <a:endParaRPr lang="en-US"/>
          </a:p>
        </p:txBody>
      </p:sp>
    </p:spTree>
    <p:extLst>
      <p:ext uri="{BB962C8B-B14F-4D97-AF65-F5344CB8AC3E}">
        <p14:creationId xmlns:p14="http://schemas.microsoft.com/office/powerpoint/2010/main" val="1331455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particles are loosely packed, leaving large air spaces. Small particles are closely packed, providing more attachment surfaces for water.</a:t>
            </a:r>
          </a:p>
        </p:txBody>
      </p:sp>
      <p:sp>
        <p:nvSpPr>
          <p:cNvPr id="4" name="Slide Number Placeholder 3"/>
          <p:cNvSpPr>
            <a:spLocks noGrp="1"/>
          </p:cNvSpPr>
          <p:nvPr>
            <p:ph type="sldNum" sz="quarter" idx="5"/>
          </p:nvPr>
        </p:nvSpPr>
        <p:spPr/>
        <p:txBody>
          <a:bodyPr/>
          <a:lstStyle/>
          <a:p>
            <a:fld id="{9751A881-D349-49FD-8810-034F3BC4D84B}" type="slidenum">
              <a:rPr lang="en-US" smtClean="0"/>
              <a:t>71</a:t>
            </a:fld>
            <a:endParaRPr lang="en-US"/>
          </a:p>
        </p:txBody>
      </p:sp>
    </p:spTree>
    <p:extLst>
      <p:ext uri="{BB962C8B-B14F-4D97-AF65-F5344CB8AC3E}">
        <p14:creationId xmlns:p14="http://schemas.microsoft.com/office/powerpoint/2010/main" val="3449468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Enables soil to retain water. Enables upward and horizontal movement of water.</a:t>
            </a:r>
          </a:p>
        </p:txBody>
      </p:sp>
      <p:sp>
        <p:nvSpPr>
          <p:cNvPr id="4" name="Slide Number Placeholder 3"/>
          <p:cNvSpPr>
            <a:spLocks noGrp="1"/>
          </p:cNvSpPr>
          <p:nvPr>
            <p:ph type="sldNum" sz="quarter" idx="5"/>
          </p:nvPr>
        </p:nvSpPr>
        <p:spPr/>
        <p:txBody>
          <a:bodyPr/>
          <a:lstStyle/>
          <a:p>
            <a:fld id="{9751A881-D349-49FD-8810-034F3BC4D84B}" type="slidenum">
              <a:rPr lang="en-US" smtClean="0"/>
              <a:t>73</a:t>
            </a:fld>
            <a:endParaRPr lang="en-US"/>
          </a:p>
        </p:txBody>
      </p:sp>
    </p:spTree>
    <p:extLst>
      <p:ext uri="{BB962C8B-B14F-4D97-AF65-F5344CB8AC3E}">
        <p14:creationId xmlns:p14="http://schemas.microsoft.com/office/powerpoint/2010/main" val="2625860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B4AF60A-713C-41BA-9788-4C493DDC0A9C}" type="datetimeFigureOut">
              <a:rPr lang="en-US" smtClean="0"/>
              <a:t>3/18/2024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15460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8A4C08AF-84E6-4329-8E67-FEA434B47075}" type="datetimeFigureOut">
              <a:rPr lang="en-US" smtClean="0"/>
              <a:t>3/18/2024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830466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6EE328-6AFF-436B-881F-213D56084544}" type="datetimeFigureOut">
              <a:rPr lang="en-US" smtClean="0"/>
              <a:t>3/18/2024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799445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02069A-09EE-4C7C-86A4-2314A404921D}" type="datetimeFigureOut">
              <a:rPr lang="en-US" smtClean="0"/>
              <a:t>3/18/2024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577569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6EE7F1-171E-411F-96CA-A251A21496E7}" type="datetimeFigureOut">
              <a:rPr lang="en-US" smtClean="0"/>
              <a:t>3/18/2024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876134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8872C98D-A273-4547-9B92-97D7769F71A6}" type="datetimeFigureOut">
              <a:rPr lang="en-US" smtClean="0"/>
              <a:t>3/18/2024</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199610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AB7CD67-0644-446C-B2AD-1C09BF34F286}" type="datetimeFigureOut">
              <a:rPr lang="en-US" smtClean="0"/>
              <a:t>3/18/2024</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578747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81480828-6983-48AD-9E27-CBD3696F837E}" type="datetimeFigureOut">
              <a:rPr lang="en-US" smtClean="0"/>
              <a:t>3/18/2024</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606975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C5EFB91-0324-450E-B17F-36DC0ECCE413}" type="datetimeFigureOut">
              <a:rPr lang="en-US" smtClean="0"/>
              <a:t>3/18/2024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211717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2E37674-C1BA-4107-9B06-6D4CAC3A3DF5}" type="datetimeFigureOut">
              <a:rPr lang="en-US" smtClean="0"/>
              <a:t>3/18/2024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5894211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2E37674-C1BA-4107-9B06-6D4CAC3A3DF5}" type="datetimeFigureOut">
              <a:rPr lang="en-US" smtClean="0"/>
              <a:t>3/18/2024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351213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2E37674-C1BA-4107-9B06-6D4CAC3A3DF5}" type="datetimeFigureOut">
              <a:rPr lang="en-US" smtClean="0"/>
              <a:t>3/18/2024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69893359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E37674-C1BA-4107-9B06-6D4CAC3A3DF5}" type="datetimeFigureOut">
              <a:rPr lang="en-US" smtClean="0"/>
              <a:t>3/18/2024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6568923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2E37674-C1BA-4107-9B06-6D4CAC3A3DF5}" type="datetimeFigureOut">
              <a:rPr lang="en-US" smtClean="0"/>
              <a:t>3/18/2024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6624783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2E37674-C1BA-4107-9B06-6D4CAC3A3DF5}" type="datetimeFigureOut">
              <a:rPr lang="en-US" smtClean="0"/>
              <a:t>3/18/2024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5312298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5E0FA7-C445-42F7-AF66-A4F5A6FC8A9C}" type="datetimeFigureOut">
              <a:rPr lang="en-US" smtClean="0"/>
              <a:t>3/18/2024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2943598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5AC5C5-1A57-4420-8AFB-CE41693A794B}" type="datetimeFigureOut">
              <a:rPr lang="en-US" smtClean="0"/>
              <a:t>3/18/2024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127277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2E37674-C1BA-4107-9B06-6D4CAC3A3DF5}" type="datetimeFigureOut">
              <a:rPr lang="en-US" smtClean="0"/>
              <a:t>3/18/2024</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01612514"/>
      </p:ext>
    </p:extLst>
  </p:cSld>
  <p:clrMap bg1="dk1" tx1="lt1" bg2="dk2" tx2="lt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 id="2147483985" r:id="rId13"/>
    <p:sldLayoutId id="2147483986" r:id="rId14"/>
    <p:sldLayoutId id="2147483987" r:id="rId15"/>
    <p:sldLayoutId id="2147483988" r:id="rId16"/>
    <p:sldLayoutId id="214748398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1.jpe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41.gif"/><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2" Type="http://schemas.openxmlformats.org/officeDocument/2006/relationships/image" Target="../media/image81.emf"/><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2" Type="http://schemas.openxmlformats.org/officeDocument/2006/relationships/image" Target="../media/image87.jpeg"/><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image" Target="../media/image93.jpeg"/><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2" Type="http://schemas.openxmlformats.org/officeDocument/2006/relationships/image" Target="../media/image95.jpeg"/><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352.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2" Type="http://schemas.openxmlformats.org/officeDocument/2006/relationships/image" Target="../media/image102.jpeg"/><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E7E6C-22C8-4F5A-0731-952F7F19E8B6}"/>
              </a:ext>
            </a:extLst>
          </p:cNvPr>
          <p:cNvSpPr>
            <a:spLocks noGrp="1"/>
          </p:cNvSpPr>
          <p:nvPr>
            <p:ph type="ctrTitle"/>
          </p:nvPr>
        </p:nvSpPr>
        <p:spPr/>
        <p:txBody>
          <a:bodyPr/>
          <a:lstStyle/>
          <a:p>
            <a:pPr algn="ctr"/>
            <a:r>
              <a:rPr lang="en-US" sz="6000" b="1" u="sng" dirty="0">
                <a:effectLst/>
                <a:latin typeface="Calibri" panose="020F0502020204030204" pitchFamily="34" charset="0"/>
                <a:ea typeface="Calibri" panose="020F0502020204030204" pitchFamily="34" charset="0"/>
                <a:cs typeface="Times New Roman" panose="02020603050405020304" pitchFamily="18" charset="0"/>
              </a:rPr>
              <a:t>THEME: SOIL</a:t>
            </a:r>
            <a:r>
              <a:rPr lang="en-US" sz="1800" dirty="0">
                <a:effectLst/>
                <a:latin typeface="Calibri" panose="020F0502020204030204" pitchFamily="34" charset="0"/>
                <a:ea typeface="Calibri" panose="020F0502020204030204" pitchFamily="34" charset="0"/>
                <a:cs typeface="Times New Roman" panose="02020603050405020304" pitchFamily="18" charset="0"/>
              </a:rPr>
              <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Tree>
    <p:extLst>
      <p:ext uri="{BB962C8B-B14F-4D97-AF65-F5344CB8AC3E}">
        <p14:creationId xmlns:p14="http://schemas.microsoft.com/office/powerpoint/2010/main" val="2188708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EC306D-D047-6A60-6C64-1B072A2D3634}"/>
              </a:ext>
            </a:extLst>
          </p:cNvPr>
          <p:cNvSpPr>
            <a:spLocks noGrp="1"/>
          </p:cNvSpPr>
          <p:nvPr>
            <p:ph idx="1"/>
          </p:nvPr>
        </p:nvSpPr>
        <p:spPr/>
        <p:txBody>
          <a:bodyPr>
            <a:normAutofit/>
          </a:bodyPr>
          <a:lstStyle/>
          <a:p>
            <a:pPr algn="ctr"/>
            <a:r>
              <a:rPr lang="en-US" sz="4000" dirty="0"/>
              <a:t>What is soil?</a:t>
            </a:r>
          </a:p>
        </p:txBody>
      </p:sp>
    </p:spTree>
    <p:extLst>
      <p:ext uri="{BB962C8B-B14F-4D97-AF65-F5344CB8AC3E}">
        <p14:creationId xmlns:p14="http://schemas.microsoft.com/office/powerpoint/2010/main" val="197472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5269D8-6F73-C27C-667D-681CC2E71115}"/>
              </a:ext>
            </a:extLst>
          </p:cNvPr>
          <p:cNvSpPr>
            <a:spLocks noGrp="1"/>
          </p:cNvSpPr>
          <p:nvPr>
            <p:ph idx="1"/>
          </p:nvPr>
        </p:nvSpPr>
        <p:spPr>
          <a:xfrm>
            <a:off x="1076808" y="1331259"/>
            <a:ext cx="9776722" cy="4195481"/>
          </a:xfrm>
        </p:spPr>
        <p:txBody>
          <a:bodyPr>
            <a:normAutofit/>
          </a:bodyPr>
          <a:lstStyle/>
          <a:p>
            <a:pPr marL="0" marR="0">
              <a:lnSpc>
                <a:spcPct val="115000"/>
              </a:lnSpc>
              <a:spcBef>
                <a:spcPts val="0"/>
              </a:spcBef>
              <a:spcAft>
                <a:spcPts val="1000"/>
              </a:spcAft>
            </a:pPr>
            <a:r>
              <a:rPr lang="en-US" sz="4000" dirty="0">
                <a:effectLst/>
                <a:latin typeface="Calibri" panose="020F0502020204030204" pitchFamily="34" charset="0"/>
                <a:ea typeface="Calibri" panose="020F0502020204030204" pitchFamily="34" charset="0"/>
                <a:cs typeface="Times New Roman" panose="02020603050405020304" pitchFamily="18" charset="0"/>
              </a:rPr>
              <a:t>Soil is a layer of loose and finely divided material that covers the earth’s crust/surface.</a:t>
            </a:r>
          </a:p>
          <a:p>
            <a:pPr marL="0" marR="0">
              <a:lnSpc>
                <a:spcPct val="115000"/>
              </a:lnSpc>
              <a:spcBef>
                <a:spcPts val="0"/>
              </a:spcBef>
              <a:spcAft>
                <a:spcPts val="1000"/>
              </a:spcAft>
            </a:pPr>
            <a:r>
              <a:rPr lang="en-US" sz="4000" dirty="0">
                <a:effectLst/>
                <a:latin typeface="Calibri" panose="020F0502020204030204" pitchFamily="34" charset="0"/>
                <a:ea typeface="Calibri" panose="020F0502020204030204" pitchFamily="34" charset="0"/>
                <a:cs typeface="Times New Roman" panose="02020603050405020304" pitchFamily="18" charset="0"/>
              </a:rPr>
              <a:t>It is a mixture of air, water, humus, living organisms, and weathered rocks.</a:t>
            </a:r>
          </a:p>
          <a:p>
            <a:pPr marL="0" indent="0">
              <a:buNone/>
            </a:pPr>
            <a:endParaRPr lang="en-US" dirty="0"/>
          </a:p>
        </p:txBody>
      </p:sp>
    </p:spTree>
    <p:extLst>
      <p:ext uri="{BB962C8B-B14F-4D97-AF65-F5344CB8AC3E}">
        <p14:creationId xmlns:p14="http://schemas.microsoft.com/office/powerpoint/2010/main" val="3682741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6EB6B-43E9-1FC0-D34C-7305DCD9E450}"/>
              </a:ext>
            </a:extLst>
          </p:cNvPr>
          <p:cNvSpPr>
            <a:spLocks noGrp="1"/>
          </p:cNvSpPr>
          <p:nvPr>
            <p:ph type="title"/>
          </p:nvPr>
        </p:nvSpPr>
        <p:spPr/>
        <p:txBody>
          <a:bodyPr/>
          <a:lstStyle/>
          <a:p>
            <a:r>
              <a:rPr lang="en-US" dirty="0"/>
              <a:t>What are the main/basic types of soil?</a:t>
            </a:r>
          </a:p>
        </p:txBody>
      </p:sp>
      <p:pic>
        <p:nvPicPr>
          <p:cNvPr id="1028" name="Picture 4">
            <a:extLst>
              <a:ext uri="{FF2B5EF4-FFF2-40B4-BE49-F238E27FC236}">
                <a16:creationId xmlns:a16="http://schemas.microsoft.com/office/drawing/2014/main" id="{DCB6756D-3534-274F-EE88-6C7B9FB92E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3" y="1933849"/>
            <a:ext cx="4208143" cy="3402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5">
            <a:extLst>
              <a:ext uri="{FF2B5EF4-FFF2-40B4-BE49-F238E27FC236}">
                <a16:creationId xmlns:a16="http://schemas.microsoft.com/office/drawing/2014/main" id="{46034CDC-CFAB-E014-502A-1CDDAC4E5F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5630" y="1933849"/>
            <a:ext cx="4037150" cy="3310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 name="Picture 6" descr="Soil conditioning for non-commercial growers | Agriculture and Food">
            <a:extLst>
              <a:ext uri="{FF2B5EF4-FFF2-40B4-BE49-F238E27FC236}">
                <a16:creationId xmlns:a16="http://schemas.microsoft.com/office/drawing/2014/main" id="{C423EDE1-96F4-D343-B11D-7FA7EBCD0F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6371" y="1979785"/>
            <a:ext cx="3918090" cy="3310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139FAC8A-77AE-5038-D096-4A029AE93E5D}"/>
              </a:ext>
            </a:extLst>
          </p:cNvPr>
          <p:cNvSpPr txBox="1"/>
          <p:nvPr/>
        </p:nvSpPr>
        <p:spPr>
          <a:xfrm>
            <a:off x="896384" y="5727037"/>
            <a:ext cx="11290852" cy="646331"/>
          </a:xfrm>
          <a:prstGeom prst="rect">
            <a:avLst/>
          </a:prstGeom>
          <a:noFill/>
        </p:spPr>
        <p:txBody>
          <a:bodyPr wrap="square" rtlCol="0">
            <a:spAutoFit/>
          </a:bodyPr>
          <a:lstStyle/>
          <a:p>
            <a:r>
              <a:rPr lang="en-US" sz="3600" dirty="0"/>
              <a:t>A                                  B                               C</a:t>
            </a:r>
          </a:p>
        </p:txBody>
      </p:sp>
    </p:spTree>
    <p:extLst>
      <p:ext uri="{BB962C8B-B14F-4D97-AF65-F5344CB8AC3E}">
        <p14:creationId xmlns:p14="http://schemas.microsoft.com/office/powerpoint/2010/main" val="899788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A85F4-B9AC-416C-48F2-B35CB3BC6592}"/>
              </a:ext>
            </a:extLst>
          </p:cNvPr>
          <p:cNvSpPr>
            <a:spLocks noGrp="1"/>
          </p:cNvSpPr>
          <p:nvPr>
            <p:ph type="title"/>
          </p:nvPr>
        </p:nvSpPr>
        <p:spPr>
          <a:xfrm>
            <a:off x="701358" y="0"/>
            <a:ext cx="10058400" cy="1609344"/>
          </a:xfrm>
        </p:spPr>
        <p:txBody>
          <a:bodyPr/>
          <a:lstStyle/>
          <a:p>
            <a:r>
              <a:rPr lang="en-US" dirty="0"/>
              <a:t>Types of soil </a:t>
            </a:r>
          </a:p>
        </p:txBody>
      </p:sp>
      <p:sp>
        <p:nvSpPr>
          <p:cNvPr id="3" name="Content Placeholder 2">
            <a:extLst>
              <a:ext uri="{FF2B5EF4-FFF2-40B4-BE49-F238E27FC236}">
                <a16:creationId xmlns:a16="http://schemas.microsoft.com/office/drawing/2014/main" id="{2DCB4133-DAD9-1228-76EF-E6BF37785174}"/>
              </a:ext>
            </a:extLst>
          </p:cNvPr>
          <p:cNvSpPr>
            <a:spLocks noGrp="1"/>
          </p:cNvSpPr>
          <p:nvPr>
            <p:ph idx="1"/>
          </p:nvPr>
        </p:nvSpPr>
        <p:spPr>
          <a:xfrm>
            <a:off x="701357" y="1609345"/>
            <a:ext cx="10885591" cy="4573092"/>
          </a:xfrm>
        </p:spPr>
        <p:txBody>
          <a:bodyPr>
            <a:normAutofit/>
          </a:bodyPr>
          <a:lstStyle/>
          <a:p>
            <a:r>
              <a:rPr lang="en-US" sz="3600" dirty="0">
                <a:effectLst/>
                <a:latin typeface="Calibri" panose="020F0502020204030204" pitchFamily="34" charset="0"/>
                <a:ea typeface="Calibri" panose="020F0502020204030204" pitchFamily="34" charset="0"/>
                <a:cs typeface="Times New Roman" panose="02020603050405020304" pitchFamily="18" charset="0"/>
              </a:rPr>
              <a:t>Soils are classified by the proportion of the different sized particles they contain. </a:t>
            </a:r>
          </a:p>
          <a:p>
            <a:pPr marL="342900" marR="0" lvl="0" indent="-342900">
              <a:lnSpc>
                <a:spcPct val="115000"/>
              </a:lnSpc>
              <a:spcBef>
                <a:spcPts val="0"/>
              </a:spcBef>
              <a:spcAft>
                <a:spcPts val="1000"/>
              </a:spcAft>
              <a:buFont typeface="+mj-lt"/>
              <a:buAutoNum type="alphaUcParenR"/>
            </a:pPr>
            <a:r>
              <a:rPr lang="en-US" sz="3600" b="1" dirty="0">
                <a:effectLst/>
                <a:latin typeface="Calibri" panose="020F0502020204030204" pitchFamily="34" charset="0"/>
                <a:ea typeface="Calibri" panose="020F0502020204030204" pitchFamily="34" charset="0"/>
                <a:cs typeface="Times New Roman" panose="02020603050405020304" pitchFamily="18" charset="0"/>
              </a:rPr>
              <a:t>Loam soil</a:t>
            </a:r>
            <a:r>
              <a:rPr lang="en-US" sz="3600" dirty="0">
                <a:effectLst/>
                <a:latin typeface="Calibri" panose="020F0502020204030204" pitchFamily="34" charset="0"/>
                <a:ea typeface="Calibri" panose="020F0502020204030204" pitchFamily="34" charset="0"/>
                <a:cs typeface="Times New Roman" panose="02020603050405020304" pitchFamily="18" charset="0"/>
              </a:rPr>
              <a:t>: Found almost everywhere especially in gardens, near compost pits and dumping areas.</a:t>
            </a:r>
          </a:p>
          <a:p>
            <a:pPr marL="342900" marR="0" lvl="0" indent="-342900">
              <a:lnSpc>
                <a:spcPct val="115000"/>
              </a:lnSpc>
              <a:spcBef>
                <a:spcPts val="0"/>
              </a:spcBef>
              <a:spcAft>
                <a:spcPts val="1000"/>
              </a:spcAft>
              <a:buFont typeface="+mj-lt"/>
              <a:buAutoNum type="alphaUcParenR"/>
            </a:pPr>
            <a:r>
              <a:rPr lang="en-US" sz="3600" b="1" dirty="0">
                <a:effectLst/>
                <a:latin typeface="Calibri" panose="020F0502020204030204" pitchFamily="34" charset="0"/>
                <a:ea typeface="Calibri" panose="020F0502020204030204" pitchFamily="34" charset="0"/>
                <a:cs typeface="Times New Roman" panose="02020603050405020304" pitchFamily="18" charset="0"/>
              </a:rPr>
              <a:t>Sandy soil: </a:t>
            </a:r>
            <a:r>
              <a:rPr lang="en-US" sz="3600" dirty="0">
                <a:effectLst/>
                <a:latin typeface="Calibri" panose="020F0502020204030204" pitchFamily="34" charset="0"/>
                <a:ea typeface="Calibri" panose="020F0502020204030204" pitchFamily="34" charset="0"/>
                <a:cs typeface="Times New Roman" panose="02020603050405020304" pitchFamily="18" charset="0"/>
              </a:rPr>
              <a:t>Found on lake shores and hilly areas.</a:t>
            </a:r>
          </a:p>
          <a:p>
            <a:pPr marL="342900" marR="0" lvl="0" indent="-342900">
              <a:lnSpc>
                <a:spcPct val="115000"/>
              </a:lnSpc>
              <a:spcBef>
                <a:spcPts val="0"/>
              </a:spcBef>
              <a:spcAft>
                <a:spcPts val="1000"/>
              </a:spcAft>
              <a:buFont typeface="+mj-lt"/>
              <a:buAutoNum type="alphaUcParenR"/>
            </a:pPr>
            <a:r>
              <a:rPr lang="en-US" sz="3600" b="1" dirty="0">
                <a:effectLst/>
                <a:latin typeface="Calibri" panose="020F0502020204030204" pitchFamily="34" charset="0"/>
                <a:ea typeface="Calibri" panose="020F0502020204030204" pitchFamily="34" charset="0"/>
                <a:cs typeface="Times New Roman" panose="02020603050405020304" pitchFamily="18" charset="0"/>
              </a:rPr>
              <a:t>Clay: </a:t>
            </a:r>
            <a:r>
              <a:rPr lang="en-US" sz="3600" dirty="0">
                <a:effectLst/>
                <a:latin typeface="Calibri" panose="020F0502020204030204" pitchFamily="34" charset="0"/>
                <a:ea typeface="Calibri" panose="020F0502020204030204" pitchFamily="34" charset="0"/>
                <a:cs typeface="Times New Roman" panose="02020603050405020304" pitchFamily="18" charset="0"/>
              </a:rPr>
              <a:t>Found in swamps and anthills.</a:t>
            </a:r>
          </a:p>
          <a:p>
            <a:endParaRPr lang="en-US" dirty="0"/>
          </a:p>
        </p:txBody>
      </p:sp>
    </p:spTree>
    <p:extLst>
      <p:ext uri="{BB962C8B-B14F-4D97-AF65-F5344CB8AC3E}">
        <p14:creationId xmlns:p14="http://schemas.microsoft.com/office/powerpoint/2010/main" val="1242217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EB00C-3074-BAD5-12C3-D883ABA73861}"/>
              </a:ext>
            </a:extLst>
          </p:cNvPr>
          <p:cNvSpPr>
            <a:spLocks noGrp="1"/>
          </p:cNvSpPr>
          <p:nvPr>
            <p:ph type="title"/>
          </p:nvPr>
        </p:nvSpPr>
        <p:spPr>
          <a:xfrm>
            <a:off x="646111" y="452718"/>
            <a:ext cx="11241089" cy="713473"/>
          </a:xfrm>
        </p:spPr>
        <p:txBody>
          <a:bodyPr>
            <a:normAutofit fontScale="90000"/>
          </a:bodyPr>
          <a:lstStyle/>
          <a:p>
            <a:r>
              <a:rPr lang="en-US" sz="3600" dirty="0">
                <a:latin typeface="Calibri" panose="020F0502020204030204" pitchFamily="34" charset="0"/>
                <a:ea typeface="Calibri" panose="020F0502020204030204" pitchFamily="34" charset="0"/>
                <a:cs typeface="Times New Roman" panose="02020603050405020304" pitchFamily="18" charset="0"/>
              </a:rPr>
              <a:t>Compare </a:t>
            </a:r>
            <a:r>
              <a:rPr lang="en-US" sz="3600" dirty="0">
                <a:effectLst/>
                <a:latin typeface="Calibri" panose="020F0502020204030204" pitchFamily="34" charset="0"/>
                <a:ea typeface="Calibri" panose="020F0502020204030204" pitchFamily="34" charset="0"/>
                <a:cs typeface="Times New Roman" panose="02020603050405020304" pitchFamily="18" charset="0"/>
              </a:rPr>
              <a:t>the following properties/characteristics of the soil types:</a:t>
            </a:r>
            <a:r>
              <a:rPr lang="en-US" sz="1800" dirty="0">
                <a:effectLst/>
                <a:latin typeface="Calibri" panose="020F0502020204030204" pitchFamily="34" charset="0"/>
                <a:ea typeface="Calibri" panose="020F0502020204030204" pitchFamily="34" charset="0"/>
                <a:cs typeface="Times New Roman" panose="02020603050405020304" pitchFamily="18" charset="0"/>
              </a:rPr>
              <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graphicFrame>
        <p:nvGraphicFramePr>
          <p:cNvPr id="4" name="Content Placeholder 3">
            <a:extLst>
              <a:ext uri="{FF2B5EF4-FFF2-40B4-BE49-F238E27FC236}">
                <a16:creationId xmlns:a16="http://schemas.microsoft.com/office/drawing/2014/main" id="{EF334BEC-CFB2-4F65-4E53-97C84F9B87B0}"/>
              </a:ext>
            </a:extLst>
          </p:cNvPr>
          <p:cNvGraphicFramePr>
            <a:graphicFrameLocks noGrp="1"/>
          </p:cNvGraphicFramePr>
          <p:nvPr>
            <p:ph idx="1"/>
            <p:extLst>
              <p:ext uri="{D42A27DB-BD31-4B8C-83A1-F6EECF244321}">
                <p14:modId xmlns:p14="http://schemas.microsoft.com/office/powerpoint/2010/main" val="3216100226"/>
              </p:ext>
            </p:extLst>
          </p:nvPr>
        </p:nvGraphicFramePr>
        <p:xfrm>
          <a:off x="198782" y="1434548"/>
          <a:ext cx="11794435" cy="3988903"/>
        </p:xfrm>
        <a:graphic>
          <a:graphicData uri="http://schemas.openxmlformats.org/drawingml/2006/table">
            <a:tbl>
              <a:tblPr firstRow="1" firstCol="1" bandRow="1">
                <a:tableStyleId>{8A107856-5554-42FB-B03E-39F5DBC370BA}</a:tableStyleId>
              </a:tblPr>
              <a:tblGrid>
                <a:gridCol w="4204276">
                  <a:extLst>
                    <a:ext uri="{9D8B030D-6E8A-4147-A177-3AD203B41FA5}">
                      <a16:colId xmlns:a16="http://schemas.microsoft.com/office/drawing/2014/main" val="3823677287"/>
                    </a:ext>
                  </a:extLst>
                </a:gridCol>
                <a:gridCol w="2579210">
                  <a:extLst>
                    <a:ext uri="{9D8B030D-6E8A-4147-A177-3AD203B41FA5}">
                      <a16:colId xmlns:a16="http://schemas.microsoft.com/office/drawing/2014/main" val="3756039207"/>
                    </a:ext>
                  </a:extLst>
                </a:gridCol>
                <a:gridCol w="2609483">
                  <a:extLst>
                    <a:ext uri="{9D8B030D-6E8A-4147-A177-3AD203B41FA5}">
                      <a16:colId xmlns:a16="http://schemas.microsoft.com/office/drawing/2014/main" val="3568418687"/>
                    </a:ext>
                  </a:extLst>
                </a:gridCol>
                <a:gridCol w="2401466">
                  <a:extLst>
                    <a:ext uri="{9D8B030D-6E8A-4147-A177-3AD203B41FA5}">
                      <a16:colId xmlns:a16="http://schemas.microsoft.com/office/drawing/2014/main" val="3792979386"/>
                    </a:ext>
                  </a:extLst>
                </a:gridCol>
              </a:tblGrid>
              <a:tr h="950521">
                <a:tc>
                  <a:txBody>
                    <a:bodyPr/>
                    <a:lstStyle/>
                    <a:p>
                      <a:pPr marL="0" marR="0">
                        <a:lnSpc>
                          <a:spcPct val="115000"/>
                        </a:lnSpc>
                        <a:spcBef>
                          <a:spcPts val="0"/>
                        </a:spcBef>
                        <a:spcAft>
                          <a:spcPts val="1000"/>
                        </a:spcAft>
                      </a:pPr>
                      <a:r>
                        <a:rPr lang="en-US" sz="2800" dirty="0">
                          <a:solidFill>
                            <a:srgbClr val="FF0000"/>
                          </a:solidFill>
                          <a:effectLst/>
                        </a:rPr>
                        <a:t>Property/characteristic </a:t>
                      </a:r>
                      <a:endParaRPr lang="en-US" sz="2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US" sz="2800">
                          <a:effectLst/>
                        </a:rPr>
                        <a:t>Clay </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US" sz="2800" dirty="0">
                          <a:effectLst/>
                        </a:rPr>
                        <a:t>Sand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US" sz="2800">
                          <a:effectLst/>
                        </a:rPr>
                        <a:t>Loam </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08101335"/>
                  </a:ext>
                </a:extLst>
              </a:tr>
              <a:tr h="950521">
                <a:tc>
                  <a:txBody>
                    <a:bodyPr/>
                    <a:lstStyle/>
                    <a:p>
                      <a:pPr marL="0" marR="0">
                        <a:lnSpc>
                          <a:spcPct val="115000"/>
                        </a:lnSpc>
                        <a:spcBef>
                          <a:spcPts val="0"/>
                        </a:spcBef>
                        <a:spcAft>
                          <a:spcPts val="1000"/>
                        </a:spcAft>
                      </a:pPr>
                      <a:r>
                        <a:rPr lang="en-US" sz="2800" dirty="0">
                          <a:solidFill>
                            <a:srgbClr val="FF0000"/>
                          </a:solidFill>
                          <a:effectLst/>
                        </a:rPr>
                        <a:t>Color</a:t>
                      </a:r>
                      <a:r>
                        <a:rPr lang="en-US" sz="2800" dirty="0">
                          <a:effectLst/>
                        </a:rPr>
                        <a:t> </a:t>
                      </a:r>
                      <a:r>
                        <a:rPr lang="en-US" sz="2800" i="1" dirty="0">
                          <a:effectLst/>
                        </a:rPr>
                        <a:t>(dark, light, grey, etc.)</a:t>
                      </a:r>
                      <a:endParaRPr lang="en-US" sz="2800" i="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US" sz="2800" dirty="0">
                          <a:effectLst/>
                        </a:rPr>
                        <a:t>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US" sz="2800">
                          <a:effectLst/>
                        </a:rPr>
                        <a:t> </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US" sz="2800">
                          <a:effectLst/>
                        </a:rPr>
                        <a:t> </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82967720"/>
                  </a:ext>
                </a:extLst>
              </a:tr>
              <a:tr h="950521">
                <a:tc>
                  <a:txBody>
                    <a:bodyPr/>
                    <a:lstStyle/>
                    <a:p>
                      <a:pPr marL="0" marR="0">
                        <a:lnSpc>
                          <a:spcPct val="115000"/>
                        </a:lnSpc>
                        <a:spcBef>
                          <a:spcPts val="0"/>
                        </a:spcBef>
                        <a:spcAft>
                          <a:spcPts val="1000"/>
                        </a:spcAft>
                      </a:pPr>
                      <a:r>
                        <a:rPr lang="en-US" sz="2800" dirty="0">
                          <a:solidFill>
                            <a:srgbClr val="FF0000"/>
                          </a:solidFill>
                          <a:effectLst/>
                        </a:rPr>
                        <a:t>Particle size</a:t>
                      </a:r>
                      <a:r>
                        <a:rPr lang="en-US" sz="2800" dirty="0">
                          <a:effectLst/>
                        </a:rPr>
                        <a:t> </a:t>
                      </a:r>
                      <a:r>
                        <a:rPr lang="en-US" sz="2800" i="1" dirty="0">
                          <a:effectLst/>
                        </a:rPr>
                        <a:t>(big, small, medium)</a:t>
                      </a:r>
                      <a:endParaRPr lang="en-US" sz="2800" i="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US" sz="2800">
                          <a:effectLst/>
                        </a:rPr>
                        <a:t> </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US" sz="2800">
                          <a:effectLst/>
                        </a:rPr>
                        <a:t> </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US" sz="2800">
                          <a:effectLst/>
                        </a:rPr>
                        <a:t> </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1687894"/>
                  </a:ext>
                </a:extLst>
              </a:tr>
              <a:tr h="1137340">
                <a:tc>
                  <a:txBody>
                    <a:bodyPr/>
                    <a:lstStyle/>
                    <a:p>
                      <a:pPr marL="0" marR="0">
                        <a:lnSpc>
                          <a:spcPct val="115000"/>
                        </a:lnSpc>
                        <a:spcBef>
                          <a:spcPts val="0"/>
                        </a:spcBef>
                        <a:spcAft>
                          <a:spcPts val="1000"/>
                        </a:spcAft>
                      </a:pPr>
                      <a:r>
                        <a:rPr lang="en-US" sz="2800" dirty="0">
                          <a:solidFill>
                            <a:srgbClr val="FF0000"/>
                          </a:solidFill>
                          <a:effectLst/>
                        </a:rPr>
                        <a:t>Texture</a:t>
                      </a:r>
                      <a:r>
                        <a:rPr lang="en-US" sz="2800" dirty="0">
                          <a:effectLst/>
                        </a:rPr>
                        <a:t> </a:t>
                      </a:r>
                      <a:r>
                        <a:rPr lang="en-US" sz="2800" i="1" dirty="0">
                          <a:effectLst/>
                        </a:rPr>
                        <a:t>(rough/coarse, smooth, soft/crumbly)</a:t>
                      </a:r>
                      <a:r>
                        <a:rPr lang="en-US" sz="2800" dirty="0">
                          <a:effectLst/>
                        </a:rPr>
                        <a:t>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US" sz="2800" dirty="0">
                          <a:effectLst/>
                        </a:rPr>
                        <a:t>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US" sz="2800">
                          <a:effectLst/>
                        </a:rPr>
                        <a:t> </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US" sz="2800" dirty="0">
                          <a:effectLst/>
                        </a:rPr>
                        <a:t>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321739"/>
                  </a:ext>
                </a:extLst>
              </a:tr>
            </a:tbl>
          </a:graphicData>
        </a:graphic>
      </p:graphicFrame>
    </p:spTree>
    <p:extLst>
      <p:ext uri="{BB962C8B-B14F-4D97-AF65-F5344CB8AC3E}">
        <p14:creationId xmlns:p14="http://schemas.microsoft.com/office/powerpoint/2010/main" val="1895502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75C50-15BB-4A15-6061-DA7AC1CFC1C5}"/>
              </a:ext>
            </a:extLst>
          </p:cNvPr>
          <p:cNvSpPr>
            <a:spLocks noGrp="1"/>
          </p:cNvSpPr>
          <p:nvPr>
            <p:ph type="title"/>
          </p:nvPr>
        </p:nvSpPr>
        <p:spPr>
          <a:xfrm>
            <a:off x="1066800" y="2339936"/>
            <a:ext cx="10058400" cy="1609344"/>
          </a:xfrm>
        </p:spPr>
        <p:txBody>
          <a:bodyPr/>
          <a:lstStyle/>
          <a:p>
            <a:r>
              <a:rPr lang="en-US" dirty="0"/>
              <a:t>What materials make up soil?</a:t>
            </a:r>
          </a:p>
        </p:txBody>
      </p:sp>
    </p:spTree>
    <p:extLst>
      <p:ext uri="{BB962C8B-B14F-4D97-AF65-F5344CB8AC3E}">
        <p14:creationId xmlns:p14="http://schemas.microsoft.com/office/powerpoint/2010/main" val="2645189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B89C4-8AC8-70C9-CCA3-3B1C2C083695}"/>
              </a:ext>
            </a:extLst>
          </p:cNvPr>
          <p:cNvSpPr>
            <a:spLocks noGrp="1"/>
          </p:cNvSpPr>
          <p:nvPr>
            <p:ph type="title"/>
          </p:nvPr>
        </p:nvSpPr>
        <p:spPr/>
        <p:txBody>
          <a:bodyPr/>
          <a:lstStyle/>
          <a:p>
            <a:r>
              <a:rPr lang="en-US" dirty="0"/>
              <a:t>Components or constituents of soil</a:t>
            </a:r>
          </a:p>
        </p:txBody>
      </p:sp>
      <p:sp>
        <p:nvSpPr>
          <p:cNvPr id="3" name="Content Placeholder 2">
            <a:extLst>
              <a:ext uri="{FF2B5EF4-FFF2-40B4-BE49-F238E27FC236}">
                <a16:creationId xmlns:a16="http://schemas.microsoft.com/office/drawing/2014/main" id="{C2C08F56-38CD-688B-469B-D3AA00BFF9A6}"/>
              </a:ext>
            </a:extLst>
          </p:cNvPr>
          <p:cNvSpPr>
            <a:spLocks noGrp="1"/>
          </p:cNvSpPr>
          <p:nvPr>
            <p:ph idx="1"/>
          </p:nvPr>
        </p:nvSpPr>
        <p:spPr/>
        <p:txBody>
          <a:bodyPr>
            <a:noAutofit/>
          </a:bodyPr>
          <a:lstStyle/>
          <a:p>
            <a:pPr marL="342900" marR="0" lvl="0" indent="-342900">
              <a:lnSpc>
                <a:spcPct val="115000"/>
              </a:lnSpc>
              <a:spcBef>
                <a:spcPts val="0"/>
              </a:spcBef>
              <a:spcAft>
                <a:spcPts val="1000"/>
              </a:spcAft>
              <a:buFont typeface="+mj-lt"/>
              <a:buAutoNum type="romanLcPeriod"/>
            </a:pPr>
            <a:r>
              <a:rPr lang="en-US" sz="4000" dirty="0">
                <a:effectLst/>
                <a:latin typeface="Calibri" panose="020F0502020204030204" pitchFamily="34" charset="0"/>
                <a:ea typeface="Calibri" panose="020F0502020204030204" pitchFamily="34" charset="0"/>
                <a:cs typeface="Times New Roman" panose="02020603050405020304" pitchFamily="18" charset="0"/>
              </a:rPr>
              <a:t>Soil air.</a:t>
            </a:r>
          </a:p>
          <a:p>
            <a:pPr marL="342900" marR="0" lvl="0" indent="-342900">
              <a:lnSpc>
                <a:spcPct val="115000"/>
              </a:lnSpc>
              <a:spcBef>
                <a:spcPts val="0"/>
              </a:spcBef>
              <a:spcAft>
                <a:spcPts val="1000"/>
              </a:spcAft>
              <a:buFont typeface="+mj-lt"/>
              <a:buAutoNum type="romanLcPeriod"/>
            </a:pPr>
            <a:r>
              <a:rPr lang="en-US" sz="4000" dirty="0">
                <a:effectLst/>
                <a:latin typeface="Calibri" panose="020F0502020204030204" pitchFamily="34" charset="0"/>
                <a:ea typeface="Calibri" panose="020F0502020204030204" pitchFamily="34" charset="0"/>
                <a:cs typeface="Times New Roman" panose="02020603050405020304" pitchFamily="18" charset="0"/>
              </a:rPr>
              <a:t>Soil water</a:t>
            </a:r>
          </a:p>
          <a:p>
            <a:pPr marL="342900" marR="0" lvl="0" indent="-342900">
              <a:lnSpc>
                <a:spcPct val="115000"/>
              </a:lnSpc>
              <a:spcBef>
                <a:spcPts val="0"/>
              </a:spcBef>
              <a:spcAft>
                <a:spcPts val="1000"/>
              </a:spcAft>
              <a:buFont typeface="+mj-lt"/>
              <a:buAutoNum type="romanLcPeriod"/>
            </a:pPr>
            <a:r>
              <a:rPr lang="en-US" sz="4000" dirty="0">
                <a:effectLst/>
                <a:latin typeface="Calibri" panose="020F0502020204030204" pitchFamily="34" charset="0"/>
                <a:ea typeface="Calibri" panose="020F0502020204030204" pitchFamily="34" charset="0"/>
                <a:cs typeface="Times New Roman" panose="02020603050405020304" pitchFamily="18" charset="0"/>
              </a:rPr>
              <a:t>Mineral salts/inorganic particles</a:t>
            </a:r>
          </a:p>
          <a:p>
            <a:pPr marL="342900" marR="0" lvl="0" indent="-342900">
              <a:lnSpc>
                <a:spcPct val="115000"/>
              </a:lnSpc>
              <a:spcBef>
                <a:spcPts val="0"/>
              </a:spcBef>
              <a:spcAft>
                <a:spcPts val="1000"/>
              </a:spcAft>
              <a:buFont typeface="+mj-lt"/>
              <a:buAutoNum type="romanLcPeriod"/>
            </a:pPr>
            <a:r>
              <a:rPr lang="en-US" sz="4000" dirty="0">
                <a:effectLst/>
                <a:latin typeface="Calibri" panose="020F0502020204030204" pitchFamily="34" charset="0"/>
                <a:ea typeface="Calibri" panose="020F0502020204030204" pitchFamily="34" charset="0"/>
                <a:cs typeface="Times New Roman" panose="02020603050405020304" pitchFamily="18" charset="0"/>
              </a:rPr>
              <a:t>Humus/organic matter</a:t>
            </a:r>
          </a:p>
          <a:p>
            <a:pPr marL="342900" marR="0" lvl="0" indent="-342900">
              <a:lnSpc>
                <a:spcPct val="115000"/>
              </a:lnSpc>
              <a:spcBef>
                <a:spcPts val="0"/>
              </a:spcBef>
              <a:spcAft>
                <a:spcPts val="1000"/>
              </a:spcAft>
              <a:buFont typeface="+mj-lt"/>
              <a:buAutoNum type="romanLcPeriod"/>
            </a:pPr>
            <a:r>
              <a:rPr lang="en-US" sz="4000" dirty="0">
                <a:effectLst/>
                <a:latin typeface="Calibri" panose="020F0502020204030204" pitchFamily="34" charset="0"/>
                <a:ea typeface="Calibri" panose="020F0502020204030204" pitchFamily="34" charset="0"/>
                <a:cs typeface="Times New Roman" panose="02020603050405020304" pitchFamily="18" charset="0"/>
              </a:rPr>
              <a:t>Soil organisms</a:t>
            </a:r>
          </a:p>
        </p:txBody>
      </p:sp>
    </p:spTree>
    <p:extLst>
      <p:ext uri="{BB962C8B-B14F-4D97-AF65-F5344CB8AC3E}">
        <p14:creationId xmlns:p14="http://schemas.microsoft.com/office/powerpoint/2010/main" val="1453380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A329A-6182-95FD-A2C6-119AA9D1DE00}"/>
              </a:ext>
            </a:extLst>
          </p:cNvPr>
          <p:cNvSpPr>
            <a:spLocks noGrp="1"/>
          </p:cNvSpPr>
          <p:nvPr>
            <p:ph type="title"/>
          </p:nvPr>
        </p:nvSpPr>
        <p:spPr/>
        <p:txBody>
          <a:bodyPr/>
          <a:lstStyle/>
          <a:p>
            <a:pPr algn="ctr"/>
            <a:r>
              <a:rPr lang="en-US" u="sng" dirty="0"/>
              <a:t>Soil air</a:t>
            </a:r>
          </a:p>
        </p:txBody>
      </p:sp>
      <p:sp>
        <p:nvSpPr>
          <p:cNvPr id="3" name="Content Placeholder 2">
            <a:extLst>
              <a:ext uri="{FF2B5EF4-FFF2-40B4-BE49-F238E27FC236}">
                <a16:creationId xmlns:a16="http://schemas.microsoft.com/office/drawing/2014/main" id="{C5130051-186B-0591-F32A-C4152E257E04}"/>
              </a:ext>
            </a:extLst>
          </p:cNvPr>
          <p:cNvSpPr>
            <a:spLocks noGrp="1"/>
          </p:cNvSpPr>
          <p:nvPr>
            <p:ph idx="1"/>
          </p:nvPr>
        </p:nvSpPr>
        <p:spPr/>
        <p:txBody>
          <a:bodyPr/>
          <a:lstStyle/>
          <a:p>
            <a:pPr marL="0" marR="0" algn="just">
              <a:lnSpc>
                <a:spcPct val="115000"/>
              </a:lnSpc>
              <a:spcBef>
                <a:spcPts val="0"/>
              </a:spcBef>
              <a:spcAft>
                <a:spcPts val="0"/>
              </a:spcAft>
            </a:pPr>
            <a:r>
              <a:rPr lang="en-US" sz="3600" dirty="0">
                <a:latin typeface="Times New Roman" panose="02020603050405020304" pitchFamily="18" charset="0"/>
                <a:ea typeface="Calibri" panose="020F0502020204030204" pitchFamily="34" charset="0"/>
                <a:cs typeface="Times New Roman" panose="02020603050405020304" pitchFamily="18" charset="0"/>
              </a:rPr>
              <a:t>R</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efers to gases occupying pore spaces among soil particles. </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Consists of mainly carbon dioxide, nitrogen and oxygen gases. </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532242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B6180-9DEB-6D50-D738-D314FB01A9CA}"/>
              </a:ext>
            </a:extLst>
          </p:cNvPr>
          <p:cNvSpPr>
            <a:spLocks noGrp="1"/>
          </p:cNvSpPr>
          <p:nvPr>
            <p:ph type="title"/>
          </p:nvPr>
        </p:nvSpPr>
        <p:spPr>
          <a:xfrm>
            <a:off x="1066800" y="0"/>
            <a:ext cx="10058400" cy="1126435"/>
          </a:xfrm>
        </p:spPr>
        <p:txBody>
          <a:bodyPr/>
          <a:lstStyle/>
          <a:p>
            <a:r>
              <a:rPr lang="en-US" dirty="0"/>
              <a:t>Importance of soil air</a:t>
            </a:r>
          </a:p>
        </p:txBody>
      </p:sp>
      <p:sp>
        <p:nvSpPr>
          <p:cNvPr id="3" name="Content Placeholder 2">
            <a:extLst>
              <a:ext uri="{FF2B5EF4-FFF2-40B4-BE49-F238E27FC236}">
                <a16:creationId xmlns:a16="http://schemas.microsoft.com/office/drawing/2014/main" id="{3383C09B-696E-719D-6DA7-4EA68BF33861}"/>
              </a:ext>
            </a:extLst>
          </p:cNvPr>
          <p:cNvSpPr>
            <a:spLocks noGrp="1"/>
          </p:cNvSpPr>
          <p:nvPr>
            <p:ph idx="1"/>
          </p:nvPr>
        </p:nvSpPr>
        <p:spPr>
          <a:xfrm>
            <a:off x="238539" y="927652"/>
            <a:ext cx="11728174" cy="5473148"/>
          </a:xfrm>
        </p:spPr>
        <p:txBody>
          <a:bodyPr>
            <a:noAutofit/>
          </a:bodyPr>
          <a:lstStyle/>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Oxygen is used for respiration of plant roots and the soil organisms.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Oxygen is used for germination of seeds.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Oxygen is used for decay of plant and animal remains by microorganisms to form humus.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Carbon dioxide increases soil acidity which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favours</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proper growth of some plants.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Carbon dioxide dissolves in water to form carbonic acid for weathering.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Nitrogen is converted into nitrates which is absorbed by the plants.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3200" dirty="0"/>
          </a:p>
        </p:txBody>
      </p:sp>
    </p:spTree>
    <p:extLst>
      <p:ext uri="{BB962C8B-B14F-4D97-AF65-F5344CB8AC3E}">
        <p14:creationId xmlns:p14="http://schemas.microsoft.com/office/powerpoint/2010/main" val="1192384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AB19E-8421-E1F8-BBF4-FA17E8D3F256}"/>
              </a:ext>
            </a:extLst>
          </p:cNvPr>
          <p:cNvSpPr>
            <a:spLocks noGrp="1"/>
          </p:cNvSpPr>
          <p:nvPr>
            <p:ph type="title"/>
          </p:nvPr>
        </p:nvSpPr>
        <p:spPr/>
        <p:txBody>
          <a:bodyPr/>
          <a:lstStyle/>
          <a:p>
            <a:r>
              <a:rPr lang="en-US" dirty="0"/>
              <a:t>Finding out the percentage of air in soil</a:t>
            </a:r>
          </a:p>
        </p:txBody>
      </p:sp>
      <p:sp>
        <p:nvSpPr>
          <p:cNvPr id="3" name="Content Placeholder 2">
            <a:extLst>
              <a:ext uri="{FF2B5EF4-FFF2-40B4-BE49-F238E27FC236}">
                <a16:creationId xmlns:a16="http://schemas.microsoft.com/office/drawing/2014/main" id="{D2AE4BBC-0D75-A518-2178-BA437BE2C968}"/>
              </a:ext>
            </a:extLst>
          </p:cNvPr>
          <p:cNvSpPr>
            <a:spLocks noGrp="1"/>
          </p:cNvSpPr>
          <p:nvPr>
            <p:ph idx="1"/>
          </p:nvPr>
        </p:nvSpPr>
        <p:spPr/>
        <p:txBody>
          <a:bodyPr>
            <a:normAutofit/>
          </a:bodyPr>
          <a:lstStyle/>
          <a:p>
            <a:pPr marL="0" marR="0" indent="0" algn="just">
              <a:lnSpc>
                <a:spcPct val="115000"/>
              </a:lnSpc>
              <a:spcBef>
                <a:spcPts val="0"/>
              </a:spcBef>
              <a:spcAft>
                <a:spcPts val="1000"/>
              </a:spcAft>
              <a:buNone/>
              <a:tabLst>
                <a:tab pos="4457700" algn="l"/>
              </a:tabLst>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Apparatus and material used:</a:t>
            </a:r>
          </a:p>
          <a:p>
            <a:pPr marL="0" marR="0" algn="just">
              <a:lnSpc>
                <a:spcPct val="115000"/>
              </a:lnSpc>
              <a:spcBef>
                <a:spcPts val="0"/>
              </a:spcBef>
              <a:spcAft>
                <a:spcPts val="1000"/>
              </a:spcAft>
              <a:tabLst>
                <a:tab pos="4457700" algn="l"/>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Two measuring cylinders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Soil sample</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tabLst>
                <a:tab pos="2181225" algn="l"/>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A stirrer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A beaker</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3440836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B9C558-3599-0775-9EAE-618BBE6018A4}"/>
              </a:ext>
            </a:extLst>
          </p:cNvPr>
          <p:cNvSpPr>
            <a:spLocks noGrp="1"/>
          </p:cNvSpPr>
          <p:nvPr>
            <p:ph idx="1"/>
          </p:nvPr>
        </p:nvSpPr>
        <p:spPr>
          <a:xfrm>
            <a:off x="371061" y="198784"/>
            <a:ext cx="11476382" cy="5804452"/>
          </a:xfrm>
        </p:spPr>
        <p:txBody>
          <a:bodyPr>
            <a:normAutofit fontScale="92500" lnSpcReduction="10000"/>
          </a:bodyPr>
          <a:lstStyle/>
          <a:p>
            <a:pPr marL="0" marR="0" indent="0" algn="just">
              <a:lnSpc>
                <a:spcPct val="115000"/>
              </a:lnSpc>
              <a:spcBef>
                <a:spcPts val="0"/>
              </a:spcBef>
              <a:spcAft>
                <a:spcPts val="1000"/>
              </a:spcAft>
              <a:buNone/>
            </a:pPr>
            <a:r>
              <a:rPr lang="en-US" sz="3500" b="1" u="sng" dirty="0">
                <a:effectLst/>
                <a:latin typeface="Times New Roman" panose="02020603050405020304" pitchFamily="18" charset="0"/>
                <a:ea typeface="Calibri" panose="020F0502020204030204" pitchFamily="34" charset="0"/>
                <a:cs typeface="Times New Roman" panose="02020603050405020304" pitchFamily="18" charset="0"/>
              </a:rPr>
              <a:t>Procedure</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Measure a known volume of soil in a measuring cylinder.</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Measure a known volume of water in another measuring cylinder.</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500" dirty="0">
                <a:latin typeface="Times New Roman" panose="02020603050405020304" pitchFamily="18" charset="0"/>
                <a:ea typeface="Calibri" panose="020F0502020204030204" pitchFamily="34" charset="0"/>
                <a:cs typeface="Times New Roman" panose="02020603050405020304" pitchFamily="18" charset="0"/>
              </a:rPr>
              <a:t>Mix the soil and water</a:t>
            </a: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 together in one measuring cylinder</a:t>
            </a:r>
          </a:p>
          <a:p>
            <a:pPr marL="342900" marR="0" lvl="0" indent="-342900" algn="just">
              <a:lnSpc>
                <a:spcPct val="115000"/>
              </a:lnSpc>
              <a:spcBef>
                <a:spcPts val="0"/>
              </a:spcBef>
              <a:spcAft>
                <a:spcPts val="1000"/>
              </a:spcAft>
              <a:buFont typeface="Symbol" panose="05050102010706020507" pitchFamily="18" charset="2"/>
              <a:buChar char=""/>
            </a:pPr>
            <a:r>
              <a:rPr lang="en-US" sz="3500" dirty="0">
                <a:latin typeface="Times New Roman" panose="02020603050405020304" pitchFamily="18" charset="0"/>
                <a:ea typeface="Calibri" panose="020F0502020204030204" pitchFamily="34" charset="0"/>
                <a:cs typeface="Times New Roman" panose="02020603050405020304" pitchFamily="18" charset="0"/>
              </a:rPr>
              <a:t>S</a:t>
            </a: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tir the mixture until all the soil mixes with water.</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Leave the mixture to settle until no more bubbles appear. </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Read and record the final level of the mixture in the measuring cylinder.</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Calculate the air content in terms of percentage</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442123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E22986-136C-DB07-4921-7C3EA929D7B3}"/>
              </a:ext>
            </a:extLst>
          </p:cNvPr>
          <p:cNvSpPr>
            <a:spLocks noGrp="1"/>
          </p:cNvSpPr>
          <p:nvPr>
            <p:ph idx="1"/>
          </p:nvPr>
        </p:nvSpPr>
        <p:spPr>
          <a:xfrm>
            <a:off x="636104" y="755374"/>
            <a:ext cx="10492144" cy="5416826"/>
          </a:xfrm>
        </p:spPr>
        <p:txBody>
          <a:bodyPr>
            <a:normAutofit/>
          </a:bodyPr>
          <a:lstStyle/>
          <a:p>
            <a:pPr marL="0" indent="0">
              <a:buNone/>
            </a:pPr>
            <a:r>
              <a:rPr lang="en-US" sz="3200" b="1" u="sng" dirty="0">
                <a:effectLst/>
                <a:latin typeface="Times New Roman" panose="02020603050405020304" pitchFamily="18" charset="0"/>
                <a:ea typeface="Calibri" panose="020F0502020204030204" pitchFamily="34" charset="0"/>
              </a:rPr>
              <a:t>Set up of apparatus</a:t>
            </a:r>
            <a:endParaRPr lang="en-US" sz="3200" dirty="0"/>
          </a:p>
        </p:txBody>
      </p:sp>
      <p:pic>
        <p:nvPicPr>
          <p:cNvPr id="3074" name="Picture 2">
            <a:extLst>
              <a:ext uri="{FF2B5EF4-FFF2-40B4-BE49-F238E27FC236}">
                <a16:creationId xmlns:a16="http://schemas.microsoft.com/office/drawing/2014/main" id="{0EC916FA-6C80-C473-DC61-4FF601BF3F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53" y="1510748"/>
            <a:ext cx="12043182" cy="443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6091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28BB1E-3DFD-395D-A983-E3FA6D02FFE3}"/>
              </a:ext>
            </a:extLst>
          </p:cNvPr>
          <p:cNvSpPr>
            <a:spLocks noGrp="1"/>
          </p:cNvSpPr>
          <p:nvPr>
            <p:ph idx="1"/>
          </p:nvPr>
        </p:nvSpPr>
        <p:spPr>
          <a:xfrm>
            <a:off x="265042" y="967409"/>
            <a:ext cx="11767931" cy="4744278"/>
          </a:xfrm>
        </p:spPr>
        <p:txBody>
          <a:bodyPr>
            <a:normAutofit/>
          </a:bodyPr>
          <a:lstStyle/>
          <a:p>
            <a:pPr marL="0" marR="0" indent="0" algn="just">
              <a:lnSpc>
                <a:spcPct val="115000"/>
              </a:lnSpc>
              <a:spcBef>
                <a:spcPts val="0"/>
              </a:spcBef>
              <a:spcAft>
                <a:spcPts val="1000"/>
              </a:spcAft>
              <a:buNone/>
            </a:pPr>
            <a:r>
              <a:rPr lang="en-US" sz="3200" b="1" u="sng" dirty="0">
                <a:effectLst/>
                <a:latin typeface="Times New Roman" panose="02020603050405020304" pitchFamily="18" charset="0"/>
                <a:ea typeface="Calibri" panose="020F0502020204030204" pitchFamily="34" charset="0"/>
                <a:cs typeface="Times New Roman" panose="02020603050405020304" pitchFamily="18" charset="0"/>
              </a:rPr>
              <a:t>Observation</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Bubbles are seen coming off the mixture of water and soil.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Total volume of the mixture after stirring is less than sum of the volume of both water and soil before stirring </a:t>
            </a:r>
          </a:p>
          <a:p>
            <a:pPr marL="0" marR="0" lvl="0" indent="0" algn="just">
              <a:lnSpc>
                <a:spcPct val="115000"/>
              </a:lnSpc>
              <a:spcBef>
                <a:spcPts val="0"/>
              </a:spcBef>
              <a:spcAft>
                <a:spcPts val="1000"/>
              </a:spcAft>
              <a:buNone/>
            </a:pPr>
            <a:r>
              <a:rPr lang="en-US" sz="3200" b="1" u="sng" dirty="0">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Soil contains air in the spaces among its particles.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897582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D97D9E-B6A6-CFB8-9640-62D67DBAF8FF}"/>
              </a:ext>
            </a:extLst>
          </p:cNvPr>
          <p:cNvSpPr>
            <a:spLocks noGrp="1"/>
          </p:cNvSpPr>
          <p:nvPr>
            <p:ph idx="1"/>
          </p:nvPr>
        </p:nvSpPr>
        <p:spPr>
          <a:xfrm>
            <a:off x="463825" y="132522"/>
            <a:ext cx="11317357" cy="6039678"/>
          </a:xfrm>
        </p:spPr>
        <p:txBody>
          <a:bodyPr>
            <a:normAutofit fontScale="77500" lnSpcReduction="20000"/>
          </a:bodyPr>
          <a:lstStyle/>
          <a:p>
            <a:pPr marL="0" marR="0" indent="0" algn="just">
              <a:lnSpc>
                <a:spcPct val="115000"/>
              </a:lnSpc>
              <a:spcBef>
                <a:spcPts val="0"/>
              </a:spcBef>
              <a:spcAft>
                <a:spcPts val="1000"/>
              </a:spcAft>
              <a:buNone/>
            </a:pPr>
            <a:r>
              <a:rPr lang="en-US" sz="3800" b="1" u="sng" dirty="0">
                <a:effectLst/>
                <a:latin typeface="Times New Roman" panose="02020603050405020304" pitchFamily="18" charset="0"/>
                <a:ea typeface="Calibri" panose="020F0502020204030204" pitchFamily="34" charset="0"/>
                <a:cs typeface="Times New Roman" panose="02020603050405020304" pitchFamily="18" charset="0"/>
              </a:rPr>
              <a:t>Explanation</a:t>
            </a:r>
            <a:endParaRPr lang="en-US" sz="3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Soil has air spaces occupied by air. As water mixes with soil during stirring, the air is displaced out as air bubbles.</a:t>
            </a:r>
            <a:endParaRPr lang="en-US" sz="3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3800" b="1" u="sng" dirty="0">
                <a:effectLst/>
                <a:latin typeface="Times New Roman" panose="02020603050405020304" pitchFamily="18" charset="0"/>
                <a:ea typeface="Calibri" panose="020F0502020204030204" pitchFamily="34" charset="0"/>
                <a:cs typeface="Times New Roman" panose="02020603050405020304" pitchFamily="18" charset="0"/>
              </a:rPr>
              <a:t>Treatment of results</a:t>
            </a:r>
            <a:endParaRPr lang="en-US" sz="3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15000"/>
              </a:lnSpc>
              <a:spcBef>
                <a:spcPts val="0"/>
              </a:spcBef>
              <a:spcAft>
                <a:spcPts val="1000"/>
              </a:spcAft>
            </a:pP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Volume of soil = a cm</a:t>
            </a:r>
            <a:r>
              <a:rPr lang="en-US" sz="3800" baseline="30000" dirty="0">
                <a:effectLst/>
                <a:latin typeface="Times New Roman" panose="02020603050405020304" pitchFamily="18" charset="0"/>
                <a:ea typeface="Calibri" panose="020F0502020204030204" pitchFamily="34" charset="0"/>
                <a:cs typeface="Times New Roman" panose="02020603050405020304" pitchFamily="18" charset="0"/>
              </a:rPr>
              <a:t>3</a:t>
            </a: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15000"/>
              </a:lnSpc>
              <a:spcBef>
                <a:spcPts val="0"/>
              </a:spcBef>
              <a:spcAft>
                <a:spcPts val="1000"/>
              </a:spcAft>
            </a:pP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Initial volume of water and soil = b cm</a:t>
            </a:r>
            <a:r>
              <a:rPr lang="en-US" sz="3800" baseline="30000" dirty="0">
                <a:effectLst/>
                <a:latin typeface="Times New Roman" panose="02020603050405020304" pitchFamily="18" charset="0"/>
                <a:ea typeface="Calibri" panose="020F0502020204030204" pitchFamily="34" charset="0"/>
                <a:cs typeface="Times New Roman" panose="02020603050405020304" pitchFamily="18" charset="0"/>
              </a:rPr>
              <a:t>3</a:t>
            </a: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15000"/>
              </a:lnSpc>
              <a:spcBef>
                <a:spcPts val="0"/>
              </a:spcBef>
              <a:spcAft>
                <a:spcPts val="1000"/>
              </a:spcAft>
            </a:pP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 Final volume of water and soil  = c cm</a:t>
            </a:r>
            <a:r>
              <a:rPr lang="en-US" sz="3800" baseline="30000" dirty="0">
                <a:effectLst/>
                <a:latin typeface="Times New Roman" panose="02020603050405020304" pitchFamily="18" charset="0"/>
                <a:ea typeface="Calibri" panose="020F0502020204030204" pitchFamily="34" charset="0"/>
                <a:cs typeface="Times New Roman" panose="02020603050405020304" pitchFamily="18" charset="0"/>
              </a:rPr>
              <a:t>3</a:t>
            </a:r>
            <a:endParaRPr lang="en-US" sz="3800" dirty="0">
              <a:effectLst/>
              <a:latin typeface="Calibri" panose="020F0502020204030204" pitchFamily="34" charset="0"/>
              <a:ea typeface="Calibri" panose="020F0502020204030204" pitchFamily="34" charset="0"/>
              <a:cs typeface="Times New Roman" panose="02020603050405020304" pitchFamily="18" charset="0"/>
            </a:endParaRPr>
          </a:p>
          <a:p>
            <a:pPr marL="274320" marR="0" indent="0" algn="just">
              <a:lnSpc>
                <a:spcPct val="115000"/>
              </a:lnSpc>
              <a:spcBef>
                <a:spcPts val="0"/>
              </a:spcBef>
              <a:spcAft>
                <a:spcPts val="1000"/>
              </a:spcAft>
              <a:buNone/>
            </a:pP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Therefore;</a:t>
            </a:r>
            <a:endParaRPr lang="en-US" sz="3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15000"/>
              </a:lnSpc>
              <a:spcBef>
                <a:spcPts val="0"/>
              </a:spcBef>
              <a:spcAft>
                <a:spcPts val="1000"/>
              </a:spcAft>
            </a:pPr>
            <a:r>
              <a:rPr lang="en-US" sz="3800" dirty="0">
                <a:latin typeface="Times New Roman" panose="02020603050405020304" pitchFamily="18" charset="0"/>
                <a:ea typeface="Calibri" panose="020F0502020204030204" pitchFamily="34" charset="0"/>
                <a:cs typeface="Times New Roman" panose="02020603050405020304" pitchFamily="18" charset="0"/>
              </a:rPr>
              <a:t>Volume</a:t>
            </a: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 of air in the soil = (b-c) cm</a:t>
            </a:r>
            <a:r>
              <a:rPr lang="en-US" sz="3800" baseline="30000" dirty="0">
                <a:effectLst/>
                <a:latin typeface="Times New Roman" panose="02020603050405020304" pitchFamily="18" charset="0"/>
                <a:ea typeface="Calibri" panose="020F0502020204030204" pitchFamily="34" charset="0"/>
                <a:cs typeface="Times New Roman" panose="02020603050405020304" pitchFamily="18" charset="0"/>
              </a:rPr>
              <a:t>3</a:t>
            </a:r>
            <a:endParaRPr lang="en-US" sz="3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15000"/>
              </a:lnSpc>
              <a:spcBef>
                <a:spcPts val="0"/>
              </a:spcBef>
              <a:spcAft>
                <a:spcPts val="1000"/>
              </a:spcAft>
            </a:pP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 of air in the soil = </a:t>
            </a:r>
            <a:r>
              <a:rPr lang="en-US" sz="3800" u="sng" dirty="0">
                <a:effectLst/>
                <a:latin typeface="Times New Roman" panose="02020603050405020304" pitchFamily="18" charset="0"/>
                <a:ea typeface="Calibri" panose="020F0502020204030204" pitchFamily="34" charset="0"/>
                <a:cs typeface="Times New Roman" panose="02020603050405020304" pitchFamily="18" charset="0"/>
              </a:rPr>
              <a:t>(b-c) </a:t>
            </a: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X 100</a:t>
            </a:r>
            <a:endParaRPr lang="en-US" sz="3800" dirty="0">
              <a:effectLst/>
              <a:latin typeface="Calibri" panose="020F0502020204030204" pitchFamily="34" charset="0"/>
              <a:ea typeface="Calibri" panose="020F0502020204030204" pitchFamily="34" charset="0"/>
              <a:cs typeface="Times New Roman" panose="02020603050405020304" pitchFamily="18" charset="0"/>
            </a:endParaRPr>
          </a:p>
          <a:p>
            <a:pPr marL="274320" marR="0" indent="0" algn="just">
              <a:lnSpc>
                <a:spcPct val="115000"/>
              </a:lnSpc>
              <a:spcBef>
                <a:spcPts val="0"/>
              </a:spcBef>
              <a:spcAft>
                <a:spcPts val="1000"/>
              </a:spcAft>
              <a:buNone/>
            </a:pPr>
            <a:r>
              <a:rPr lang="en-US" sz="3800" dirty="0">
                <a:latin typeface="Times New Roman" panose="02020603050405020304" pitchFamily="18" charset="0"/>
                <a:ea typeface="Calibri" panose="020F0502020204030204" pitchFamily="34" charset="0"/>
                <a:cs typeface="Times New Roman" panose="02020603050405020304" pitchFamily="18" charset="0"/>
              </a:rPr>
              <a:t>   </a:t>
            </a: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                                     a</a:t>
            </a:r>
            <a:endParaRPr lang="en-US" sz="3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7036376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46DE7-B1E7-41CA-2F53-62BD84AC8220}"/>
              </a:ext>
            </a:extLst>
          </p:cNvPr>
          <p:cNvSpPr>
            <a:spLocks noGrp="1"/>
          </p:cNvSpPr>
          <p:nvPr>
            <p:ph type="title"/>
          </p:nvPr>
        </p:nvSpPr>
        <p:spPr>
          <a:xfrm>
            <a:off x="0" y="0"/>
            <a:ext cx="10058400" cy="1073426"/>
          </a:xfrm>
        </p:spPr>
        <p:txBody>
          <a:bodyPr/>
          <a:lstStyle/>
          <a:p>
            <a:r>
              <a:rPr lang="en-US" dirty="0"/>
              <a:t>Worked examples</a:t>
            </a:r>
          </a:p>
        </p:txBody>
      </p:sp>
      <p:sp>
        <p:nvSpPr>
          <p:cNvPr id="3" name="Content Placeholder 2">
            <a:extLst>
              <a:ext uri="{FF2B5EF4-FFF2-40B4-BE49-F238E27FC236}">
                <a16:creationId xmlns:a16="http://schemas.microsoft.com/office/drawing/2014/main" id="{AA42959D-8DBF-C3E3-2F55-5C6C4F6D4110}"/>
              </a:ext>
            </a:extLst>
          </p:cNvPr>
          <p:cNvSpPr>
            <a:spLocks noGrp="1"/>
          </p:cNvSpPr>
          <p:nvPr>
            <p:ph idx="1"/>
          </p:nvPr>
        </p:nvSpPr>
        <p:spPr>
          <a:xfrm>
            <a:off x="198783" y="887896"/>
            <a:ext cx="11701669" cy="5791200"/>
          </a:xfrm>
        </p:spPr>
        <p:txBody>
          <a:bodyPr>
            <a:normAutofit fontScale="92500"/>
          </a:bodyPr>
          <a:lstStyle/>
          <a:p>
            <a:pPr marL="342900" marR="0" lvl="0" indent="-342900" algn="just">
              <a:lnSpc>
                <a:spcPct val="115000"/>
              </a:lnSpc>
              <a:spcBef>
                <a:spcPts val="0"/>
              </a:spcBef>
              <a:spcAft>
                <a:spcPts val="1000"/>
              </a:spcAft>
              <a:buFont typeface="+mj-lt"/>
              <a:buAutoNum type="arabicPeriod"/>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In an experiment, 50cm</a:t>
            </a:r>
            <a:r>
              <a:rPr lang="en-US" sz="3500" baseline="30000" dirty="0">
                <a:effectLst/>
                <a:latin typeface="Times New Roman" panose="02020603050405020304" pitchFamily="18" charset="0"/>
                <a:ea typeface="Calibri" panose="020F0502020204030204" pitchFamily="34" charset="0"/>
                <a:cs typeface="Times New Roman" panose="02020603050405020304" pitchFamily="18" charset="0"/>
              </a:rPr>
              <a:t>3</a:t>
            </a: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 of soil was put in a cylinder and 50cm</a:t>
            </a:r>
            <a:r>
              <a:rPr lang="en-US" sz="3500" baseline="30000" dirty="0">
                <a:effectLst/>
                <a:latin typeface="Times New Roman" panose="02020603050405020304" pitchFamily="18" charset="0"/>
                <a:ea typeface="Calibri" panose="020F0502020204030204" pitchFamily="34" charset="0"/>
                <a:cs typeface="Times New Roman" panose="02020603050405020304" pitchFamily="18" charset="0"/>
              </a:rPr>
              <a:t>3</a:t>
            </a: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 of water was added. The mixture was stirred and allowed to settle. The total volume after stirring was 90cm</a:t>
            </a:r>
            <a:r>
              <a:rPr lang="en-US" sz="3500" baseline="30000" dirty="0">
                <a:effectLst/>
                <a:latin typeface="Times New Roman" panose="02020603050405020304" pitchFamily="18" charset="0"/>
                <a:ea typeface="Calibri" panose="020F0502020204030204" pitchFamily="34" charset="0"/>
                <a:cs typeface="Times New Roman" panose="02020603050405020304" pitchFamily="18" charset="0"/>
              </a:rPr>
              <a:t>3</a:t>
            </a: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3500" dirty="0">
              <a:latin typeface="Calibri" panose="020F0502020204030204" pitchFamily="34" charset="0"/>
              <a:ea typeface="Calibri" panose="020F0502020204030204" pitchFamily="34" charset="0"/>
              <a:cs typeface="Times New Roman" panose="02020603050405020304" pitchFamily="18" charset="0"/>
            </a:endParaRPr>
          </a:p>
          <a:p>
            <a:pPr marL="742950" marR="0" lvl="0" indent="-742950" algn="just">
              <a:lnSpc>
                <a:spcPct val="115000"/>
              </a:lnSpc>
              <a:spcBef>
                <a:spcPts val="0"/>
              </a:spcBef>
              <a:spcAft>
                <a:spcPts val="1000"/>
              </a:spcAft>
              <a:buFont typeface="+mj-lt"/>
              <a:buAutoNum type="alphaLcParenR"/>
            </a:pPr>
            <a:r>
              <a:rPr lang="en-US" sz="3500" dirty="0">
                <a:latin typeface="Times New Roman" panose="02020603050405020304" pitchFamily="18" charset="0"/>
                <a:ea typeface="Calibri" panose="020F0502020204030204" pitchFamily="34" charset="0"/>
                <a:cs typeface="Times New Roman" panose="02020603050405020304" pitchFamily="18" charset="0"/>
              </a:rPr>
              <a:t>S</a:t>
            </a: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tate what was observed besides the total reduction in volume.</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indent="-742950" algn="just">
              <a:lnSpc>
                <a:spcPct val="115000"/>
              </a:lnSpc>
              <a:spcBef>
                <a:spcPts val="0"/>
              </a:spcBef>
              <a:spcAft>
                <a:spcPts val="1000"/>
              </a:spcAft>
              <a:buFont typeface="+mj-lt"/>
              <a:buAutoNum type="alphaLcParenR"/>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Explain why the final volume after stirring was not 100cm</a:t>
            </a:r>
            <a:r>
              <a:rPr lang="en-US" sz="3500" baseline="30000" dirty="0">
                <a:effectLst/>
                <a:latin typeface="Times New Roman" panose="02020603050405020304" pitchFamily="18" charset="0"/>
                <a:ea typeface="Calibri" panose="020F0502020204030204" pitchFamily="34" charset="0"/>
                <a:cs typeface="Times New Roman" panose="02020603050405020304" pitchFamily="18" charset="0"/>
              </a:rPr>
              <a:t>3</a:t>
            </a: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3500" dirty="0">
              <a:latin typeface="Calibri" panose="020F0502020204030204" pitchFamily="34" charset="0"/>
              <a:ea typeface="Calibri" panose="020F0502020204030204" pitchFamily="34" charset="0"/>
              <a:cs typeface="Times New Roman" panose="02020603050405020304" pitchFamily="18" charset="0"/>
            </a:endParaRPr>
          </a:p>
          <a:p>
            <a:pPr marL="742950" marR="0" indent="-742950" algn="just">
              <a:lnSpc>
                <a:spcPct val="115000"/>
              </a:lnSpc>
              <a:spcBef>
                <a:spcPts val="0"/>
              </a:spcBef>
              <a:spcAft>
                <a:spcPts val="1000"/>
              </a:spcAft>
              <a:buFont typeface="+mj-lt"/>
              <a:buAutoNum type="alphaLcParenR"/>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Calculate the</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pPr marL="857250" marR="0" indent="-857250" algn="just">
              <a:lnSpc>
                <a:spcPct val="115000"/>
              </a:lnSpc>
              <a:spcBef>
                <a:spcPts val="0"/>
              </a:spcBef>
              <a:spcAft>
                <a:spcPts val="1000"/>
              </a:spcAft>
              <a:buFont typeface="+mj-lt"/>
              <a:buAutoNum type="romanLcPeriod"/>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volume of air in the soil sample</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pPr marL="857250" marR="0" indent="-857250" algn="just">
              <a:lnSpc>
                <a:spcPct val="115000"/>
              </a:lnSpc>
              <a:spcBef>
                <a:spcPts val="0"/>
              </a:spcBef>
              <a:spcAft>
                <a:spcPts val="1000"/>
              </a:spcAft>
              <a:buFont typeface="+mj-lt"/>
              <a:buAutoNum type="romanLcPeriod"/>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percentage of air in the soil sample.</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863376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DAFED0-5459-9BF6-9ABC-6A0C8332316D}"/>
              </a:ext>
            </a:extLst>
          </p:cNvPr>
          <p:cNvSpPr>
            <a:spLocks noGrp="1"/>
          </p:cNvSpPr>
          <p:nvPr>
            <p:ph idx="1"/>
          </p:nvPr>
        </p:nvSpPr>
        <p:spPr>
          <a:xfrm>
            <a:off x="856554" y="781878"/>
            <a:ext cx="10478891" cy="5761383"/>
          </a:xfrm>
        </p:spPr>
        <p:txBody>
          <a:bodyPr>
            <a:normAutofit/>
          </a:bodyPr>
          <a:lstStyle/>
          <a:p>
            <a:pPr marL="0" marR="0" lvl="0" indent="0" algn="just">
              <a:lnSpc>
                <a:spcPct val="115000"/>
              </a:lnSpc>
              <a:spcBef>
                <a:spcPts val="0"/>
              </a:spcBef>
              <a:spcAft>
                <a:spcPts val="1000"/>
              </a:spcAft>
              <a:buNone/>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2. In an experiment to determine the proportion of air in soil sample X, the following results were obtained:</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Volume of dry soil = 200cm</a:t>
            </a:r>
            <a:r>
              <a:rPr lang="en-US" sz="3200" baseline="30000" dirty="0">
                <a:effectLst/>
                <a:latin typeface="Times New Roman" panose="02020603050405020304" pitchFamily="18" charset="0"/>
                <a:ea typeface="Calibri" panose="020F0502020204030204" pitchFamily="34" charset="0"/>
                <a:cs typeface="Times New Roman" panose="02020603050405020304" pitchFamily="18" charset="0"/>
              </a:rPr>
              <a:t>3</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Volume of water added = 250cm</a:t>
            </a:r>
            <a:r>
              <a:rPr lang="en-US" sz="3200" baseline="30000" dirty="0">
                <a:effectLst/>
                <a:latin typeface="Times New Roman" panose="02020603050405020304" pitchFamily="18" charset="0"/>
                <a:ea typeface="Calibri" panose="020F0502020204030204" pitchFamily="34" charset="0"/>
                <a:cs typeface="Times New Roman" panose="02020603050405020304" pitchFamily="18" charset="0"/>
              </a:rPr>
              <a:t>3</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Volume of mixture of soil + water after stirring = 400cm</a:t>
            </a:r>
            <a:r>
              <a:rPr lang="en-US" sz="3200" baseline="30000" dirty="0">
                <a:effectLst/>
                <a:latin typeface="Times New Roman" panose="02020603050405020304" pitchFamily="18" charset="0"/>
                <a:ea typeface="Calibri" panose="020F0502020204030204" pitchFamily="34" charset="0"/>
                <a:cs typeface="Times New Roman" panose="02020603050405020304" pitchFamily="18" charset="0"/>
              </a:rPr>
              <a:t>3</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mj-lt"/>
              <a:buAutoNum type="romanLcParenBoth"/>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What was the volume of air in soil sample X?</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mj-lt"/>
              <a:buAutoNum type="romanLcParenBoth"/>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What was percentage volume of air in soil sample X?</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6709455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11656C-A77E-C1B3-7CB7-C4C98E0ADCBF}"/>
              </a:ext>
            </a:extLst>
          </p:cNvPr>
          <p:cNvSpPr>
            <a:spLocks noGrp="1"/>
          </p:cNvSpPr>
          <p:nvPr>
            <p:ph idx="1"/>
          </p:nvPr>
        </p:nvSpPr>
        <p:spPr>
          <a:xfrm>
            <a:off x="834887" y="728870"/>
            <a:ext cx="10293361" cy="5443330"/>
          </a:xfrm>
        </p:spPr>
        <p:txBody>
          <a:bodyPr/>
          <a:lstStyle/>
          <a:p>
            <a:pPr marL="0" indent="0">
              <a:buNone/>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3. A 500 cm</a:t>
            </a:r>
            <a:r>
              <a:rPr lang="en-US" sz="3200" baseline="30000" dirty="0">
                <a:effectLst/>
                <a:latin typeface="Times New Roman" panose="02020603050405020304" pitchFamily="18" charset="0"/>
                <a:ea typeface="Calibri" panose="020F0502020204030204" pitchFamily="34" charset="0"/>
                <a:cs typeface="Times New Roman" panose="02020603050405020304" pitchFamily="18" charset="0"/>
              </a:rPr>
              <a:t>3 </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beaker was completely filled with soil. 400cm</a:t>
            </a:r>
            <a:r>
              <a:rPr lang="en-US" sz="3200" baseline="30000" dirty="0">
                <a:effectLst/>
                <a:latin typeface="Times New Roman" panose="02020603050405020304" pitchFamily="18" charset="0"/>
                <a:ea typeface="Calibri" panose="020F0502020204030204" pitchFamily="34" charset="0"/>
                <a:cs typeface="Times New Roman" panose="02020603050405020304" pitchFamily="18" charset="0"/>
              </a:rPr>
              <a:t>3</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of water was poured into a large measuring cylinder. </a:t>
            </a:r>
          </a:p>
          <a:p>
            <a:pPr marL="0" indent="0">
              <a:buNone/>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The soil was added to water, the mixture was stirred gently and the final volume noted. </a:t>
            </a:r>
          </a:p>
          <a:p>
            <a:pPr marL="0" indent="0">
              <a:buNone/>
            </a:pPr>
            <a:r>
              <a:rPr lang="en-US" sz="3200">
                <a:effectLst/>
                <a:latin typeface="Times New Roman" panose="02020603050405020304" pitchFamily="18" charset="0"/>
                <a:ea typeface="Calibri" panose="020F0502020204030204" pitchFamily="34" charset="0"/>
                <a:cs typeface="Times New Roman" panose="02020603050405020304" pitchFamily="18" charset="0"/>
              </a:rPr>
              <a:t>If </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the soil contained 30% by volume of air, what was the final volume?</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986073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64C71-53F1-B10D-1528-7BF7BE81CABF}"/>
              </a:ext>
            </a:extLst>
          </p:cNvPr>
          <p:cNvSpPr>
            <a:spLocks noGrp="1"/>
          </p:cNvSpPr>
          <p:nvPr>
            <p:ph type="title"/>
          </p:nvPr>
        </p:nvSpPr>
        <p:spPr>
          <a:xfrm>
            <a:off x="963830" y="0"/>
            <a:ext cx="10058400" cy="1609344"/>
          </a:xfrm>
        </p:spPr>
        <p:txBody>
          <a:bodyPr/>
          <a:lstStyle/>
          <a:p>
            <a:pPr algn="ctr"/>
            <a:r>
              <a:rPr lang="en-US" u="sng" dirty="0"/>
              <a:t>Inorganic particles/matter</a:t>
            </a:r>
          </a:p>
        </p:txBody>
      </p:sp>
      <p:sp>
        <p:nvSpPr>
          <p:cNvPr id="3" name="Content Placeholder 2">
            <a:extLst>
              <a:ext uri="{FF2B5EF4-FFF2-40B4-BE49-F238E27FC236}">
                <a16:creationId xmlns:a16="http://schemas.microsoft.com/office/drawing/2014/main" id="{9B8319B4-BA61-7642-7B26-1AA36810D9D6}"/>
              </a:ext>
            </a:extLst>
          </p:cNvPr>
          <p:cNvSpPr>
            <a:spLocks noGrp="1"/>
          </p:cNvSpPr>
          <p:nvPr>
            <p:ph idx="1"/>
          </p:nvPr>
        </p:nvSpPr>
        <p:spPr>
          <a:xfrm>
            <a:off x="963830" y="1417983"/>
            <a:ext cx="10164418" cy="4754217"/>
          </a:xfrm>
        </p:spPr>
        <p:txBody>
          <a:bodyPr/>
          <a:lstStyle/>
          <a:p>
            <a:r>
              <a:rPr lang="en-US" sz="3200" dirty="0">
                <a:effectLst/>
                <a:latin typeface="Times New Roman" panose="02020603050405020304" pitchFamily="18" charset="0"/>
                <a:ea typeface="Calibri" panose="020F0502020204030204" pitchFamily="34" charset="0"/>
                <a:cs typeface="Times New Roman" panose="02020603050405020304" pitchFamily="18" charset="0"/>
              </a:rPr>
              <a:t>Are solid particles of varying sizes produced during the process of weathering.</a:t>
            </a:r>
          </a:p>
          <a:p>
            <a:r>
              <a:rPr lang="en-US" sz="3200" dirty="0">
                <a:effectLst/>
                <a:latin typeface="Times New Roman" panose="02020603050405020304" pitchFamily="18" charset="0"/>
                <a:ea typeface="Calibri" panose="020F0502020204030204" pitchFamily="34" charset="0"/>
              </a:rPr>
              <a:t>Basing on sizes, they are classified as</a:t>
            </a:r>
            <a:r>
              <a:rPr lang="en-US" sz="3200" dirty="0">
                <a:latin typeface="Times New Roman" panose="02020603050405020304" pitchFamily="18" charset="0"/>
                <a:ea typeface="Calibri" panose="020F0502020204030204" pitchFamily="34" charset="0"/>
                <a:cs typeface="Times New Roman" panose="02020603050405020304" pitchFamily="18" charset="0"/>
              </a:rPr>
              <a:t>:</a:t>
            </a:r>
          </a:p>
          <a:p>
            <a:pPr marL="0" indent="0">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graphicFrame>
        <p:nvGraphicFramePr>
          <p:cNvPr id="4" name="Table 3">
            <a:extLst>
              <a:ext uri="{FF2B5EF4-FFF2-40B4-BE49-F238E27FC236}">
                <a16:creationId xmlns:a16="http://schemas.microsoft.com/office/drawing/2014/main" id="{85A111DE-D0EC-C627-B101-1CF3B1263F89}"/>
              </a:ext>
            </a:extLst>
          </p:cNvPr>
          <p:cNvGraphicFramePr>
            <a:graphicFrameLocks noGrp="1"/>
          </p:cNvGraphicFramePr>
          <p:nvPr>
            <p:extLst>
              <p:ext uri="{D42A27DB-BD31-4B8C-83A1-F6EECF244321}">
                <p14:modId xmlns:p14="http://schemas.microsoft.com/office/powerpoint/2010/main" val="3785409476"/>
              </p:ext>
            </p:extLst>
          </p:nvPr>
        </p:nvGraphicFramePr>
        <p:xfrm>
          <a:off x="1013791" y="3046411"/>
          <a:ext cx="10164418" cy="3514377"/>
        </p:xfrm>
        <a:graphic>
          <a:graphicData uri="http://schemas.openxmlformats.org/drawingml/2006/table">
            <a:tbl>
              <a:tblPr firstRow="1" firstCol="1" bandRow="1">
                <a:tableStyleId>{2A488322-F2BA-4B5B-9748-0D474271808F}</a:tableStyleId>
              </a:tblPr>
              <a:tblGrid>
                <a:gridCol w="4087927">
                  <a:extLst>
                    <a:ext uri="{9D8B030D-6E8A-4147-A177-3AD203B41FA5}">
                      <a16:colId xmlns:a16="http://schemas.microsoft.com/office/drawing/2014/main" val="2101178188"/>
                    </a:ext>
                  </a:extLst>
                </a:gridCol>
                <a:gridCol w="6076491">
                  <a:extLst>
                    <a:ext uri="{9D8B030D-6E8A-4147-A177-3AD203B41FA5}">
                      <a16:colId xmlns:a16="http://schemas.microsoft.com/office/drawing/2014/main" val="1674212085"/>
                    </a:ext>
                  </a:extLst>
                </a:gridCol>
              </a:tblGrid>
              <a:tr h="564442">
                <a:tc>
                  <a:txBody>
                    <a:bodyPr/>
                    <a:lstStyle/>
                    <a:p>
                      <a:pPr marL="0" marR="0" algn="just">
                        <a:lnSpc>
                          <a:spcPct val="115000"/>
                        </a:lnSpc>
                        <a:spcBef>
                          <a:spcPts val="0"/>
                        </a:spcBef>
                        <a:spcAft>
                          <a:spcPts val="1000"/>
                        </a:spcAft>
                      </a:pPr>
                      <a:r>
                        <a:rPr lang="en-US" sz="2800">
                          <a:effectLst/>
                        </a:rPr>
                        <a:t>Soil particles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1000"/>
                        </a:spcAft>
                      </a:pPr>
                      <a:r>
                        <a:rPr lang="en-US" sz="2800">
                          <a:effectLst/>
                        </a:rPr>
                        <a:t>Diameter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64919596"/>
                  </a:ext>
                </a:extLst>
              </a:tr>
              <a:tr h="692167">
                <a:tc>
                  <a:txBody>
                    <a:bodyPr/>
                    <a:lstStyle/>
                    <a:p>
                      <a:pPr marL="0" marR="0" algn="just">
                        <a:lnSpc>
                          <a:spcPct val="115000"/>
                        </a:lnSpc>
                        <a:spcBef>
                          <a:spcPts val="0"/>
                        </a:spcBef>
                        <a:spcAft>
                          <a:spcPts val="1000"/>
                        </a:spcAft>
                      </a:pPr>
                      <a:r>
                        <a:rPr lang="en-US" sz="2800">
                          <a:effectLst/>
                        </a:rPr>
                        <a:t>Gravel (small stones).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1000"/>
                        </a:spcAft>
                      </a:pPr>
                      <a:r>
                        <a:rPr lang="en-US" sz="2800" dirty="0">
                          <a:effectLst/>
                        </a:rPr>
                        <a:t>Larger than 2mm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37374589"/>
                  </a:ext>
                </a:extLst>
              </a:tr>
              <a:tr h="564442">
                <a:tc>
                  <a:txBody>
                    <a:bodyPr/>
                    <a:lstStyle/>
                    <a:p>
                      <a:pPr marL="0" marR="0" algn="just">
                        <a:lnSpc>
                          <a:spcPct val="115000"/>
                        </a:lnSpc>
                        <a:spcBef>
                          <a:spcPts val="0"/>
                        </a:spcBef>
                        <a:spcAft>
                          <a:spcPts val="1000"/>
                        </a:spcAft>
                      </a:pPr>
                      <a:r>
                        <a:rPr lang="en-US" sz="2800" dirty="0">
                          <a:effectLst/>
                        </a:rPr>
                        <a:t>Coarse sand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1000"/>
                        </a:spcAft>
                      </a:pPr>
                      <a:r>
                        <a:rPr lang="en-US" sz="2800" dirty="0">
                          <a:effectLst/>
                        </a:rPr>
                        <a:t>0.2mm - 2mm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42738862"/>
                  </a:ext>
                </a:extLst>
              </a:tr>
              <a:tr h="564442">
                <a:tc>
                  <a:txBody>
                    <a:bodyPr/>
                    <a:lstStyle/>
                    <a:p>
                      <a:pPr marL="0" marR="0" algn="just">
                        <a:lnSpc>
                          <a:spcPct val="115000"/>
                        </a:lnSpc>
                        <a:spcBef>
                          <a:spcPts val="0"/>
                        </a:spcBef>
                        <a:spcAft>
                          <a:spcPts val="1000"/>
                        </a:spcAft>
                      </a:pPr>
                      <a:r>
                        <a:rPr lang="en-US" sz="2800">
                          <a:effectLst/>
                        </a:rPr>
                        <a:t>Fine sand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1000"/>
                        </a:spcAft>
                      </a:pPr>
                      <a:r>
                        <a:rPr lang="en-US" sz="2800" dirty="0">
                          <a:effectLst/>
                        </a:rPr>
                        <a:t>0.02mm - 0.2mm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06516388"/>
                  </a:ext>
                </a:extLst>
              </a:tr>
              <a:tr h="564442">
                <a:tc>
                  <a:txBody>
                    <a:bodyPr/>
                    <a:lstStyle/>
                    <a:p>
                      <a:pPr marL="0" marR="0" algn="just">
                        <a:lnSpc>
                          <a:spcPct val="115000"/>
                        </a:lnSpc>
                        <a:spcBef>
                          <a:spcPts val="0"/>
                        </a:spcBef>
                        <a:spcAft>
                          <a:spcPts val="1000"/>
                        </a:spcAft>
                      </a:pPr>
                      <a:r>
                        <a:rPr lang="en-US" sz="2800">
                          <a:effectLst/>
                        </a:rPr>
                        <a:t>Silt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1000"/>
                        </a:spcAft>
                      </a:pPr>
                      <a:r>
                        <a:rPr lang="en-US" sz="2800" dirty="0">
                          <a:effectLst/>
                        </a:rPr>
                        <a:t>0.002mm - 0.02mm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33468448"/>
                  </a:ext>
                </a:extLst>
              </a:tr>
              <a:tr h="564442">
                <a:tc>
                  <a:txBody>
                    <a:bodyPr/>
                    <a:lstStyle/>
                    <a:p>
                      <a:pPr marL="0" marR="0" algn="just">
                        <a:lnSpc>
                          <a:spcPct val="115000"/>
                        </a:lnSpc>
                        <a:spcBef>
                          <a:spcPts val="0"/>
                        </a:spcBef>
                        <a:spcAft>
                          <a:spcPts val="1000"/>
                        </a:spcAft>
                      </a:pPr>
                      <a:r>
                        <a:rPr lang="en-US" sz="2800">
                          <a:effectLst/>
                        </a:rPr>
                        <a:t>Clay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1000"/>
                        </a:spcAft>
                      </a:pPr>
                      <a:r>
                        <a:rPr lang="en-US" sz="2800" dirty="0">
                          <a:effectLst/>
                        </a:rPr>
                        <a:t>Less than 0.002 mm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39359868"/>
                  </a:ext>
                </a:extLst>
              </a:tr>
            </a:tbl>
          </a:graphicData>
        </a:graphic>
      </p:graphicFrame>
    </p:spTree>
    <p:extLst>
      <p:ext uri="{BB962C8B-B14F-4D97-AF65-F5344CB8AC3E}">
        <p14:creationId xmlns:p14="http://schemas.microsoft.com/office/powerpoint/2010/main" val="37332829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4A9260-2804-598A-EFDE-E5E10B29ACCA}"/>
              </a:ext>
            </a:extLst>
          </p:cNvPr>
          <p:cNvSpPr>
            <a:spLocks noGrp="1"/>
          </p:cNvSpPr>
          <p:nvPr>
            <p:ph idx="1"/>
          </p:nvPr>
        </p:nvSpPr>
        <p:spPr>
          <a:xfrm>
            <a:off x="903592" y="528135"/>
            <a:ext cx="10734225" cy="5650992"/>
          </a:xfrm>
        </p:spPr>
        <p:txBody>
          <a:bodyPr>
            <a:noAutofit/>
          </a:bodyPr>
          <a:lstStyle/>
          <a:p>
            <a:pPr marL="0" marR="0" indent="0" algn="ctr">
              <a:lnSpc>
                <a:spcPct val="115000"/>
              </a:lnSpc>
              <a:spcBef>
                <a:spcPts val="0"/>
              </a:spcBef>
              <a:spcAft>
                <a:spcPts val="1000"/>
              </a:spcAft>
              <a:buNone/>
            </a:pPr>
            <a:r>
              <a:rPr lang="en-US" sz="3200" b="1" u="sng" dirty="0">
                <a:effectLst/>
                <a:latin typeface="Times New Roman" panose="02020603050405020304" pitchFamily="18" charset="0"/>
                <a:ea typeface="Calibri" panose="020F0502020204030204" pitchFamily="34" charset="0"/>
                <a:cs typeface="Times New Roman" panose="02020603050405020304" pitchFamily="18" charset="0"/>
              </a:rPr>
              <a:t>Importance of soil inorganic matter</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Form the framework of the soil.</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Provide a surface for attachment of plant roots hence providing support to the plants.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Have pore spaces which keep air and water used by soil organisms.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latin typeface="Times New Roman" panose="02020603050405020304" pitchFamily="18" charset="0"/>
                <a:ea typeface="Calibri" panose="020F0502020204030204" pitchFamily="34" charset="0"/>
                <a:cs typeface="Times New Roman" panose="02020603050405020304" pitchFamily="18" charset="0"/>
              </a:rPr>
              <a:t>Contain </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mineral salts necessary for plant growth.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3200" dirty="0"/>
          </a:p>
        </p:txBody>
      </p:sp>
    </p:spTree>
    <p:extLst>
      <p:ext uri="{BB962C8B-B14F-4D97-AF65-F5344CB8AC3E}">
        <p14:creationId xmlns:p14="http://schemas.microsoft.com/office/powerpoint/2010/main" val="2278130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3A957D-570F-8E7A-54F5-B40FBDBCC671}"/>
              </a:ext>
            </a:extLst>
          </p:cNvPr>
          <p:cNvSpPr>
            <a:spLocks noGrp="1"/>
          </p:cNvSpPr>
          <p:nvPr>
            <p:ph idx="1"/>
          </p:nvPr>
        </p:nvSpPr>
        <p:spPr>
          <a:xfrm>
            <a:off x="96982" y="0"/>
            <a:ext cx="12095018" cy="6858000"/>
          </a:xfrm>
        </p:spPr>
        <p:txBody>
          <a:bodyPr>
            <a:noAutofit/>
          </a:bodyPr>
          <a:lstStyle/>
          <a:p>
            <a:pPr marL="0" marR="0" indent="0" algn="ctr">
              <a:lnSpc>
                <a:spcPct val="115000"/>
              </a:lnSpc>
              <a:spcBef>
                <a:spcPts val="0"/>
              </a:spcBef>
              <a:spcAft>
                <a:spcPts val="1000"/>
              </a:spcAft>
              <a:buNone/>
            </a:pPr>
            <a:r>
              <a:rPr lang="en-US" sz="2800" b="1" u="sng" dirty="0">
                <a:effectLst/>
                <a:latin typeface="Times New Roman" panose="02020603050405020304" pitchFamily="18" charset="0"/>
                <a:ea typeface="Calibri" panose="020F0502020204030204" pitchFamily="34" charset="0"/>
                <a:cs typeface="Times New Roman" panose="02020603050405020304" pitchFamily="18" charset="0"/>
              </a:rPr>
              <a:t>Finding out the different particle sizes in a soil sample</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800" b="1" u="sng" dirty="0">
                <a:effectLst/>
                <a:latin typeface="Times New Roman" panose="02020603050405020304" pitchFamily="18" charset="0"/>
                <a:ea typeface="Calibri" panose="020F0502020204030204" pitchFamily="34" charset="0"/>
                <a:cs typeface="Times New Roman" panose="02020603050405020304" pitchFamily="18" charset="0"/>
              </a:rPr>
              <a:t>Materials:</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Measuring cylinder</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Soil sample</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Water</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Stirrer</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800" b="1" u="sng" dirty="0">
                <a:effectLst/>
                <a:latin typeface="Times New Roman" panose="02020603050405020304" pitchFamily="18" charset="0"/>
                <a:ea typeface="Calibri" panose="020F0502020204030204" pitchFamily="34" charset="0"/>
                <a:cs typeface="Times New Roman" panose="02020603050405020304" pitchFamily="18" charset="0"/>
              </a:rPr>
              <a:t>Procedure</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Half fill the measuring cylinder with a soil sample.</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Add water to the soil in the measuring cylinder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Cover the top of the measuring cylinder and shake the mixture vigorously.</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Leave the mixture to stand for 3 minutes and observe.</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800" dirty="0"/>
          </a:p>
        </p:txBody>
      </p:sp>
    </p:spTree>
    <p:extLst>
      <p:ext uri="{BB962C8B-B14F-4D97-AF65-F5344CB8AC3E}">
        <p14:creationId xmlns:p14="http://schemas.microsoft.com/office/powerpoint/2010/main" val="1901468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8A3FCC-D696-8473-7EDA-E78683FB3E9F}"/>
              </a:ext>
            </a:extLst>
          </p:cNvPr>
          <p:cNvSpPr>
            <a:spLocks noGrp="1"/>
          </p:cNvSpPr>
          <p:nvPr>
            <p:ph idx="1"/>
          </p:nvPr>
        </p:nvSpPr>
        <p:spPr>
          <a:xfrm>
            <a:off x="471055" y="554182"/>
            <a:ext cx="11111345" cy="5597236"/>
          </a:xfrm>
        </p:spPr>
        <p:txBody>
          <a:bodyPr>
            <a:normAutofit/>
          </a:bodyPr>
          <a:lstStyle/>
          <a:p>
            <a:pPr marL="0" marR="0" indent="0" algn="just">
              <a:lnSpc>
                <a:spcPct val="115000"/>
              </a:lnSpc>
              <a:spcBef>
                <a:spcPts val="0"/>
              </a:spcBef>
              <a:spcAft>
                <a:spcPts val="1000"/>
              </a:spcAft>
              <a:buNone/>
            </a:pPr>
            <a:r>
              <a:rPr lang="en-US" sz="3200" b="1" u="sng" dirty="0">
                <a:effectLst/>
                <a:latin typeface="Times New Roman" panose="02020603050405020304" pitchFamily="18" charset="0"/>
                <a:ea typeface="Calibri" panose="020F0502020204030204" pitchFamily="34" charset="0"/>
                <a:cs typeface="Times New Roman" panose="02020603050405020304" pitchFamily="18" charset="0"/>
              </a:rPr>
              <a:t>Observation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r>
              <a:rPr lang="en-US" sz="3200" dirty="0">
                <a:effectLst/>
                <a:latin typeface="Times New Roman" panose="02020603050405020304" pitchFamily="18" charset="0"/>
                <a:ea typeface="Calibri" panose="020F0502020204030204" pitchFamily="34" charset="0"/>
              </a:rPr>
              <a:t>The particles arrange themselves according to their particle size where the heaviest settle at the bottom and the small and lightest at the top.</a:t>
            </a:r>
            <a:endParaRPr lang="en-US" sz="3200" dirty="0"/>
          </a:p>
        </p:txBody>
      </p:sp>
      <p:pic>
        <p:nvPicPr>
          <p:cNvPr id="1028" name="Picture 4">
            <a:extLst>
              <a:ext uri="{FF2B5EF4-FFF2-40B4-BE49-F238E27FC236}">
                <a16:creationId xmlns:a16="http://schemas.microsoft.com/office/drawing/2014/main" id="{FD1D2A08-6632-6EFC-EA2A-F5869C6928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0182" y="2290929"/>
            <a:ext cx="5278582" cy="4461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964773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B0B67F-D747-B3C9-9B3A-0DEC2C4799A3}"/>
              </a:ext>
            </a:extLst>
          </p:cNvPr>
          <p:cNvSpPr>
            <a:spLocks noGrp="1"/>
          </p:cNvSpPr>
          <p:nvPr>
            <p:ph idx="1"/>
          </p:nvPr>
        </p:nvSpPr>
        <p:spPr>
          <a:xfrm>
            <a:off x="681919" y="611263"/>
            <a:ext cx="10886625" cy="5664846"/>
          </a:xfrm>
        </p:spPr>
        <p:txBody>
          <a:bodyPr/>
          <a:lstStyle/>
          <a:p>
            <a:pPr marL="0" marR="0" indent="0" algn="just">
              <a:lnSpc>
                <a:spcPct val="115000"/>
              </a:lnSpc>
              <a:spcBef>
                <a:spcPts val="0"/>
              </a:spcBef>
              <a:spcAft>
                <a:spcPts val="1000"/>
              </a:spcAft>
              <a:buNone/>
            </a:pPr>
            <a:r>
              <a:rPr lang="en-US" sz="3200" b="1" u="sng" dirty="0">
                <a:effectLst/>
                <a:latin typeface="Times New Roman" panose="02020603050405020304" pitchFamily="18" charset="0"/>
                <a:ea typeface="Calibri" panose="020F0502020204030204" pitchFamily="34" charset="0"/>
                <a:cs typeface="Times New Roman" panose="02020603050405020304" pitchFamily="18" charset="0"/>
              </a:rPr>
              <a:t>Conclusion</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Soil is made up of different particles which vary in sizes and weights. </a:t>
            </a:r>
          </a:p>
          <a:p>
            <a:pPr marL="0" marR="0" lvl="0" indent="0" algn="just">
              <a:lnSpc>
                <a:spcPct val="115000"/>
              </a:lnSpc>
              <a:spcBef>
                <a:spcPts val="0"/>
              </a:spcBef>
              <a:spcAft>
                <a:spcPts val="1000"/>
              </a:spcAft>
              <a:buNone/>
            </a:pPr>
            <a:r>
              <a:rPr lang="en-US" sz="3200" b="1" dirty="0">
                <a:latin typeface="Times New Roman" panose="02020603050405020304" pitchFamily="18" charset="0"/>
                <a:ea typeface="Calibri" panose="020F0502020204030204" pitchFamily="34" charset="0"/>
                <a:cs typeface="Times New Roman" panose="02020603050405020304" pitchFamily="18" charset="0"/>
              </a:rPr>
              <a:t>Note: </a:t>
            </a:r>
            <a:r>
              <a:rPr lang="en-US" sz="3200" dirty="0">
                <a:latin typeface="Times New Roman" panose="02020603050405020304" pitchFamily="18" charset="0"/>
                <a:ea typeface="Calibri" panose="020F0502020204030204" pitchFamily="34" charset="0"/>
                <a:cs typeface="Times New Roman" panose="02020603050405020304" pitchFamily="18" charset="0"/>
              </a:rPr>
              <a:t>The order in which soil particles settle in the demonstration above also shows the order of arrangement of soil layers.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609179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a:extLst>
              <a:ext uri="{FF2B5EF4-FFF2-40B4-BE49-F238E27FC236}">
                <a16:creationId xmlns:a16="http://schemas.microsoft.com/office/drawing/2014/main" id="{EF22F1AF-670F-F20F-913F-978F6D99D5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6342" y="642022"/>
            <a:ext cx="11116329" cy="5573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38676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8747F-D55C-F6D2-F028-5E73EBFD5598}"/>
              </a:ext>
            </a:extLst>
          </p:cNvPr>
          <p:cNvSpPr>
            <a:spLocks noGrp="1"/>
          </p:cNvSpPr>
          <p:nvPr>
            <p:ph type="title"/>
          </p:nvPr>
        </p:nvSpPr>
        <p:spPr>
          <a:xfrm>
            <a:off x="903594" y="0"/>
            <a:ext cx="10058400" cy="1609344"/>
          </a:xfrm>
        </p:spPr>
        <p:txBody>
          <a:bodyPr/>
          <a:lstStyle/>
          <a:p>
            <a:pPr algn="ctr"/>
            <a:r>
              <a:rPr lang="en-US" u="sng" dirty="0"/>
              <a:t>Soil water</a:t>
            </a:r>
          </a:p>
        </p:txBody>
      </p:sp>
      <p:sp>
        <p:nvSpPr>
          <p:cNvPr id="3" name="Content Placeholder 2">
            <a:extLst>
              <a:ext uri="{FF2B5EF4-FFF2-40B4-BE49-F238E27FC236}">
                <a16:creationId xmlns:a16="http://schemas.microsoft.com/office/drawing/2014/main" id="{1A1FA80F-D2B3-438E-05EA-8967983E3F1E}"/>
              </a:ext>
            </a:extLst>
          </p:cNvPr>
          <p:cNvSpPr>
            <a:spLocks noGrp="1"/>
          </p:cNvSpPr>
          <p:nvPr>
            <p:ph idx="1"/>
          </p:nvPr>
        </p:nvSpPr>
        <p:spPr>
          <a:xfrm>
            <a:off x="568036" y="1607127"/>
            <a:ext cx="11097491" cy="4766241"/>
          </a:xfrm>
        </p:spPr>
        <p:txBody>
          <a:bodyPr>
            <a:normAutofit lnSpcReduction="10000"/>
          </a:bodyPr>
          <a:lstStyle/>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Water in the soil is held around the soil particles by adhesive forces.</a:t>
            </a: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As plants use up the water, more water rises from deeper layers to the upper soil layers by a process called capillarity.</a:t>
            </a:r>
          </a:p>
          <a:p>
            <a:pPr marL="342900" marR="0" lvl="0" indent="-342900" algn="just">
              <a:lnSpc>
                <a:spcPct val="115000"/>
              </a:lnSpc>
              <a:spcBef>
                <a:spcPts val="0"/>
              </a:spcBef>
              <a:spcAft>
                <a:spcPts val="0"/>
              </a:spcAft>
              <a:buFont typeface="Symbol" panose="05050102010706020507" pitchFamily="18" charset="2"/>
              <a:buChar char=""/>
            </a:pPr>
            <a:r>
              <a:rPr lang="en-US" sz="3200" dirty="0">
                <a:latin typeface="Times New Roman" panose="02020603050405020304" pitchFamily="18" charset="0"/>
                <a:ea typeface="Calibri" panose="020F0502020204030204" pitchFamily="34" charset="0"/>
                <a:cs typeface="Times New Roman" panose="02020603050405020304" pitchFamily="18" charset="0"/>
              </a:rPr>
              <a:t>S</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oil which does not drain properly is said to be water logged and this results in the soil lacking enough air as water occupies the air spaces.</a:t>
            </a: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Ability of soil to hold water depends on its texture and structure.</a:t>
            </a:r>
          </a:p>
          <a:p>
            <a:pPr marL="342900" marR="0" lvl="0" indent="-342900" algn="just">
              <a:lnSpc>
                <a:spcPct val="115000"/>
              </a:lnSpc>
              <a:spcBef>
                <a:spcPts val="0"/>
              </a:spcBef>
              <a:spcAft>
                <a:spcPts val="1000"/>
              </a:spcAft>
              <a:buFont typeface="Symbol" panose="05050102010706020507" pitchFamily="18" charset="2"/>
              <a:buChar char=""/>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5402492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C1856B-2D87-12E2-487F-287D240E1773}"/>
              </a:ext>
            </a:extLst>
          </p:cNvPr>
          <p:cNvSpPr>
            <a:spLocks noGrp="1"/>
          </p:cNvSpPr>
          <p:nvPr>
            <p:ph idx="1"/>
          </p:nvPr>
        </p:nvSpPr>
        <p:spPr>
          <a:xfrm>
            <a:off x="903593" y="512619"/>
            <a:ext cx="10013789" cy="5583382"/>
          </a:xfrm>
        </p:spPr>
        <p:txBody>
          <a:bodyPr>
            <a:noAutofit/>
          </a:bodyPr>
          <a:lstStyle/>
          <a:p>
            <a:pPr marL="0" marR="0" indent="0" algn="just">
              <a:lnSpc>
                <a:spcPct val="115000"/>
              </a:lnSpc>
              <a:spcBef>
                <a:spcPts val="0"/>
              </a:spcBef>
              <a:spcAft>
                <a:spcPts val="0"/>
              </a:spcAft>
              <a:buNone/>
            </a:pPr>
            <a:r>
              <a:rPr lang="en-US" sz="3200" b="1" u="sng" dirty="0">
                <a:effectLst/>
                <a:latin typeface="Times New Roman" panose="02020603050405020304" pitchFamily="18" charset="0"/>
                <a:ea typeface="Calibri" panose="020F0502020204030204" pitchFamily="34" charset="0"/>
                <a:cs typeface="Times New Roman" panose="02020603050405020304" pitchFamily="18" charset="0"/>
              </a:rPr>
              <a:t>Importance of soil water</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It is a raw material for photosynthesis.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Makes plant cells turgid therefore providing support in non-woody plants.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Cools the plant during transpiration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A medium for transporting dissolved nutrients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Used for germination of seeds.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It dissolves </a:t>
            </a:r>
            <a:r>
              <a:rPr lang="en-US" sz="3200" dirty="0">
                <a:latin typeface="Times New Roman" panose="02020603050405020304" pitchFamily="18" charset="0"/>
                <a:ea typeface="Calibri" panose="020F0502020204030204" pitchFamily="34" charset="0"/>
                <a:cs typeface="Times New Roman" panose="02020603050405020304" pitchFamily="18" charset="0"/>
              </a:rPr>
              <a:t>nutrients</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absorbed by plants.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3200" dirty="0"/>
          </a:p>
        </p:txBody>
      </p:sp>
    </p:spTree>
    <p:extLst>
      <p:ext uri="{BB962C8B-B14F-4D97-AF65-F5344CB8AC3E}">
        <p14:creationId xmlns:p14="http://schemas.microsoft.com/office/powerpoint/2010/main" val="26648104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362552-6B70-1637-ACFA-8700C187FE01}"/>
              </a:ext>
            </a:extLst>
          </p:cNvPr>
          <p:cNvSpPr>
            <a:spLocks noGrp="1"/>
          </p:cNvSpPr>
          <p:nvPr>
            <p:ph idx="1"/>
          </p:nvPr>
        </p:nvSpPr>
        <p:spPr>
          <a:xfrm>
            <a:off x="1066800" y="907026"/>
            <a:ext cx="10091530" cy="5467269"/>
          </a:xfrm>
        </p:spPr>
        <p:txBody>
          <a:bodyPr>
            <a:normAutofit fontScale="92500" lnSpcReduction="20000"/>
          </a:bodyPr>
          <a:lstStyle/>
          <a:p>
            <a:pPr marL="45720" marR="0" indent="0" algn="just">
              <a:lnSpc>
                <a:spcPct val="115000"/>
              </a:lnSpc>
              <a:spcBef>
                <a:spcPts val="0"/>
              </a:spcBef>
              <a:spcAft>
                <a:spcPts val="1000"/>
              </a:spcAft>
              <a:buNone/>
            </a:pPr>
            <a:r>
              <a:rPr lang="en-US" sz="3200" b="1" u="sng" dirty="0">
                <a:latin typeface="Times New Roman" panose="02020603050405020304" pitchFamily="18" charset="0"/>
                <a:ea typeface="Calibri" panose="020F0502020204030204" pitchFamily="34" charset="0"/>
                <a:cs typeface="Times New Roman" panose="02020603050405020304" pitchFamily="18" charset="0"/>
              </a:rPr>
              <a:t>Aim: T</a:t>
            </a:r>
            <a:r>
              <a:rPr lang="en-US" sz="3200" b="1" u="sng" dirty="0">
                <a:effectLst/>
                <a:latin typeface="Times New Roman" panose="02020603050405020304" pitchFamily="18" charset="0"/>
                <a:ea typeface="Calibri" panose="020F0502020204030204" pitchFamily="34" charset="0"/>
                <a:cs typeface="Times New Roman" panose="02020603050405020304" pitchFamily="18" charset="0"/>
              </a:rPr>
              <a:t>o determine amount of water in a soil sample</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3200" u="sng" dirty="0">
                <a:effectLst/>
                <a:latin typeface="Times New Roman" panose="02020603050405020304" pitchFamily="18" charset="0"/>
                <a:ea typeface="Calibri" panose="020F0502020204030204" pitchFamily="34" charset="0"/>
                <a:cs typeface="Times New Roman" panose="02020603050405020304" pitchFamily="18" charset="0"/>
              </a:rPr>
              <a:t>Materials and apparatus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Soil sample</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Crucible/evaporating dish</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Bunsen burner</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Tripod stand</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Thermometer</a:t>
            </a:r>
          </a:p>
          <a:p>
            <a:pPr marL="342900" marR="0" lvl="0" indent="-342900" algn="just">
              <a:lnSpc>
                <a:spcPct val="115000"/>
              </a:lnSpc>
              <a:spcBef>
                <a:spcPts val="0"/>
              </a:spcBef>
              <a:spcAft>
                <a:spcPts val="1000"/>
              </a:spcAft>
              <a:buFont typeface="Symbol" panose="05050102010706020507" pitchFamily="18" charset="2"/>
              <a:buChar char=""/>
            </a:pPr>
            <a:r>
              <a:rPr lang="en-US" sz="3200" dirty="0">
                <a:latin typeface="Times New Roman" panose="02020603050405020304" pitchFamily="18" charset="0"/>
                <a:ea typeface="Calibri" panose="020F0502020204030204" pitchFamily="34" charset="0"/>
                <a:cs typeface="Times New Roman" panose="02020603050405020304" pitchFamily="18" charset="0"/>
              </a:rPr>
              <a:t>Stirring rod</a:t>
            </a: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Weighing scale</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9235278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560832-CC50-EA21-498F-EF3C8124D315}"/>
              </a:ext>
            </a:extLst>
          </p:cNvPr>
          <p:cNvSpPr>
            <a:spLocks noGrp="1"/>
          </p:cNvSpPr>
          <p:nvPr>
            <p:ph idx="1"/>
          </p:nvPr>
        </p:nvSpPr>
        <p:spPr>
          <a:xfrm>
            <a:off x="844560" y="346364"/>
            <a:ext cx="11236603" cy="5882158"/>
          </a:xfrm>
        </p:spPr>
        <p:txBody>
          <a:bodyPr>
            <a:normAutofit fontScale="92500"/>
          </a:bodyPr>
          <a:lstStyle/>
          <a:p>
            <a:pPr marL="0" marR="0" indent="0" algn="just">
              <a:lnSpc>
                <a:spcPct val="115000"/>
              </a:lnSpc>
              <a:spcBef>
                <a:spcPts val="0"/>
              </a:spcBef>
              <a:spcAft>
                <a:spcPts val="1000"/>
              </a:spcAft>
              <a:buNone/>
            </a:pPr>
            <a:r>
              <a:rPr lang="en-US" sz="3200" u="sng" dirty="0">
                <a:effectLst/>
                <a:latin typeface="Times New Roman" panose="02020603050405020304" pitchFamily="18" charset="0"/>
                <a:ea typeface="Calibri" panose="020F0502020204030204" pitchFamily="34" charset="0"/>
                <a:cs typeface="Times New Roman" panose="02020603050405020304" pitchFamily="18" charset="0"/>
              </a:rPr>
              <a:t>Procedure</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Weigh an empty crucible and record its mass (a)g.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Put the soil sample and record the mass of the soil plus crucible(b)g.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latin typeface="Times New Roman" panose="02020603050405020304" pitchFamily="18" charset="0"/>
                <a:ea typeface="Calibri" panose="020F0502020204030204" pitchFamily="34" charset="0"/>
                <a:cs typeface="Times New Roman" panose="02020603050405020304" pitchFamily="18" charset="0"/>
              </a:rPr>
              <a:t>H</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eat the soil in the crucible over a Bunsen burner flame until the soil is dry. </a:t>
            </a: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Cool and reweigh the dried soil and crucible then record the mass (c)g.</a:t>
            </a:r>
          </a:p>
          <a:p>
            <a:pPr marL="0" indent="0" algn="just">
              <a:lnSpc>
                <a:spcPct val="115000"/>
              </a:lnSpc>
              <a:spcBef>
                <a:spcPts val="0"/>
              </a:spcBef>
              <a:spcAft>
                <a:spcPts val="1000"/>
              </a:spcAft>
              <a:buNone/>
            </a:pPr>
            <a:r>
              <a:rPr lang="en-US" sz="3200" dirty="0">
                <a:latin typeface="Times New Roman" panose="02020603050405020304" pitchFamily="18" charset="0"/>
                <a:ea typeface="Calibri" panose="020F0502020204030204" pitchFamily="34" charset="0"/>
                <a:cs typeface="Times New Roman" panose="02020603050405020304" pitchFamily="18" charset="0"/>
              </a:rPr>
              <a:t>Note: The</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loss in mass of soil is due to loss of water in evaporation.</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Calculate the percentage of water as follows: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628362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697AB5-9159-383E-B4CA-EACB4C50544A}"/>
              </a:ext>
            </a:extLst>
          </p:cNvPr>
          <p:cNvSpPr>
            <a:spLocks noGrp="1"/>
          </p:cNvSpPr>
          <p:nvPr>
            <p:ph idx="1"/>
          </p:nvPr>
        </p:nvSpPr>
        <p:spPr>
          <a:xfrm>
            <a:off x="477078" y="172278"/>
            <a:ext cx="11396870" cy="6533322"/>
          </a:xfrm>
        </p:spPr>
        <p:txBody>
          <a:bodyPr>
            <a:normAutofit lnSpcReduction="10000"/>
          </a:bodyPr>
          <a:lstStyle/>
          <a:p>
            <a:pPr marL="0" marR="0" indent="0" algn="just">
              <a:lnSpc>
                <a:spcPct val="115000"/>
              </a:lnSpc>
              <a:spcBef>
                <a:spcPts val="0"/>
              </a:spcBef>
              <a:spcAft>
                <a:spcPts val="100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Mass of crucible = (a) g</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Mass of crucible + fresh soil = (b) g</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Mass of crucible + dry soil = (c) g</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Mass of fresh soil used = (b-a) g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Mass of dry soil = (c-a) g</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→Mass of water in soil = mass of fresh soil used – mass of dry soil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=(b-a) g – (c-a) g</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(b-c) g</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Percentage of water in the soil sample = </a:t>
            </a:r>
            <a:r>
              <a:rPr lang="en-US" sz="2400" u="sng" dirty="0">
                <a:latin typeface="Times New Roman" panose="02020603050405020304" pitchFamily="18" charset="0"/>
                <a:ea typeface="Calibri" panose="020F0502020204030204" pitchFamily="34" charset="0"/>
                <a:cs typeface="Times New Roman" panose="02020603050405020304" pitchFamily="18" charset="0"/>
              </a:rPr>
              <a:t>M</a:t>
            </a:r>
            <a:r>
              <a:rPr lang="en-US" sz="2400" u="sng" dirty="0">
                <a:effectLst/>
                <a:latin typeface="Times New Roman" panose="02020603050405020304" pitchFamily="18" charset="0"/>
                <a:ea typeface="Calibri" panose="020F0502020204030204" pitchFamily="34" charset="0"/>
                <a:cs typeface="Times New Roman" panose="02020603050405020304" pitchFamily="18" charset="0"/>
              </a:rPr>
              <a:t>ass of water in soil</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x 100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Mass of soil sample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u="sng" dirty="0">
                <a:effectLst/>
                <a:latin typeface="Times New Roman" panose="02020603050405020304" pitchFamily="18" charset="0"/>
                <a:ea typeface="Calibri" panose="020F0502020204030204" pitchFamily="34" charset="0"/>
                <a:cs typeface="Times New Roman" panose="02020603050405020304" pitchFamily="18" charset="0"/>
              </a:rPr>
              <a:t>(b-c) g </a:t>
            </a:r>
            <a:r>
              <a:rPr lang="en-US" sz="2400" dirty="0">
                <a:latin typeface="Times New Roman" panose="02020603050405020304" pitchFamily="18" charset="0"/>
                <a:ea typeface="Calibri" panose="020F0502020204030204" pitchFamily="34" charset="0"/>
                <a:cs typeface="Times New Roman" panose="02020603050405020304" pitchFamily="18" charset="0"/>
              </a:rPr>
              <a:t>x</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100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(b-a) g</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5044403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B3451A-83E3-4BEC-120C-137DFD4FDF7F}"/>
              </a:ext>
            </a:extLst>
          </p:cNvPr>
          <p:cNvSpPr>
            <a:spLocks noGrp="1"/>
          </p:cNvSpPr>
          <p:nvPr>
            <p:ph idx="1"/>
          </p:nvPr>
        </p:nvSpPr>
        <p:spPr>
          <a:xfrm>
            <a:off x="768626" y="940904"/>
            <a:ext cx="10359622" cy="5231296"/>
          </a:xfrm>
        </p:spPr>
        <p:txBody>
          <a:bodyPr/>
          <a:lstStyle/>
          <a:p>
            <a:pPr marL="0" marR="0" indent="0" algn="just">
              <a:lnSpc>
                <a:spcPct val="115000"/>
              </a:lnSpc>
              <a:spcBef>
                <a:spcPts val="0"/>
              </a:spcBef>
              <a:spcAft>
                <a:spcPts val="1000"/>
              </a:spcAft>
              <a:buNone/>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Observation:</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The mass of soil reduced after heating, and its crumb structure broke down to smaller particles.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Conclusion: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Soil contains water (moisture).</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1051518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2C22CE-2FDF-FA76-F0AF-DC1C0D503820}"/>
              </a:ext>
            </a:extLst>
          </p:cNvPr>
          <p:cNvSpPr>
            <a:spLocks noGrp="1"/>
          </p:cNvSpPr>
          <p:nvPr>
            <p:ph idx="1"/>
          </p:nvPr>
        </p:nvSpPr>
        <p:spPr>
          <a:xfrm>
            <a:off x="371061" y="463826"/>
            <a:ext cx="11436626" cy="5708374"/>
          </a:xfrm>
        </p:spPr>
        <p:txBody>
          <a:bodyPr>
            <a:normAutofit/>
          </a:bodyPr>
          <a:lstStyle/>
          <a:p>
            <a:pPr marL="0" indent="0">
              <a:buNone/>
            </a:pPr>
            <a:r>
              <a:rPr lang="en-US" sz="3200" dirty="0">
                <a:solidFill>
                  <a:srgbClr val="FF0000"/>
                </a:solidFill>
              </a:rPr>
              <a:t>Qn. How can you determine the percentage of water in the soil?</a:t>
            </a:r>
          </a:p>
          <a:p>
            <a:pPr marL="0" indent="0">
              <a:buNone/>
            </a:pPr>
            <a:endParaRPr lang="en-US" sz="3200" dirty="0"/>
          </a:p>
          <a:p>
            <a:pPr marL="0" indent="0">
              <a:buNone/>
            </a:pPr>
            <a:endParaRPr lang="en-US" sz="3200" dirty="0"/>
          </a:p>
          <a:p>
            <a:pPr marL="0" indent="0">
              <a:buNone/>
            </a:pPr>
            <a:endParaRPr lang="en-US" sz="3200" dirty="0"/>
          </a:p>
          <a:p>
            <a:pPr marL="0" indent="0">
              <a:buNone/>
            </a:pPr>
            <a:endParaRPr lang="en-US" sz="3200" dirty="0"/>
          </a:p>
          <a:p>
            <a:pPr marL="0" indent="0">
              <a:buNone/>
            </a:pPr>
            <a:r>
              <a:rPr lang="en-US" sz="3200" b="1" i="1" dirty="0"/>
              <a:t>Carry out the following activity in your groups and present your results to the class</a:t>
            </a:r>
          </a:p>
        </p:txBody>
      </p:sp>
    </p:spTree>
    <p:extLst>
      <p:ext uri="{BB962C8B-B14F-4D97-AF65-F5344CB8AC3E}">
        <p14:creationId xmlns:p14="http://schemas.microsoft.com/office/powerpoint/2010/main" val="39964994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95B0DC-2614-29C7-5188-2375269AF493}"/>
              </a:ext>
            </a:extLst>
          </p:cNvPr>
          <p:cNvSpPr>
            <a:spLocks noGrp="1"/>
          </p:cNvSpPr>
          <p:nvPr>
            <p:ph idx="1"/>
          </p:nvPr>
        </p:nvSpPr>
        <p:spPr>
          <a:xfrm>
            <a:off x="265043" y="318052"/>
            <a:ext cx="11635409" cy="6347792"/>
          </a:xfrm>
        </p:spPr>
        <p:txBody>
          <a:bodyPr>
            <a:normAutofit fontScale="92500"/>
          </a:bodyPr>
          <a:lstStyle/>
          <a:p>
            <a:pPr marL="0" indent="0">
              <a:buNone/>
            </a:pPr>
            <a:r>
              <a:rPr lang="en-US" sz="3200" dirty="0"/>
              <a:t>The following are results from experiments to determine the amount of water is three different soil samples X, Y and Z</a:t>
            </a:r>
          </a:p>
          <a:p>
            <a:pPr marL="0" indent="0">
              <a:buNone/>
            </a:pPr>
            <a:endParaRPr lang="en-US" sz="3200" dirty="0"/>
          </a:p>
          <a:p>
            <a:pPr marL="0" indent="0">
              <a:buNone/>
            </a:pPr>
            <a:endParaRPr lang="en-US" sz="3200" dirty="0"/>
          </a:p>
          <a:p>
            <a:pPr marL="0" indent="0">
              <a:buNone/>
            </a:pPr>
            <a:endParaRPr lang="en-US" sz="3200" dirty="0"/>
          </a:p>
          <a:p>
            <a:pPr marL="0" indent="0">
              <a:buNone/>
            </a:pPr>
            <a:endParaRPr lang="en-US" sz="3200" dirty="0"/>
          </a:p>
          <a:p>
            <a:pPr marL="0" indent="0">
              <a:buNone/>
            </a:pPr>
            <a:endParaRPr lang="en-US" sz="3200" dirty="0"/>
          </a:p>
          <a:p>
            <a:pPr marL="514350" indent="-514350">
              <a:buFont typeface="+mj-lt"/>
              <a:buAutoNum type="alphaLcParenR"/>
            </a:pPr>
            <a:r>
              <a:rPr lang="en-US" sz="3200" dirty="0"/>
              <a:t>Calculate the mass of water in soil samples</a:t>
            </a:r>
          </a:p>
          <a:p>
            <a:pPr marL="571500" indent="-571500">
              <a:buFont typeface="+mj-lt"/>
              <a:buAutoNum type="romanLcPeriod"/>
            </a:pPr>
            <a:r>
              <a:rPr lang="en-US" sz="3200" dirty="0"/>
              <a:t>X</a:t>
            </a:r>
          </a:p>
          <a:p>
            <a:pPr marL="571500" indent="-571500">
              <a:buFont typeface="+mj-lt"/>
              <a:buAutoNum type="romanLcPeriod"/>
            </a:pPr>
            <a:r>
              <a:rPr lang="en-US" sz="3200" dirty="0"/>
              <a:t>Y</a:t>
            </a:r>
          </a:p>
          <a:p>
            <a:pPr marL="571500" indent="-571500">
              <a:buFont typeface="+mj-lt"/>
              <a:buAutoNum type="romanLcPeriod"/>
            </a:pPr>
            <a:r>
              <a:rPr lang="en-US" sz="3200" dirty="0"/>
              <a:t>Z</a:t>
            </a:r>
          </a:p>
        </p:txBody>
      </p:sp>
      <p:graphicFrame>
        <p:nvGraphicFramePr>
          <p:cNvPr id="4" name="Table 4">
            <a:extLst>
              <a:ext uri="{FF2B5EF4-FFF2-40B4-BE49-F238E27FC236}">
                <a16:creationId xmlns:a16="http://schemas.microsoft.com/office/drawing/2014/main" id="{18FD9894-091D-1361-EBDB-AF74491AE93E}"/>
              </a:ext>
            </a:extLst>
          </p:cNvPr>
          <p:cNvGraphicFramePr>
            <a:graphicFrameLocks noGrp="1"/>
          </p:cNvGraphicFramePr>
          <p:nvPr>
            <p:extLst>
              <p:ext uri="{D42A27DB-BD31-4B8C-83A1-F6EECF244321}">
                <p14:modId xmlns:p14="http://schemas.microsoft.com/office/powerpoint/2010/main" val="3559115606"/>
              </p:ext>
            </p:extLst>
          </p:nvPr>
        </p:nvGraphicFramePr>
        <p:xfrm>
          <a:off x="1835425" y="1364973"/>
          <a:ext cx="8641634" cy="3131249"/>
        </p:xfrm>
        <a:graphic>
          <a:graphicData uri="http://schemas.openxmlformats.org/drawingml/2006/table">
            <a:tbl>
              <a:tblPr firstRow="1" bandRow="1">
                <a:tableStyleId>{5FD0F851-EC5A-4D38-B0AD-8093EC10F338}</a:tableStyleId>
              </a:tblPr>
              <a:tblGrid>
                <a:gridCol w="6342380">
                  <a:extLst>
                    <a:ext uri="{9D8B030D-6E8A-4147-A177-3AD203B41FA5}">
                      <a16:colId xmlns:a16="http://schemas.microsoft.com/office/drawing/2014/main" val="3641315222"/>
                    </a:ext>
                  </a:extLst>
                </a:gridCol>
                <a:gridCol w="781879">
                  <a:extLst>
                    <a:ext uri="{9D8B030D-6E8A-4147-A177-3AD203B41FA5}">
                      <a16:colId xmlns:a16="http://schemas.microsoft.com/office/drawing/2014/main" val="2603525516"/>
                    </a:ext>
                  </a:extLst>
                </a:gridCol>
                <a:gridCol w="702365">
                  <a:extLst>
                    <a:ext uri="{9D8B030D-6E8A-4147-A177-3AD203B41FA5}">
                      <a16:colId xmlns:a16="http://schemas.microsoft.com/office/drawing/2014/main" val="4155489225"/>
                    </a:ext>
                  </a:extLst>
                </a:gridCol>
                <a:gridCol w="815010">
                  <a:extLst>
                    <a:ext uri="{9D8B030D-6E8A-4147-A177-3AD203B41FA5}">
                      <a16:colId xmlns:a16="http://schemas.microsoft.com/office/drawing/2014/main" val="4067146494"/>
                    </a:ext>
                  </a:extLst>
                </a:gridCol>
              </a:tblGrid>
              <a:tr h="525026">
                <a:tc>
                  <a:txBody>
                    <a:bodyPr/>
                    <a:lstStyle/>
                    <a:p>
                      <a:r>
                        <a:rPr lang="en-US" sz="3200" dirty="0"/>
                        <a:t>Soil sample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7831715"/>
                  </a:ext>
                </a:extLst>
              </a:tr>
              <a:tr h="525026">
                <a:tc>
                  <a:txBody>
                    <a:bodyPr/>
                    <a:lstStyle/>
                    <a:p>
                      <a:r>
                        <a:rPr lang="en-US" sz="3200" dirty="0"/>
                        <a:t>Mass of dish (g)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7345130"/>
                  </a:ext>
                </a:extLst>
              </a:tr>
              <a:tr h="906209">
                <a:tc>
                  <a:txBody>
                    <a:bodyPr/>
                    <a:lstStyle/>
                    <a:p>
                      <a:r>
                        <a:rPr lang="en-US" sz="3200" dirty="0"/>
                        <a:t>Mass of dish + fresh soil(g)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2681436"/>
                  </a:ext>
                </a:extLst>
              </a:tr>
              <a:tr h="906209">
                <a:tc>
                  <a:txBody>
                    <a:bodyPr/>
                    <a:lstStyle/>
                    <a:p>
                      <a:r>
                        <a:rPr lang="en-US" sz="3200" dirty="0"/>
                        <a:t>Mass of dish + soil after drying(g)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39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4367022"/>
                  </a:ext>
                </a:extLst>
              </a:tr>
            </a:tbl>
          </a:graphicData>
        </a:graphic>
      </p:graphicFrame>
    </p:spTree>
    <p:extLst>
      <p:ext uri="{BB962C8B-B14F-4D97-AF65-F5344CB8AC3E}">
        <p14:creationId xmlns:p14="http://schemas.microsoft.com/office/powerpoint/2010/main" val="4205188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DD0100-8FA4-3393-DD0C-26E349C86C16}"/>
              </a:ext>
            </a:extLst>
          </p:cNvPr>
          <p:cNvSpPr>
            <a:spLocks noGrp="1"/>
          </p:cNvSpPr>
          <p:nvPr>
            <p:ph idx="1"/>
          </p:nvPr>
        </p:nvSpPr>
        <p:spPr>
          <a:xfrm>
            <a:off x="437321" y="371062"/>
            <a:ext cx="11502887" cy="5791200"/>
          </a:xfrm>
        </p:spPr>
        <p:txBody>
          <a:bodyPr>
            <a:noAutofit/>
          </a:bodyPr>
          <a:lstStyle/>
          <a:p>
            <a:pPr marL="457200" indent="-457200">
              <a:buFont typeface="+mj-lt"/>
              <a:buAutoNum type="alphaLcParenR"/>
            </a:pPr>
            <a:r>
              <a:rPr lang="en-US" sz="3200" dirty="0"/>
              <a:t>Calculate the percentage of water in soil samples</a:t>
            </a:r>
          </a:p>
          <a:p>
            <a:pPr marL="514350" indent="-514350">
              <a:buFont typeface="+mj-lt"/>
              <a:buAutoNum type="romanLcPeriod"/>
            </a:pPr>
            <a:r>
              <a:rPr lang="en-US" sz="3200" dirty="0"/>
              <a:t>X</a:t>
            </a:r>
          </a:p>
          <a:p>
            <a:pPr marL="514350" indent="-514350">
              <a:buFont typeface="+mj-lt"/>
              <a:buAutoNum type="romanLcPeriod"/>
            </a:pPr>
            <a:r>
              <a:rPr lang="en-US" sz="3200" dirty="0"/>
              <a:t>Y</a:t>
            </a:r>
          </a:p>
          <a:p>
            <a:pPr marL="514350" indent="-514350">
              <a:buFont typeface="+mj-lt"/>
              <a:buAutoNum type="romanLcPeriod"/>
            </a:pPr>
            <a:r>
              <a:rPr lang="en-US" sz="3200" dirty="0"/>
              <a:t>Z</a:t>
            </a:r>
          </a:p>
          <a:p>
            <a:pPr marL="457200" indent="-457200">
              <a:buFont typeface="+mj-lt"/>
              <a:buAutoNum type="alphaLcParenR"/>
            </a:pPr>
            <a:r>
              <a:rPr lang="en-US" sz="3200" dirty="0"/>
              <a:t>What type of soil do you think is represented by </a:t>
            </a:r>
          </a:p>
          <a:p>
            <a:pPr marL="514350" indent="-514350">
              <a:buFont typeface="+mj-lt"/>
              <a:buAutoNum type="romanLcPeriod"/>
            </a:pPr>
            <a:r>
              <a:rPr lang="en-US" sz="3200" dirty="0"/>
              <a:t>X</a:t>
            </a:r>
          </a:p>
          <a:p>
            <a:pPr marL="514350" indent="-514350">
              <a:buFont typeface="+mj-lt"/>
              <a:buAutoNum type="romanLcPeriod"/>
            </a:pPr>
            <a:r>
              <a:rPr lang="en-US" sz="3200" dirty="0"/>
              <a:t>Y</a:t>
            </a:r>
          </a:p>
          <a:p>
            <a:pPr marL="514350" indent="-514350">
              <a:buFont typeface="+mj-lt"/>
              <a:buAutoNum type="romanLcPeriod"/>
            </a:pPr>
            <a:r>
              <a:rPr lang="en-US" sz="3200" dirty="0"/>
              <a:t>Z</a:t>
            </a:r>
          </a:p>
        </p:txBody>
      </p:sp>
    </p:spTree>
    <p:extLst>
      <p:ext uri="{BB962C8B-B14F-4D97-AF65-F5344CB8AC3E}">
        <p14:creationId xmlns:p14="http://schemas.microsoft.com/office/powerpoint/2010/main" val="12713648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9D1C75-1014-5B8A-B41C-9D900AC22742}"/>
              </a:ext>
            </a:extLst>
          </p:cNvPr>
          <p:cNvSpPr>
            <a:spLocks noGrp="1"/>
          </p:cNvSpPr>
          <p:nvPr>
            <p:ph idx="1"/>
          </p:nvPr>
        </p:nvSpPr>
        <p:spPr>
          <a:xfrm>
            <a:off x="742122" y="795130"/>
            <a:ext cx="10386126" cy="5377070"/>
          </a:xfrm>
        </p:spPr>
        <p:txBody>
          <a:bodyPr>
            <a:normAutofit/>
          </a:bodyPr>
          <a:lstStyle/>
          <a:p>
            <a:pPr marL="342900" marR="0" lvl="0" indent="-342900" algn="just">
              <a:lnSpc>
                <a:spcPct val="115000"/>
              </a:lnSpc>
              <a:spcBef>
                <a:spcPts val="0"/>
              </a:spcBef>
              <a:spcAft>
                <a:spcPts val="0"/>
              </a:spcAft>
              <a:buFont typeface="+mj-lt"/>
              <a:buAutoNum type="arabicPeriod"/>
            </a:pPr>
            <a:r>
              <a:rPr lang="en-US" sz="3200" u="none" strike="noStrike" dirty="0">
                <a:effectLst/>
                <a:latin typeface="Times New Roman" panose="02020603050405020304" pitchFamily="18" charset="0"/>
                <a:ea typeface="Calibri" panose="020F0502020204030204" pitchFamily="34" charset="0"/>
                <a:cs typeface="Times New Roman" panose="02020603050405020304" pitchFamily="18" charset="0"/>
              </a:rPr>
              <a:t>A student wanted to determine the amount of water in a soil sample. The following results were obtained:</a:t>
            </a:r>
            <a:endParaRPr lang="en-US" sz="3200" u="none" strike="noStrike"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gn="just">
              <a:lnSpc>
                <a:spcPct val="115000"/>
              </a:lnSpc>
              <a:spcBef>
                <a:spcPts val="0"/>
              </a:spcBef>
              <a:spcAft>
                <a:spcPts val="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Mass of crucible = 15g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gn="just">
              <a:lnSpc>
                <a:spcPct val="115000"/>
              </a:lnSpc>
              <a:spcBef>
                <a:spcPts val="0"/>
              </a:spcBef>
              <a:spcAft>
                <a:spcPts val="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Mass of crucible + soil = 45g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gn="just">
              <a:lnSpc>
                <a:spcPct val="115000"/>
              </a:lnSpc>
              <a:spcBef>
                <a:spcPts val="0"/>
              </a:spcBef>
              <a:spcAft>
                <a:spcPts val="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Mass of crucible + soil after drying = </a:t>
            </a:r>
            <a:r>
              <a:rPr lang="en-US" sz="3200" dirty="0">
                <a:latin typeface="Times New Roman" panose="02020603050405020304" pitchFamily="18" charset="0"/>
                <a:ea typeface="Calibri" panose="020F0502020204030204" pitchFamily="34" charset="0"/>
                <a:cs typeface="Times New Roman" panose="02020603050405020304" pitchFamily="18" charset="0"/>
              </a:rPr>
              <a:t>40</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gn="just">
              <a:lnSpc>
                <a:spcPct val="115000"/>
              </a:lnSpc>
              <a:spcBef>
                <a:spcPts val="0"/>
              </a:spcBef>
              <a:spcAft>
                <a:spcPts val="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Calculate:</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mj-lt"/>
              <a:buAutoNum type="romanLcParen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Mass of soil sample used</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mj-lt"/>
              <a:buAutoNum type="romanLcParen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Mass of water in the soil sample</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mj-lt"/>
              <a:buAutoNum type="romanLcParen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Percentage of water in the soil sample.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42124560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B950F4-7847-2BBB-A222-9638800084A6}"/>
              </a:ext>
            </a:extLst>
          </p:cNvPr>
          <p:cNvSpPr>
            <a:spLocks noGrp="1"/>
          </p:cNvSpPr>
          <p:nvPr>
            <p:ph idx="1"/>
          </p:nvPr>
        </p:nvSpPr>
        <p:spPr>
          <a:xfrm>
            <a:off x="609601" y="742123"/>
            <a:ext cx="10518648" cy="5430078"/>
          </a:xfrm>
        </p:spPr>
        <p:txBody>
          <a:bodyPr>
            <a:normAutofit/>
          </a:bodyPr>
          <a:lstStyle/>
          <a:p>
            <a:pPr marL="0" marR="0" lvl="0" indent="0" algn="just">
              <a:lnSpc>
                <a:spcPct val="115000"/>
              </a:lnSpc>
              <a:spcBef>
                <a:spcPts val="0"/>
              </a:spcBef>
              <a:spcAft>
                <a:spcPts val="0"/>
              </a:spcAft>
              <a:buNone/>
            </a:pPr>
            <a:r>
              <a:rPr lang="en-US" sz="3200" u="none" strike="noStrike" dirty="0">
                <a:effectLst/>
                <a:latin typeface="Times New Roman" panose="02020603050405020304" pitchFamily="18" charset="0"/>
                <a:ea typeface="Calibri" panose="020F0502020204030204" pitchFamily="34" charset="0"/>
                <a:cs typeface="Times New Roman" panose="02020603050405020304" pitchFamily="18" charset="0"/>
              </a:rPr>
              <a:t>2. Below are the results obtained by a student who was trying to find out the percentage of water in a soil sample.</a:t>
            </a:r>
            <a:endParaRPr lang="en-US" sz="3200" u="none" strike="noStrike"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gn="just">
              <a:lnSpc>
                <a:spcPct val="115000"/>
              </a:lnSpc>
              <a:spcBef>
                <a:spcPts val="0"/>
              </a:spcBef>
              <a:spcAft>
                <a:spcPts val="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Mass of crucible = 10 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gn="just">
              <a:lnSpc>
                <a:spcPct val="115000"/>
              </a:lnSpc>
              <a:spcBef>
                <a:spcPts val="0"/>
              </a:spcBef>
              <a:spcAft>
                <a:spcPts val="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Mass of soil + crucible before heating = 60 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gn="just">
              <a:lnSpc>
                <a:spcPct val="115000"/>
              </a:lnSpc>
              <a:spcBef>
                <a:spcPts val="0"/>
              </a:spcBef>
              <a:spcAft>
                <a:spcPts val="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Mass of soil + crucible after heating = 50 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gn="just">
              <a:lnSpc>
                <a:spcPct val="115000"/>
              </a:lnSpc>
              <a:spcBef>
                <a:spcPts val="0"/>
              </a:spcBef>
              <a:spcAft>
                <a:spcPts val="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Calculate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mj-lt"/>
              <a:buAutoNum type="romanLcParen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Mass of water in the soil used</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mj-lt"/>
              <a:buAutoNum type="romanLcParen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Percentage of water in the soil used</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3862836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46E2CE-02E1-EDF0-4FD6-9FB7B711525F}"/>
              </a:ext>
            </a:extLst>
          </p:cNvPr>
          <p:cNvSpPr>
            <a:spLocks noGrp="1"/>
          </p:cNvSpPr>
          <p:nvPr>
            <p:ph idx="1"/>
          </p:nvPr>
        </p:nvSpPr>
        <p:spPr>
          <a:xfrm>
            <a:off x="967409" y="1113183"/>
            <a:ext cx="10283687" cy="5059017"/>
          </a:xfrm>
        </p:spPr>
        <p:txBody>
          <a:bodyPr/>
          <a:lstStyle/>
          <a:p>
            <a:pPr marL="0" marR="0" lvl="0" indent="0" algn="just">
              <a:lnSpc>
                <a:spcPct val="115000"/>
              </a:lnSpc>
              <a:spcBef>
                <a:spcPts val="0"/>
              </a:spcBef>
              <a:spcAft>
                <a:spcPts val="0"/>
              </a:spcAft>
              <a:buNone/>
            </a:pPr>
            <a:r>
              <a:rPr lang="en-US" sz="3200" u="none" strike="noStrike" dirty="0">
                <a:effectLst/>
                <a:latin typeface="Times New Roman" panose="02020603050405020304" pitchFamily="18" charset="0"/>
                <a:ea typeface="Calibri" panose="020F0502020204030204" pitchFamily="34" charset="0"/>
                <a:cs typeface="Times New Roman" panose="02020603050405020304" pitchFamily="18" charset="0"/>
              </a:rPr>
              <a:t>3. Calculate the percentage water content of the soil sample, given the results below:</a:t>
            </a:r>
            <a:endParaRPr lang="en-US" sz="3200" u="none" strike="noStrike"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gn="just">
              <a:lnSpc>
                <a:spcPct val="115000"/>
              </a:lnSpc>
              <a:spcBef>
                <a:spcPts val="0"/>
              </a:spcBef>
              <a:spcAft>
                <a:spcPts val="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Mass of evaporating dish = 15g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gn="just">
              <a:lnSpc>
                <a:spcPct val="115000"/>
              </a:lnSpc>
              <a:spcBef>
                <a:spcPts val="0"/>
              </a:spcBef>
              <a:spcAft>
                <a:spcPts val="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Mass of evaporating dish + soil = 30g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gn="just">
              <a:lnSpc>
                <a:spcPct val="115000"/>
              </a:lnSpc>
              <a:spcBef>
                <a:spcPts val="0"/>
              </a:spcBef>
              <a:spcAft>
                <a:spcPts val="10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Mass of evaporating dish + soil after heating to constant mass = 25g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6095964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CDAEB-98C1-AEFF-0FF7-0144838B6108}"/>
              </a:ext>
            </a:extLst>
          </p:cNvPr>
          <p:cNvSpPr>
            <a:spLocks noGrp="1"/>
          </p:cNvSpPr>
          <p:nvPr>
            <p:ph type="title"/>
          </p:nvPr>
        </p:nvSpPr>
        <p:spPr/>
        <p:txBody>
          <a:bodyPr/>
          <a:lstStyle/>
          <a:p>
            <a:pPr algn="ctr"/>
            <a:r>
              <a:rPr lang="en-US" u="sng" dirty="0"/>
              <a:t>Humus/organic matter</a:t>
            </a:r>
          </a:p>
        </p:txBody>
      </p:sp>
      <p:sp>
        <p:nvSpPr>
          <p:cNvPr id="3" name="Content Placeholder 2">
            <a:extLst>
              <a:ext uri="{FF2B5EF4-FFF2-40B4-BE49-F238E27FC236}">
                <a16:creationId xmlns:a16="http://schemas.microsoft.com/office/drawing/2014/main" id="{EE16B8B0-5FAC-15C9-AAF8-7FD1B645317F}"/>
              </a:ext>
            </a:extLst>
          </p:cNvPr>
          <p:cNvSpPr>
            <a:spLocks noGrp="1"/>
          </p:cNvSpPr>
          <p:nvPr>
            <p:ph idx="1"/>
          </p:nvPr>
        </p:nvSpPr>
        <p:spPr/>
        <p:txBody>
          <a:bodyPr>
            <a:normAutofit/>
          </a:bodyPr>
          <a:lstStyle/>
          <a:p>
            <a:pPr marL="342900" marR="0" lvl="0" indent="-342900" algn="just">
              <a:lnSpc>
                <a:spcPct val="115000"/>
              </a:lnSpc>
              <a:spcBef>
                <a:spcPts val="0"/>
              </a:spcBef>
              <a:spcAft>
                <a:spcPts val="1000"/>
              </a:spcAft>
              <a:buFont typeface="Symbol" panose="05050102010706020507" pitchFamily="18" charset="2"/>
              <a:buChar char=""/>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Humus </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is formed when remains of dead plant and animal materials decay.</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Decay/decomposition occurs by the action of bacteria and fungi.</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Humus is a dark sticky jelly-like substance that gives soil its dark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colour</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1137699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AD5D17-0C5E-0097-2F29-3C2A93B0A60C}"/>
              </a:ext>
            </a:extLst>
          </p:cNvPr>
          <p:cNvSpPr>
            <a:spLocks noGrp="1"/>
          </p:cNvSpPr>
          <p:nvPr>
            <p:ph idx="1"/>
          </p:nvPr>
        </p:nvSpPr>
        <p:spPr/>
        <p:txBody>
          <a:bodyPr>
            <a:normAutofit/>
          </a:bodyPr>
          <a:lstStyle/>
          <a:p>
            <a:pPr marL="0" indent="0">
              <a:buNone/>
            </a:pPr>
            <a:r>
              <a:rPr lang="en-US" sz="3200" dirty="0"/>
              <a:t>Of what importance is humus in the soil?</a:t>
            </a:r>
          </a:p>
        </p:txBody>
      </p:sp>
    </p:spTree>
    <p:extLst>
      <p:ext uri="{BB962C8B-B14F-4D97-AF65-F5344CB8AC3E}">
        <p14:creationId xmlns:p14="http://schemas.microsoft.com/office/powerpoint/2010/main" val="22296196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BCC2C2-63E6-6891-2A3C-DA7DCF023959}"/>
              </a:ext>
            </a:extLst>
          </p:cNvPr>
          <p:cNvSpPr>
            <a:spLocks noGrp="1"/>
          </p:cNvSpPr>
          <p:nvPr>
            <p:ph idx="1"/>
          </p:nvPr>
        </p:nvSpPr>
        <p:spPr>
          <a:xfrm>
            <a:off x="277091" y="0"/>
            <a:ext cx="11734800" cy="6414655"/>
          </a:xfrm>
        </p:spPr>
        <p:txBody>
          <a:bodyPr>
            <a:noAutofit/>
          </a:bodyPr>
          <a:lstStyle/>
          <a:p>
            <a:pPr marL="0" marR="0" algn="just">
              <a:lnSpc>
                <a:spcPct val="115000"/>
              </a:lnSpc>
              <a:spcBef>
                <a:spcPts val="0"/>
              </a:spcBef>
              <a:spcAft>
                <a:spcPts val="1000"/>
              </a:spcAft>
            </a:pPr>
            <a:r>
              <a:rPr lang="en-US" sz="3200" b="1" u="sng" dirty="0">
                <a:effectLst/>
                <a:latin typeface="Times New Roman" panose="02020603050405020304" pitchFamily="18" charset="0"/>
                <a:ea typeface="Calibri" panose="020F0502020204030204" pitchFamily="34" charset="0"/>
                <a:cs typeface="Times New Roman" panose="02020603050405020304" pitchFamily="18" charset="0"/>
              </a:rPr>
              <a:t>Importance of soil humus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latin typeface="Times New Roman" panose="02020603050405020304" pitchFamily="18" charset="0"/>
                <a:ea typeface="Calibri" panose="020F0502020204030204" pitchFamily="34" charset="0"/>
                <a:cs typeface="Times New Roman" panose="02020603050405020304" pitchFamily="18" charset="0"/>
              </a:rPr>
              <a:t>It </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binds soil particles together to form soil crumbs/lumps/aggregates.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Improves soil aeration</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Improves soil drainage since it is spongy. This prevents water logging in the soil.</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Improves the water holding capacity of the soil </a:t>
            </a:r>
          </a:p>
          <a:p>
            <a:pPr marL="342900" marR="0" lvl="0" indent="-342900" algn="just">
              <a:lnSpc>
                <a:spcPct val="115000"/>
              </a:lnSpc>
              <a:spcBef>
                <a:spcPts val="0"/>
              </a:spcBef>
              <a:spcAft>
                <a:spcPts val="1000"/>
              </a:spcAft>
              <a:buFont typeface="Symbol" panose="05050102010706020507" pitchFamily="18" charset="2"/>
              <a:buChar char=""/>
            </a:pPr>
            <a:r>
              <a:rPr lang="en-US" sz="3200" dirty="0">
                <a:latin typeface="Times New Roman" panose="02020603050405020304" pitchFamily="18" charset="0"/>
                <a:ea typeface="Calibri" panose="020F0502020204030204" pitchFamily="34" charset="0"/>
                <a:cs typeface="Times New Roman" panose="02020603050405020304" pitchFamily="18" charset="0"/>
              </a:rPr>
              <a:t>Gives soil black color that increases a</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bsorption of heat into the soil.</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It is a source of nutrients used by plants after it is completely decomposed.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3200" dirty="0"/>
          </a:p>
        </p:txBody>
      </p:sp>
    </p:spTree>
    <p:extLst>
      <p:ext uri="{BB962C8B-B14F-4D97-AF65-F5344CB8AC3E}">
        <p14:creationId xmlns:p14="http://schemas.microsoft.com/office/powerpoint/2010/main" val="37765545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7CA25A-D9AA-39D9-78DD-A73C945A805D}"/>
              </a:ext>
            </a:extLst>
          </p:cNvPr>
          <p:cNvSpPr>
            <a:spLocks noGrp="1"/>
          </p:cNvSpPr>
          <p:nvPr>
            <p:ph idx="1"/>
          </p:nvPr>
        </p:nvSpPr>
        <p:spPr>
          <a:xfrm>
            <a:off x="484909" y="1343891"/>
            <a:ext cx="10643339" cy="4828309"/>
          </a:xfrm>
        </p:spPr>
        <p:txBody>
          <a:bodyPr>
            <a:normAutofit/>
          </a:bodyPr>
          <a:lstStyle/>
          <a:p>
            <a:pPr marL="0" indent="0">
              <a:buNone/>
            </a:pPr>
            <a:r>
              <a:rPr lang="en-US" sz="3200" dirty="0"/>
              <a:t>How can you determine the percentage of humus in soil?</a:t>
            </a:r>
          </a:p>
        </p:txBody>
      </p:sp>
    </p:spTree>
    <p:extLst>
      <p:ext uri="{BB962C8B-B14F-4D97-AF65-F5344CB8AC3E}">
        <p14:creationId xmlns:p14="http://schemas.microsoft.com/office/powerpoint/2010/main" val="31198849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9814B6-1E76-E2A1-13F0-39CA0064E28B}"/>
              </a:ext>
            </a:extLst>
          </p:cNvPr>
          <p:cNvSpPr>
            <a:spLocks noGrp="1"/>
          </p:cNvSpPr>
          <p:nvPr>
            <p:ph idx="1"/>
          </p:nvPr>
        </p:nvSpPr>
        <p:spPr>
          <a:xfrm>
            <a:off x="415636" y="374073"/>
            <a:ext cx="10712612" cy="5798127"/>
          </a:xfrm>
        </p:spPr>
        <p:txBody>
          <a:bodyPr>
            <a:normAutofit/>
          </a:bodyPr>
          <a:lstStyle/>
          <a:p>
            <a:pPr marL="0" marR="0" indent="0" algn="just">
              <a:lnSpc>
                <a:spcPct val="115000"/>
              </a:lnSpc>
              <a:spcBef>
                <a:spcPts val="0"/>
              </a:spcBef>
              <a:spcAft>
                <a:spcPts val="1000"/>
              </a:spcAft>
              <a:buNone/>
            </a:pPr>
            <a:r>
              <a:rPr lang="en-US" sz="3200" b="1" u="sng" dirty="0">
                <a:effectLst/>
                <a:latin typeface="Times New Roman" panose="02020603050405020304" pitchFamily="18" charset="0"/>
                <a:ea typeface="Calibri" panose="020F0502020204030204" pitchFamily="34" charset="0"/>
                <a:cs typeface="Times New Roman" panose="02020603050405020304" pitchFamily="18" charset="0"/>
              </a:rPr>
              <a:t>Aim: </a:t>
            </a:r>
            <a:r>
              <a:rPr lang="en-US" sz="3200" b="1" u="sng">
                <a:effectLst/>
                <a:latin typeface="Times New Roman" panose="02020603050405020304" pitchFamily="18" charset="0"/>
                <a:ea typeface="Calibri" panose="020F0502020204030204" pitchFamily="34" charset="0"/>
                <a:cs typeface="Times New Roman" panose="02020603050405020304" pitchFamily="18" charset="0"/>
              </a:rPr>
              <a:t>To determine </a:t>
            </a:r>
            <a:r>
              <a:rPr lang="en-US" sz="3200" b="1" u="sng" dirty="0">
                <a:effectLst/>
                <a:latin typeface="Times New Roman" panose="02020603050405020304" pitchFamily="18" charset="0"/>
                <a:ea typeface="Calibri" panose="020F0502020204030204" pitchFamily="34" charset="0"/>
                <a:cs typeface="Times New Roman" panose="02020603050405020304" pitchFamily="18" charset="0"/>
              </a:rPr>
              <a:t>the percentage of humus in a soil sample</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3200" u="sng" dirty="0">
                <a:effectLst/>
                <a:latin typeface="Times New Roman" panose="02020603050405020304" pitchFamily="18" charset="0"/>
                <a:ea typeface="Calibri" panose="020F0502020204030204" pitchFamily="34" charset="0"/>
                <a:cs typeface="Times New Roman" panose="02020603050405020304" pitchFamily="18" charset="0"/>
              </a:rPr>
              <a:t>Materials and apparatus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Soil sample</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Crucible/evaporating dish</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Bunsen burner</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Tripod stand</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Thermometer</a:t>
            </a:r>
          </a:p>
          <a:p>
            <a:pPr marL="342900" marR="0" lvl="0" indent="-342900" algn="just">
              <a:lnSpc>
                <a:spcPct val="115000"/>
              </a:lnSpc>
              <a:spcBef>
                <a:spcPts val="0"/>
              </a:spcBef>
              <a:spcAft>
                <a:spcPts val="1000"/>
              </a:spcAft>
              <a:buFont typeface="Symbol" panose="05050102010706020507" pitchFamily="18" charset="2"/>
              <a:buChar char=""/>
            </a:pPr>
            <a:r>
              <a:rPr lang="en-US" sz="3200" dirty="0">
                <a:latin typeface="Times New Roman" panose="02020603050405020304" pitchFamily="18" charset="0"/>
                <a:ea typeface="Calibri" panose="020F0502020204030204" pitchFamily="34" charset="0"/>
                <a:cs typeface="Times New Roman" panose="02020603050405020304" pitchFamily="18" charset="0"/>
              </a:rPr>
              <a:t>Weighing balance</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3200" dirty="0"/>
          </a:p>
        </p:txBody>
      </p:sp>
    </p:spTree>
    <p:extLst>
      <p:ext uri="{BB962C8B-B14F-4D97-AF65-F5344CB8AC3E}">
        <p14:creationId xmlns:p14="http://schemas.microsoft.com/office/powerpoint/2010/main" val="30712073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B3B884-B8B4-C4FE-CD0C-8E225F55E10D}"/>
              </a:ext>
            </a:extLst>
          </p:cNvPr>
          <p:cNvSpPr>
            <a:spLocks noGrp="1"/>
          </p:cNvSpPr>
          <p:nvPr>
            <p:ph idx="1"/>
          </p:nvPr>
        </p:nvSpPr>
        <p:spPr>
          <a:xfrm>
            <a:off x="96982" y="0"/>
            <a:ext cx="12095017" cy="6858000"/>
          </a:xfrm>
        </p:spPr>
        <p:txBody>
          <a:bodyPr>
            <a:noAutofit/>
          </a:bodyPr>
          <a:lstStyle/>
          <a:p>
            <a:pPr marL="0" marR="0" indent="0" algn="just">
              <a:lnSpc>
                <a:spcPct val="115000"/>
              </a:lnSpc>
              <a:spcBef>
                <a:spcPts val="0"/>
              </a:spcBef>
              <a:spcAft>
                <a:spcPts val="1000"/>
              </a:spcAft>
              <a:buNone/>
            </a:pPr>
            <a:r>
              <a:rPr lang="en-US" sz="3600" u="sng" dirty="0">
                <a:effectLst/>
                <a:latin typeface="Times New Roman" panose="02020603050405020304" pitchFamily="18" charset="0"/>
                <a:ea typeface="Calibri" panose="020F0502020204030204" pitchFamily="34" charset="0"/>
                <a:cs typeface="Times New Roman" panose="02020603050405020304" pitchFamily="18" charset="0"/>
              </a:rPr>
              <a:t>Procedure</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Weigh a crucible and record its mass (P g).</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Half fill the crucible with soil sample and record the mass of the soil plus crucible (Q g).</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Dry the soil by heating </a:t>
            </a:r>
            <a:r>
              <a:rPr lang="en-US" sz="3600" dirty="0">
                <a:latin typeface="Times New Roman" panose="02020603050405020304" pitchFamily="18" charset="0"/>
                <a:ea typeface="Calibri" panose="020F0502020204030204" pitchFamily="34" charset="0"/>
                <a:cs typeface="Times New Roman" panose="02020603050405020304" pitchFamily="18" charset="0"/>
              </a:rPr>
              <a:t>over a Bunsen burner flame</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about 100</a:t>
            </a:r>
            <a:r>
              <a:rPr lang="en-US" sz="3600" baseline="30000" dirty="0">
                <a:effectLst/>
                <a:latin typeface="Times New Roman" panose="02020603050405020304" pitchFamily="18" charset="0"/>
                <a:ea typeface="Calibri" panose="020F0502020204030204" pitchFamily="34" charset="0"/>
                <a:cs typeface="Times New Roman" panose="02020603050405020304" pitchFamily="18" charset="0"/>
              </a:rPr>
              <a:t>0</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C to a constant mass.</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3600" dirty="0"/>
          </a:p>
        </p:txBody>
      </p:sp>
    </p:spTree>
    <p:extLst>
      <p:ext uri="{BB962C8B-B14F-4D97-AF65-F5344CB8AC3E}">
        <p14:creationId xmlns:p14="http://schemas.microsoft.com/office/powerpoint/2010/main" val="27241936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E9AEF7-2685-81FA-C360-89E221A3723B}"/>
              </a:ext>
            </a:extLst>
          </p:cNvPr>
          <p:cNvSpPr>
            <a:spLocks noGrp="1"/>
          </p:cNvSpPr>
          <p:nvPr>
            <p:ph idx="1"/>
          </p:nvPr>
        </p:nvSpPr>
        <p:spPr>
          <a:xfrm>
            <a:off x="766049" y="480448"/>
            <a:ext cx="11183144" cy="6028840"/>
          </a:xfrm>
        </p:spPr>
        <p:txBody>
          <a:bodyPr>
            <a:noAutofit/>
          </a:bodyPr>
          <a:lstStyle/>
          <a:p>
            <a:pPr algn="just"/>
            <a:endParaRPr lang="en-US" sz="3200" dirty="0"/>
          </a:p>
          <a:p>
            <a:pPr algn="just"/>
            <a:r>
              <a:rPr lang="en-US" sz="3200" dirty="0"/>
              <a:t>Cool and weigh the dried soil and crucible then record the mass (R g). [Why does the weight of soil reduce when dried?]</a:t>
            </a:r>
          </a:p>
          <a:p>
            <a:pPr algn="just"/>
            <a:r>
              <a:rPr lang="en-US" sz="3200" dirty="0"/>
              <a:t>Heat the dried soil in the crucible to red hot for 30minutes. (note: the loss in mass of the dried soil is due to loss of humus).</a:t>
            </a:r>
          </a:p>
          <a:p>
            <a:pPr algn="just"/>
            <a:r>
              <a:rPr lang="en-US" sz="3200" dirty="0"/>
              <a:t>Cool, weigh and record the final mass of the crucible plus soil (S g).</a:t>
            </a:r>
          </a:p>
          <a:p>
            <a:pPr algn="just"/>
            <a:endParaRPr lang="en-US" sz="3200" dirty="0"/>
          </a:p>
        </p:txBody>
      </p:sp>
    </p:spTree>
    <p:extLst>
      <p:ext uri="{BB962C8B-B14F-4D97-AF65-F5344CB8AC3E}">
        <p14:creationId xmlns:p14="http://schemas.microsoft.com/office/powerpoint/2010/main" val="26314716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FCEDB3-8217-0AE5-9FAC-EF8116A99120}"/>
              </a:ext>
            </a:extLst>
          </p:cNvPr>
          <p:cNvSpPr>
            <a:spLocks noGrp="1"/>
          </p:cNvSpPr>
          <p:nvPr>
            <p:ph idx="1"/>
          </p:nvPr>
        </p:nvSpPr>
        <p:spPr>
          <a:xfrm>
            <a:off x="-1" y="0"/>
            <a:ext cx="11940209" cy="6858000"/>
          </a:xfrm>
        </p:spPr>
        <p:txBody>
          <a:bodyPr>
            <a:noAutofit/>
          </a:bodyPr>
          <a:lstStyle/>
          <a:p>
            <a:pPr marL="0" marR="0" algn="just">
              <a:lnSpc>
                <a:spcPct val="115000"/>
              </a:lnSpc>
              <a:spcBef>
                <a:spcPts val="0"/>
              </a:spcBef>
              <a:spcAft>
                <a:spcPts val="1000"/>
              </a:spcAft>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Calculate the percentage of humus as follows:</a:t>
            </a:r>
          </a:p>
          <a:p>
            <a:pPr marL="0" marR="0" indent="0" algn="just">
              <a:lnSpc>
                <a:spcPct val="115000"/>
              </a:lnSpc>
              <a:spcBef>
                <a:spcPts val="0"/>
              </a:spcBef>
              <a:spcAft>
                <a:spcPts val="1000"/>
              </a:spcAft>
              <a:buNone/>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Mass of crucible = P g</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Mass of crucible + soil = Q g</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Mass of crucible + soil after heating to constant mass = R g</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Mass of crucible + soil after heating to red hot = S g</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3600" dirty="0"/>
          </a:p>
        </p:txBody>
      </p:sp>
    </p:spTree>
    <p:extLst>
      <p:ext uri="{BB962C8B-B14F-4D97-AF65-F5344CB8AC3E}">
        <p14:creationId xmlns:p14="http://schemas.microsoft.com/office/powerpoint/2010/main" val="10745082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598641-C221-F5A9-23BB-85E6B7D935FB}"/>
              </a:ext>
            </a:extLst>
          </p:cNvPr>
          <p:cNvSpPr>
            <a:spLocks noGrp="1"/>
          </p:cNvSpPr>
          <p:nvPr>
            <p:ph idx="1"/>
          </p:nvPr>
        </p:nvSpPr>
        <p:spPr>
          <a:xfrm>
            <a:off x="963828" y="906044"/>
            <a:ext cx="10473921" cy="5432763"/>
          </a:xfrm>
        </p:spPr>
        <p:txBody>
          <a:bodyPr>
            <a:noAutofit/>
          </a:bodyPr>
          <a:lstStyle/>
          <a:p>
            <a:pPr marL="0" marR="0" indent="0" algn="just">
              <a:lnSpc>
                <a:spcPct val="115000"/>
              </a:lnSpc>
              <a:spcBef>
                <a:spcPts val="0"/>
              </a:spcBef>
              <a:spcAft>
                <a:spcPts val="1000"/>
              </a:spcAft>
              <a:buNone/>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Mass of soil used = (Q-P) g	</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Mass of dry soil = (R-P) g</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Mass of soil after heating to red hot = (S-P) g </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→Mass of humus in soil = mass of dry soil – mass of soil after heating to red hot</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=(R-P) g – (S-P) g</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(R-S) g</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3600" dirty="0"/>
          </a:p>
        </p:txBody>
      </p:sp>
    </p:spTree>
    <p:extLst>
      <p:ext uri="{BB962C8B-B14F-4D97-AF65-F5344CB8AC3E}">
        <p14:creationId xmlns:p14="http://schemas.microsoft.com/office/powerpoint/2010/main" val="24128473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741672D-A323-1DC7-E3B0-66C1C98707E3}"/>
                  </a:ext>
                </a:extLst>
              </p:cNvPr>
              <p:cNvSpPr>
                <a:spLocks noGrp="1"/>
              </p:cNvSpPr>
              <p:nvPr>
                <p:ph idx="1"/>
              </p:nvPr>
            </p:nvSpPr>
            <p:spPr>
              <a:xfrm>
                <a:off x="649357" y="556591"/>
                <a:ext cx="10478891" cy="5615609"/>
              </a:xfrm>
            </p:spPr>
            <p:txBody>
              <a:bodyPr>
                <a:normAutofit/>
              </a:bodyPr>
              <a:lstStyle/>
              <a:p>
                <a:pPr marL="0" marR="0" indent="0" algn="just">
                  <a:lnSpc>
                    <a:spcPct val="115000"/>
                  </a:lnSpc>
                  <a:spcBef>
                    <a:spcPts val="0"/>
                  </a:spcBef>
                  <a:spcAft>
                    <a:spcPts val="1000"/>
                  </a:spcAft>
                  <a:buNone/>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Percentage of humus in the sample =</a:t>
                </a:r>
              </a:p>
              <a:p>
                <a:pPr marL="0" marR="0" indent="0" algn="just">
                  <a:lnSpc>
                    <a:spcPct val="115000"/>
                  </a:lnSpc>
                  <a:spcBef>
                    <a:spcPts val="0"/>
                  </a:spcBef>
                  <a:spcAft>
                    <a:spcPts val="1000"/>
                  </a:spcAft>
                  <a:buNone/>
                </a:pPr>
                <a14:m>
                  <m:oMathPara xmlns:m="http://schemas.openxmlformats.org/officeDocument/2006/math">
                    <m:oMathParaPr>
                      <m:jc m:val="centerGroup"/>
                    </m:oMathParaPr>
                    <m:oMath xmlns:m="http://schemas.openxmlformats.org/officeDocument/2006/math">
                      <m:f>
                        <m:fPr>
                          <m:ctrlPr>
                            <a:rPr lang="en-US" sz="3200" i="1" smtClean="0">
                              <a:effectLst/>
                              <a:latin typeface="Cambria Math" panose="02040503050406030204" pitchFamily="18" charset="0"/>
                              <a:cs typeface="Times New Roman" panose="02020603050405020304" pitchFamily="18" charset="0"/>
                            </a:rPr>
                          </m:ctrlPr>
                        </m:fPr>
                        <m:num>
                          <m:r>
                            <a:rPr lang="en-US" sz="3200" b="0" i="1" smtClean="0">
                              <a:effectLst/>
                              <a:latin typeface="Cambria Math" panose="02040503050406030204" pitchFamily="18" charset="0"/>
                              <a:cs typeface="Times New Roman" panose="02020603050405020304" pitchFamily="18" charset="0"/>
                            </a:rPr>
                            <m:t>𝑀𝑎𝑠𝑠</m:t>
                          </m:r>
                          <m:r>
                            <a:rPr lang="en-US" sz="3200" b="0" i="1" smtClean="0">
                              <a:effectLst/>
                              <a:latin typeface="Cambria Math" panose="02040503050406030204" pitchFamily="18" charset="0"/>
                              <a:cs typeface="Times New Roman" panose="02020603050405020304" pitchFamily="18" charset="0"/>
                            </a:rPr>
                            <m:t> </m:t>
                          </m:r>
                          <m:r>
                            <a:rPr lang="en-US" sz="3200" b="0" i="1" smtClean="0">
                              <a:effectLst/>
                              <a:latin typeface="Cambria Math" panose="02040503050406030204" pitchFamily="18" charset="0"/>
                              <a:cs typeface="Times New Roman" panose="02020603050405020304" pitchFamily="18" charset="0"/>
                            </a:rPr>
                            <m:t>𝑜𝑓</m:t>
                          </m:r>
                          <m:r>
                            <a:rPr lang="en-US" sz="3200" b="0" i="1" smtClean="0">
                              <a:effectLst/>
                              <a:latin typeface="Cambria Math" panose="02040503050406030204" pitchFamily="18" charset="0"/>
                              <a:cs typeface="Times New Roman" panose="02020603050405020304" pitchFamily="18" charset="0"/>
                            </a:rPr>
                            <m:t> </m:t>
                          </m:r>
                          <m:r>
                            <a:rPr lang="en-US" sz="3200" b="0" i="1" smtClean="0">
                              <a:effectLst/>
                              <a:latin typeface="Cambria Math" panose="02040503050406030204" pitchFamily="18" charset="0"/>
                              <a:cs typeface="Times New Roman" panose="02020603050405020304" pitchFamily="18" charset="0"/>
                            </a:rPr>
                            <m:t>h𝑢𝑚𝑢𝑠</m:t>
                          </m:r>
                          <m:r>
                            <a:rPr lang="en-US" sz="3200" b="0" i="1" smtClean="0">
                              <a:effectLst/>
                              <a:latin typeface="Cambria Math" panose="02040503050406030204" pitchFamily="18" charset="0"/>
                              <a:cs typeface="Times New Roman" panose="02020603050405020304" pitchFamily="18" charset="0"/>
                            </a:rPr>
                            <m:t> </m:t>
                          </m:r>
                          <m:r>
                            <a:rPr lang="en-US" sz="3200" b="0" i="1" smtClean="0">
                              <a:effectLst/>
                              <a:latin typeface="Cambria Math" panose="02040503050406030204" pitchFamily="18" charset="0"/>
                              <a:cs typeface="Times New Roman" panose="02020603050405020304" pitchFamily="18" charset="0"/>
                            </a:rPr>
                            <m:t>𝑖𝑛</m:t>
                          </m:r>
                          <m:r>
                            <a:rPr lang="en-US" sz="3200" b="0" i="1" smtClean="0">
                              <a:effectLst/>
                              <a:latin typeface="Cambria Math" panose="02040503050406030204" pitchFamily="18" charset="0"/>
                              <a:cs typeface="Times New Roman" panose="02020603050405020304" pitchFamily="18" charset="0"/>
                            </a:rPr>
                            <m:t> </m:t>
                          </m:r>
                          <m:r>
                            <a:rPr lang="en-US" sz="3200" b="0" i="1" smtClean="0">
                              <a:effectLst/>
                              <a:latin typeface="Cambria Math" panose="02040503050406030204" pitchFamily="18" charset="0"/>
                              <a:cs typeface="Times New Roman" panose="02020603050405020304" pitchFamily="18" charset="0"/>
                            </a:rPr>
                            <m:t>𝑠𝑜𝑖𝑙</m:t>
                          </m:r>
                        </m:num>
                        <m:den>
                          <m:r>
                            <a:rPr lang="en-US" sz="3200" b="0" i="1" smtClean="0">
                              <a:effectLst/>
                              <a:latin typeface="Cambria Math" panose="02040503050406030204" pitchFamily="18" charset="0"/>
                              <a:cs typeface="Times New Roman" panose="02020603050405020304" pitchFamily="18" charset="0"/>
                            </a:rPr>
                            <m:t>𝑀𝑎𝑠𝑠</m:t>
                          </m:r>
                          <m:r>
                            <a:rPr lang="en-US" sz="3200" b="0" i="1" smtClean="0">
                              <a:effectLst/>
                              <a:latin typeface="Cambria Math" panose="02040503050406030204" pitchFamily="18" charset="0"/>
                              <a:cs typeface="Times New Roman" panose="02020603050405020304" pitchFamily="18" charset="0"/>
                            </a:rPr>
                            <m:t> </m:t>
                          </m:r>
                          <m:r>
                            <a:rPr lang="en-US" sz="3200" b="0" i="1" smtClean="0">
                              <a:effectLst/>
                              <a:latin typeface="Cambria Math" panose="02040503050406030204" pitchFamily="18" charset="0"/>
                              <a:cs typeface="Times New Roman" panose="02020603050405020304" pitchFamily="18" charset="0"/>
                            </a:rPr>
                            <m:t>𝑜𝑓</m:t>
                          </m:r>
                          <m:r>
                            <a:rPr lang="en-US" sz="3200" b="0" i="1" smtClean="0">
                              <a:effectLst/>
                              <a:latin typeface="Cambria Math" panose="02040503050406030204" pitchFamily="18" charset="0"/>
                              <a:cs typeface="Times New Roman" panose="02020603050405020304" pitchFamily="18" charset="0"/>
                            </a:rPr>
                            <m:t> </m:t>
                          </m:r>
                          <m:r>
                            <a:rPr lang="en-US" sz="3200" b="0" i="1" smtClean="0">
                              <a:effectLst/>
                              <a:latin typeface="Cambria Math" panose="02040503050406030204" pitchFamily="18" charset="0"/>
                              <a:cs typeface="Times New Roman" panose="02020603050405020304" pitchFamily="18" charset="0"/>
                            </a:rPr>
                            <m:t>𝑠𝑜𝑖𝑙</m:t>
                          </m:r>
                          <m:r>
                            <a:rPr lang="en-US" sz="3200" b="0" i="1" smtClean="0">
                              <a:effectLst/>
                              <a:latin typeface="Cambria Math" panose="02040503050406030204" pitchFamily="18" charset="0"/>
                              <a:cs typeface="Times New Roman" panose="02020603050405020304" pitchFamily="18" charset="0"/>
                            </a:rPr>
                            <m:t> </m:t>
                          </m:r>
                          <m:r>
                            <a:rPr lang="en-US" sz="3200" b="0" i="1" smtClean="0">
                              <a:effectLst/>
                              <a:latin typeface="Cambria Math" panose="02040503050406030204" pitchFamily="18" charset="0"/>
                              <a:cs typeface="Times New Roman" panose="02020603050405020304" pitchFamily="18" charset="0"/>
                            </a:rPr>
                            <m:t>𝑠𝑎𝑚𝑝𝑙𝑒</m:t>
                          </m:r>
                          <m:r>
                            <a:rPr lang="en-US" sz="3200" b="0" i="1" smtClean="0">
                              <a:effectLst/>
                              <a:latin typeface="Cambria Math" panose="02040503050406030204" pitchFamily="18" charset="0"/>
                              <a:cs typeface="Times New Roman" panose="02020603050405020304" pitchFamily="18" charset="0"/>
                            </a:rPr>
                            <m:t> </m:t>
                          </m:r>
                        </m:den>
                      </m:f>
                      <m:r>
                        <a:rPr lang="en-US" sz="3200" b="0" i="1" smtClean="0">
                          <a:effectLst/>
                          <a:latin typeface="Cambria Math" panose="02040503050406030204" pitchFamily="18" charset="0"/>
                          <a:cs typeface="Times New Roman" panose="02020603050405020304" pitchFamily="18" charset="0"/>
                        </a:rPr>
                        <m:t>𝑥</m:t>
                      </m:r>
                      <m:r>
                        <a:rPr lang="en-US" sz="3200" b="0" i="1" smtClean="0">
                          <a:effectLst/>
                          <a:latin typeface="Cambria Math" panose="02040503050406030204" pitchFamily="18" charset="0"/>
                          <a:cs typeface="Times New Roman" panose="02020603050405020304" pitchFamily="18" charset="0"/>
                        </a:rPr>
                        <m:t>100%</m:t>
                      </m:r>
                    </m:oMath>
                  </m:oMathPara>
                </a14:m>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u="sng" dirty="0">
                    <a:effectLst/>
                    <a:latin typeface="Times New Roman" panose="02020603050405020304" pitchFamily="18" charset="0"/>
                    <a:ea typeface="Calibri" panose="020F0502020204030204" pitchFamily="34" charset="0"/>
                    <a:cs typeface="Times New Roman" panose="02020603050405020304" pitchFamily="18" charset="0"/>
                  </a:rPr>
                  <a:t>(R-S) g ₓ100</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(Q-P) 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4741672D-A323-1DC7-E3B0-66C1C98707E3}"/>
                  </a:ext>
                </a:extLst>
              </p:cNvPr>
              <p:cNvSpPr>
                <a:spLocks noGrp="1" noRot="1" noChangeAspect="1" noMove="1" noResize="1" noEditPoints="1" noAdjustHandles="1" noChangeArrowheads="1" noChangeShapeType="1" noTextEdit="1"/>
              </p:cNvSpPr>
              <p:nvPr>
                <p:ph idx="1"/>
              </p:nvPr>
            </p:nvSpPr>
            <p:spPr>
              <a:xfrm>
                <a:off x="649357" y="556591"/>
                <a:ext cx="10478891" cy="5615609"/>
              </a:xfrm>
              <a:blipFill>
                <a:blip r:embed="rId2"/>
                <a:stretch>
                  <a:fillRect l="-1513" t="-976"/>
                </a:stretch>
              </a:blipFill>
            </p:spPr>
            <p:txBody>
              <a:bodyPr/>
              <a:lstStyle/>
              <a:p>
                <a:r>
                  <a:rPr lang="en-US">
                    <a:noFill/>
                  </a:rPr>
                  <a:t> </a:t>
                </a:r>
              </a:p>
            </p:txBody>
          </p:sp>
        </mc:Fallback>
      </mc:AlternateContent>
    </p:spTree>
    <p:extLst>
      <p:ext uri="{BB962C8B-B14F-4D97-AF65-F5344CB8AC3E}">
        <p14:creationId xmlns:p14="http://schemas.microsoft.com/office/powerpoint/2010/main" val="28334845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5AB033-ED92-555E-3D64-83354DAE575B}"/>
              </a:ext>
            </a:extLst>
          </p:cNvPr>
          <p:cNvSpPr>
            <a:spLocks noGrp="1"/>
          </p:cNvSpPr>
          <p:nvPr>
            <p:ph idx="1"/>
          </p:nvPr>
        </p:nvSpPr>
        <p:spPr>
          <a:xfrm>
            <a:off x="344557" y="159027"/>
            <a:ext cx="11714921" cy="6003234"/>
          </a:xfrm>
        </p:spPr>
        <p:txBody>
          <a:bodyPr>
            <a:normAutofit fontScale="92500" lnSpcReduction="20000"/>
          </a:bodyPr>
          <a:lstStyle/>
          <a:p>
            <a:pPr marL="0" marR="0" indent="0" algn="just">
              <a:lnSpc>
                <a:spcPct val="115000"/>
              </a:lnSpc>
              <a:spcBef>
                <a:spcPts val="0"/>
              </a:spcBef>
              <a:spcAft>
                <a:spcPts val="1000"/>
              </a:spcAft>
              <a:buNone/>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Examples</a:t>
            </a:r>
            <a:endParaRPr lang="en-US" sz="3200" b="1"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mj-lt"/>
              <a:buAutoNum type="arabicPeriod"/>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A pupil carried out an experiment about soil and obtained the following results: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Mass of crucible = 15g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Mass of crucible + fresh soil = </a:t>
            </a:r>
            <a:r>
              <a:rPr lang="en-US" sz="3200" dirty="0">
                <a:latin typeface="Times New Roman" panose="02020603050405020304" pitchFamily="18" charset="0"/>
                <a:ea typeface="Calibri" panose="020F0502020204030204" pitchFamily="34" charset="0"/>
                <a:cs typeface="Times New Roman" panose="02020603050405020304" pitchFamily="18" charset="0"/>
              </a:rPr>
              <a:t>35</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Mass of crucible + dry soil = </a:t>
            </a:r>
            <a:r>
              <a:rPr lang="en-US" sz="3200" dirty="0">
                <a:latin typeface="Times New Roman" panose="02020603050405020304" pitchFamily="18" charset="0"/>
                <a:ea typeface="Calibri" panose="020F0502020204030204" pitchFamily="34" charset="0"/>
                <a:cs typeface="Times New Roman" panose="02020603050405020304" pitchFamily="18" charset="0"/>
              </a:rPr>
              <a:t>30</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Mass of crucible + of soil after burning off humus (red hot) = </a:t>
            </a:r>
            <a:r>
              <a:rPr lang="en-US" sz="3200" dirty="0">
                <a:latin typeface="Times New Roman" panose="02020603050405020304" pitchFamily="18" charset="0"/>
                <a:ea typeface="Calibri" panose="020F0502020204030204" pitchFamily="34" charset="0"/>
                <a:cs typeface="Times New Roman" panose="02020603050405020304" pitchFamily="18" charset="0"/>
              </a:rPr>
              <a:t>28</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Calculate the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mj-lt"/>
              <a:buAutoNum type="romanLcParen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Mass of humus in the soil sample</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mj-lt"/>
              <a:buAutoNum type="romanLcParen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Percentage of humus in this soil sample.</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4282644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3C5978-2D9B-342B-FF74-37E0F59C3A53}"/>
              </a:ext>
            </a:extLst>
          </p:cNvPr>
          <p:cNvSpPr>
            <a:spLocks noGrp="1"/>
          </p:cNvSpPr>
          <p:nvPr>
            <p:ph idx="1"/>
          </p:nvPr>
        </p:nvSpPr>
        <p:spPr>
          <a:xfrm>
            <a:off x="318052" y="424069"/>
            <a:ext cx="11728174" cy="5950226"/>
          </a:xfrm>
        </p:spPr>
        <p:txBody>
          <a:bodyPr>
            <a:normAutofit/>
          </a:bodyPr>
          <a:lstStyle/>
          <a:p>
            <a:pPr marL="0" marR="0" indent="0" algn="just">
              <a:lnSpc>
                <a:spcPct val="115000"/>
              </a:lnSpc>
              <a:spcBef>
                <a:spcPts val="0"/>
              </a:spcBef>
              <a:spcAft>
                <a:spcPts val="1000"/>
              </a:spcAft>
              <a:buNone/>
            </a:pPr>
            <a:r>
              <a:rPr lang="en-US" sz="3200" dirty="0">
                <a:latin typeface="Times New Roman" panose="02020603050405020304" pitchFamily="18" charset="0"/>
                <a:ea typeface="Calibri" panose="020F0502020204030204" pitchFamily="34" charset="0"/>
                <a:cs typeface="Times New Roman" panose="02020603050405020304" pitchFamily="18" charset="0"/>
              </a:rPr>
              <a:t>2</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 soil sample weighing 120g was heated in an oven kept at 100</a:t>
            </a:r>
            <a:r>
              <a:rPr lang="en-US" sz="3200" baseline="30000" dirty="0">
                <a:effectLst/>
                <a:latin typeface="Times New Roman" panose="02020603050405020304" pitchFamily="18" charset="0"/>
                <a:ea typeface="Calibri" panose="020F0502020204030204" pitchFamily="34" charset="0"/>
                <a:cs typeface="Times New Roman" panose="02020603050405020304" pitchFamily="18" charset="0"/>
              </a:rPr>
              <a:t>o</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C. The dry soil weighed 112g. The soil was then </a:t>
            </a:r>
            <a:r>
              <a:rPr lang="en-US" sz="3200">
                <a:effectLst/>
                <a:latin typeface="Times New Roman" panose="02020603050405020304" pitchFamily="18" charset="0"/>
                <a:ea typeface="Calibri" panose="020F0502020204030204" pitchFamily="34" charset="0"/>
                <a:cs typeface="Times New Roman" panose="02020603050405020304" pitchFamily="18" charset="0"/>
              </a:rPr>
              <a:t>heated </a:t>
            </a:r>
            <a:r>
              <a:rPr lang="en-US" sz="3200">
                <a:latin typeface="Times New Roman" panose="02020603050405020304" pitchFamily="18" charset="0"/>
                <a:ea typeface="Calibri" panose="020F0502020204030204" pitchFamily="34" charset="0"/>
                <a:cs typeface="Times New Roman" panose="02020603050405020304" pitchFamily="18" charset="0"/>
              </a:rPr>
              <a:t>strong</a:t>
            </a:r>
            <a:r>
              <a:rPr lang="en-US" sz="3200">
                <a:effectLst/>
                <a:latin typeface="Times New Roman" panose="02020603050405020304" pitchFamily="18" charset="0"/>
                <a:ea typeface="Calibri" panose="020F0502020204030204" pitchFamily="34" charset="0"/>
                <a:cs typeface="Times New Roman" panose="02020603050405020304" pitchFamily="18" charset="0"/>
              </a:rPr>
              <a:t>ly </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to burn away humus. The weight of soil after all humus had burnt was 106g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a)   Why was the soil not heated strongly at first?</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b)   What was the weight of humus in the soil?</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c)     Calculate the percentage of humus in the soil.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d)   How many times was water more than humus?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3200" dirty="0"/>
          </a:p>
        </p:txBody>
      </p:sp>
    </p:spTree>
    <p:extLst>
      <p:ext uri="{BB962C8B-B14F-4D97-AF65-F5344CB8AC3E}">
        <p14:creationId xmlns:p14="http://schemas.microsoft.com/office/powerpoint/2010/main" val="31151575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33374F-1A33-670D-CDA5-74A8102B3552}"/>
              </a:ext>
            </a:extLst>
          </p:cNvPr>
          <p:cNvSpPr>
            <a:spLocks noGrp="1"/>
          </p:cNvSpPr>
          <p:nvPr>
            <p:ph idx="1"/>
          </p:nvPr>
        </p:nvSpPr>
        <p:spPr>
          <a:xfrm>
            <a:off x="914400" y="980661"/>
            <a:ext cx="10213848" cy="5191539"/>
          </a:xfrm>
        </p:spPr>
        <p:txBody>
          <a:bodyPr>
            <a:noAutofit/>
          </a:bodyPr>
          <a:lstStyle/>
          <a:p>
            <a:pPr marL="0" marR="0" indent="0" algn="just">
              <a:spcBef>
                <a:spcPts val="0"/>
              </a:spcBef>
              <a:spcAft>
                <a:spcPts val="0"/>
              </a:spcAft>
              <a:buNone/>
            </a:pPr>
            <a:r>
              <a:rPr lang="en-US" sz="3200" b="1" dirty="0">
                <a:effectLst/>
                <a:latin typeface="Times New Roman" panose="02020603050405020304" pitchFamily="18" charset="0"/>
                <a:ea typeface="Calibri" panose="020F0502020204030204" pitchFamily="34" charset="0"/>
              </a:rPr>
              <a:t>Solution: </a:t>
            </a:r>
            <a:endParaRPr lang="en-US" sz="3200" dirty="0">
              <a:effectLst/>
              <a:latin typeface="Times New Roman" panose="02020603050405020304" pitchFamily="18" charset="0"/>
              <a:ea typeface="Calibri" panose="020F0502020204030204" pitchFamily="34" charset="0"/>
            </a:endParaRPr>
          </a:p>
          <a:p>
            <a:pPr marL="0" marR="0" indent="0" algn="just">
              <a:spcBef>
                <a:spcPts val="0"/>
              </a:spcBef>
              <a:spcAft>
                <a:spcPts val="0"/>
              </a:spcAft>
              <a:buNone/>
            </a:pPr>
            <a:r>
              <a:rPr lang="en-US" sz="3200" dirty="0">
                <a:effectLst/>
                <a:latin typeface="Times New Roman" panose="02020603050405020304" pitchFamily="18" charset="0"/>
                <a:ea typeface="Calibri" panose="020F0502020204030204" pitchFamily="34" charset="0"/>
              </a:rPr>
              <a:t>a) To dry the soil without losing the humus in it.</a:t>
            </a:r>
          </a:p>
          <a:p>
            <a:pPr marL="0" marR="0" indent="0" algn="just">
              <a:spcBef>
                <a:spcPts val="0"/>
              </a:spcBef>
              <a:spcAft>
                <a:spcPts val="0"/>
              </a:spcAft>
              <a:buNone/>
            </a:pPr>
            <a:r>
              <a:rPr lang="en-US" sz="3200" dirty="0">
                <a:effectLst/>
                <a:latin typeface="Times New Roman" panose="02020603050405020304" pitchFamily="18" charset="0"/>
                <a:ea typeface="Calibri" panose="020F0502020204030204" pitchFamily="34" charset="0"/>
              </a:rPr>
              <a:t>b) Weight of soil after burning humus = 106g </a:t>
            </a:r>
          </a:p>
          <a:p>
            <a:pPr marL="0" marR="0" indent="0" algn="just">
              <a:spcBef>
                <a:spcPts val="0"/>
              </a:spcBef>
              <a:spcAft>
                <a:spcPts val="0"/>
              </a:spcAft>
              <a:buNone/>
            </a:pPr>
            <a:r>
              <a:rPr lang="en-US" sz="3200" dirty="0">
                <a:effectLst/>
                <a:latin typeface="Times New Roman" panose="02020603050405020304" pitchFamily="18" charset="0"/>
                <a:ea typeface="Calibri" panose="020F0502020204030204" pitchFamily="34" charset="0"/>
              </a:rPr>
              <a:t>Weight of dry soil = 112g </a:t>
            </a:r>
          </a:p>
          <a:p>
            <a:pPr marL="0" marR="0" indent="0" algn="just">
              <a:spcBef>
                <a:spcPts val="0"/>
              </a:spcBef>
              <a:spcAft>
                <a:spcPts val="0"/>
              </a:spcAft>
              <a:buNone/>
            </a:pPr>
            <a:r>
              <a:rPr lang="en-US" sz="3200" dirty="0">
                <a:effectLst/>
                <a:latin typeface="Times New Roman" panose="02020603050405020304" pitchFamily="18" charset="0"/>
                <a:ea typeface="Calibri" panose="020F0502020204030204" pitchFamily="34" charset="0"/>
              </a:rPr>
              <a:t>Weight of humus = (112 – 106)  = 6 g </a:t>
            </a:r>
          </a:p>
          <a:p>
            <a:pPr marL="0" marR="0" indent="0" algn="just">
              <a:spcBef>
                <a:spcPts val="0"/>
              </a:spcBef>
              <a:spcAft>
                <a:spcPts val="0"/>
              </a:spcAft>
              <a:buNone/>
            </a:pPr>
            <a:r>
              <a:rPr lang="en-US" sz="3200" dirty="0">
                <a:effectLst/>
                <a:latin typeface="Times New Roman" panose="02020603050405020304" pitchFamily="18" charset="0"/>
                <a:ea typeface="Calibri" panose="020F0502020204030204" pitchFamily="34" charset="0"/>
              </a:rPr>
              <a:t>c) Percentage of humus = </a:t>
            </a:r>
            <a:r>
              <a:rPr lang="en-US" sz="3200" u="sng" dirty="0">
                <a:effectLst/>
                <a:latin typeface="Times New Roman" panose="02020603050405020304" pitchFamily="18" charset="0"/>
                <a:ea typeface="Calibri" panose="020F0502020204030204" pitchFamily="34" charset="0"/>
              </a:rPr>
              <a:t>6 × 100</a:t>
            </a:r>
            <a:r>
              <a:rPr lang="en-US" sz="3200" dirty="0">
                <a:effectLst/>
                <a:latin typeface="Times New Roman" panose="02020603050405020304" pitchFamily="18" charset="0"/>
                <a:ea typeface="Calibri" panose="020F0502020204030204" pitchFamily="34" charset="0"/>
              </a:rPr>
              <a:t> </a:t>
            </a:r>
          </a:p>
          <a:p>
            <a:pPr marL="0" marR="0" indent="0" algn="just">
              <a:spcBef>
                <a:spcPts val="0"/>
              </a:spcBef>
              <a:spcAft>
                <a:spcPts val="0"/>
              </a:spcAft>
              <a:buNone/>
            </a:pPr>
            <a:r>
              <a:rPr lang="en-US" sz="3200" dirty="0">
                <a:effectLst/>
                <a:latin typeface="Times New Roman" panose="02020603050405020304" pitchFamily="18" charset="0"/>
                <a:ea typeface="Calibri" panose="020F0502020204030204" pitchFamily="34" charset="0"/>
              </a:rPr>
              <a:t>                                             120 </a:t>
            </a:r>
          </a:p>
          <a:p>
            <a:pPr marL="0" marR="0" indent="0" algn="just">
              <a:lnSpc>
                <a:spcPct val="115000"/>
              </a:lnSpc>
              <a:spcBef>
                <a:spcPts val="0"/>
              </a:spcBef>
              <a:spcAft>
                <a:spcPts val="1000"/>
              </a:spcAft>
              <a:buNone/>
            </a:pPr>
            <a:r>
              <a:rPr lang="en-US" sz="3200" dirty="0">
                <a:effectLst/>
                <a:latin typeface="Calibri" panose="020F0502020204030204" pitchFamily="34" charset="0"/>
                <a:ea typeface="Calibri" panose="020F0502020204030204" pitchFamily="34" charset="0"/>
                <a:cs typeface="Times New Roman" panose="02020603050405020304" pitchFamily="18" charset="0"/>
              </a:rPr>
              <a:t>                                                = 5%</a:t>
            </a:r>
          </a:p>
          <a:p>
            <a:pPr algn="just"/>
            <a:endParaRPr lang="en-US" sz="3200" dirty="0"/>
          </a:p>
        </p:txBody>
      </p:sp>
    </p:spTree>
    <p:extLst>
      <p:ext uri="{BB962C8B-B14F-4D97-AF65-F5344CB8AC3E}">
        <p14:creationId xmlns:p14="http://schemas.microsoft.com/office/powerpoint/2010/main" val="233672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12EDB-9798-027B-8103-F20A28F9B70B}"/>
              </a:ext>
            </a:extLst>
          </p:cNvPr>
          <p:cNvSpPr>
            <a:spLocks noGrp="1"/>
          </p:cNvSpPr>
          <p:nvPr>
            <p:ph type="title"/>
          </p:nvPr>
        </p:nvSpPr>
        <p:spPr>
          <a:xfrm>
            <a:off x="731394" y="-79512"/>
            <a:ext cx="10181771" cy="1204686"/>
          </a:xfrm>
        </p:spPr>
        <p:txBody>
          <a:bodyPr/>
          <a:lstStyle/>
          <a:p>
            <a:pPr algn="ctr"/>
            <a:r>
              <a:rPr lang="en-US" u="sng" dirty="0"/>
              <a:t>Soil organisms</a:t>
            </a:r>
          </a:p>
        </p:txBody>
      </p:sp>
      <p:sp>
        <p:nvSpPr>
          <p:cNvPr id="3" name="Content Placeholder 2">
            <a:extLst>
              <a:ext uri="{FF2B5EF4-FFF2-40B4-BE49-F238E27FC236}">
                <a16:creationId xmlns:a16="http://schemas.microsoft.com/office/drawing/2014/main" id="{A74EE329-C36B-BA9E-1DDE-25897E1F4EB6}"/>
              </a:ext>
            </a:extLst>
          </p:cNvPr>
          <p:cNvSpPr>
            <a:spLocks noGrp="1"/>
          </p:cNvSpPr>
          <p:nvPr>
            <p:ph idx="1"/>
          </p:nvPr>
        </p:nvSpPr>
        <p:spPr>
          <a:xfrm>
            <a:off x="0" y="422808"/>
            <a:ext cx="12192000" cy="5471885"/>
          </a:xfrm>
        </p:spPr>
        <p:txBody>
          <a:bodyPr>
            <a:noAutofit/>
          </a:bodyPr>
          <a:lstStyle/>
          <a:p>
            <a:pPr marL="342900" marR="0" lvl="0" indent="-342900" algn="just">
              <a:lnSpc>
                <a:spcPct val="115000"/>
              </a:lnSpc>
              <a:spcBef>
                <a:spcPts val="0"/>
              </a:spcBef>
              <a:spcAft>
                <a:spcPts val="1000"/>
              </a:spcAft>
              <a:buFont typeface="Calibri" panose="020F0502020204030204" pitchFamily="34" charset="0"/>
              <a:buChar char="-"/>
            </a:pPr>
            <a:r>
              <a:rPr lang="en-US" sz="3200" dirty="0">
                <a:latin typeface="Times New Roman" panose="02020603050405020304" pitchFamily="18" charset="0"/>
                <a:ea typeface="Calibri" panose="020F0502020204030204" pitchFamily="34" charset="0"/>
                <a:cs typeface="Times New Roman" panose="02020603050405020304" pitchFamily="18" charset="0"/>
              </a:rPr>
              <a:t>They are: </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microorganisms</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e.g. bacteria and fungi, and </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macro organisms</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e.g. rodents, nematodes, termites, ants, beetles, earthworms</a:t>
            </a:r>
            <a:r>
              <a:rPr lang="en-US" sz="3200" dirty="0">
                <a:latin typeface="Times New Roman" panose="02020603050405020304" pitchFamily="18" charset="0"/>
                <a:ea typeface="Calibri" panose="020F0502020204030204" pitchFamily="34" charset="0"/>
                <a:cs typeface="Times New Roman" panose="02020603050405020304" pitchFamily="18" charset="0"/>
              </a:rPr>
              <a:t>, etc</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marR="0" lvl="0" indent="0" algn="just">
              <a:lnSpc>
                <a:spcPct val="115000"/>
              </a:lnSpc>
              <a:spcBef>
                <a:spcPts val="0"/>
              </a:spcBef>
              <a:spcAft>
                <a:spcPts val="1000"/>
              </a:spcAft>
              <a:buNone/>
            </a:pPr>
            <a:r>
              <a:rPr lang="en-US" sz="3200" b="1" u="sng" dirty="0">
                <a:effectLst/>
                <a:latin typeface="Times New Roman" panose="02020603050405020304" pitchFamily="18" charset="0"/>
                <a:ea typeface="Calibri" panose="020F0502020204030204" pitchFamily="34" charset="0"/>
                <a:cs typeface="Times New Roman" panose="02020603050405020304" pitchFamily="18" charset="0"/>
              </a:rPr>
              <a:t>Importance of living organisms in the soil</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Bacteria and fungi break down /decompose dead organic matter.</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Bacteria like Rhizobium fix atmospheric nitrogen into the soil.</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Macro organisms improve soil aeration and drainage by burrowing into the soil.</a:t>
            </a: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Macro organisms mix soil components together.</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Die and decompose to add humus in soil</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Their wastes add manure to soil</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3200" dirty="0"/>
          </a:p>
        </p:txBody>
      </p:sp>
    </p:spTree>
    <p:extLst>
      <p:ext uri="{BB962C8B-B14F-4D97-AF65-F5344CB8AC3E}">
        <p14:creationId xmlns:p14="http://schemas.microsoft.com/office/powerpoint/2010/main" val="24031628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A76797-0B48-7A7A-0014-00FE854A7C1C}"/>
              </a:ext>
            </a:extLst>
          </p:cNvPr>
          <p:cNvSpPr>
            <a:spLocks noGrp="1"/>
          </p:cNvSpPr>
          <p:nvPr>
            <p:ph idx="1"/>
          </p:nvPr>
        </p:nvSpPr>
        <p:spPr>
          <a:xfrm>
            <a:off x="420913" y="159657"/>
            <a:ext cx="11234057" cy="6299200"/>
          </a:xfrm>
        </p:spPr>
        <p:txBody>
          <a:bodyPr>
            <a:normAutofit fontScale="92500" lnSpcReduction="10000"/>
          </a:bodyPr>
          <a:lstStyle/>
          <a:p>
            <a:pPr marL="0" marR="0" indent="0">
              <a:lnSpc>
                <a:spcPct val="115000"/>
              </a:lnSpc>
              <a:spcBef>
                <a:spcPts val="0"/>
              </a:spcBef>
              <a:spcAft>
                <a:spcPts val="1000"/>
              </a:spcAft>
              <a:buNone/>
            </a:pPr>
            <a:r>
              <a:rPr lang="en-US" sz="3500" b="1" dirty="0">
                <a:effectLst/>
                <a:latin typeface="Calibri" panose="020F0502020204030204" pitchFamily="34" charset="0"/>
                <a:ea typeface="Calibri" panose="020F0502020204030204" pitchFamily="34" charset="0"/>
                <a:cs typeface="Times New Roman" panose="02020603050405020304" pitchFamily="18" charset="0"/>
              </a:rPr>
              <a:t>Activity: Investigating the presence of microorganisms in soil.</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1000"/>
              </a:spcAft>
              <a:buNone/>
            </a:pPr>
            <a:r>
              <a:rPr lang="en-US" sz="3500" b="1" dirty="0">
                <a:effectLst/>
                <a:latin typeface="Calibri" panose="020F0502020204030204" pitchFamily="34" charset="0"/>
                <a:ea typeface="Calibri" panose="020F0502020204030204" pitchFamily="34" charset="0"/>
                <a:cs typeface="Times New Roman" panose="02020603050405020304" pitchFamily="18" charset="0"/>
              </a:rPr>
              <a:t>Aim: to investigate the presence of living organisms in the soil.</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pPr marL="274320" marR="0" indent="0" algn="just">
              <a:lnSpc>
                <a:spcPct val="115000"/>
              </a:lnSpc>
              <a:spcBef>
                <a:spcPts val="0"/>
              </a:spcBef>
              <a:spcAft>
                <a:spcPts val="0"/>
              </a:spcAft>
              <a:buNone/>
            </a:pPr>
            <a:r>
              <a:rPr lang="en-US" sz="3500" u="sng" dirty="0">
                <a:effectLst/>
                <a:latin typeface="Times New Roman" panose="02020603050405020304" pitchFamily="18" charset="0"/>
                <a:ea typeface="Calibri" panose="020F0502020204030204" pitchFamily="34" charset="0"/>
                <a:cs typeface="Times New Roman" panose="02020603050405020304" pitchFamily="18" charset="0"/>
              </a:rPr>
              <a:t>Apparatus / material used. </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Calibri" panose="020F0502020204030204" pitchFamily="34" charset="0"/>
              <a:buChar char="-"/>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2 mesh bags (muslin bags).              - 2 conical flasks / test tubes.</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Calibri" panose="020F0502020204030204" pitchFamily="34" charset="0"/>
              <a:buChar char="-"/>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Crucible                                   </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Calibri" panose="020F0502020204030204" pitchFamily="34" charset="0"/>
              <a:buChar char="-"/>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2 threads.</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Calibri" panose="020F0502020204030204" pitchFamily="34" charset="0"/>
              <a:buChar char="-"/>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Lime water (Calcium hydroxide solution) or bicarbonate indicator.                </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Calibri" panose="020F0502020204030204" pitchFamily="34" charset="0"/>
              <a:buChar char="-"/>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 2 corks.</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Calibri" panose="020F0502020204030204" pitchFamily="34" charset="0"/>
              <a:buChar char="-"/>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 Soil sample (top soil)             </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Calibri" panose="020F0502020204030204" pitchFamily="34" charset="0"/>
              <a:buChar char="-"/>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a Bunsen burner.      </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5936085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9074E3-99CE-6801-4F27-7BE3D83D8A81}"/>
              </a:ext>
            </a:extLst>
          </p:cNvPr>
          <p:cNvSpPr>
            <a:spLocks noGrp="1"/>
          </p:cNvSpPr>
          <p:nvPr>
            <p:ph idx="1"/>
          </p:nvPr>
        </p:nvSpPr>
        <p:spPr>
          <a:xfrm>
            <a:off x="0" y="0"/>
            <a:ext cx="12191999" cy="6857999"/>
          </a:xfrm>
        </p:spPr>
        <p:txBody>
          <a:bodyPr>
            <a:noAutofit/>
          </a:bodyPr>
          <a:lstStyle/>
          <a:p>
            <a:pPr marL="274320" marR="0" indent="0" algn="just">
              <a:lnSpc>
                <a:spcPct val="115000"/>
              </a:lnSpc>
              <a:spcBef>
                <a:spcPts val="0"/>
              </a:spcBef>
              <a:spcAft>
                <a:spcPts val="0"/>
              </a:spcAft>
              <a:buNone/>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Procedure</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Collect fresh top soil from the garden and divide it into 2 equal parts.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latin typeface="Times New Roman" panose="02020603050405020304" pitchFamily="18" charset="0"/>
                <a:ea typeface="Calibri" panose="020F0502020204030204" pitchFamily="34" charset="0"/>
                <a:cs typeface="Times New Roman" panose="02020603050405020304" pitchFamily="18" charset="0"/>
              </a:rPr>
              <a:t>Heat</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one portion of the soil sample strongly in a crucible for 10 minutes. </a:t>
            </a: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Leave it to cool and tie it in a muslin bag using a piece of thread.</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latin typeface="Times New Roman" panose="02020603050405020304" pitchFamily="18" charset="0"/>
                <a:ea typeface="Calibri" panose="020F0502020204030204" pitchFamily="34" charset="0"/>
                <a:cs typeface="Times New Roman" panose="02020603050405020304" pitchFamily="18" charset="0"/>
              </a:rPr>
              <a:t>Tie</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the remaining portion of the fresh soil sample in another muslin bag.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Add equal amounts of lime water or bicarbonate indicator in the two </a:t>
            </a:r>
            <a:r>
              <a:rPr lang="en-US" sz="3200" dirty="0">
                <a:latin typeface="Times New Roman" panose="02020603050405020304" pitchFamily="18" charset="0"/>
                <a:ea typeface="Calibri" panose="020F0502020204030204" pitchFamily="34" charset="0"/>
                <a:cs typeface="Times New Roman" panose="02020603050405020304" pitchFamily="18" charset="0"/>
              </a:rPr>
              <a:t>conical flasks</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and then suspend the muslin bags with soil in the conical flasks as shown in the set up below.</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Allow the </a:t>
            </a:r>
            <a:r>
              <a:rPr lang="en-US" sz="3200" dirty="0">
                <a:latin typeface="Times New Roman" panose="02020603050405020304" pitchFamily="18" charset="0"/>
                <a:ea typeface="Calibri" panose="020F0502020204030204" pitchFamily="34" charset="0"/>
                <a:cs typeface="Times New Roman" panose="02020603050405020304" pitchFamily="18" charset="0"/>
              </a:rPr>
              <a:t>conical flasks</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to stand for 3 hours and observe the appearance of lime water or bicarbonate.</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3200" dirty="0"/>
          </a:p>
        </p:txBody>
      </p:sp>
    </p:spTree>
    <p:extLst>
      <p:ext uri="{BB962C8B-B14F-4D97-AF65-F5344CB8AC3E}">
        <p14:creationId xmlns:p14="http://schemas.microsoft.com/office/powerpoint/2010/main" val="36624798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89B497F2-8B4D-9A0D-C748-E89BDA2898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324" y="162643"/>
            <a:ext cx="11795351" cy="6492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37311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A50D6D-B3F1-1BF3-81BF-8584100F58E0}"/>
              </a:ext>
            </a:extLst>
          </p:cNvPr>
          <p:cNvSpPr>
            <a:spLocks noGrp="1"/>
          </p:cNvSpPr>
          <p:nvPr>
            <p:ph idx="1"/>
          </p:nvPr>
        </p:nvSpPr>
        <p:spPr>
          <a:xfrm>
            <a:off x="420914" y="130629"/>
            <a:ext cx="11567886" cy="6371771"/>
          </a:xfrm>
        </p:spPr>
        <p:txBody>
          <a:bodyPr>
            <a:noAutofit/>
          </a:bodyPr>
          <a:lstStyle/>
          <a:p>
            <a:pPr marL="457200" marR="0" algn="just">
              <a:lnSpc>
                <a:spcPct val="115000"/>
              </a:lnSpc>
              <a:spcBef>
                <a:spcPts val="0"/>
              </a:spcBef>
              <a:spcAft>
                <a:spcPts val="0"/>
              </a:spcAft>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Observation</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The lime water in flask A with fresh soil turns milky (or the bicarbonate indicator solution turns yellow ), while that in B with heated or baked soil remains </a:t>
            </a:r>
            <a:r>
              <a:rPr lang="en-US" sz="2800" dirty="0" err="1">
                <a:effectLst/>
                <a:latin typeface="Times New Roman" panose="02020603050405020304" pitchFamily="18" charset="0"/>
                <a:ea typeface="Calibri" panose="020F0502020204030204" pitchFamily="34" charset="0"/>
                <a:cs typeface="Times New Roman" panose="02020603050405020304" pitchFamily="18" charset="0"/>
              </a:rPr>
              <a:t>colourless</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15000"/>
              </a:lnSpc>
              <a:spcBef>
                <a:spcPts val="0"/>
              </a:spcBef>
              <a:spcAft>
                <a:spcPts val="0"/>
              </a:spcAft>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Fresh soil contains living organisms.</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15000"/>
              </a:lnSpc>
              <a:spcBef>
                <a:spcPts val="0"/>
              </a:spcBef>
              <a:spcAft>
                <a:spcPts val="0"/>
              </a:spcAft>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Explanation</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Lime water in flask A turned milky because presence of carbon dioxide produced by organisms during respiration.</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Lime water in flask B remained </a:t>
            </a:r>
            <a:r>
              <a:rPr lang="en-US" sz="2800" dirty="0" err="1">
                <a:effectLst/>
                <a:latin typeface="Times New Roman" panose="02020603050405020304" pitchFamily="18" charset="0"/>
                <a:ea typeface="Calibri" panose="020F0502020204030204" pitchFamily="34" charset="0"/>
                <a:cs typeface="Times New Roman" panose="02020603050405020304" pitchFamily="18" charset="0"/>
              </a:rPr>
              <a:t>colourless</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because living organisms are absent since they were killed during heating and therefore, no respiration took place.</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800" dirty="0"/>
          </a:p>
        </p:txBody>
      </p:sp>
    </p:spTree>
    <p:extLst>
      <p:ext uri="{BB962C8B-B14F-4D97-AF65-F5344CB8AC3E}">
        <p14:creationId xmlns:p14="http://schemas.microsoft.com/office/powerpoint/2010/main" val="21182660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66600-3C8F-1626-C112-0BCCB028D889}"/>
              </a:ext>
            </a:extLst>
          </p:cNvPr>
          <p:cNvSpPr>
            <a:spLocks noGrp="1"/>
          </p:cNvSpPr>
          <p:nvPr>
            <p:ph type="title"/>
          </p:nvPr>
        </p:nvSpPr>
        <p:spPr>
          <a:xfrm>
            <a:off x="1068904" y="195943"/>
            <a:ext cx="10054191" cy="812800"/>
          </a:xfrm>
        </p:spPr>
        <p:txBody>
          <a:bodyPr>
            <a:normAutofit fontScale="90000"/>
          </a:bodyPr>
          <a:lstStyle/>
          <a:p>
            <a:pPr algn="ctr"/>
            <a:r>
              <a:rPr lang="en-US" sz="3200" dirty="0"/>
              <a:t>PROPERTIES/CHARACTERISTICS OF SOIL</a:t>
            </a:r>
            <a:br>
              <a:rPr lang="en-US" sz="3200" dirty="0"/>
            </a:br>
            <a:endParaRPr lang="en-US" sz="3200" dirty="0"/>
          </a:p>
        </p:txBody>
      </p:sp>
      <p:sp>
        <p:nvSpPr>
          <p:cNvPr id="3" name="Content Placeholder 2">
            <a:extLst>
              <a:ext uri="{FF2B5EF4-FFF2-40B4-BE49-F238E27FC236}">
                <a16:creationId xmlns:a16="http://schemas.microsoft.com/office/drawing/2014/main" id="{215A32A9-7218-D997-26D2-2EDA2334C247}"/>
              </a:ext>
            </a:extLst>
          </p:cNvPr>
          <p:cNvSpPr>
            <a:spLocks noGrp="1"/>
          </p:cNvSpPr>
          <p:nvPr>
            <p:ph idx="1"/>
          </p:nvPr>
        </p:nvSpPr>
        <p:spPr>
          <a:xfrm>
            <a:off x="130629" y="653143"/>
            <a:ext cx="11887201" cy="6008914"/>
          </a:xfrm>
        </p:spPr>
        <p:txBody>
          <a:bodyPr>
            <a:noAutofit/>
          </a:bodyPr>
          <a:lstStyle/>
          <a:p>
            <a:pPr marL="514350" indent="-514350">
              <a:buAutoNum type="alphaLcParenBoth"/>
            </a:pPr>
            <a:r>
              <a:rPr lang="en-US" sz="3200" b="1" u="sng" dirty="0">
                <a:latin typeface="Times New Roman" panose="02020603050405020304" pitchFamily="18" charset="0"/>
                <a:cs typeface="Times New Roman" panose="02020603050405020304" pitchFamily="18" charset="0"/>
              </a:rPr>
              <a:t>Physical properties of soil</a:t>
            </a:r>
          </a:p>
          <a:p>
            <a:pPr marL="0" marR="0">
              <a:lnSpc>
                <a:spcPct val="115000"/>
              </a:lnSpc>
              <a:spcBef>
                <a:spcPts val="0"/>
              </a:spcBef>
              <a:spcAft>
                <a:spcPts val="1000"/>
              </a:spcAft>
            </a:pPr>
            <a:r>
              <a:rPr lang="en-US" sz="3200" b="1" u="sng" dirty="0">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Soil color</a:t>
            </a:r>
          </a:p>
          <a:p>
            <a:pPr marR="0">
              <a:lnSpc>
                <a:spcPct val="115000"/>
              </a:lnSpc>
              <a:spcBef>
                <a:spcPts val="0"/>
              </a:spcBef>
              <a:spcAft>
                <a:spcPts val="1000"/>
              </a:spcAft>
              <a:buFont typeface="Calibri" panose="020F0502020204030204" pitchFamily="34" charset="0"/>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It is determined by the mineral present and humus: e.g</a:t>
            </a:r>
            <a:r>
              <a:rPr lang="en-US" sz="3200" dirty="0">
                <a:latin typeface="Times New Roman" panose="02020603050405020304" pitchFamily="18" charset="0"/>
                <a:ea typeface="Calibri" panose="020F0502020204030204" pitchFamily="34" charset="0"/>
                <a:cs typeface="Times New Roman" panose="02020603050405020304" pitchFamily="18" charset="0"/>
              </a:rPr>
              <a:t>.</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black is from humus, red from iron and aluminum oxide, and white from silicates.</a:t>
            </a:r>
          </a:p>
          <a:p>
            <a:pPr marL="0" marR="0">
              <a:lnSpc>
                <a:spcPct val="115000"/>
              </a:lnSpc>
              <a:spcBef>
                <a:spcPts val="0"/>
              </a:spcBef>
              <a:spcAft>
                <a:spcPts val="1000"/>
              </a:spcAft>
            </a:pPr>
            <a:r>
              <a:rPr lang="en-US" sz="3200" b="1" u="sng" dirty="0">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Soil particle size</a:t>
            </a:r>
          </a:p>
          <a:p>
            <a:pPr>
              <a:lnSpc>
                <a:spcPct val="115000"/>
              </a:lnSpc>
              <a:spcBef>
                <a:spcPts val="0"/>
              </a:spcBef>
              <a:spcAft>
                <a:spcPts val="1000"/>
              </a:spcAft>
              <a:buFont typeface="Calibri" panose="020F0502020204030204" pitchFamily="34" charset="0"/>
              <a:buChar char="⁻"/>
            </a:pPr>
            <a:r>
              <a:rPr lang="en-US" sz="3200" dirty="0">
                <a:latin typeface="Times New Roman" panose="02020603050405020304" pitchFamily="18" charset="0"/>
                <a:ea typeface="Calibri" panose="020F0502020204030204" pitchFamily="34" charset="0"/>
                <a:cs typeface="Times New Roman" panose="02020603050405020304" pitchFamily="18" charset="0"/>
              </a:rPr>
              <a:t>R</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ock particles are divided into varying sizes during weathering.</a:t>
            </a:r>
          </a:p>
          <a:p>
            <a:pPr>
              <a:lnSpc>
                <a:spcPct val="115000"/>
              </a:lnSpc>
              <a:spcBef>
                <a:spcPts val="0"/>
              </a:spcBef>
              <a:spcAft>
                <a:spcPts val="1000"/>
              </a:spcAft>
              <a:buFont typeface="Calibri" panose="020F0502020204030204" pitchFamily="34" charset="0"/>
              <a:buChar char="⁻"/>
            </a:pPr>
            <a:r>
              <a:rPr lang="en-US" sz="3200" dirty="0">
                <a:latin typeface="Times New Roman" panose="02020603050405020304" pitchFamily="18" charset="0"/>
                <a:ea typeface="Calibri" panose="020F0502020204030204" pitchFamily="34" charset="0"/>
                <a:cs typeface="Times New Roman" panose="02020603050405020304" pitchFamily="18" charset="0"/>
              </a:rPr>
              <a:t>This affects other properties like aeration, drainage, </a:t>
            </a:r>
            <a:r>
              <a:rPr lang="en-US" sz="3200" dirty="0" err="1">
                <a:latin typeface="Times New Roman" panose="02020603050405020304" pitchFamily="18" charset="0"/>
                <a:ea typeface="Calibri" panose="020F0502020204030204" pitchFamily="34" charset="0"/>
                <a:cs typeface="Times New Roman" panose="02020603050405020304" pitchFamily="18" charset="0"/>
              </a:rPr>
              <a:t>e.t.c</a:t>
            </a:r>
            <a:r>
              <a:rPr lang="en-US" sz="3200" dirty="0">
                <a:latin typeface="Times New Roman" panose="02020603050405020304" pitchFamily="18" charset="0"/>
                <a:ea typeface="Calibri" panose="020F0502020204030204" pitchFamily="34" charset="0"/>
                <a:cs typeface="Times New Roman" panose="02020603050405020304" pitchFamily="18" charset="0"/>
              </a:rPr>
              <a:t>.</a:t>
            </a:r>
          </a:p>
          <a:p>
            <a:pPr>
              <a:lnSpc>
                <a:spcPct val="115000"/>
              </a:lnSpc>
              <a:spcBef>
                <a:spcPts val="0"/>
              </a:spcBef>
              <a:spcAft>
                <a:spcPts val="1000"/>
              </a:spcAft>
              <a:buFont typeface="Calibri" panose="020F0502020204030204" pitchFamily="34" charset="0"/>
              <a:buChar char="⁻"/>
            </a:pP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3200" dirty="0"/>
          </a:p>
        </p:txBody>
      </p:sp>
    </p:spTree>
    <p:extLst>
      <p:ext uri="{BB962C8B-B14F-4D97-AF65-F5344CB8AC3E}">
        <p14:creationId xmlns:p14="http://schemas.microsoft.com/office/powerpoint/2010/main" val="18047261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186106-448F-960E-6238-92AB1C1C1604}"/>
              </a:ext>
            </a:extLst>
          </p:cNvPr>
          <p:cNvSpPr>
            <a:spLocks noGrp="1"/>
          </p:cNvSpPr>
          <p:nvPr>
            <p:ph idx="1"/>
          </p:nvPr>
        </p:nvSpPr>
        <p:spPr>
          <a:xfrm>
            <a:off x="101601" y="191006"/>
            <a:ext cx="11894456" cy="6666993"/>
          </a:xfrm>
        </p:spPr>
        <p:txBody>
          <a:bodyPr>
            <a:noAutofit/>
          </a:bodyPr>
          <a:lstStyle/>
          <a:p>
            <a:pPr marL="0" marR="0" algn="just">
              <a:lnSpc>
                <a:spcPct val="115000"/>
              </a:lnSpc>
              <a:spcBef>
                <a:spcPts val="0"/>
              </a:spcBef>
              <a:spcAft>
                <a:spcPts val="0"/>
              </a:spcAft>
            </a:pPr>
            <a:r>
              <a:rPr lang="en-US" sz="2800" b="1" u="sng" dirty="0">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Soil texture</a:t>
            </a:r>
            <a:endParaRPr lang="en-US" sz="2800" b="1" u="sng"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It is the smoothness or roughness of soil.</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It is determined by the relative percentage of each particle size in a soil.</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Clay soil feels smooth because of the small particles.</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Sandy soil feels rough because of the big particles.</a:t>
            </a:r>
          </a:p>
          <a:p>
            <a:pPr marL="228600" marR="0" algn="just">
              <a:lnSpc>
                <a:spcPct val="115000"/>
              </a:lnSpc>
              <a:spcBef>
                <a:spcPts val="0"/>
              </a:spcBef>
              <a:spcAft>
                <a:spcPts val="0"/>
              </a:spcAft>
            </a:pPr>
            <a:r>
              <a:rPr lang="en-US" sz="2800" b="1" u="sng" dirty="0">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Soil porosity</a:t>
            </a:r>
            <a:endParaRPr lang="en-US" sz="2800" u="sng"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Refers to spaces among soil particles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Sandy soil has large, loosely packed particles leading to large spaces among the soil particles and so most porous.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Clay soil has very small closely packed particles very small spaces among the soil particles thus least porous.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Loam soil is moderately porous.</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800" dirty="0"/>
          </a:p>
        </p:txBody>
      </p:sp>
    </p:spTree>
    <p:extLst>
      <p:ext uri="{BB962C8B-B14F-4D97-AF65-F5344CB8AC3E}">
        <p14:creationId xmlns:p14="http://schemas.microsoft.com/office/powerpoint/2010/main" val="20667584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36FA8F-FC5E-9080-E30D-E2244EEA1FE8}"/>
              </a:ext>
            </a:extLst>
          </p:cNvPr>
          <p:cNvSpPr>
            <a:spLocks noGrp="1"/>
          </p:cNvSpPr>
          <p:nvPr>
            <p:ph idx="1"/>
          </p:nvPr>
        </p:nvSpPr>
        <p:spPr>
          <a:xfrm>
            <a:off x="159657" y="103922"/>
            <a:ext cx="11683999" cy="6079163"/>
          </a:xfrm>
        </p:spPr>
        <p:txBody>
          <a:bodyPr>
            <a:normAutofit fontScale="92500" lnSpcReduction="20000"/>
          </a:bodyPr>
          <a:lstStyle/>
          <a:p>
            <a:pPr marL="0" marR="0" algn="just">
              <a:lnSpc>
                <a:spcPct val="115000"/>
              </a:lnSpc>
              <a:spcBef>
                <a:spcPts val="0"/>
              </a:spcBef>
              <a:spcAft>
                <a:spcPts val="0"/>
              </a:spcAft>
            </a:pPr>
            <a:r>
              <a:rPr lang="en-US" sz="3800" b="1" u="sng" dirty="0">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Aeration</a:t>
            </a:r>
            <a:endParaRPr lang="en-US" sz="3800" u="sng"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It is the amount of air present in a particular soil type.</a:t>
            </a:r>
            <a:endParaRPr lang="en-US" sz="3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Sandy soil has larger particles which are not closely packed hence it is the most aerated followed by loam and least in clay soil.</a:t>
            </a:r>
            <a:endParaRPr lang="en-US" sz="3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sz="3800" b="1" u="sng" dirty="0">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Drainage</a:t>
            </a:r>
            <a:endParaRPr lang="en-US" sz="3800" u="sng"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It is the ability of water to drain/pass through the soil.</a:t>
            </a:r>
            <a:endParaRPr lang="en-US" sz="3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Water drains through sandy soil fastest, followed by loam and least in clay soil.</a:t>
            </a:r>
            <a:endParaRPr lang="en-US" sz="3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This is because sandy soil is the most porous of the soil types.</a:t>
            </a:r>
          </a:p>
          <a:p>
            <a:pPr marL="342900" marR="0" lvl="0" indent="-342900" algn="just">
              <a:lnSpc>
                <a:spcPct val="115000"/>
              </a:lnSpc>
              <a:spcBef>
                <a:spcPts val="0"/>
              </a:spcBef>
              <a:spcAft>
                <a:spcPts val="1000"/>
              </a:spcAft>
              <a:buFont typeface="Symbol" panose="05050102010706020507" pitchFamily="18" charset="2"/>
              <a:buChar char=""/>
            </a:pPr>
            <a:r>
              <a:rPr lang="en-US" sz="3800" dirty="0">
                <a:effectLst/>
                <a:latin typeface="Calibri" panose="020F0502020204030204" pitchFamily="34" charset="0"/>
                <a:ea typeface="Calibri" panose="020F0502020204030204" pitchFamily="34" charset="0"/>
                <a:cs typeface="Times New Roman" panose="02020603050405020304" pitchFamily="18" charset="0"/>
              </a:rPr>
              <a:t>Drainage ensures that the soil is well aerated</a:t>
            </a:r>
          </a:p>
          <a:p>
            <a:pPr marL="342900" marR="0" lvl="0" indent="-342900" algn="just">
              <a:lnSpc>
                <a:spcPct val="115000"/>
              </a:lnSpc>
              <a:spcBef>
                <a:spcPts val="0"/>
              </a:spcBef>
              <a:spcAft>
                <a:spcPts val="1000"/>
              </a:spcAft>
              <a:buFont typeface="Symbol" panose="05050102010706020507" pitchFamily="18" charset="2"/>
              <a:buChar char=""/>
            </a:pPr>
            <a:endParaRPr lang="en-US" sz="3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3200" dirty="0"/>
          </a:p>
        </p:txBody>
      </p:sp>
    </p:spTree>
    <p:extLst>
      <p:ext uri="{BB962C8B-B14F-4D97-AF65-F5344CB8AC3E}">
        <p14:creationId xmlns:p14="http://schemas.microsoft.com/office/powerpoint/2010/main" val="33134444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E06DD0-5A9B-CAFD-6391-CAE63E82FA69}"/>
              </a:ext>
            </a:extLst>
          </p:cNvPr>
          <p:cNvSpPr>
            <a:spLocks noGrp="1"/>
          </p:cNvSpPr>
          <p:nvPr>
            <p:ph idx="1"/>
          </p:nvPr>
        </p:nvSpPr>
        <p:spPr>
          <a:xfrm>
            <a:off x="677962" y="553865"/>
            <a:ext cx="11093124" cy="4874477"/>
          </a:xfrm>
        </p:spPr>
        <p:txBody>
          <a:bodyPr>
            <a:normAutofit/>
          </a:bodyPr>
          <a:lstStyle/>
          <a:p>
            <a:pPr marL="0" marR="0" algn="just">
              <a:lnSpc>
                <a:spcPct val="115000"/>
              </a:lnSpc>
              <a:spcBef>
                <a:spcPts val="0"/>
              </a:spcBef>
              <a:spcAft>
                <a:spcPts val="1000"/>
              </a:spcAft>
            </a:pPr>
            <a:r>
              <a:rPr lang="en-US" sz="3500" b="1" u="sng" dirty="0">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Water retention</a:t>
            </a:r>
            <a:endParaRPr lang="en-US" sz="3500" u="sng"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It is the ability of soil to hold water.</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Clay soil has a highest water retention capacity, followed by loam and least in sandy soil.</a:t>
            </a:r>
          </a:p>
          <a:p>
            <a:pPr marL="342900" marR="0" lvl="0" indent="-342900" algn="just">
              <a:lnSpc>
                <a:spcPct val="115000"/>
              </a:lnSpc>
              <a:spcBef>
                <a:spcPts val="0"/>
              </a:spcBef>
              <a:spcAft>
                <a:spcPts val="1000"/>
              </a:spcAft>
              <a:buFont typeface="Symbol" panose="05050102010706020507" pitchFamily="18" charset="2"/>
              <a:buChar char=""/>
            </a:pPr>
            <a:r>
              <a:rPr lang="en-US" sz="3500" dirty="0">
                <a:latin typeface="Times New Roman" panose="02020603050405020304" pitchFamily="18" charset="0"/>
                <a:ea typeface="Calibri" panose="020F0502020204030204" pitchFamily="34" charset="0"/>
                <a:cs typeface="Times New Roman" panose="02020603050405020304" pitchFamily="18" charset="0"/>
              </a:rPr>
              <a:t>This is </a:t>
            </a: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 because clay soil  has small particles which offer a large surface area for water to cling on by adhesion forces.</a:t>
            </a:r>
            <a:endParaRPr lang="en-US" sz="35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77007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0371BF-391B-85F2-52E3-FA0C3FE221BC}"/>
              </a:ext>
            </a:extLst>
          </p:cNvPr>
          <p:cNvSpPr>
            <a:spLocks noGrp="1"/>
          </p:cNvSpPr>
          <p:nvPr>
            <p:ph idx="1"/>
          </p:nvPr>
        </p:nvSpPr>
        <p:spPr>
          <a:xfrm>
            <a:off x="132521" y="208721"/>
            <a:ext cx="11926957" cy="6440557"/>
          </a:xfrm>
        </p:spPr>
        <p:txBody>
          <a:bodyPr>
            <a:noAutofit/>
          </a:bodyPr>
          <a:lstStyle/>
          <a:p>
            <a:pPr marL="274320" marR="0" indent="0">
              <a:lnSpc>
                <a:spcPct val="115000"/>
              </a:lnSpc>
              <a:spcBef>
                <a:spcPts val="0"/>
              </a:spcBef>
              <a:spcAft>
                <a:spcPts val="1000"/>
              </a:spcAft>
              <a:buNone/>
            </a:pPr>
            <a:r>
              <a:rPr lang="en-US" sz="3200" b="1" dirty="0">
                <a:latin typeface="Calibri" panose="020F0502020204030204" pitchFamily="34" charset="0"/>
                <a:ea typeface="Calibri" panose="020F0502020204030204" pitchFamily="34" charset="0"/>
                <a:cs typeface="Times New Roman" panose="02020603050405020304" pitchFamily="18" charset="0"/>
              </a:rPr>
              <a:t>Aim</a:t>
            </a:r>
            <a:r>
              <a:rPr lang="en-US" sz="3200" b="1" dirty="0">
                <a:effectLst/>
                <a:latin typeface="Calibri" panose="020F0502020204030204" pitchFamily="34" charset="0"/>
                <a:ea typeface="Calibri" panose="020F0502020204030204" pitchFamily="34" charset="0"/>
                <a:cs typeface="Times New Roman" panose="02020603050405020304" pitchFamily="18" charset="0"/>
              </a:rPr>
              <a:t>: </a:t>
            </a:r>
            <a:r>
              <a:rPr lang="en-US" sz="3200" u="sng" dirty="0">
                <a:latin typeface="Calibri" panose="020F0502020204030204" pitchFamily="34" charset="0"/>
                <a:ea typeface="Calibri" panose="020F0502020204030204" pitchFamily="34" charset="0"/>
                <a:cs typeface="Times New Roman" panose="02020603050405020304" pitchFamily="18" charset="0"/>
              </a:rPr>
              <a:t>To c</a:t>
            </a:r>
            <a:r>
              <a:rPr lang="en-US" sz="3200" u="sng" dirty="0">
                <a:effectLst/>
                <a:latin typeface="Calibri" panose="020F0502020204030204" pitchFamily="34" charset="0"/>
                <a:ea typeface="Calibri" panose="020F0502020204030204" pitchFamily="34" charset="0"/>
                <a:cs typeface="Times New Roman" panose="02020603050405020304" pitchFamily="18" charset="0"/>
              </a:rPr>
              <a:t>ompare the drainage and retention of sandy, loam and clay soil samples.</a:t>
            </a:r>
          </a:p>
          <a:p>
            <a:pPr marL="0" marR="0" indent="0" algn="just">
              <a:lnSpc>
                <a:spcPct val="115000"/>
              </a:lnSpc>
              <a:spcBef>
                <a:spcPts val="0"/>
              </a:spcBef>
              <a:spcAft>
                <a:spcPts val="1000"/>
              </a:spcAft>
              <a:buNone/>
            </a:pPr>
            <a:r>
              <a:rPr lang="en-US" sz="3200" u="sng" dirty="0">
                <a:effectLst/>
                <a:latin typeface="Times New Roman" panose="02020603050405020304" pitchFamily="18" charset="0"/>
                <a:ea typeface="Calibri" panose="020F0502020204030204" pitchFamily="34" charset="0"/>
                <a:cs typeface="Times New Roman" panose="02020603050405020304" pitchFamily="18" charset="0"/>
              </a:rPr>
              <a:t>Apparatus and materials used.</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Loam soil, clay soil and sandy soil samples.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Three funnels.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200" dirty="0">
                <a:effectLst/>
                <a:latin typeface="Calibri" panose="020F0502020204030204" pitchFamily="34" charset="0"/>
                <a:ea typeface="Calibri" panose="020F0502020204030204" pitchFamily="34" charset="0"/>
                <a:cs typeface="Times New Roman" panose="02020603050405020304" pitchFamily="18" charset="0"/>
              </a:rPr>
              <a:t> </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Three filter papers/cotton wool.</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Beakers.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A stop clock.</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274320" marR="0" indent="0">
              <a:lnSpc>
                <a:spcPct val="115000"/>
              </a:lnSpc>
              <a:spcBef>
                <a:spcPts val="0"/>
              </a:spcBef>
              <a:spcAft>
                <a:spcPts val="1000"/>
              </a:spcAft>
              <a:buNone/>
            </a:pP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274320" marR="0" indent="0">
              <a:lnSpc>
                <a:spcPct val="115000"/>
              </a:lnSpc>
              <a:spcBef>
                <a:spcPts val="0"/>
              </a:spcBef>
              <a:spcAft>
                <a:spcPts val="1000"/>
              </a:spcAft>
              <a:buNone/>
            </a:pPr>
            <a:endParaRPr lang="en-US" sz="3200" dirty="0"/>
          </a:p>
        </p:txBody>
      </p:sp>
    </p:spTree>
    <p:extLst>
      <p:ext uri="{BB962C8B-B14F-4D97-AF65-F5344CB8AC3E}">
        <p14:creationId xmlns:p14="http://schemas.microsoft.com/office/powerpoint/2010/main" val="40130696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5F4527-C5BC-1F6C-DA13-60832540158B}"/>
              </a:ext>
            </a:extLst>
          </p:cNvPr>
          <p:cNvSpPr>
            <a:spLocks noGrp="1"/>
          </p:cNvSpPr>
          <p:nvPr>
            <p:ph idx="1"/>
          </p:nvPr>
        </p:nvSpPr>
        <p:spPr>
          <a:xfrm>
            <a:off x="490330" y="238539"/>
            <a:ext cx="11211340" cy="6268278"/>
          </a:xfrm>
        </p:spPr>
        <p:txBody>
          <a:bodyPr>
            <a:noAutofit/>
          </a:bodyPr>
          <a:lstStyle/>
          <a:p>
            <a:pPr marL="0" marR="0" indent="0" algn="just">
              <a:lnSpc>
                <a:spcPct val="115000"/>
              </a:lnSpc>
              <a:spcBef>
                <a:spcPts val="0"/>
              </a:spcBef>
              <a:spcAft>
                <a:spcPts val="1000"/>
              </a:spcAft>
              <a:buNone/>
            </a:pPr>
            <a:r>
              <a:rPr lang="en-US" sz="3200" b="1" u="sng" dirty="0">
                <a:effectLst/>
                <a:latin typeface="Times New Roman" panose="02020603050405020304" pitchFamily="18" charset="0"/>
                <a:ea typeface="Calibri" panose="020F0502020204030204" pitchFamily="34" charset="0"/>
                <a:cs typeface="Times New Roman" panose="02020603050405020304" pitchFamily="18" charset="0"/>
              </a:rPr>
              <a:t>Procedure.</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Place a filter paper in each filter funnel.</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Place equal volumes of </a:t>
            </a:r>
            <a:r>
              <a:rPr lang="en-US" sz="3200" dirty="0">
                <a:latin typeface="Times New Roman" panose="02020603050405020304" pitchFamily="18" charset="0"/>
                <a:ea typeface="Calibri" panose="020F0502020204030204" pitchFamily="34" charset="0"/>
                <a:cs typeface="Times New Roman" panose="02020603050405020304" pitchFamily="18" charset="0"/>
              </a:rPr>
              <a:t>each soil type </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into </a:t>
            </a:r>
            <a:r>
              <a:rPr lang="en-US" sz="3200" dirty="0">
                <a:latin typeface="Times New Roman" panose="02020603050405020304" pitchFamily="18" charset="0"/>
                <a:ea typeface="Calibri" panose="020F0502020204030204" pitchFamily="34" charset="0"/>
                <a:cs typeface="Times New Roman" panose="02020603050405020304" pitchFamily="18" charset="0"/>
              </a:rPr>
              <a:t>the different </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funnels.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Place each funnel over a measuring cylinder.</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Pour equal amounts of water into each type of soil at the same time and start the stop clock.</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Leave the experiment to stand until water stops dripping from the soil samples.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3200" dirty="0"/>
          </a:p>
        </p:txBody>
      </p:sp>
    </p:spTree>
    <p:extLst>
      <p:ext uri="{BB962C8B-B14F-4D97-AF65-F5344CB8AC3E}">
        <p14:creationId xmlns:p14="http://schemas.microsoft.com/office/powerpoint/2010/main" val="28352220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4744E-968D-AFAC-F5E6-76E92BF2CB5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8815A05-7D2B-5DB2-6D2E-4F578E53224E}"/>
              </a:ext>
            </a:extLst>
          </p:cNvPr>
          <p:cNvSpPr>
            <a:spLocks noGrp="1"/>
          </p:cNvSpPr>
          <p:nvPr>
            <p:ph idx="1"/>
          </p:nvPr>
        </p:nvSpPr>
        <p:spPr/>
        <p:txBody>
          <a:bodyPr/>
          <a:lstStyle/>
          <a:p>
            <a:endParaRPr lang="en-US"/>
          </a:p>
        </p:txBody>
      </p:sp>
      <p:pic>
        <p:nvPicPr>
          <p:cNvPr id="1028" name="Picture 4" descr="The diagram below illustration an investigation on property of soil using  samples labeled J,K and L - EasyElimu Questions and Answers">
            <a:extLst>
              <a:ext uri="{FF2B5EF4-FFF2-40B4-BE49-F238E27FC236}">
                <a16:creationId xmlns:a16="http://schemas.microsoft.com/office/drawing/2014/main" id="{464C37B8-896F-97CF-EDF3-9218C24766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7607" y="1094508"/>
            <a:ext cx="10692792" cy="4862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01363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3CC875-C9C4-5737-ED69-1E6523739FE9}"/>
              </a:ext>
            </a:extLst>
          </p:cNvPr>
          <p:cNvSpPr>
            <a:spLocks noGrp="1"/>
          </p:cNvSpPr>
          <p:nvPr>
            <p:ph idx="1"/>
          </p:nvPr>
        </p:nvSpPr>
        <p:spPr>
          <a:xfrm>
            <a:off x="808383" y="702365"/>
            <a:ext cx="10319865" cy="5950226"/>
          </a:xfrm>
        </p:spPr>
        <p:txBody>
          <a:bodyPr>
            <a:normAutofit/>
          </a:bodyPr>
          <a:lstStyle/>
          <a:p>
            <a:pPr marL="0" indent="0">
              <a:buNone/>
            </a:pPr>
            <a:r>
              <a:rPr kumimoji="0" lang="en-US" altLang="en-US" sz="3200" b="1" i="0" u="sng"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Set up of the apparatus</a:t>
            </a:r>
            <a:endParaRPr lang="en-US" sz="3200" dirty="0"/>
          </a:p>
        </p:txBody>
      </p:sp>
      <p:pic>
        <p:nvPicPr>
          <p:cNvPr id="1025" name="Picture 1">
            <a:extLst>
              <a:ext uri="{FF2B5EF4-FFF2-40B4-BE49-F238E27FC236}">
                <a16:creationId xmlns:a16="http://schemas.microsoft.com/office/drawing/2014/main" id="{C4012CBD-AEAC-89FD-FE72-4A3AFF8597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32" y="1228597"/>
            <a:ext cx="11950285" cy="5781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10860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E4CF77-C8DC-ED1B-6523-7607E5C78D47}"/>
              </a:ext>
            </a:extLst>
          </p:cNvPr>
          <p:cNvSpPr>
            <a:spLocks noGrp="1"/>
          </p:cNvSpPr>
          <p:nvPr>
            <p:ph idx="1"/>
          </p:nvPr>
        </p:nvSpPr>
        <p:spPr>
          <a:xfrm>
            <a:off x="0" y="-26504"/>
            <a:ext cx="11542643" cy="6374295"/>
          </a:xfrm>
        </p:spPr>
        <p:txBody>
          <a:bodyPr>
            <a:noAutofit/>
          </a:bodyPr>
          <a:lstStyle/>
          <a:p>
            <a:pPr marL="0" marR="0" indent="0" algn="just">
              <a:lnSpc>
                <a:spcPct val="115000"/>
              </a:lnSpc>
              <a:spcBef>
                <a:spcPts val="0"/>
              </a:spcBef>
              <a:spcAft>
                <a:spcPts val="1000"/>
              </a:spcAft>
              <a:buNone/>
            </a:pPr>
            <a:r>
              <a:rPr lang="en-US" sz="3200" b="1" u="sng" dirty="0">
                <a:effectLst/>
                <a:latin typeface="Times New Roman" panose="02020603050405020304" pitchFamily="18" charset="0"/>
                <a:ea typeface="Calibri" panose="020F0502020204030204" pitchFamily="34" charset="0"/>
                <a:cs typeface="Times New Roman" panose="02020603050405020304" pitchFamily="18" charset="0"/>
              </a:rPr>
              <a:t>Observation</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Highest amount of water is collected in the cylinder with sand soil, followed by loam soil and least in clay soil.</a:t>
            </a:r>
          </a:p>
          <a:p>
            <a:pPr marL="0" marR="0" indent="0" algn="just">
              <a:lnSpc>
                <a:spcPct val="115000"/>
              </a:lnSpc>
              <a:spcBef>
                <a:spcPts val="0"/>
              </a:spcBef>
              <a:spcAft>
                <a:spcPts val="1000"/>
              </a:spcAft>
              <a:buNone/>
            </a:pPr>
            <a:r>
              <a:rPr lang="en-US" sz="3200" b="1" u="sng" dirty="0">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Sand soil has the highest drainage followed by loam and lastly clay.</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3200" b="1" u="sng" dirty="0">
                <a:effectLst/>
                <a:latin typeface="Times New Roman" panose="02020603050405020304" pitchFamily="18" charset="0"/>
                <a:ea typeface="Calibri" panose="020F0502020204030204" pitchFamily="34" charset="0"/>
                <a:cs typeface="Times New Roman" panose="02020603050405020304" pitchFamily="18" charset="0"/>
              </a:rPr>
              <a:t>Water Retention</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The water that  remains in the soil (in the funnel) represents water retention.</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15000"/>
              </a:lnSpc>
              <a:spcBef>
                <a:spcPts val="0"/>
              </a:spcBef>
              <a:spcAft>
                <a:spcPts val="1000"/>
              </a:spcAft>
              <a:buNone/>
            </a:pP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3200" dirty="0"/>
          </a:p>
        </p:txBody>
      </p:sp>
    </p:spTree>
    <p:extLst>
      <p:ext uri="{BB962C8B-B14F-4D97-AF65-F5344CB8AC3E}">
        <p14:creationId xmlns:p14="http://schemas.microsoft.com/office/powerpoint/2010/main" val="13852591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F6A148B-ED4E-27E3-5393-F95FE1132533}"/>
              </a:ext>
            </a:extLst>
          </p:cNvPr>
          <p:cNvGraphicFramePr>
            <a:graphicFrameLocks noGrp="1"/>
          </p:cNvGraphicFramePr>
          <p:nvPr>
            <p:ph idx="1"/>
            <p:extLst>
              <p:ext uri="{D42A27DB-BD31-4B8C-83A1-F6EECF244321}">
                <p14:modId xmlns:p14="http://schemas.microsoft.com/office/powerpoint/2010/main" val="1174536173"/>
              </p:ext>
            </p:extLst>
          </p:nvPr>
        </p:nvGraphicFramePr>
        <p:xfrm>
          <a:off x="266218" y="2199191"/>
          <a:ext cx="11401062" cy="2467592"/>
        </p:xfrm>
        <a:graphic>
          <a:graphicData uri="http://schemas.openxmlformats.org/drawingml/2006/table">
            <a:tbl>
              <a:tblPr firstRow="1" firstCol="1" bandRow="1">
                <a:tableStyleId>{073A0DAA-6AF3-43AB-8588-CEC1D06C72B9}</a:tableStyleId>
              </a:tblPr>
              <a:tblGrid>
                <a:gridCol w="5608589">
                  <a:extLst>
                    <a:ext uri="{9D8B030D-6E8A-4147-A177-3AD203B41FA5}">
                      <a16:colId xmlns:a16="http://schemas.microsoft.com/office/drawing/2014/main" val="3125413968"/>
                    </a:ext>
                  </a:extLst>
                </a:gridCol>
                <a:gridCol w="1287217">
                  <a:extLst>
                    <a:ext uri="{9D8B030D-6E8A-4147-A177-3AD203B41FA5}">
                      <a16:colId xmlns:a16="http://schemas.microsoft.com/office/drawing/2014/main" val="116698094"/>
                    </a:ext>
                  </a:extLst>
                </a:gridCol>
                <a:gridCol w="1103328">
                  <a:extLst>
                    <a:ext uri="{9D8B030D-6E8A-4147-A177-3AD203B41FA5}">
                      <a16:colId xmlns:a16="http://schemas.microsoft.com/office/drawing/2014/main" val="4267519874"/>
                    </a:ext>
                  </a:extLst>
                </a:gridCol>
                <a:gridCol w="1103328">
                  <a:extLst>
                    <a:ext uri="{9D8B030D-6E8A-4147-A177-3AD203B41FA5}">
                      <a16:colId xmlns:a16="http://schemas.microsoft.com/office/drawing/2014/main" val="540435895"/>
                    </a:ext>
                  </a:extLst>
                </a:gridCol>
                <a:gridCol w="1103328">
                  <a:extLst>
                    <a:ext uri="{9D8B030D-6E8A-4147-A177-3AD203B41FA5}">
                      <a16:colId xmlns:a16="http://schemas.microsoft.com/office/drawing/2014/main" val="3378260320"/>
                    </a:ext>
                  </a:extLst>
                </a:gridCol>
                <a:gridCol w="1195272">
                  <a:extLst>
                    <a:ext uri="{9D8B030D-6E8A-4147-A177-3AD203B41FA5}">
                      <a16:colId xmlns:a16="http://schemas.microsoft.com/office/drawing/2014/main" val="2023740638"/>
                    </a:ext>
                  </a:extLst>
                </a:gridCol>
              </a:tblGrid>
              <a:tr h="449479">
                <a:tc>
                  <a:txBody>
                    <a:bodyPr/>
                    <a:lstStyle/>
                    <a:p>
                      <a:pPr marL="0" marR="0" algn="just">
                        <a:lnSpc>
                          <a:spcPct val="115000"/>
                        </a:lnSpc>
                        <a:spcBef>
                          <a:spcPts val="0"/>
                        </a:spcBef>
                        <a:spcAft>
                          <a:spcPts val="1000"/>
                        </a:spcAft>
                        <a:tabLst>
                          <a:tab pos="581025" algn="l"/>
                        </a:tabLst>
                      </a:pPr>
                      <a:r>
                        <a:rPr lang="en-US" sz="2800" dirty="0">
                          <a:effectLst/>
                        </a:rPr>
                        <a:t>Time in minutes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1000"/>
                        </a:spcAft>
                        <a:tabLst>
                          <a:tab pos="581025" algn="l"/>
                        </a:tabLst>
                      </a:pPr>
                      <a:r>
                        <a:rPr lang="en-US" sz="28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1000"/>
                        </a:spcAft>
                        <a:tabLst>
                          <a:tab pos="581025" algn="l"/>
                        </a:tabLst>
                      </a:pPr>
                      <a:r>
                        <a:rPr lang="en-US" sz="28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1000"/>
                        </a:spcAft>
                        <a:tabLst>
                          <a:tab pos="581025" algn="l"/>
                        </a:tabLst>
                      </a:pPr>
                      <a:r>
                        <a:rPr lang="en-US" sz="28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1000"/>
                        </a:spcAft>
                        <a:tabLst>
                          <a:tab pos="581025" algn="l"/>
                        </a:tabLst>
                      </a:pPr>
                      <a:r>
                        <a:rPr lang="en-US" sz="2800">
                          <a:effectLst/>
                        </a:rPr>
                        <a:t>20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1000"/>
                        </a:spcAft>
                        <a:tabLst>
                          <a:tab pos="581025" algn="l"/>
                        </a:tabLst>
                      </a:pPr>
                      <a:r>
                        <a:rPr lang="en-US" sz="2800">
                          <a:effectLst/>
                        </a:rPr>
                        <a:t>25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19884760"/>
                  </a:ext>
                </a:extLst>
              </a:tr>
              <a:tr h="376870">
                <a:tc>
                  <a:txBody>
                    <a:bodyPr/>
                    <a:lstStyle/>
                    <a:p>
                      <a:pPr marL="0" marR="0" algn="just">
                        <a:lnSpc>
                          <a:spcPct val="115000"/>
                        </a:lnSpc>
                        <a:spcBef>
                          <a:spcPts val="0"/>
                        </a:spcBef>
                        <a:spcAft>
                          <a:spcPts val="1000"/>
                        </a:spcAft>
                        <a:tabLst>
                          <a:tab pos="581025" algn="l"/>
                        </a:tabLst>
                      </a:pPr>
                      <a:r>
                        <a:rPr lang="en-US" sz="2800" dirty="0">
                          <a:effectLst/>
                        </a:rPr>
                        <a:t>Volume of water collected from soil sample A (cm</a:t>
                      </a:r>
                      <a:r>
                        <a:rPr lang="en-US" sz="2800" baseline="30000" dirty="0">
                          <a:effectLst/>
                        </a:rPr>
                        <a:t>3</a:t>
                      </a:r>
                      <a:r>
                        <a:rPr lang="en-US" sz="2800" dirty="0">
                          <a:effectLst/>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1000"/>
                        </a:spcAft>
                        <a:tabLst>
                          <a:tab pos="581025" algn="l"/>
                        </a:tabLst>
                      </a:pPr>
                      <a:r>
                        <a:rPr lang="en-US" sz="2800" dirty="0">
                          <a:effectLst/>
                        </a:rPr>
                        <a:t>5</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1000"/>
                        </a:spcAft>
                        <a:tabLst>
                          <a:tab pos="581025" algn="l"/>
                        </a:tabLst>
                      </a:pPr>
                      <a:r>
                        <a:rPr lang="en-US" sz="2800">
                          <a:effectLst/>
                        </a:rPr>
                        <a:t>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1000"/>
                        </a:spcAft>
                        <a:tabLst>
                          <a:tab pos="581025" algn="l"/>
                        </a:tabLst>
                      </a:pPr>
                      <a:r>
                        <a:rPr lang="en-US" sz="28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1000"/>
                        </a:spcAft>
                        <a:tabLst>
                          <a:tab pos="581025" algn="l"/>
                        </a:tabLst>
                      </a:pPr>
                      <a:r>
                        <a:rPr lang="en-US" sz="2800">
                          <a:effectLst/>
                        </a:rPr>
                        <a:t>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1000"/>
                        </a:spcAft>
                        <a:tabLst>
                          <a:tab pos="581025" algn="l"/>
                        </a:tabLst>
                      </a:pPr>
                      <a:r>
                        <a:rPr lang="en-US" sz="2800" dirty="0">
                          <a:effectLst/>
                        </a:rPr>
                        <a:t>20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04046857"/>
                  </a:ext>
                </a:extLst>
              </a:tr>
              <a:tr h="1060050">
                <a:tc>
                  <a:txBody>
                    <a:bodyPr/>
                    <a:lstStyle/>
                    <a:p>
                      <a:pPr marL="0" marR="0" algn="just">
                        <a:lnSpc>
                          <a:spcPct val="115000"/>
                        </a:lnSpc>
                        <a:spcBef>
                          <a:spcPts val="0"/>
                        </a:spcBef>
                        <a:spcAft>
                          <a:spcPts val="1000"/>
                        </a:spcAft>
                        <a:tabLst>
                          <a:tab pos="581025" algn="l"/>
                        </a:tabLst>
                      </a:pPr>
                      <a:r>
                        <a:rPr lang="en-US" sz="2800" dirty="0">
                          <a:effectLst/>
                        </a:rPr>
                        <a:t>Volume of water collected from soil sample B (cm</a:t>
                      </a:r>
                      <a:r>
                        <a:rPr lang="en-US" sz="2800" baseline="30000" dirty="0">
                          <a:effectLst/>
                        </a:rPr>
                        <a:t>3</a:t>
                      </a:r>
                      <a:r>
                        <a:rPr lang="en-US" sz="2800" dirty="0">
                          <a:effectLst/>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1000"/>
                        </a:spcAft>
                        <a:tabLst>
                          <a:tab pos="581025" algn="l"/>
                        </a:tabLst>
                      </a:pPr>
                      <a:r>
                        <a:rPr lang="en-US" sz="2800">
                          <a:effectLst/>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1000"/>
                        </a:spcAft>
                        <a:tabLst>
                          <a:tab pos="581025" algn="l"/>
                        </a:tabLst>
                      </a:pPr>
                      <a:r>
                        <a:rPr lang="en-US" sz="2800" dirty="0">
                          <a:effectLst/>
                        </a:rPr>
                        <a:t>15</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1000"/>
                        </a:spcAft>
                        <a:tabLst>
                          <a:tab pos="581025" algn="l"/>
                        </a:tabLst>
                      </a:pPr>
                      <a:r>
                        <a:rPr lang="en-US" sz="2800" dirty="0">
                          <a:effectLst/>
                        </a:rPr>
                        <a:t>20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1000"/>
                        </a:spcAft>
                        <a:tabLst>
                          <a:tab pos="581025" algn="l"/>
                        </a:tabLst>
                      </a:pPr>
                      <a:r>
                        <a:rPr lang="en-US" sz="2800">
                          <a:effectLst/>
                        </a:rPr>
                        <a:t>40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1000"/>
                        </a:spcAft>
                        <a:tabLst>
                          <a:tab pos="581025" algn="l"/>
                        </a:tabLst>
                      </a:pPr>
                      <a:r>
                        <a:rPr lang="en-US" sz="2800" dirty="0">
                          <a:effectLst/>
                        </a:rPr>
                        <a:t>70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65640663"/>
                  </a:ext>
                </a:extLst>
              </a:tr>
            </a:tbl>
          </a:graphicData>
        </a:graphic>
      </p:graphicFrame>
      <p:sp>
        <p:nvSpPr>
          <p:cNvPr id="5" name="TextBox 4">
            <a:extLst>
              <a:ext uri="{FF2B5EF4-FFF2-40B4-BE49-F238E27FC236}">
                <a16:creationId xmlns:a16="http://schemas.microsoft.com/office/drawing/2014/main" id="{E90B83A1-DE22-9716-1EBF-D19829B62B20}"/>
              </a:ext>
            </a:extLst>
          </p:cNvPr>
          <p:cNvSpPr txBox="1"/>
          <p:nvPr/>
        </p:nvSpPr>
        <p:spPr>
          <a:xfrm>
            <a:off x="266218" y="79216"/>
            <a:ext cx="11100120" cy="2062103"/>
          </a:xfrm>
          <a:prstGeom prst="rect">
            <a:avLst/>
          </a:prstGeom>
          <a:noFill/>
        </p:spPr>
        <p:txBody>
          <a:bodyPr wrap="square" rtlCol="0">
            <a:spAutoFit/>
          </a:bodyPr>
          <a:lstStyle/>
          <a:p>
            <a:pPr algn="just"/>
            <a:r>
              <a:rPr lang="en-US" sz="3200" b="1" u="sng" dirty="0">
                <a:effectLst>
                  <a:outerShdw blurRad="38100" dist="38100" dir="2700000" algn="tl">
                    <a:srgbClr val="000000">
                      <a:alpha val="43137"/>
                    </a:srgbClr>
                  </a:outerShdw>
                </a:effectLst>
              </a:rPr>
              <a:t>Activity: (a) </a:t>
            </a:r>
            <a:r>
              <a:rPr lang="en-US" sz="3200" dirty="0"/>
              <a:t>In an experiment, 115 cm3 of water was added to two different soil samples A and B. The volume of water collected in the measuring cylinders at different time intervals are shown below:</a:t>
            </a:r>
          </a:p>
        </p:txBody>
      </p:sp>
      <p:sp>
        <p:nvSpPr>
          <p:cNvPr id="6" name="TextBox 5">
            <a:extLst>
              <a:ext uri="{FF2B5EF4-FFF2-40B4-BE49-F238E27FC236}">
                <a16:creationId xmlns:a16="http://schemas.microsoft.com/office/drawing/2014/main" id="{0D78ED05-3B31-2689-E25A-FFF865D1FFB8}"/>
              </a:ext>
            </a:extLst>
          </p:cNvPr>
          <p:cNvSpPr txBox="1"/>
          <p:nvPr/>
        </p:nvSpPr>
        <p:spPr>
          <a:xfrm>
            <a:off x="115747" y="4726433"/>
            <a:ext cx="11910349" cy="2062103"/>
          </a:xfrm>
          <a:prstGeom prst="rect">
            <a:avLst/>
          </a:prstGeom>
          <a:noFill/>
        </p:spPr>
        <p:txBody>
          <a:bodyPr wrap="square" rtlCol="0">
            <a:spAutoFit/>
          </a:bodyPr>
          <a:lstStyle/>
          <a:p>
            <a:pPr marL="571500" indent="-571500">
              <a:buFont typeface="+mj-lt"/>
              <a:buAutoNum type="romanLcPeriod"/>
            </a:pPr>
            <a:r>
              <a:rPr lang="en-US" sz="3200" dirty="0"/>
              <a:t>Calculate the percentage amount of water retained at 25 minutes for each soil sample.</a:t>
            </a:r>
          </a:p>
          <a:p>
            <a:pPr marL="571500" indent="-571500">
              <a:buFont typeface="+mj-lt"/>
              <a:buAutoNum type="romanLcPeriod"/>
            </a:pPr>
            <a:r>
              <a:rPr lang="en-US" sz="3200" dirty="0"/>
              <a:t>Suggest the type of soil represented by A and B. Give a reason for each of your suggestions.</a:t>
            </a:r>
          </a:p>
        </p:txBody>
      </p:sp>
    </p:spTree>
    <p:extLst>
      <p:ext uri="{BB962C8B-B14F-4D97-AF65-F5344CB8AC3E}">
        <p14:creationId xmlns:p14="http://schemas.microsoft.com/office/powerpoint/2010/main" val="11593520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F51198-2908-6DE1-1403-0C69696F2DEE}"/>
              </a:ext>
            </a:extLst>
          </p:cNvPr>
          <p:cNvSpPr>
            <a:spLocks noGrp="1"/>
          </p:cNvSpPr>
          <p:nvPr>
            <p:ph idx="1"/>
          </p:nvPr>
        </p:nvSpPr>
        <p:spPr/>
        <p:txBody>
          <a:bodyPr/>
          <a:lstStyle/>
          <a:p>
            <a:pPr marL="0" indent="0">
              <a:buNone/>
            </a:pPr>
            <a:r>
              <a:rPr lang="en-US" sz="3200" dirty="0"/>
              <a:t>(b) Why should farms have soils with proper water retention?</a:t>
            </a:r>
          </a:p>
          <a:p>
            <a:pPr marL="0" indent="0">
              <a:buNone/>
            </a:pPr>
            <a:r>
              <a:rPr lang="en-US" sz="3200" dirty="0"/>
              <a:t>(c) Why should farms have soils with proper water drainage?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21239625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D703A9-6FF8-7FD0-EA1E-5349D11B703F}"/>
              </a:ext>
            </a:extLst>
          </p:cNvPr>
          <p:cNvSpPr>
            <a:spLocks noGrp="1"/>
          </p:cNvSpPr>
          <p:nvPr>
            <p:ph idx="1"/>
          </p:nvPr>
        </p:nvSpPr>
        <p:spPr>
          <a:xfrm>
            <a:off x="790222" y="632178"/>
            <a:ext cx="10338026" cy="5540022"/>
          </a:xfrm>
        </p:spPr>
        <p:txBody>
          <a:bodyPr>
            <a:normAutofit/>
          </a:bodyPr>
          <a:lstStyle/>
          <a:p>
            <a:r>
              <a:rPr lang="en-US" sz="3200" b="1" u="sng" dirty="0">
                <a:effectLst>
                  <a:outerShdw blurRad="38100" dist="38100" dir="2700000" algn="tl">
                    <a:srgbClr val="000000">
                      <a:alpha val="43137"/>
                    </a:srgbClr>
                  </a:outerShdw>
                </a:effectLst>
              </a:rPr>
              <a:t>Soil capillarity.</a:t>
            </a:r>
          </a:p>
          <a:p>
            <a:pPr>
              <a:buFont typeface="Trebuchet MS" panose="020B0603020202020204" pitchFamily="34" charset="0"/>
              <a:buChar char="‾"/>
            </a:pPr>
            <a:r>
              <a:rPr lang="en-US" sz="3200" dirty="0"/>
              <a:t>It is the ability of water to rise from bottom layers of the soil to the top layers through soil particles.</a:t>
            </a:r>
          </a:p>
          <a:p>
            <a:pPr>
              <a:buFont typeface="Trebuchet MS" panose="020B0603020202020204" pitchFamily="34" charset="0"/>
              <a:buChar char="‾"/>
            </a:pPr>
            <a:endParaRPr lang="en-US" sz="3200" dirty="0"/>
          </a:p>
          <a:p>
            <a:pPr marL="0" indent="0">
              <a:buNone/>
            </a:pPr>
            <a:r>
              <a:rPr lang="en-US" sz="3200" b="1" i="1" dirty="0">
                <a:effectLst>
                  <a:outerShdw blurRad="38100" dist="38100" dir="2700000" algn="tl">
                    <a:srgbClr val="000000">
                      <a:alpha val="43137"/>
                    </a:srgbClr>
                  </a:outerShdw>
                </a:effectLst>
              </a:rPr>
              <a:t>How does loam, clay and sand soils differ in their capillarity abilities?</a:t>
            </a:r>
          </a:p>
          <a:p>
            <a:pPr marL="0" indent="0">
              <a:buNone/>
            </a:pPr>
            <a:endParaRPr lang="en-US" sz="3200" dirty="0"/>
          </a:p>
        </p:txBody>
      </p:sp>
    </p:spTree>
    <p:extLst>
      <p:ext uri="{BB962C8B-B14F-4D97-AF65-F5344CB8AC3E}">
        <p14:creationId xmlns:p14="http://schemas.microsoft.com/office/powerpoint/2010/main" val="7551531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878AD-B5B9-E434-5F38-38DD04E8FFAA}"/>
              </a:ext>
            </a:extLst>
          </p:cNvPr>
          <p:cNvSpPr>
            <a:spLocks noGrp="1"/>
          </p:cNvSpPr>
          <p:nvPr>
            <p:ph type="title"/>
          </p:nvPr>
        </p:nvSpPr>
        <p:spPr>
          <a:xfrm>
            <a:off x="259643" y="248356"/>
            <a:ext cx="11616267" cy="1535288"/>
          </a:xfrm>
        </p:spPr>
        <p:txBody>
          <a:bodyPr>
            <a:normAutofit fontScale="90000"/>
          </a:bodyPr>
          <a:lstStyle/>
          <a:p>
            <a:r>
              <a:rPr lang="en-US" sz="3200" dirty="0">
                <a:effectLst/>
                <a:latin typeface="Calibri" panose="020F0502020204030204" pitchFamily="34" charset="0"/>
                <a:ea typeface="Calibri" panose="020F0502020204030204" pitchFamily="34" charset="0"/>
                <a:cs typeface="Times New Roman" panose="02020603050405020304" pitchFamily="18" charset="0"/>
              </a:rPr>
              <a:t>Activity : </a:t>
            </a:r>
            <a:r>
              <a:rPr lang="en-US" sz="3200" b="1" dirty="0">
                <a:effectLst/>
                <a:latin typeface="Calibri" panose="020F0502020204030204" pitchFamily="34" charset="0"/>
                <a:ea typeface="Calibri" panose="020F0502020204030204" pitchFamily="34" charset="0"/>
                <a:cs typeface="Times New Roman" panose="02020603050405020304" pitchFamily="18" charset="0"/>
              </a:rPr>
              <a:t>Comparing the capillarity of water of different soil samples</a:t>
            </a:r>
            <a:r>
              <a:rPr lang="en-US" sz="3200" dirty="0">
                <a:effectLst/>
                <a:latin typeface="Calibri" panose="020F0502020204030204" pitchFamily="34" charset="0"/>
                <a:ea typeface="Calibri" panose="020F0502020204030204" pitchFamily="34" charset="0"/>
                <a:cs typeface="Times New Roman" panose="02020603050405020304" pitchFamily="18" charset="0"/>
              </a:rPr>
              <a:t/>
            </a:r>
            <a:br>
              <a:rPr lang="en-US" sz="3200" dirty="0">
                <a:effectLst/>
                <a:latin typeface="Calibri" panose="020F0502020204030204" pitchFamily="34" charset="0"/>
                <a:ea typeface="Calibri" panose="020F0502020204030204" pitchFamily="34" charset="0"/>
                <a:cs typeface="Times New Roman" panose="02020603050405020304" pitchFamily="18" charset="0"/>
              </a:rPr>
            </a:br>
            <a:endParaRPr lang="en-US" sz="3200" dirty="0"/>
          </a:p>
        </p:txBody>
      </p:sp>
      <p:sp>
        <p:nvSpPr>
          <p:cNvPr id="3" name="Content Placeholder 2">
            <a:extLst>
              <a:ext uri="{FF2B5EF4-FFF2-40B4-BE49-F238E27FC236}">
                <a16:creationId xmlns:a16="http://schemas.microsoft.com/office/drawing/2014/main" id="{B4DFFA6B-F3B5-1BC5-369A-6C9E8C425E5E}"/>
              </a:ext>
            </a:extLst>
          </p:cNvPr>
          <p:cNvSpPr>
            <a:spLocks noGrp="1"/>
          </p:cNvSpPr>
          <p:nvPr>
            <p:ph idx="1"/>
          </p:nvPr>
        </p:nvSpPr>
        <p:spPr>
          <a:xfrm>
            <a:off x="688622" y="1659467"/>
            <a:ext cx="10439626" cy="4512733"/>
          </a:xfrm>
        </p:spPr>
        <p:txBody>
          <a:bodyPr>
            <a:normAutofit fontScale="92500" lnSpcReduction="20000"/>
          </a:bodyPr>
          <a:lstStyle/>
          <a:p>
            <a:pPr marL="0" indent="0">
              <a:buNone/>
            </a:pPr>
            <a:r>
              <a:rPr lang="en-US" sz="3200" dirty="0">
                <a:solidFill>
                  <a:srgbClr val="FF0000"/>
                </a:solidFill>
              </a:rPr>
              <a:t>Aim: </a:t>
            </a:r>
            <a:r>
              <a:rPr lang="en-US" sz="3200" b="1" u="sng" dirty="0"/>
              <a:t>Experiment to demonstrate and compare capillarity in the soil types</a:t>
            </a:r>
          </a:p>
          <a:p>
            <a:pPr marL="0" indent="0">
              <a:buNone/>
            </a:pPr>
            <a:endParaRPr lang="en-US" sz="3200" b="1" u="sng" dirty="0"/>
          </a:p>
          <a:p>
            <a:pPr marL="0" indent="0">
              <a:buNone/>
            </a:pPr>
            <a:r>
              <a:rPr lang="en-US" sz="3200" b="1" u="sng" dirty="0"/>
              <a:t>Apparatus and materials</a:t>
            </a:r>
          </a:p>
          <a:p>
            <a:pPr marL="0" indent="0">
              <a:buNone/>
            </a:pPr>
            <a:r>
              <a:rPr lang="en-US" sz="3200" dirty="0"/>
              <a:t>•3 identical long narrow glass tubes</a:t>
            </a:r>
          </a:p>
          <a:p>
            <a:pPr marL="0" indent="0">
              <a:buNone/>
            </a:pPr>
            <a:r>
              <a:rPr lang="en-US" sz="3200" dirty="0"/>
              <a:t>•Glass trough or basin</a:t>
            </a:r>
          </a:p>
          <a:p>
            <a:pPr marL="0" indent="0">
              <a:buNone/>
            </a:pPr>
            <a:r>
              <a:rPr lang="en-US" sz="3200" dirty="0"/>
              <a:t>•Cotton wool</a:t>
            </a:r>
          </a:p>
          <a:p>
            <a:pPr marL="0" indent="0">
              <a:buNone/>
            </a:pPr>
            <a:r>
              <a:rPr lang="en-US" sz="3200" dirty="0"/>
              <a:t>•3 retort stands</a:t>
            </a:r>
          </a:p>
          <a:p>
            <a:pPr marL="0" indent="0">
              <a:buNone/>
            </a:pPr>
            <a:r>
              <a:rPr lang="en-US" sz="3200" dirty="0"/>
              <a:t>•Dry samples of clay, loam and sandy soil.</a:t>
            </a:r>
          </a:p>
          <a:p>
            <a:pPr marL="0" indent="0">
              <a:buNone/>
            </a:pPr>
            <a:endParaRPr lang="en-US" dirty="0"/>
          </a:p>
        </p:txBody>
      </p:sp>
    </p:spTree>
    <p:extLst>
      <p:ext uri="{BB962C8B-B14F-4D97-AF65-F5344CB8AC3E}">
        <p14:creationId xmlns:p14="http://schemas.microsoft.com/office/powerpoint/2010/main" val="1738251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C8C9A6-A4ED-5B37-DF7D-065481433C08}"/>
              </a:ext>
            </a:extLst>
          </p:cNvPr>
          <p:cNvSpPr>
            <a:spLocks noGrp="1"/>
          </p:cNvSpPr>
          <p:nvPr>
            <p:ph idx="1"/>
          </p:nvPr>
        </p:nvSpPr>
        <p:spPr>
          <a:xfrm>
            <a:off x="688622" y="395111"/>
            <a:ext cx="11142134" cy="6129867"/>
          </a:xfrm>
        </p:spPr>
        <p:txBody>
          <a:bodyPr>
            <a:noAutofit/>
          </a:bodyPr>
          <a:lstStyle/>
          <a:p>
            <a:pPr marL="0" indent="0" algn="just">
              <a:buNone/>
            </a:pPr>
            <a:r>
              <a:rPr lang="en-US" sz="3200" b="1" u="sng" dirty="0"/>
              <a:t>Procedure</a:t>
            </a:r>
          </a:p>
          <a:p>
            <a:pPr algn="just">
              <a:buFont typeface="Trebuchet MS" panose="020B0603020202020204" pitchFamily="34" charset="0"/>
              <a:buChar char="‾"/>
            </a:pPr>
            <a:r>
              <a:rPr lang="en-US" sz="3200" dirty="0"/>
              <a:t>Close each of the lower ends of the three glass tubes with a plug of cotton wool.</a:t>
            </a:r>
          </a:p>
          <a:p>
            <a:pPr algn="just">
              <a:buFont typeface="Trebuchet MS" panose="020B0603020202020204" pitchFamily="34" charset="0"/>
              <a:buChar char="‾"/>
            </a:pPr>
            <a:r>
              <a:rPr lang="en-US" sz="3200" dirty="0"/>
              <a:t>Measure equal amounts of each soil sample and put in the respective glass tubes. </a:t>
            </a:r>
          </a:p>
          <a:p>
            <a:pPr algn="just">
              <a:buFont typeface="Trebuchet MS" panose="020B0603020202020204" pitchFamily="34" charset="0"/>
              <a:buChar char="‾"/>
            </a:pPr>
            <a:r>
              <a:rPr lang="en-US" sz="3200" dirty="0"/>
              <a:t>Support each of the glass tubes vertically using retort stands, with the ends plugged with cotton immersed in a glass trough which is half-filled with water at the same time.</a:t>
            </a:r>
          </a:p>
          <a:p>
            <a:pPr algn="just">
              <a:buFont typeface="Trebuchet MS" panose="020B0603020202020204" pitchFamily="34" charset="0"/>
              <a:buChar char="‾"/>
            </a:pPr>
            <a:r>
              <a:rPr lang="en-US" sz="3200" dirty="0"/>
              <a:t>Observe and measure the rise of water in each of the three glass tubes at regular intervals (e.g. 10mins).</a:t>
            </a:r>
          </a:p>
          <a:p>
            <a:pPr marL="0" indent="0" algn="just">
              <a:buNone/>
            </a:pPr>
            <a:endParaRPr lang="en-US" sz="3200" dirty="0"/>
          </a:p>
        </p:txBody>
      </p:sp>
    </p:spTree>
    <p:extLst>
      <p:ext uri="{BB962C8B-B14F-4D97-AF65-F5344CB8AC3E}">
        <p14:creationId xmlns:p14="http://schemas.microsoft.com/office/powerpoint/2010/main" val="31716611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35C0F6-B31D-F6E5-5F56-3738E3F5813F}"/>
              </a:ext>
            </a:extLst>
          </p:cNvPr>
          <p:cNvSpPr>
            <a:spLocks noGrp="1"/>
          </p:cNvSpPr>
          <p:nvPr>
            <p:ph idx="1"/>
          </p:nvPr>
        </p:nvSpPr>
        <p:spPr>
          <a:xfrm>
            <a:off x="733778" y="632178"/>
            <a:ext cx="10394470" cy="5540022"/>
          </a:xfrm>
        </p:spPr>
        <p:txBody>
          <a:bodyPr/>
          <a:lstStyle/>
          <a:p>
            <a:pPr marL="0" indent="0">
              <a:buNone/>
            </a:pPr>
            <a:r>
              <a:rPr lang="en-US" sz="3200" b="1" u="sng" dirty="0"/>
              <a:t>Set up of apparatus</a:t>
            </a:r>
          </a:p>
          <a:p>
            <a:pPr marL="0" indent="0">
              <a:buNone/>
            </a:pPr>
            <a:endParaRPr lang="en-US" dirty="0"/>
          </a:p>
        </p:txBody>
      </p:sp>
      <p:pic>
        <p:nvPicPr>
          <p:cNvPr id="4" name="Picture 3">
            <a:extLst>
              <a:ext uri="{FF2B5EF4-FFF2-40B4-BE49-F238E27FC236}">
                <a16:creationId xmlns:a16="http://schemas.microsoft.com/office/drawing/2014/main" id="{1DB78538-C2F6-5C54-D4C5-E48216E428F5}"/>
              </a:ext>
            </a:extLst>
          </p:cNvPr>
          <p:cNvPicPr>
            <a:picLocks noChangeAspect="1"/>
          </p:cNvPicPr>
          <p:nvPr/>
        </p:nvPicPr>
        <p:blipFill>
          <a:blip r:embed="rId2"/>
          <a:stretch>
            <a:fillRect/>
          </a:stretch>
        </p:blipFill>
        <p:spPr>
          <a:xfrm>
            <a:off x="1063752" y="1360050"/>
            <a:ext cx="10673889" cy="4611772"/>
          </a:xfrm>
          <a:prstGeom prst="rect">
            <a:avLst/>
          </a:prstGeom>
        </p:spPr>
      </p:pic>
    </p:spTree>
    <p:extLst>
      <p:ext uri="{BB962C8B-B14F-4D97-AF65-F5344CB8AC3E}">
        <p14:creationId xmlns:p14="http://schemas.microsoft.com/office/powerpoint/2010/main" val="2141356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E3F32B-8416-6356-DFFD-D66BDD675E1B}"/>
              </a:ext>
            </a:extLst>
          </p:cNvPr>
          <p:cNvSpPr>
            <a:spLocks noGrp="1"/>
          </p:cNvSpPr>
          <p:nvPr>
            <p:ph idx="1"/>
          </p:nvPr>
        </p:nvSpPr>
        <p:spPr>
          <a:xfrm>
            <a:off x="417689" y="711200"/>
            <a:ext cx="11187289" cy="5461000"/>
          </a:xfrm>
        </p:spPr>
        <p:txBody>
          <a:bodyPr>
            <a:noAutofit/>
          </a:bodyPr>
          <a:lstStyle/>
          <a:p>
            <a:pPr marL="274320" marR="0" indent="0">
              <a:lnSpc>
                <a:spcPct val="115000"/>
              </a:lnSpc>
              <a:spcBef>
                <a:spcPts val="0"/>
              </a:spcBef>
              <a:spcAft>
                <a:spcPts val="0"/>
              </a:spcAft>
              <a:buNone/>
            </a:pPr>
            <a:r>
              <a:rPr lang="en-US" sz="3200" b="1" dirty="0">
                <a:effectLst/>
                <a:latin typeface="Calibri" panose="020F0502020204030204" pitchFamily="34" charset="0"/>
                <a:ea typeface="Calibri" panose="020F0502020204030204" pitchFamily="34" charset="0"/>
                <a:cs typeface="Times New Roman" panose="02020603050405020304" pitchFamily="18" charset="0"/>
              </a:rPr>
              <a:t>Observation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0"/>
              </a:spcAft>
            </a:pPr>
            <a:r>
              <a:rPr lang="en-US" sz="3200" dirty="0">
                <a:effectLst/>
                <a:latin typeface="Calibri" panose="020F0502020204030204" pitchFamily="34" charset="0"/>
                <a:ea typeface="Calibri" panose="020F0502020204030204" pitchFamily="34" charset="0"/>
                <a:cs typeface="Times New Roman" panose="02020603050405020304" pitchFamily="18" charset="0"/>
              </a:rPr>
              <a:t>Water rises very fast but stops at a low level in sandy soil.</a:t>
            </a:r>
          </a:p>
          <a:p>
            <a:pPr marL="457200" marR="0">
              <a:lnSpc>
                <a:spcPct val="115000"/>
              </a:lnSpc>
              <a:spcBef>
                <a:spcPts val="0"/>
              </a:spcBef>
              <a:spcAft>
                <a:spcPts val="0"/>
              </a:spcAft>
            </a:pPr>
            <a:r>
              <a:rPr lang="en-US" sz="3200" dirty="0">
                <a:latin typeface="Calibri" panose="020F0502020204030204" pitchFamily="34" charset="0"/>
                <a:ea typeface="Calibri" panose="020F0502020204030204" pitchFamily="34" charset="0"/>
                <a:cs typeface="Times New Roman" panose="02020603050405020304" pitchFamily="18" charset="0"/>
              </a:rPr>
              <a:t>W</a:t>
            </a:r>
            <a:r>
              <a:rPr lang="en-US" sz="3200" dirty="0">
                <a:effectLst/>
                <a:latin typeface="Calibri" panose="020F0502020204030204" pitchFamily="34" charset="0"/>
                <a:ea typeface="Calibri" panose="020F0502020204030204" pitchFamily="34" charset="0"/>
                <a:cs typeface="Times New Roman" panose="02020603050405020304" pitchFamily="18" charset="0"/>
              </a:rPr>
              <a:t>ater rises slowly but continues to </a:t>
            </a:r>
            <a:r>
              <a:rPr lang="en-US" sz="3200" dirty="0">
                <a:latin typeface="Calibri" panose="020F0502020204030204" pitchFamily="34" charset="0"/>
                <a:ea typeface="Calibri" panose="020F0502020204030204" pitchFamily="34" charset="0"/>
                <a:cs typeface="Times New Roman" panose="02020603050405020304" pitchFamily="18" charset="0"/>
              </a:rPr>
              <a:t>the</a:t>
            </a:r>
            <a:r>
              <a:rPr lang="en-US" sz="3200" dirty="0">
                <a:effectLst/>
                <a:latin typeface="Calibri" panose="020F0502020204030204" pitchFamily="34" charset="0"/>
                <a:ea typeface="Calibri" panose="020F0502020204030204" pitchFamily="34" charset="0"/>
                <a:cs typeface="Times New Roman" panose="02020603050405020304" pitchFamily="18" charset="0"/>
              </a:rPr>
              <a:t> highest level in clay soil. </a:t>
            </a:r>
          </a:p>
          <a:p>
            <a:pPr marL="457200" marR="0">
              <a:lnSpc>
                <a:spcPct val="115000"/>
              </a:lnSpc>
              <a:spcBef>
                <a:spcPts val="0"/>
              </a:spcBef>
              <a:spcAft>
                <a:spcPts val="0"/>
              </a:spcAft>
            </a:pPr>
            <a:r>
              <a:rPr lang="en-US" sz="3200" dirty="0">
                <a:effectLst/>
                <a:latin typeface="Calibri" panose="020F0502020204030204" pitchFamily="34" charset="0"/>
                <a:ea typeface="Calibri" panose="020F0502020204030204" pitchFamily="34" charset="0"/>
                <a:cs typeface="Times New Roman" panose="02020603050405020304" pitchFamily="18" charset="0"/>
              </a:rPr>
              <a:t>In loam soil water rises moderately to a medium level.</a:t>
            </a:r>
          </a:p>
          <a:p>
            <a:pPr marL="274320" marR="0" indent="0">
              <a:lnSpc>
                <a:spcPct val="115000"/>
              </a:lnSpc>
              <a:spcBef>
                <a:spcPts val="0"/>
              </a:spcBef>
              <a:spcAft>
                <a:spcPts val="0"/>
              </a:spcAft>
              <a:buNone/>
            </a:pPr>
            <a:r>
              <a:rPr lang="en-US" sz="3200" b="1" dirty="0">
                <a:effectLst/>
                <a:latin typeface="Calibri" panose="020F0502020204030204" pitchFamily="34" charset="0"/>
                <a:ea typeface="Calibri" panose="020F0502020204030204" pitchFamily="34" charset="0"/>
                <a:cs typeface="Times New Roman" panose="02020603050405020304" pitchFamily="18" charset="0"/>
              </a:rPr>
              <a:t>Conclusion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1000"/>
              </a:spcAft>
            </a:pPr>
            <a:r>
              <a:rPr lang="en-US" sz="3200" dirty="0">
                <a:effectLst/>
                <a:latin typeface="Calibri" panose="020F0502020204030204" pitchFamily="34" charset="0"/>
                <a:ea typeface="Calibri" panose="020F0502020204030204" pitchFamily="34" charset="0"/>
                <a:cs typeface="Times New Roman" panose="02020603050405020304" pitchFamily="18" charset="0"/>
              </a:rPr>
              <a:t>Clay soil has the highest capillarity while sandy soil has the lowest capillarity and loam has the medium water capillarity.</a:t>
            </a:r>
          </a:p>
          <a:p>
            <a:pPr marL="0" indent="0">
              <a:buNone/>
            </a:pPr>
            <a:endParaRPr lang="en-US" sz="3200" dirty="0"/>
          </a:p>
        </p:txBody>
      </p:sp>
    </p:spTree>
    <p:extLst>
      <p:ext uri="{BB962C8B-B14F-4D97-AF65-F5344CB8AC3E}">
        <p14:creationId xmlns:p14="http://schemas.microsoft.com/office/powerpoint/2010/main" val="36403448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A7C37E-19EE-0EFC-0CEF-ADF1369263E6}"/>
              </a:ext>
            </a:extLst>
          </p:cNvPr>
          <p:cNvSpPr>
            <a:spLocks noGrp="1"/>
          </p:cNvSpPr>
          <p:nvPr>
            <p:ph idx="1"/>
          </p:nvPr>
        </p:nvSpPr>
        <p:spPr>
          <a:xfrm>
            <a:off x="936978" y="1794933"/>
            <a:ext cx="10191270" cy="4377267"/>
          </a:xfrm>
        </p:spPr>
        <p:txBody>
          <a:bodyPr>
            <a:normAutofit/>
          </a:bodyPr>
          <a:lstStyle/>
          <a:p>
            <a:pPr marL="0" indent="0" algn="just">
              <a:buNone/>
            </a:pPr>
            <a:r>
              <a:rPr lang="en-US" sz="3200" dirty="0">
                <a:solidFill>
                  <a:srgbClr val="FF0000"/>
                </a:solidFill>
              </a:rPr>
              <a:t>Question: </a:t>
            </a:r>
          </a:p>
          <a:p>
            <a:pPr marL="0" indent="0" algn="just">
              <a:buNone/>
            </a:pPr>
            <a:r>
              <a:rPr lang="en-US" sz="3200" dirty="0"/>
              <a:t>How does size of particles influence/affect capillarity (rise of water)?</a:t>
            </a:r>
          </a:p>
          <a:p>
            <a:pPr marL="0" indent="0" algn="just">
              <a:buNone/>
            </a:pPr>
            <a:endParaRPr lang="en-US" sz="3200" dirty="0"/>
          </a:p>
        </p:txBody>
      </p:sp>
    </p:spTree>
    <p:extLst>
      <p:ext uri="{BB962C8B-B14F-4D97-AF65-F5344CB8AC3E}">
        <p14:creationId xmlns:p14="http://schemas.microsoft.com/office/powerpoint/2010/main" val="3244336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A14B1A-8A6E-AE3F-9062-BEA3E20DD946}"/>
              </a:ext>
            </a:extLst>
          </p:cNvPr>
          <p:cNvSpPr>
            <a:spLocks noGrp="1"/>
          </p:cNvSpPr>
          <p:nvPr>
            <p:ph idx="1"/>
          </p:nvPr>
        </p:nvSpPr>
        <p:spPr>
          <a:xfrm>
            <a:off x="506437" y="576775"/>
            <a:ext cx="11256585" cy="5595425"/>
          </a:xfrm>
        </p:spPr>
        <p:txBody>
          <a:bodyPr>
            <a:noAutofit/>
          </a:bodyPr>
          <a:lstStyle/>
          <a:p>
            <a:pPr marL="0" indent="0" algn="just">
              <a:buNone/>
            </a:pPr>
            <a:r>
              <a:rPr lang="en-US" sz="3200" b="1" u="sng" dirty="0">
                <a:latin typeface="Times New Roman" panose="02020603050405020304" pitchFamily="18" charset="0"/>
                <a:cs typeface="Times New Roman" panose="02020603050405020304" pitchFamily="18" charset="0"/>
              </a:rPr>
              <a:t>Explanation</a:t>
            </a:r>
          </a:p>
          <a:p>
            <a:pPr algn="just"/>
            <a:r>
              <a:rPr lang="en-US" sz="3200" dirty="0">
                <a:latin typeface="Times New Roman" panose="02020603050405020304" pitchFamily="18" charset="0"/>
                <a:cs typeface="Times New Roman" panose="02020603050405020304" pitchFamily="18" charset="0"/>
              </a:rPr>
              <a:t>Water rises fastest in sandy soil at the start of the experiment because sandy soil has large air spaces among its particles which enable water to pass rapidly.</a:t>
            </a:r>
          </a:p>
          <a:p>
            <a:pPr marL="0" indent="0" algn="just">
              <a:buNone/>
            </a:pPr>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Water rises at the slowest rate in clay soil because of the smaller air spaces among the soil particles. </a:t>
            </a:r>
          </a:p>
          <a:p>
            <a:pPr marL="0" indent="0" algn="just">
              <a:buNone/>
            </a:pPr>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Clay soil has the highest capillarity because it has many, tiny and closely packed particles which present a large surface area over which water molecules adhere (cling/attach). </a:t>
            </a:r>
          </a:p>
          <a:p>
            <a:pPr marL="0" indent="0" algn="just">
              <a:buNone/>
            </a:pPr>
            <a:endParaRPr lang="en-US" sz="3200" dirty="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728619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AC4963-905D-3197-105D-47A19E0425B0}"/>
              </a:ext>
            </a:extLst>
          </p:cNvPr>
          <p:cNvSpPr>
            <a:spLocks noGrp="1"/>
          </p:cNvSpPr>
          <p:nvPr>
            <p:ph idx="1"/>
          </p:nvPr>
        </p:nvSpPr>
        <p:spPr/>
        <p:txBody>
          <a:bodyPr>
            <a:normAutofit/>
          </a:bodyPr>
          <a:lstStyle/>
          <a:p>
            <a:pPr marL="0" indent="0">
              <a:buNone/>
            </a:pPr>
            <a:r>
              <a:rPr lang="en-US" sz="3200" dirty="0"/>
              <a:t>Discussion question:</a:t>
            </a:r>
          </a:p>
          <a:p>
            <a:pPr marL="0" indent="0">
              <a:buNone/>
            </a:pPr>
            <a:r>
              <a:rPr lang="en-US" sz="3200" dirty="0"/>
              <a:t>What is the importance of capillarity in soil?</a:t>
            </a:r>
          </a:p>
        </p:txBody>
      </p:sp>
    </p:spTree>
    <p:extLst>
      <p:ext uri="{BB962C8B-B14F-4D97-AF65-F5344CB8AC3E}">
        <p14:creationId xmlns:p14="http://schemas.microsoft.com/office/powerpoint/2010/main" val="16731204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BFB5F-8F47-BC26-3167-39B09CD42536}"/>
              </a:ext>
            </a:extLst>
          </p:cNvPr>
          <p:cNvSpPr>
            <a:spLocks noGrp="1"/>
          </p:cNvSpPr>
          <p:nvPr>
            <p:ph type="title"/>
          </p:nvPr>
        </p:nvSpPr>
        <p:spPr/>
        <p:txBody>
          <a:bodyPr/>
          <a:lstStyle/>
          <a:p>
            <a:r>
              <a:rPr lang="en-US" dirty="0"/>
              <a:t>Chemical properties of soil </a:t>
            </a:r>
          </a:p>
        </p:txBody>
      </p:sp>
      <p:sp>
        <p:nvSpPr>
          <p:cNvPr id="3" name="Content Placeholder 2">
            <a:extLst>
              <a:ext uri="{FF2B5EF4-FFF2-40B4-BE49-F238E27FC236}">
                <a16:creationId xmlns:a16="http://schemas.microsoft.com/office/drawing/2014/main" id="{A60BF695-D7E2-17FF-C9EC-045C26DC1C9A}"/>
              </a:ext>
            </a:extLst>
          </p:cNvPr>
          <p:cNvSpPr>
            <a:spLocks noGrp="1"/>
          </p:cNvSpPr>
          <p:nvPr>
            <p:ph idx="1"/>
          </p:nvPr>
        </p:nvSpPr>
        <p:spPr>
          <a:xfrm>
            <a:off x="407963" y="1969477"/>
            <a:ext cx="11479237" cy="4178105"/>
          </a:xfrm>
        </p:spPr>
        <p:txBody>
          <a:bodyPr>
            <a:normAutofit/>
          </a:bodyPr>
          <a:lstStyle/>
          <a:p>
            <a:pPr marL="0" marR="0" lvl="0" indent="0" algn="just">
              <a:lnSpc>
                <a:spcPct val="115000"/>
              </a:lnSpc>
              <a:spcBef>
                <a:spcPts val="0"/>
              </a:spcBef>
              <a:spcAft>
                <a:spcPts val="0"/>
              </a:spcAft>
              <a:buNone/>
            </a:pPr>
            <a:r>
              <a:rPr lang="en-US" sz="3200" b="1" u="sng" dirty="0">
                <a:effectLst/>
                <a:latin typeface="Times New Roman" panose="02020603050405020304" pitchFamily="18" charset="0"/>
                <a:ea typeface="Calibri" panose="020F0502020204030204" pitchFamily="34" charset="0"/>
                <a:cs typeface="Times New Roman" panose="02020603050405020304" pitchFamily="18" charset="0"/>
              </a:rPr>
              <a:t>Soil pH</a:t>
            </a: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pH is the measure of hydrogen ion (H+) concentration.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Soil pH is the measure of acidity or alkalinity of soil.</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High hydrogen ion concentration results into low pH (High acidity).</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Low hydrogen ion concentration results into high pH (low acidity).</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61952023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B3694B-8720-6663-CEA3-353DE3764A16}"/>
              </a:ext>
            </a:extLst>
          </p:cNvPr>
          <p:cNvSpPr>
            <a:spLocks noGrp="1"/>
          </p:cNvSpPr>
          <p:nvPr>
            <p:ph idx="1"/>
          </p:nvPr>
        </p:nvSpPr>
        <p:spPr/>
        <p:txBody>
          <a:bodyPr/>
          <a:lstStyle/>
          <a:p>
            <a:pPr marL="0" indent="0">
              <a:buNone/>
            </a:pPr>
            <a:r>
              <a:rPr lang="en-US" sz="3200" dirty="0"/>
              <a:t>How can you determine the pH of a soil sample?</a:t>
            </a:r>
          </a:p>
          <a:p>
            <a:endParaRPr lang="en-US" dirty="0"/>
          </a:p>
        </p:txBody>
      </p:sp>
    </p:spTree>
    <p:extLst>
      <p:ext uri="{BB962C8B-B14F-4D97-AF65-F5344CB8AC3E}">
        <p14:creationId xmlns:p14="http://schemas.microsoft.com/office/powerpoint/2010/main" val="6105272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7670F9-DC44-E12F-C559-66A4CBB96AEB}"/>
              </a:ext>
            </a:extLst>
          </p:cNvPr>
          <p:cNvSpPr>
            <a:spLocks noGrp="1"/>
          </p:cNvSpPr>
          <p:nvPr>
            <p:ph idx="1"/>
          </p:nvPr>
        </p:nvSpPr>
        <p:spPr>
          <a:xfrm>
            <a:off x="1" y="0"/>
            <a:ext cx="11887200" cy="6858000"/>
          </a:xfrm>
        </p:spPr>
        <p:txBody>
          <a:bodyPr>
            <a:noAutofit/>
          </a:bodyPr>
          <a:lstStyle/>
          <a:p>
            <a:pPr marL="0" indent="0">
              <a:buNone/>
            </a:pPr>
            <a:r>
              <a:rPr lang="en-US" sz="3200" b="1" u="sng" dirty="0"/>
              <a:t>Aim: An experiment to determine pH of a soil sample</a:t>
            </a:r>
          </a:p>
          <a:p>
            <a:pPr marL="0" indent="0">
              <a:buNone/>
            </a:pPr>
            <a:r>
              <a:rPr lang="en-US" sz="3200" b="1" dirty="0"/>
              <a:t>Apparatus and materials</a:t>
            </a:r>
          </a:p>
          <a:p>
            <a:r>
              <a:rPr lang="en-US" sz="3200" dirty="0"/>
              <a:t>Soil sample, test tube, distilled water, universal indicator solution (or universal indicator paper), pH color chart.</a:t>
            </a:r>
          </a:p>
          <a:p>
            <a:pPr marL="0" indent="0">
              <a:buNone/>
            </a:pPr>
            <a:r>
              <a:rPr lang="en-US" sz="3200" b="1" dirty="0"/>
              <a:t>Procedure </a:t>
            </a:r>
          </a:p>
          <a:p>
            <a:pPr>
              <a:buFont typeface="Arial" panose="020B0604020202020204" pitchFamily="34" charset="0"/>
              <a:buChar char="•"/>
            </a:pPr>
            <a:r>
              <a:rPr lang="en-US" sz="3200" dirty="0"/>
              <a:t>Put the soil sample into a test tube.</a:t>
            </a:r>
          </a:p>
          <a:p>
            <a:pPr>
              <a:buFont typeface="Arial" panose="020B0604020202020204" pitchFamily="34" charset="0"/>
              <a:buChar char="•"/>
            </a:pPr>
            <a:r>
              <a:rPr lang="en-US" sz="3200" dirty="0"/>
              <a:t>Add distilled water and 3 drops of universal indicator, and shake (or dip a piece of universal indicator paper).</a:t>
            </a:r>
          </a:p>
          <a:p>
            <a:pPr>
              <a:buFont typeface="Arial" panose="020B0604020202020204" pitchFamily="34" charset="0"/>
              <a:buChar char="•"/>
            </a:pPr>
            <a:r>
              <a:rPr lang="en-US" sz="3200" dirty="0"/>
              <a:t>Leave the mixture to settle and note the color change of the mixture (or indicator paper)</a:t>
            </a:r>
          </a:p>
          <a:p>
            <a:pPr>
              <a:buFont typeface="Arial" panose="020B0604020202020204" pitchFamily="34" charset="0"/>
              <a:buChar char="•"/>
            </a:pPr>
            <a:r>
              <a:rPr lang="en-US" sz="3200" dirty="0"/>
              <a:t>Match the color of the mixture with the color on the pH color chart.</a:t>
            </a:r>
          </a:p>
          <a:p>
            <a:pPr>
              <a:buFont typeface="Arial" panose="020B0604020202020204" pitchFamily="34" charset="0"/>
              <a:buChar char="•"/>
            </a:pPr>
            <a:r>
              <a:rPr lang="en-US" sz="3200" dirty="0"/>
              <a:t>Record the corresponding pH value.</a:t>
            </a:r>
          </a:p>
          <a:p>
            <a:pPr marL="0" indent="0">
              <a:buNone/>
            </a:pPr>
            <a:endParaRPr lang="en-US" sz="3200" dirty="0"/>
          </a:p>
        </p:txBody>
      </p:sp>
    </p:spTree>
    <p:extLst>
      <p:ext uri="{BB962C8B-B14F-4D97-AF65-F5344CB8AC3E}">
        <p14:creationId xmlns:p14="http://schemas.microsoft.com/office/powerpoint/2010/main" val="37777073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07680D-81B9-2B0C-23F1-69AC87378106}"/>
              </a:ext>
            </a:extLst>
          </p:cNvPr>
          <p:cNvSpPr>
            <a:spLocks noGrp="1"/>
          </p:cNvSpPr>
          <p:nvPr>
            <p:ph idx="1"/>
          </p:nvPr>
        </p:nvSpPr>
        <p:spPr>
          <a:xfrm>
            <a:off x="623455" y="983673"/>
            <a:ext cx="10504793" cy="5188527"/>
          </a:xfrm>
        </p:spPr>
        <p:txBody>
          <a:bodyPr>
            <a:normAutofit/>
          </a:bodyPr>
          <a:lstStyle/>
          <a:p>
            <a:pPr marL="0" indent="0">
              <a:buNone/>
            </a:pPr>
            <a:r>
              <a:rPr lang="en-US" sz="3200" b="1" dirty="0"/>
              <a:t>pH influences the following:</a:t>
            </a:r>
          </a:p>
          <a:p>
            <a:pPr>
              <a:buFont typeface="Arial" panose="020B0604020202020204" pitchFamily="34" charset="0"/>
              <a:buChar char="•"/>
            </a:pPr>
            <a:r>
              <a:rPr lang="en-US" sz="3200" dirty="0"/>
              <a:t>Activity of soil microorganisms e.g. nitrogen fixing bacteria.</a:t>
            </a:r>
          </a:p>
          <a:p>
            <a:pPr>
              <a:buFont typeface="Arial" panose="020B0604020202020204" pitchFamily="34" charset="0"/>
              <a:buChar char="•"/>
            </a:pPr>
            <a:r>
              <a:rPr lang="en-US" sz="3200" dirty="0"/>
              <a:t>Availability of nutrients in soil.</a:t>
            </a:r>
          </a:p>
          <a:p>
            <a:pPr>
              <a:buFont typeface="Arial" panose="020B0604020202020204" pitchFamily="34" charset="0"/>
              <a:buChar char="•"/>
            </a:pPr>
            <a:r>
              <a:rPr lang="en-US" sz="3200" dirty="0"/>
              <a:t>Toxicity of mineral elements e.g. Aluminum becomes toxic at pH less than 5.</a:t>
            </a:r>
          </a:p>
          <a:p>
            <a:pPr>
              <a:buFont typeface="Arial" panose="020B0604020202020204" pitchFamily="34" charset="0"/>
              <a:buChar char="•"/>
            </a:pPr>
            <a:r>
              <a:rPr lang="en-US" sz="3200" dirty="0"/>
              <a:t>Type of plant that grows well in soil.</a:t>
            </a:r>
          </a:p>
          <a:p>
            <a:endParaRPr lang="en-US" sz="3200" dirty="0"/>
          </a:p>
        </p:txBody>
      </p:sp>
    </p:spTree>
    <p:extLst>
      <p:ext uri="{BB962C8B-B14F-4D97-AF65-F5344CB8AC3E}">
        <p14:creationId xmlns:p14="http://schemas.microsoft.com/office/powerpoint/2010/main" val="188537311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7A73A5-CCC8-3069-897C-225974C4B4DE}"/>
              </a:ext>
            </a:extLst>
          </p:cNvPr>
          <p:cNvSpPr>
            <a:spLocks noGrp="1"/>
          </p:cNvSpPr>
          <p:nvPr>
            <p:ph idx="1"/>
          </p:nvPr>
        </p:nvSpPr>
        <p:spPr>
          <a:xfrm>
            <a:off x="812800" y="1332089"/>
            <a:ext cx="10315448" cy="4840111"/>
          </a:xfrm>
        </p:spPr>
        <p:txBody>
          <a:bodyPr>
            <a:normAutofit/>
          </a:bodyPr>
          <a:lstStyle/>
          <a:p>
            <a:pPr marL="0" indent="0">
              <a:buNone/>
            </a:pPr>
            <a:r>
              <a:rPr lang="en-US" sz="3200" dirty="0"/>
              <a:t>Soil Ph can be changed by applying:</a:t>
            </a:r>
          </a:p>
          <a:p>
            <a:r>
              <a:rPr lang="en-US" sz="3200" dirty="0"/>
              <a:t>Lime to raise pH</a:t>
            </a:r>
          </a:p>
          <a:p>
            <a:r>
              <a:rPr lang="en-US" sz="3200" dirty="0"/>
              <a:t>Sulphur and acidic fertilizers to lower pH</a:t>
            </a:r>
          </a:p>
          <a:p>
            <a:r>
              <a:rPr lang="en-US" sz="3200" dirty="0"/>
              <a:t>Basic fertilizers to raise pH </a:t>
            </a:r>
          </a:p>
          <a:p>
            <a:pPr marL="0" indent="0">
              <a:buNone/>
            </a:pPr>
            <a:endParaRPr lang="en-US" sz="3200" dirty="0"/>
          </a:p>
          <a:p>
            <a:pPr marL="0" indent="0">
              <a:buNone/>
            </a:pPr>
            <a:endParaRPr lang="en-US" sz="3200" dirty="0"/>
          </a:p>
        </p:txBody>
      </p:sp>
    </p:spTree>
    <p:extLst>
      <p:ext uri="{BB962C8B-B14F-4D97-AF65-F5344CB8AC3E}">
        <p14:creationId xmlns:p14="http://schemas.microsoft.com/office/powerpoint/2010/main" val="314557008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38E9B-9BF4-D0D0-9CCC-8707B3209ED3}"/>
              </a:ext>
            </a:extLst>
          </p:cNvPr>
          <p:cNvSpPr>
            <a:spLocks noGrp="1"/>
          </p:cNvSpPr>
          <p:nvPr>
            <p:ph type="title"/>
          </p:nvPr>
        </p:nvSpPr>
        <p:spPr>
          <a:xfrm>
            <a:off x="1161456" y="0"/>
            <a:ext cx="10058400" cy="1609344"/>
          </a:xfrm>
        </p:spPr>
        <p:txBody>
          <a:bodyPr/>
          <a:lstStyle/>
          <a:p>
            <a:r>
              <a:rPr lang="en-US" dirty="0"/>
              <a:t>Activity of integration</a:t>
            </a:r>
          </a:p>
        </p:txBody>
      </p:sp>
      <p:sp>
        <p:nvSpPr>
          <p:cNvPr id="3" name="Content Placeholder 2">
            <a:extLst>
              <a:ext uri="{FF2B5EF4-FFF2-40B4-BE49-F238E27FC236}">
                <a16:creationId xmlns:a16="http://schemas.microsoft.com/office/drawing/2014/main" id="{AD081942-33B8-D885-4099-EBE0D6A1CDDC}"/>
              </a:ext>
            </a:extLst>
          </p:cNvPr>
          <p:cNvSpPr>
            <a:spLocks noGrp="1"/>
          </p:cNvSpPr>
          <p:nvPr>
            <p:ph idx="1"/>
          </p:nvPr>
        </p:nvSpPr>
        <p:spPr>
          <a:xfrm>
            <a:off x="658452" y="969373"/>
            <a:ext cx="10875096" cy="4617154"/>
          </a:xfrm>
        </p:spPr>
        <p:txBody>
          <a:bodyPr>
            <a:noAutofit/>
          </a:bodyPr>
          <a:lstStyle/>
          <a:p>
            <a:pPr marL="0" indent="0" algn="just">
              <a:buNone/>
            </a:pPr>
            <a:r>
              <a:rPr lang="en-US" sz="3200" dirty="0"/>
              <a:t>Agriculture is the backbone of Uganda’s economy. However crops do well in some areas and poorly in others. This is a result of differences in properties of soil in different areas. You are the Agriculture Extension Officer with the task of educating a group of farmers on how to increase crop food production. </a:t>
            </a:r>
          </a:p>
          <a:p>
            <a:pPr marL="0" indent="0" algn="just">
              <a:buNone/>
            </a:pPr>
            <a:r>
              <a:rPr lang="en-US" sz="3200" dirty="0"/>
              <a:t>Task:</a:t>
            </a:r>
          </a:p>
          <a:p>
            <a:pPr marL="0" indent="0" algn="just">
              <a:buNone/>
            </a:pPr>
            <a:r>
              <a:rPr lang="en-US" sz="3200" dirty="0"/>
              <a:t>Write an essay to explain to them the different properties of soil, stating how each property affects crop growth so that they will be able to choose right places to grow crops.</a:t>
            </a:r>
          </a:p>
        </p:txBody>
      </p:sp>
    </p:spTree>
    <p:extLst>
      <p:ext uri="{BB962C8B-B14F-4D97-AF65-F5344CB8AC3E}">
        <p14:creationId xmlns:p14="http://schemas.microsoft.com/office/powerpoint/2010/main" val="357409052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BACC4-4CAD-5373-4D85-9298EEA5D982}"/>
              </a:ext>
            </a:extLst>
          </p:cNvPr>
          <p:cNvSpPr>
            <a:spLocks noGrp="1"/>
          </p:cNvSpPr>
          <p:nvPr>
            <p:ph type="title"/>
          </p:nvPr>
        </p:nvSpPr>
        <p:spPr/>
        <p:txBody>
          <a:bodyPr/>
          <a:lstStyle/>
          <a:p>
            <a:pPr algn="ctr"/>
            <a:r>
              <a:rPr lang="en-US" u="sng" dirty="0"/>
              <a:t>Soil fertility, erosion and conservation</a:t>
            </a:r>
          </a:p>
        </p:txBody>
      </p:sp>
      <p:sp>
        <p:nvSpPr>
          <p:cNvPr id="3" name="Content Placeholder 2">
            <a:extLst>
              <a:ext uri="{FF2B5EF4-FFF2-40B4-BE49-F238E27FC236}">
                <a16:creationId xmlns:a16="http://schemas.microsoft.com/office/drawing/2014/main" id="{F05ECCBB-3FBC-5092-2DA0-EECFB7937C88}"/>
              </a:ext>
            </a:extLst>
          </p:cNvPr>
          <p:cNvSpPr>
            <a:spLocks noGrp="1"/>
          </p:cNvSpPr>
          <p:nvPr>
            <p:ph idx="1"/>
          </p:nvPr>
        </p:nvSpPr>
        <p:spPr>
          <a:xfrm>
            <a:off x="733778" y="2459849"/>
            <a:ext cx="10496070" cy="3895570"/>
          </a:xfrm>
        </p:spPr>
        <p:txBody>
          <a:bodyPr>
            <a:normAutofit/>
          </a:bodyPr>
          <a:lstStyle/>
          <a:p>
            <a:r>
              <a:rPr lang="en-US" sz="4000" dirty="0"/>
              <a:t>What is meant by fertile soil?</a:t>
            </a:r>
          </a:p>
          <a:p>
            <a:r>
              <a:rPr lang="en-US" sz="4000" dirty="0"/>
              <a:t>What are the features/characteristics of a fertile soil?</a:t>
            </a:r>
          </a:p>
          <a:p>
            <a:r>
              <a:rPr lang="en-US" sz="4000" dirty="0"/>
              <a:t>What are the causes of reduced soil fertility?</a:t>
            </a:r>
          </a:p>
        </p:txBody>
      </p:sp>
    </p:spTree>
    <p:extLst>
      <p:ext uri="{BB962C8B-B14F-4D97-AF65-F5344CB8AC3E}">
        <p14:creationId xmlns:p14="http://schemas.microsoft.com/office/powerpoint/2010/main" val="424634805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E78F34-9A9D-8080-8FA6-737F5D109768}"/>
              </a:ext>
            </a:extLst>
          </p:cNvPr>
          <p:cNvSpPr>
            <a:spLocks noGrp="1"/>
          </p:cNvSpPr>
          <p:nvPr>
            <p:ph idx="1"/>
          </p:nvPr>
        </p:nvSpPr>
        <p:spPr>
          <a:xfrm>
            <a:off x="-1" y="0"/>
            <a:ext cx="11977511" cy="6378222"/>
          </a:xfrm>
        </p:spPr>
        <p:txBody>
          <a:bodyPr>
            <a:noAutofit/>
          </a:bodyPr>
          <a:lstStyle/>
          <a:p>
            <a:r>
              <a:rPr lang="en-US" sz="3200" dirty="0"/>
              <a:t>Soil fertility is the ability of soil to sustain plant growth by providing right amounts of plant nutrients and favorable chemical and physical conditions. </a:t>
            </a:r>
          </a:p>
          <a:p>
            <a:pPr marL="0" indent="0" algn="ctr">
              <a:buNone/>
            </a:pPr>
            <a:r>
              <a:rPr lang="en-US" sz="3200" b="1" u="sng" dirty="0"/>
              <a:t>Features of fertile soil</a:t>
            </a:r>
          </a:p>
          <a:p>
            <a:r>
              <a:rPr lang="en-US" sz="3200" dirty="0"/>
              <a:t>Good depth to give strong anchorage to plants.</a:t>
            </a:r>
          </a:p>
          <a:p>
            <a:r>
              <a:rPr lang="en-US" sz="3200" dirty="0"/>
              <a:t>Good aeration to provide air for respiration of plant roots and soil organisms.</a:t>
            </a:r>
          </a:p>
          <a:p>
            <a:r>
              <a:rPr lang="en-US" sz="3200" dirty="0"/>
              <a:t>Good water retention to ensure adequate provide adequate water for plant growth.</a:t>
            </a:r>
          </a:p>
          <a:p>
            <a:r>
              <a:rPr lang="en-US" sz="3200" dirty="0"/>
              <a:t>Proper drainage ensures adequate air in the soil.</a:t>
            </a:r>
          </a:p>
          <a:p>
            <a:r>
              <a:rPr lang="en-US" sz="3200" dirty="0"/>
              <a:t>Correct pH that favors plant growth. </a:t>
            </a:r>
          </a:p>
          <a:p>
            <a:r>
              <a:rPr lang="en-US" sz="3200" dirty="0"/>
              <a:t>Adequate nutrients in forms absorbable by plant roots.</a:t>
            </a:r>
          </a:p>
        </p:txBody>
      </p:sp>
    </p:spTree>
    <p:extLst>
      <p:ext uri="{BB962C8B-B14F-4D97-AF65-F5344CB8AC3E}">
        <p14:creationId xmlns:p14="http://schemas.microsoft.com/office/powerpoint/2010/main" val="347750033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F38FCF-AC19-1348-E112-873FA26D1A3F}"/>
              </a:ext>
            </a:extLst>
          </p:cNvPr>
          <p:cNvSpPr>
            <a:spLocks noGrp="1"/>
          </p:cNvSpPr>
          <p:nvPr>
            <p:ph idx="1"/>
          </p:nvPr>
        </p:nvSpPr>
        <p:spPr/>
        <p:txBody>
          <a:bodyPr>
            <a:normAutofit/>
          </a:bodyPr>
          <a:lstStyle/>
          <a:p>
            <a:pPr marL="0" indent="0">
              <a:buNone/>
            </a:pPr>
            <a:r>
              <a:rPr lang="en-US" sz="3600" dirty="0"/>
              <a:t>Reflect on this:</a:t>
            </a:r>
          </a:p>
          <a:p>
            <a:pPr marL="0" indent="0">
              <a:buNone/>
            </a:pPr>
            <a:r>
              <a:rPr lang="en-US" sz="3600" dirty="0"/>
              <a:t>Explain why fertility may be low in clay soil.</a:t>
            </a:r>
          </a:p>
        </p:txBody>
      </p:sp>
    </p:spTree>
    <p:extLst>
      <p:ext uri="{BB962C8B-B14F-4D97-AF65-F5344CB8AC3E}">
        <p14:creationId xmlns:p14="http://schemas.microsoft.com/office/powerpoint/2010/main" val="387507052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B3F9B9-7968-3648-E04F-9056180809E2}"/>
              </a:ext>
            </a:extLst>
          </p:cNvPr>
          <p:cNvSpPr>
            <a:spLocks noGrp="1"/>
          </p:cNvSpPr>
          <p:nvPr>
            <p:ph idx="1"/>
          </p:nvPr>
        </p:nvSpPr>
        <p:spPr>
          <a:xfrm>
            <a:off x="169334" y="366888"/>
            <a:ext cx="11322755" cy="6491112"/>
          </a:xfrm>
        </p:spPr>
        <p:txBody>
          <a:bodyPr>
            <a:noAutofit/>
          </a:bodyPr>
          <a:lstStyle/>
          <a:p>
            <a:pPr marL="0" marR="0" lvl="0" indent="0" algn="ctr">
              <a:lnSpc>
                <a:spcPct val="115000"/>
              </a:lnSpc>
              <a:spcBef>
                <a:spcPts val="0"/>
              </a:spcBef>
              <a:spcAft>
                <a:spcPts val="0"/>
              </a:spcAft>
              <a:buNone/>
              <a:tabLst>
                <a:tab pos="228600" algn="l"/>
              </a:tabLst>
            </a:pPr>
            <a:r>
              <a:rPr lang="en-US" sz="2800" b="1" u="sng" dirty="0">
                <a:effectLst/>
                <a:latin typeface="Times New Roman" panose="02020603050405020304" pitchFamily="18" charset="0"/>
                <a:ea typeface="Calibri" panose="020F0502020204030204" pitchFamily="34" charset="0"/>
                <a:cs typeface="Times New Roman" panose="02020603050405020304" pitchFamily="18" charset="0"/>
              </a:rPr>
              <a:t>Loss of soil fertility</a:t>
            </a:r>
          </a:p>
          <a:p>
            <a:pPr marL="342900" marR="0" lvl="0" indent="-342900" algn="just">
              <a:lnSpc>
                <a:spcPct val="115000"/>
              </a:lnSpc>
              <a:spcBef>
                <a:spcPts val="0"/>
              </a:spcBef>
              <a:spcAft>
                <a:spcPts val="0"/>
              </a:spcAft>
              <a:buFont typeface="Symbol" panose="05050102010706020507" pitchFamily="18" charset="2"/>
              <a:buChar char=""/>
              <a:tabLst>
                <a:tab pos="228600" algn="l"/>
              </a:tabLst>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Soil erosion:</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removal of top soil containing nutrients and soil particles.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tabLst>
                <a:tab pos="228600" algn="l"/>
              </a:tabLst>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Leaching:</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It is the washing down of soluble minerals from topsoil layers to bottom layers where plant roots cannot reach.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tabLst>
                <a:tab pos="228600" algn="l"/>
              </a:tabLst>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Soil exhaustion:</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It is the loss of soil fertility as a result of over utilization of mineral salts (nutrients) by crops.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15000"/>
              </a:lnSpc>
              <a:spcBef>
                <a:spcPts val="0"/>
              </a:spcBef>
              <a:spcAft>
                <a:spcPts val="0"/>
              </a:spcAft>
              <a:tabLst>
                <a:tab pos="228600" algn="l"/>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It results from poor farming methods such as monoculture, over cultivation, over cropping etc.</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tabLst>
                <a:tab pos="228600" algn="l"/>
              </a:tabLst>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Nutrient immobilization</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use of nutrients by soil microorganisms, making them unavailable to plants.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800" dirty="0"/>
          </a:p>
        </p:txBody>
      </p:sp>
    </p:spTree>
    <p:extLst>
      <p:ext uri="{BB962C8B-B14F-4D97-AF65-F5344CB8AC3E}">
        <p14:creationId xmlns:p14="http://schemas.microsoft.com/office/powerpoint/2010/main" val="376678937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2F5D68-1C11-765F-997C-2C8708663306}"/>
              </a:ext>
            </a:extLst>
          </p:cNvPr>
          <p:cNvSpPr>
            <a:spLocks noGrp="1"/>
          </p:cNvSpPr>
          <p:nvPr>
            <p:ph idx="1"/>
          </p:nvPr>
        </p:nvSpPr>
        <p:spPr>
          <a:xfrm>
            <a:off x="745067" y="891822"/>
            <a:ext cx="10383181" cy="5280378"/>
          </a:xfrm>
        </p:spPr>
        <p:txBody>
          <a:bodyPr>
            <a:normAutofit fontScale="47500" lnSpcReduction="20000"/>
          </a:bodyPr>
          <a:lstStyle/>
          <a:p>
            <a:pPr marL="342900" marR="0" lvl="0" indent="-342900" algn="just">
              <a:lnSpc>
                <a:spcPct val="115000"/>
              </a:lnSpc>
              <a:spcBef>
                <a:spcPts val="0"/>
              </a:spcBef>
              <a:spcAft>
                <a:spcPts val="0"/>
              </a:spcAft>
              <a:buFont typeface="Symbol" panose="05050102010706020507" pitchFamily="18" charset="2"/>
              <a:buChar char=""/>
              <a:tabLst>
                <a:tab pos="228600" algn="l"/>
              </a:tabLst>
            </a:pPr>
            <a:r>
              <a:rPr lang="en-US" sz="7300" b="1" dirty="0">
                <a:effectLst/>
                <a:latin typeface="Times New Roman" panose="02020603050405020304" pitchFamily="18" charset="0"/>
                <a:ea typeface="Calibri" panose="020F0502020204030204" pitchFamily="34" charset="0"/>
                <a:cs typeface="Times New Roman" panose="02020603050405020304" pitchFamily="18" charset="0"/>
              </a:rPr>
              <a:t>Volatilization:</a:t>
            </a:r>
            <a:r>
              <a:rPr lang="en-US" sz="7300" dirty="0">
                <a:effectLst/>
                <a:latin typeface="Times New Roman" panose="02020603050405020304" pitchFamily="18" charset="0"/>
                <a:ea typeface="Calibri" panose="020F0502020204030204" pitchFamily="34" charset="0"/>
                <a:cs typeface="Times New Roman" panose="02020603050405020304" pitchFamily="18" charset="0"/>
              </a:rPr>
              <a:t> Loss of nitrogen from the soil in gaseous form. </a:t>
            </a:r>
            <a:endParaRPr lang="en-US" sz="73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tabLst>
                <a:tab pos="228600" algn="l"/>
              </a:tabLst>
            </a:pPr>
            <a:r>
              <a:rPr lang="en-US" sz="7300" b="1" dirty="0">
                <a:effectLst/>
                <a:latin typeface="Times New Roman" panose="02020603050405020304" pitchFamily="18" charset="0"/>
                <a:ea typeface="Calibri" panose="020F0502020204030204" pitchFamily="34" charset="0"/>
                <a:cs typeface="Times New Roman" panose="02020603050405020304" pitchFamily="18" charset="0"/>
              </a:rPr>
              <a:t>Soil compaction:</a:t>
            </a:r>
            <a:r>
              <a:rPr lang="en-US" sz="7300" dirty="0">
                <a:effectLst/>
                <a:latin typeface="Times New Roman" panose="02020603050405020304" pitchFamily="18" charset="0"/>
                <a:ea typeface="Calibri" panose="020F0502020204030204" pitchFamily="34" charset="0"/>
                <a:cs typeface="Times New Roman" panose="02020603050405020304" pitchFamily="18" charset="0"/>
              </a:rPr>
              <a:t> Hardening of soil on the surface due to compression by heavy machinery, movement of animals and man on soil, etc. </a:t>
            </a:r>
            <a:endParaRPr lang="en-US" sz="73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tabLst>
                <a:tab pos="228600" algn="l"/>
              </a:tabLst>
            </a:pPr>
            <a:r>
              <a:rPr lang="en-US" sz="7300" b="1" dirty="0">
                <a:effectLst/>
                <a:latin typeface="Times New Roman" panose="02020603050405020304" pitchFamily="18" charset="0"/>
                <a:ea typeface="Calibri" panose="020F0502020204030204" pitchFamily="34" charset="0"/>
                <a:cs typeface="Times New Roman" panose="02020603050405020304" pitchFamily="18" charset="0"/>
              </a:rPr>
              <a:t>Over use of chemical fertilizers:</a:t>
            </a:r>
            <a:r>
              <a:rPr lang="en-US" sz="7300" dirty="0">
                <a:effectLst/>
                <a:latin typeface="Times New Roman" panose="02020603050405020304" pitchFamily="18" charset="0"/>
                <a:ea typeface="Calibri" panose="020F0502020204030204" pitchFamily="34" charset="0"/>
                <a:cs typeface="Times New Roman" panose="02020603050405020304" pitchFamily="18" charset="0"/>
              </a:rPr>
              <a:t> Leads to soil acidification and chemical burns to plants.</a:t>
            </a:r>
            <a:endParaRPr lang="en-US" sz="73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tabLst>
                <a:tab pos="228600" algn="l"/>
              </a:tabLst>
            </a:pPr>
            <a:r>
              <a:rPr lang="en-US" sz="7300" b="1" dirty="0">
                <a:effectLst/>
                <a:latin typeface="Times New Roman" panose="02020603050405020304" pitchFamily="18" charset="0"/>
                <a:ea typeface="Calibri" panose="020F0502020204030204" pitchFamily="34" charset="0"/>
                <a:cs typeface="Times New Roman" panose="02020603050405020304" pitchFamily="18" charset="0"/>
              </a:rPr>
              <a:t>Poor disposal of plastics:</a:t>
            </a:r>
            <a:r>
              <a:rPr lang="en-US" sz="7300" dirty="0">
                <a:effectLst/>
                <a:latin typeface="Times New Roman" panose="02020603050405020304" pitchFamily="18" charset="0"/>
                <a:ea typeface="Calibri" panose="020F0502020204030204" pitchFamily="34" charset="0"/>
                <a:cs typeface="Times New Roman" panose="02020603050405020304" pitchFamily="18" charset="0"/>
              </a:rPr>
              <a:t> Reduces soil aeration and drainage.</a:t>
            </a:r>
            <a:endParaRPr lang="en-US" sz="73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88999492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F1752-970B-8F22-C69E-9706B85551B1}"/>
              </a:ext>
            </a:extLst>
          </p:cNvPr>
          <p:cNvSpPr>
            <a:spLocks noGrp="1"/>
          </p:cNvSpPr>
          <p:nvPr>
            <p:ph type="title"/>
          </p:nvPr>
        </p:nvSpPr>
        <p:spPr/>
        <p:txBody>
          <a:bodyPr/>
          <a:lstStyle/>
          <a:p>
            <a:pPr algn="ctr"/>
            <a:r>
              <a:rPr lang="en-US" dirty="0"/>
              <a:t>Soil erosion</a:t>
            </a:r>
          </a:p>
        </p:txBody>
      </p:sp>
      <p:sp>
        <p:nvSpPr>
          <p:cNvPr id="3" name="Content Placeholder 2">
            <a:extLst>
              <a:ext uri="{FF2B5EF4-FFF2-40B4-BE49-F238E27FC236}">
                <a16:creationId xmlns:a16="http://schemas.microsoft.com/office/drawing/2014/main" id="{EC7954C7-6AEE-0458-8368-21930AA20B50}"/>
              </a:ext>
            </a:extLst>
          </p:cNvPr>
          <p:cNvSpPr>
            <a:spLocks noGrp="1"/>
          </p:cNvSpPr>
          <p:nvPr>
            <p:ph idx="1"/>
          </p:nvPr>
        </p:nvSpPr>
        <p:spPr/>
        <p:txBody>
          <a:bodyPr>
            <a:normAutofit/>
          </a:bodyPr>
          <a:lstStyle/>
          <a:p>
            <a:pPr marL="457200" indent="-457200">
              <a:buFont typeface="+mj-lt"/>
              <a:buAutoNum type="alphaLcParenR"/>
            </a:pPr>
            <a:r>
              <a:rPr lang="en-US" sz="3200" dirty="0"/>
              <a:t>What is soil erosion?</a:t>
            </a:r>
          </a:p>
          <a:p>
            <a:pPr marL="457200" indent="-457200">
              <a:buFont typeface="+mj-lt"/>
              <a:buAutoNum type="alphaLcParenR"/>
            </a:pPr>
            <a:r>
              <a:rPr lang="en-US" sz="3200" dirty="0"/>
              <a:t>What are the causes of soil erosion?</a:t>
            </a:r>
          </a:p>
          <a:p>
            <a:pPr marL="457200" indent="-457200">
              <a:buFont typeface="+mj-lt"/>
              <a:buAutoNum type="alphaLcParenR"/>
            </a:pPr>
            <a:r>
              <a:rPr lang="en-US" sz="3200" dirty="0"/>
              <a:t>What are the types of soil erosion?</a:t>
            </a:r>
          </a:p>
          <a:p>
            <a:pPr marL="457200" indent="-457200">
              <a:buFont typeface="+mj-lt"/>
              <a:buAutoNum type="alphaLcParenR"/>
            </a:pPr>
            <a:r>
              <a:rPr lang="en-US" sz="3200" dirty="0"/>
              <a:t>What are the effects of soil erosion in your community?</a:t>
            </a:r>
          </a:p>
          <a:p>
            <a:endParaRPr lang="en-US" sz="3200" dirty="0"/>
          </a:p>
        </p:txBody>
      </p:sp>
    </p:spTree>
    <p:extLst>
      <p:ext uri="{BB962C8B-B14F-4D97-AF65-F5344CB8AC3E}">
        <p14:creationId xmlns:p14="http://schemas.microsoft.com/office/powerpoint/2010/main" val="163540956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C6A8B-DFF4-C30E-0860-E3064E179810}"/>
              </a:ext>
            </a:extLst>
          </p:cNvPr>
          <p:cNvSpPr>
            <a:spLocks noGrp="1"/>
          </p:cNvSpPr>
          <p:nvPr>
            <p:ph type="title"/>
          </p:nvPr>
        </p:nvSpPr>
        <p:spPr>
          <a:xfrm>
            <a:off x="979536" y="0"/>
            <a:ext cx="10058400" cy="1609344"/>
          </a:xfrm>
        </p:spPr>
        <p:txBody>
          <a:bodyPr/>
          <a:lstStyle/>
          <a:p>
            <a:pPr algn="ctr"/>
            <a:r>
              <a:rPr lang="en-US" dirty="0"/>
              <a:t>Soil erosion</a:t>
            </a:r>
          </a:p>
        </p:txBody>
      </p:sp>
      <p:sp>
        <p:nvSpPr>
          <p:cNvPr id="3" name="Content Placeholder 2">
            <a:extLst>
              <a:ext uri="{FF2B5EF4-FFF2-40B4-BE49-F238E27FC236}">
                <a16:creationId xmlns:a16="http://schemas.microsoft.com/office/drawing/2014/main" id="{95D00DB8-DCA8-D47D-9E3C-3C470007CC0F}"/>
              </a:ext>
            </a:extLst>
          </p:cNvPr>
          <p:cNvSpPr>
            <a:spLocks noGrp="1"/>
          </p:cNvSpPr>
          <p:nvPr>
            <p:ph idx="1"/>
          </p:nvPr>
        </p:nvSpPr>
        <p:spPr>
          <a:xfrm>
            <a:off x="796952" y="594131"/>
            <a:ext cx="10058400" cy="4050792"/>
          </a:xfrm>
        </p:spPr>
        <p:txBody>
          <a:bodyPr/>
          <a:lstStyle/>
          <a:p>
            <a:pPr marL="0" indent="0">
              <a:buNone/>
            </a:pPr>
            <a:r>
              <a:rPr lang="en-US" sz="2800" dirty="0"/>
              <a:t>It is the process by which top soil is removed and carried from one place and deposited in another place.</a:t>
            </a:r>
          </a:p>
          <a:p>
            <a:pPr marL="0" indent="0">
              <a:buNone/>
            </a:pPr>
            <a:r>
              <a:rPr lang="en-US" sz="2800" dirty="0"/>
              <a:t>Top  soil is carried by running water and wind, and deposited in a different place. </a:t>
            </a:r>
          </a:p>
          <a:p>
            <a:pPr marL="0" indent="0">
              <a:buNone/>
            </a:pPr>
            <a:endParaRPr lang="en-US" dirty="0"/>
          </a:p>
        </p:txBody>
      </p:sp>
      <p:pic>
        <p:nvPicPr>
          <p:cNvPr id="5" name="Picture 4">
            <a:extLst>
              <a:ext uri="{FF2B5EF4-FFF2-40B4-BE49-F238E27FC236}">
                <a16:creationId xmlns:a16="http://schemas.microsoft.com/office/drawing/2014/main" id="{53FD93FB-6029-3A85-409F-5EEB0517EC86}"/>
              </a:ext>
            </a:extLst>
          </p:cNvPr>
          <p:cNvPicPr>
            <a:picLocks noChangeAspect="1"/>
          </p:cNvPicPr>
          <p:nvPr/>
        </p:nvPicPr>
        <p:blipFill>
          <a:blip r:embed="rId2"/>
          <a:stretch>
            <a:fillRect/>
          </a:stretch>
        </p:blipFill>
        <p:spPr>
          <a:xfrm>
            <a:off x="1540825" y="2619527"/>
            <a:ext cx="7841713" cy="4227425"/>
          </a:xfrm>
          <a:prstGeom prst="rect">
            <a:avLst/>
          </a:prstGeom>
        </p:spPr>
      </p:pic>
    </p:spTree>
    <p:extLst>
      <p:ext uri="{BB962C8B-B14F-4D97-AF65-F5344CB8AC3E}">
        <p14:creationId xmlns:p14="http://schemas.microsoft.com/office/powerpoint/2010/main" val="45966337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0E99EC-6144-6F8A-DF5E-65B6A44289AE}"/>
              </a:ext>
            </a:extLst>
          </p:cNvPr>
          <p:cNvSpPr>
            <a:spLocks noGrp="1"/>
          </p:cNvSpPr>
          <p:nvPr>
            <p:ph idx="1"/>
          </p:nvPr>
        </p:nvSpPr>
        <p:spPr>
          <a:xfrm>
            <a:off x="395602" y="504565"/>
            <a:ext cx="11796398" cy="6611853"/>
          </a:xfrm>
        </p:spPr>
        <p:txBody>
          <a:bodyPr>
            <a:noAutofit/>
          </a:bodyPr>
          <a:lstStyle/>
          <a:p>
            <a:pPr marL="0" indent="0" algn="ctr">
              <a:buNone/>
            </a:pPr>
            <a:r>
              <a:rPr lang="en-US" sz="2800" b="1" u="sng" dirty="0"/>
              <a:t>Causes of soil erosion</a:t>
            </a:r>
          </a:p>
          <a:p>
            <a:pPr algn="just"/>
            <a:r>
              <a:rPr lang="en-US" sz="2800" b="1" dirty="0"/>
              <a:t>Slopes of land</a:t>
            </a:r>
            <a:r>
              <a:rPr lang="en-US" sz="2800" dirty="0"/>
              <a:t>: The steeper the slope the greater the erosion. </a:t>
            </a:r>
          </a:p>
          <a:p>
            <a:pPr algn="just"/>
            <a:r>
              <a:rPr lang="en-US" sz="2800" b="1" dirty="0"/>
              <a:t>Over grazing: </a:t>
            </a:r>
            <a:r>
              <a:rPr lang="en-US" sz="2800" dirty="0"/>
              <a:t>Removes the grass covering the soil and open it to erosion.</a:t>
            </a:r>
          </a:p>
          <a:p>
            <a:pPr algn="just"/>
            <a:r>
              <a:rPr lang="en-US" sz="2800" b="1" dirty="0"/>
              <a:t>Deforestation: </a:t>
            </a:r>
            <a:r>
              <a:rPr lang="en-US" sz="2800" dirty="0"/>
              <a:t>Removes the trees covering the soil, exposing it to wind and water.</a:t>
            </a:r>
          </a:p>
          <a:p>
            <a:pPr algn="just"/>
            <a:r>
              <a:rPr lang="en-US" sz="2800" b="1" dirty="0"/>
              <a:t>Bush burning: </a:t>
            </a:r>
            <a:r>
              <a:rPr lang="en-US" sz="2800" dirty="0"/>
              <a:t>Removes the grass top cover, thus leaving the soil bare. </a:t>
            </a:r>
          </a:p>
          <a:p>
            <a:pPr algn="just"/>
            <a:r>
              <a:rPr lang="en-US" sz="2800" b="1" dirty="0"/>
              <a:t>Ploughing down slopes: </a:t>
            </a:r>
            <a:r>
              <a:rPr lang="en-US" sz="2800" dirty="0"/>
              <a:t>Accelerates water erosion. </a:t>
            </a:r>
          </a:p>
          <a:p>
            <a:pPr algn="just"/>
            <a:r>
              <a:rPr lang="en-US" sz="2800" b="1" dirty="0"/>
              <a:t>Over cropping; </a:t>
            </a:r>
            <a:r>
              <a:rPr lang="en-US" sz="2800" dirty="0"/>
              <a:t>exhausts the soil leading to loss of plant cover.</a:t>
            </a:r>
          </a:p>
          <a:p>
            <a:pPr algn="just"/>
            <a:r>
              <a:rPr lang="en-US" sz="2800" b="1" dirty="0"/>
              <a:t>Over cultivation: </a:t>
            </a:r>
            <a:r>
              <a:rPr lang="en-US" sz="2800" dirty="0"/>
              <a:t>loosens the soil making it easy to be eroded.</a:t>
            </a:r>
          </a:p>
          <a:p>
            <a:pPr algn="just"/>
            <a:endParaRPr lang="en-US" sz="2800" dirty="0"/>
          </a:p>
        </p:txBody>
      </p:sp>
    </p:spTree>
    <p:extLst>
      <p:ext uri="{BB962C8B-B14F-4D97-AF65-F5344CB8AC3E}">
        <p14:creationId xmlns:p14="http://schemas.microsoft.com/office/powerpoint/2010/main" val="22706698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D4966-B76A-578E-A742-507CF192D5D4}"/>
              </a:ext>
            </a:extLst>
          </p:cNvPr>
          <p:cNvSpPr>
            <a:spLocks noGrp="1"/>
          </p:cNvSpPr>
          <p:nvPr>
            <p:ph type="title"/>
          </p:nvPr>
        </p:nvSpPr>
        <p:spPr/>
        <p:txBody>
          <a:bodyPr/>
          <a:lstStyle/>
          <a:p>
            <a:r>
              <a:rPr lang="en-US" dirty="0"/>
              <a:t>Types of soil erosion</a:t>
            </a:r>
          </a:p>
        </p:txBody>
      </p:sp>
      <p:pic>
        <p:nvPicPr>
          <p:cNvPr id="4" name="Content Placeholder 3">
            <a:extLst>
              <a:ext uri="{FF2B5EF4-FFF2-40B4-BE49-F238E27FC236}">
                <a16:creationId xmlns:a16="http://schemas.microsoft.com/office/drawing/2014/main" id="{4F261170-10E3-9F18-F01D-B48B97AF4628}"/>
              </a:ext>
            </a:extLst>
          </p:cNvPr>
          <p:cNvPicPr>
            <a:picLocks noGrp="1" noChangeAspect="1"/>
          </p:cNvPicPr>
          <p:nvPr>
            <p:ph idx="1"/>
          </p:nvPr>
        </p:nvPicPr>
        <p:blipFill>
          <a:blip r:embed="rId2"/>
          <a:stretch>
            <a:fillRect/>
          </a:stretch>
        </p:blipFill>
        <p:spPr>
          <a:xfrm>
            <a:off x="5000625" y="2093976"/>
            <a:ext cx="7191375" cy="3562350"/>
          </a:xfrm>
          <a:prstGeom prst="rect">
            <a:avLst/>
          </a:prstGeom>
        </p:spPr>
      </p:pic>
      <p:pic>
        <p:nvPicPr>
          <p:cNvPr id="5124" name="Picture 4" descr="Sheet and rill erosion in Iowa, USA.">
            <a:extLst>
              <a:ext uri="{FF2B5EF4-FFF2-40B4-BE49-F238E27FC236}">
                <a16:creationId xmlns:a16="http://schemas.microsoft.com/office/drawing/2014/main" id="{072CD7DF-AAA6-C307-B90F-C30E938969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39" y="2093977"/>
            <a:ext cx="4989286" cy="3562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339557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25B46D-C4BA-DA4E-DB0B-8909CF3CD4E0}"/>
              </a:ext>
            </a:extLst>
          </p:cNvPr>
          <p:cNvSpPr>
            <a:spLocks noGrp="1"/>
          </p:cNvSpPr>
          <p:nvPr>
            <p:ph idx="1"/>
          </p:nvPr>
        </p:nvSpPr>
        <p:spPr/>
        <p:txBody>
          <a:bodyPr/>
          <a:lstStyle/>
          <a:p>
            <a:endParaRPr lang="en-US" dirty="0"/>
          </a:p>
        </p:txBody>
      </p:sp>
      <p:pic>
        <p:nvPicPr>
          <p:cNvPr id="4" name="Picture 6">
            <a:extLst>
              <a:ext uri="{FF2B5EF4-FFF2-40B4-BE49-F238E27FC236}">
                <a16:creationId xmlns:a16="http://schemas.microsoft.com/office/drawing/2014/main" id="{A7E66E8C-DA5F-BDFA-7827-DBC681ED83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59" y="98545"/>
            <a:ext cx="4651274" cy="651178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7E0C265E-FDA7-338D-862B-232AE793B1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1800" y="98545"/>
            <a:ext cx="6434745" cy="45948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719680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 descr="Wind Erosion: Examples and Ways to Prevent it | Earth Eclipse">
            <a:extLst>
              <a:ext uri="{FF2B5EF4-FFF2-40B4-BE49-F238E27FC236}">
                <a16:creationId xmlns:a16="http://schemas.microsoft.com/office/drawing/2014/main" id="{9A7077F7-12A8-1CF9-F9DE-9A204505037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68513" y="1139862"/>
            <a:ext cx="7254973" cy="4840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142683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BEEC9D-2C06-7C27-34B2-6D6CFC25C663}"/>
              </a:ext>
            </a:extLst>
          </p:cNvPr>
          <p:cNvSpPr>
            <a:spLocks noGrp="1"/>
          </p:cNvSpPr>
          <p:nvPr>
            <p:ph idx="1"/>
          </p:nvPr>
        </p:nvSpPr>
        <p:spPr>
          <a:xfrm>
            <a:off x="372533" y="158044"/>
            <a:ext cx="11187289" cy="6491111"/>
          </a:xfrm>
        </p:spPr>
        <p:txBody>
          <a:bodyPr>
            <a:normAutofit fontScale="92500" lnSpcReduction="10000"/>
          </a:bodyPr>
          <a:lstStyle/>
          <a:p>
            <a:r>
              <a:rPr lang="en-US" sz="2800" dirty="0"/>
              <a:t>Soil erosion is categorized depending on the agent that causes it:</a:t>
            </a:r>
          </a:p>
          <a:p>
            <a:pPr marL="0" indent="0">
              <a:buNone/>
            </a:pPr>
            <a:r>
              <a:rPr lang="en-US" sz="2800" b="1" dirty="0">
                <a:solidFill>
                  <a:srgbClr val="FF0000"/>
                </a:solidFill>
              </a:rPr>
              <a:t>1. Water erosion</a:t>
            </a:r>
          </a:p>
          <a:p>
            <a:pPr marL="0" indent="0">
              <a:buNone/>
            </a:pPr>
            <a:r>
              <a:rPr lang="en-US" sz="2800" dirty="0"/>
              <a:t>Removal of soil mass by running water, transporting and depositing in another area.</a:t>
            </a:r>
          </a:p>
          <a:p>
            <a:pPr marL="0" indent="0">
              <a:buNone/>
            </a:pPr>
            <a:r>
              <a:rPr lang="en-US" sz="2800" dirty="0"/>
              <a:t>Forms are:</a:t>
            </a:r>
          </a:p>
          <a:p>
            <a:pPr marL="457200" indent="-457200">
              <a:buFont typeface="+mj-lt"/>
              <a:buAutoNum type="alphaLcParenR"/>
            </a:pPr>
            <a:r>
              <a:rPr lang="en-US" sz="2800" dirty="0">
                <a:solidFill>
                  <a:srgbClr val="FF0000"/>
                </a:solidFill>
              </a:rPr>
              <a:t>Sheet erosion: </a:t>
            </a:r>
            <a:r>
              <a:rPr lang="en-US" sz="2800" dirty="0"/>
              <a:t>A thin fairly uniform layer of top soil is removed over the whole area by running water.</a:t>
            </a:r>
          </a:p>
          <a:p>
            <a:pPr marL="457200" indent="-457200">
              <a:buFont typeface="+mj-lt"/>
              <a:buAutoNum type="alphaLcParenR"/>
            </a:pPr>
            <a:r>
              <a:rPr lang="en-US" sz="2800" dirty="0">
                <a:solidFill>
                  <a:srgbClr val="FF0000"/>
                </a:solidFill>
              </a:rPr>
              <a:t>Rill erosion: </a:t>
            </a:r>
            <a:r>
              <a:rPr lang="en-US" sz="2800" dirty="0"/>
              <a:t>Water creates small shallow channels called rills. Occurs when sheet erosion continues over a long time.</a:t>
            </a:r>
          </a:p>
          <a:p>
            <a:pPr marL="457200" indent="-457200">
              <a:buFont typeface="+mj-lt"/>
              <a:buAutoNum type="alphaLcParenR"/>
            </a:pPr>
            <a:r>
              <a:rPr lang="en-US" sz="2800" dirty="0">
                <a:solidFill>
                  <a:srgbClr val="FF0000"/>
                </a:solidFill>
              </a:rPr>
              <a:t>Gulley erosion: </a:t>
            </a:r>
            <a:r>
              <a:rPr lang="en-US" sz="2800" dirty="0"/>
              <a:t>This results from rill erosion, when the channels widen and deepen to form gullies. The gullies hinder agricultural mechanization.</a:t>
            </a:r>
          </a:p>
          <a:p>
            <a:pPr marL="457200" indent="-457200">
              <a:buFont typeface="+mj-lt"/>
              <a:buAutoNum type="alphaLcParenR"/>
            </a:pPr>
            <a:r>
              <a:rPr lang="en-US" sz="2800" dirty="0">
                <a:solidFill>
                  <a:srgbClr val="FF0000"/>
                </a:solidFill>
              </a:rPr>
              <a:t>Splash erosion or raindrop erosion</a:t>
            </a:r>
            <a:r>
              <a:rPr lang="en-US" sz="2800" dirty="0"/>
              <a:t>: This occurs when intense raindrops displace soil.</a:t>
            </a:r>
          </a:p>
          <a:p>
            <a:pPr marL="0" indent="0">
              <a:buNone/>
            </a:pPr>
            <a:endParaRPr lang="en-US" sz="2400" dirty="0"/>
          </a:p>
        </p:txBody>
      </p:sp>
    </p:spTree>
    <p:extLst>
      <p:ext uri="{BB962C8B-B14F-4D97-AF65-F5344CB8AC3E}">
        <p14:creationId xmlns:p14="http://schemas.microsoft.com/office/powerpoint/2010/main" val="77700361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AF1071-A5F8-BA8B-7398-8AEA9C09D3F9}"/>
              </a:ext>
            </a:extLst>
          </p:cNvPr>
          <p:cNvSpPr>
            <a:spLocks noGrp="1"/>
          </p:cNvSpPr>
          <p:nvPr>
            <p:ph idx="1"/>
          </p:nvPr>
        </p:nvSpPr>
        <p:spPr>
          <a:xfrm>
            <a:off x="666044" y="677331"/>
            <a:ext cx="10858613" cy="4190887"/>
          </a:xfrm>
        </p:spPr>
        <p:txBody>
          <a:bodyPr/>
          <a:lstStyle/>
          <a:p>
            <a:pPr marL="0" indent="0">
              <a:buNone/>
            </a:pPr>
            <a:r>
              <a:rPr lang="en-US" sz="2800" b="1" dirty="0">
                <a:solidFill>
                  <a:srgbClr val="FF0000"/>
                </a:solidFill>
              </a:rPr>
              <a:t>2. Wind erosion</a:t>
            </a:r>
          </a:p>
          <a:p>
            <a:pPr marL="0" indent="0">
              <a:buNone/>
            </a:pPr>
            <a:r>
              <a:rPr lang="en-US" sz="2800" dirty="0"/>
              <a:t>This occurs when wind blows/carries  away fine dry soil particles and deposit in different places.</a:t>
            </a:r>
          </a:p>
          <a:p>
            <a:pPr marL="0" indent="0">
              <a:buNone/>
            </a:pPr>
            <a:endParaRPr lang="en-US" dirty="0"/>
          </a:p>
        </p:txBody>
      </p:sp>
    </p:spTree>
    <p:extLst>
      <p:ext uri="{BB962C8B-B14F-4D97-AF65-F5344CB8AC3E}">
        <p14:creationId xmlns:p14="http://schemas.microsoft.com/office/powerpoint/2010/main" val="197825368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7EF4D6-CF4A-3E8E-47C4-384B61284EE5}"/>
              </a:ext>
            </a:extLst>
          </p:cNvPr>
          <p:cNvSpPr>
            <a:spLocks noGrp="1"/>
          </p:cNvSpPr>
          <p:nvPr>
            <p:ph idx="1"/>
          </p:nvPr>
        </p:nvSpPr>
        <p:spPr>
          <a:xfrm>
            <a:off x="158044" y="259644"/>
            <a:ext cx="11751734" cy="5994399"/>
          </a:xfrm>
        </p:spPr>
        <p:txBody>
          <a:bodyPr>
            <a:normAutofit fontScale="92500"/>
          </a:bodyPr>
          <a:lstStyle/>
          <a:p>
            <a:pPr marL="0" indent="0" algn="ctr">
              <a:buNone/>
            </a:pPr>
            <a:r>
              <a:rPr lang="en-US" sz="3600" b="1" u="sng" dirty="0"/>
              <a:t>Effects of soil erosion</a:t>
            </a:r>
          </a:p>
          <a:p>
            <a:r>
              <a:rPr lang="en-US" sz="3600" dirty="0"/>
              <a:t>Nutrients are carried away in the top soil.</a:t>
            </a:r>
          </a:p>
          <a:p>
            <a:r>
              <a:rPr lang="en-US" sz="3600" dirty="0"/>
              <a:t>Reduces soil depth causing plant roots to be exposed.</a:t>
            </a:r>
          </a:p>
          <a:p>
            <a:r>
              <a:rPr lang="en-US" sz="3600" dirty="0"/>
              <a:t>Some plants are buried in the soil carried in the surface run off.</a:t>
            </a:r>
          </a:p>
          <a:p>
            <a:r>
              <a:rPr lang="en-US" sz="3600" dirty="0"/>
              <a:t>Reduction in crop yield due to reduced soil fertility.</a:t>
            </a:r>
          </a:p>
          <a:p>
            <a:r>
              <a:rPr lang="en-US" sz="3600" dirty="0"/>
              <a:t>Flooding </a:t>
            </a:r>
          </a:p>
          <a:p>
            <a:r>
              <a:rPr lang="en-US" sz="3600" dirty="0"/>
              <a:t>Land slides</a:t>
            </a:r>
          </a:p>
          <a:p>
            <a:r>
              <a:rPr lang="en-US" sz="3600" dirty="0"/>
              <a:t>Water pollution</a:t>
            </a:r>
          </a:p>
          <a:p>
            <a:endParaRPr lang="en-US" dirty="0"/>
          </a:p>
        </p:txBody>
      </p:sp>
    </p:spTree>
    <p:extLst>
      <p:ext uri="{BB962C8B-B14F-4D97-AF65-F5344CB8AC3E}">
        <p14:creationId xmlns:p14="http://schemas.microsoft.com/office/powerpoint/2010/main" val="395783628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31152C8D-658D-CDC7-F719-4C43D6AE9CB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659467"/>
            <a:ext cx="5516663" cy="40513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AB2130D2-8FBD-157C-7766-5E5DA98EA6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444983"/>
            <a:ext cx="6096000" cy="4276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845760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51E237-3630-659F-60E7-04A49B5FD263}"/>
              </a:ext>
            </a:extLst>
          </p:cNvPr>
          <p:cNvSpPr>
            <a:spLocks noGrp="1"/>
          </p:cNvSpPr>
          <p:nvPr>
            <p:ph idx="1"/>
          </p:nvPr>
        </p:nvSpPr>
        <p:spPr>
          <a:xfrm>
            <a:off x="884903" y="884903"/>
            <a:ext cx="10243345" cy="5287297"/>
          </a:xfrm>
        </p:spPr>
        <p:txBody>
          <a:bodyPr/>
          <a:lstStyle/>
          <a:p>
            <a:r>
              <a:rPr lang="en-US" sz="3600" dirty="0"/>
              <a:t>Explain how the following factors affect the rate of soil erosion</a:t>
            </a:r>
          </a:p>
          <a:p>
            <a:pPr marL="457200" indent="-457200">
              <a:buFont typeface="+mj-lt"/>
              <a:buAutoNum type="alphaLcParenR"/>
            </a:pPr>
            <a:r>
              <a:rPr lang="en-US" sz="3600" dirty="0"/>
              <a:t>Terrain </a:t>
            </a:r>
          </a:p>
          <a:p>
            <a:pPr marL="457200" indent="-457200">
              <a:buFont typeface="+mj-lt"/>
              <a:buAutoNum type="alphaLcParenR"/>
            </a:pPr>
            <a:r>
              <a:rPr lang="en-US" sz="3600" dirty="0"/>
              <a:t>Vegetation cover</a:t>
            </a:r>
          </a:p>
          <a:p>
            <a:pPr marL="457200" indent="-457200">
              <a:buFont typeface="+mj-lt"/>
              <a:buAutoNum type="alphaLcParenR"/>
            </a:pPr>
            <a:r>
              <a:rPr lang="en-US" sz="3600" dirty="0"/>
              <a:t>Intensity of rainfall</a:t>
            </a:r>
          </a:p>
          <a:p>
            <a:pPr marL="457200" indent="-457200">
              <a:buFont typeface="+mj-lt"/>
              <a:buAutoNum type="alphaLcParenR"/>
            </a:pPr>
            <a:r>
              <a:rPr lang="en-US" sz="3600" dirty="0"/>
              <a:t>Strength of wind</a:t>
            </a:r>
          </a:p>
          <a:p>
            <a:endParaRPr lang="en-US" dirty="0"/>
          </a:p>
        </p:txBody>
      </p:sp>
    </p:spTree>
    <p:extLst>
      <p:ext uri="{BB962C8B-B14F-4D97-AF65-F5344CB8AC3E}">
        <p14:creationId xmlns:p14="http://schemas.microsoft.com/office/powerpoint/2010/main" val="127340087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
            <a:extLst>
              <a:ext uri="{FF2B5EF4-FFF2-40B4-BE49-F238E27FC236}">
                <a16:creationId xmlns:a16="http://schemas.microsoft.com/office/drawing/2014/main" id="{417C505E-01E8-8047-1B4F-E5FD6A605D2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27326" y="346215"/>
            <a:ext cx="4651274" cy="6511785"/>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702817F1-D259-1DAE-56DA-5E0F1100BF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6711" y="346215"/>
            <a:ext cx="6096000" cy="4352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501227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007C56FF-6947-0828-72D7-1D80B5136A75}"/>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80" t="36088"/>
          <a:stretch/>
        </p:blipFill>
        <p:spPr bwMode="auto">
          <a:xfrm>
            <a:off x="1083733" y="3310291"/>
            <a:ext cx="4797776" cy="354770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GeoLog | GeoTalk: Severe soil erosion events and how to predict them">
            <a:extLst>
              <a:ext uri="{FF2B5EF4-FFF2-40B4-BE49-F238E27FC236}">
                <a16:creationId xmlns:a16="http://schemas.microsoft.com/office/drawing/2014/main" id="{591C6862-BCE4-CFF2-1F71-227559310D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0492" y="3429000"/>
            <a:ext cx="5348199" cy="3061258"/>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Wind Erosion: Examples and Ways to Prevent it | Earth Eclipse">
            <a:extLst>
              <a:ext uri="{FF2B5EF4-FFF2-40B4-BE49-F238E27FC236}">
                <a16:creationId xmlns:a16="http://schemas.microsoft.com/office/drawing/2014/main" id="{B97C83ED-C5E7-1131-FA37-A5DF7B8B98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0492" y="20558"/>
            <a:ext cx="5348199" cy="356825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9256D865-8D17-3F45-9CB5-7B8621402DD7}"/>
              </a:ext>
            </a:extLst>
          </p:cNvPr>
          <p:cNvPicPr>
            <a:picLocks noChangeAspect="1"/>
          </p:cNvPicPr>
          <p:nvPr/>
        </p:nvPicPr>
        <p:blipFill>
          <a:blip r:embed="rId5"/>
          <a:stretch>
            <a:fillRect/>
          </a:stretch>
        </p:blipFill>
        <p:spPr>
          <a:xfrm>
            <a:off x="1083734" y="0"/>
            <a:ext cx="4797776" cy="3221864"/>
          </a:xfrm>
          <a:prstGeom prst="rect">
            <a:avLst/>
          </a:prstGeom>
        </p:spPr>
      </p:pic>
    </p:spTree>
    <p:extLst>
      <p:ext uri="{BB962C8B-B14F-4D97-AF65-F5344CB8AC3E}">
        <p14:creationId xmlns:p14="http://schemas.microsoft.com/office/powerpoint/2010/main" val="355175918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83A3C-5568-AFC7-8C7C-4B6F2CBB4615}"/>
              </a:ext>
            </a:extLst>
          </p:cNvPr>
          <p:cNvSpPr>
            <a:spLocks noGrp="1"/>
          </p:cNvSpPr>
          <p:nvPr>
            <p:ph type="title"/>
          </p:nvPr>
        </p:nvSpPr>
        <p:spPr/>
        <p:txBody>
          <a:bodyPr/>
          <a:lstStyle/>
          <a:p>
            <a:r>
              <a:rPr lang="en-US" dirty="0"/>
              <a:t>Methods of controlling soil erosion</a:t>
            </a:r>
          </a:p>
        </p:txBody>
      </p:sp>
      <p:sp>
        <p:nvSpPr>
          <p:cNvPr id="3" name="Content Placeholder 2">
            <a:extLst>
              <a:ext uri="{FF2B5EF4-FFF2-40B4-BE49-F238E27FC236}">
                <a16:creationId xmlns:a16="http://schemas.microsoft.com/office/drawing/2014/main" id="{C3E2F5AD-FAF7-77C6-F873-A8DE1A0A9A4D}"/>
              </a:ext>
            </a:extLst>
          </p:cNvPr>
          <p:cNvSpPr>
            <a:spLocks noGrp="1"/>
          </p:cNvSpPr>
          <p:nvPr>
            <p:ph idx="1"/>
          </p:nvPr>
        </p:nvSpPr>
        <p:spPr/>
        <p:txBody>
          <a:bodyPr>
            <a:normAutofit/>
          </a:bodyPr>
          <a:lstStyle/>
          <a:p>
            <a:pPr marL="0" indent="0">
              <a:buNone/>
            </a:pPr>
            <a:r>
              <a:rPr lang="en-US" sz="3200" dirty="0">
                <a:solidFill>
                  <a:srgbClr val="FF0000"/>
                </a:solidFill>
              </a:rPr>
              <a:t>Qn. How can soil erosion be controlled?</a:t>
            </a:r>
          </a:p>
        </p:txBody>
      </p:sp>
    </p:spTree>
    <p:extLst>
      <p:ext uri="{BB962C8B-B14F-4D97-AF65-F5344CB8AC3E}">
        <p14:creationId xmlns:p14="http://schemas.microsoft.com/office/powerpoint/2010/main" val="373163248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61C387-3122-18B4-EBDC-ADDB6076B10F}"/>
              </a:ext>
            </a:extLst>
          </p:cNvPr>
          <p:cNvSpPr>
            <a:spLocks noGrp="1"/>
          </p:cNvSpPr>
          <p:nvPr>
            <p:ph idx="1"/>
          </p:nvPr>
        </p:nvSpPr>
        <p:spPr>
          <a:xfrm>
            <a:off x="124178" y="179719"/>
            <a:ext cx="10642826" cy="6537170"/>
          </a:xfrm>
        </p:spPr>
        <p:txBody>
          <a:bodyPr>
            <a:noAutofit/>
          </a:bodyPr>
          <a:lstStyle/>
          <a:p>
            <a:pPr marL="0" marR="0" algn="just">
              <a:lnSpc>
                <a:spcPct val="115000"/>
              </a:lnSpc>
              <a:spcBef>
                <a:spcPts val="0"/>
              </a:spcBef>
              <a:spcAft>
                <a:spcPts val="0"/>
              </a:spcAft>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Afforestation</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This is the planting of trees on a piece of land.</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The trees are wind breakers, reduce the impact of falling rain drops on soil and their roots hold soil particles together, reducing the tendency of being eroded.</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Contour ploughing/farming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Ploughing a long contour i.e. across a slope and not up and down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Or construction of ridges across the slope of the land to reduce speed of water runoff.</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3200" dirty="0"/>
          </a:p>
        </p:txBody>
      </p:sp>
    </p:spTree>
    <p:extLst>
      <p:ext uri="{BB962C8B-B14F-4D97-AF65-F5344CB8AC3E}">
        <p14:creationId xmlns:p14="http://schemas.microsoft.com/office/powerpoint/2010/main" val="161324198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713222-A00E-2FFD-CE74-E148BC989D19}"/>
              </a:ext>
            </a:extLst>
          </p:cNvPr>
          <p:cNvSpPr>
            <a:spLocks noGrp="1"/>
          </p:cNvSpPr>
          <p:nvPr>
            <p:ph idx="1"/>
          </p:nvPr>
        </p:nvSpPr>
        <p:spPr>
          <a:xfrm>
            <a:off x="152400" y="722489"/>
            <a:ext cx="11887200" cy="6028267"/>
          </a:xfrm>
        </p:spPr>
        <p:txBody>
          <a:bodyPr>
            <a:normAutofit/>
          </a:bodyPr>
          <a:lstStyle/>
          <a:p>
            <a:pPr marL="0" marR="0" algn="just">
              <a:lnSpc>
                <a:spcPct val="115000"/>
              </a:lnSpc>
              <a:spcBef>
                <a:spcPts val="0"/>
              </a:spcBef>
              <a:spcAft>
                <a:spcPts val="0"/>
              </a:spcAft>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Terracing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Involves leveling parts of a slope to make it flat, forming a terrace where crops are grown.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Strip cropping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Different crops are planted in alternating rows/bands/strips across the slope. E.g. planting maize in one strip followed by cover crop like potatoes or grass.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6728976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6A3256-CDBE-C744-611E-D8FCCAB58044}"/>
              </a:ext>
            </a:extLst>
          </p:cNvPr>
          <p:cNvSpPr>
            <a:spLocks noGrp="1"/>
          </p:cNvSpPr>
          <p:nvPr>
            <p:ph idx="1"/>
          </p:nvPr>
        </p:nvSpPr>
        <p:spPr>
          <a:xfrm>
            <a:off x="158044" y="203200"/>
            <a:ext cx="11729156" cy="6016978"/>
          </a:xfrm>
        </p:spPr>
        <p:txBody>
          <a:bodyPr>
            <a:normAutofit lnSpcReduction="10000"/>
          </a:bodyPr>
          <a:lstStyle/>
          <a:p>
            <a:pPr marL="0" marR="0" algn="just">
              <a:lnSpc>
                <a:spcPct val="115000"/>
              </a:lnSpc>
              <a:spcBef>
                <a:spcPts val="0"/>
              </a:spcBef>
              <a:spcAft>
                <a:spcPts val="0"/>
              </a:spcAft>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Mulching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The covering of top soil with plant materials e.g. banana leaves, grass, etc.</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Plant material used for mulching is called </a:t>
            </a:r>
            <a:r>
              <a:rPr lang="en-US" sz="3200" b="1" i="1" dirty="0">
                <a:effectLst/>
                <a:latin typeface="Times New Roman" panose="02020603050405020304" pitchFamily="18" charset="0"/>
                <a:ea typeface="Calibri" panose="020F0502020204030204" pitchFamily="34" charset="0"/>
                <a:cs typeface="Times New Roman" panose="02020603050405020304" pitchFamily="18" charset="0"/>
              </a:rPr>
              <a:t>mulch.</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0"/>
              </a:spcAft>
              <a:buNone/>
            </a:pPr>
            <a:r>
              <a:rPr lang="en-US" sz="3200" b="1" u="sng" dirty="0">
                <a:effectLst/>
                <a:latin typeface="Times New Roman" panose="02020603050405020304" pitchFamily="18" charset="0"/>
                <a:ea typeface="Calibri" panose="020F0502020204030204" pitchFamily="34" charset="0"/>
                <a:cs typeface="Times New Roman" panose="02020603050405020304" pitchFamily="18" charset="0"/>
              </a:rPr>
              <a:t>Advantages of mulching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Controls soil erosion.</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Increases water    infiltration.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Mulches decompose to form humus.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Regulates soil temperature.</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Conserves moisture in soil.</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Kills annual weeds.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0693831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F709C-1F0E-C6E2-D3CF-B65622DAFAEC}"/>
              </a:ext>
            </a:extLst>
          </p:cNvPr>
          <p:cNvSpPr>
            <a:spLocks noGrp="1"/>
          </p:cNvSpPr>
          <p:nvPr>
            <p:ph idx="1"/>
          </p:nvPr>
        </p:nvSpPr>
        <p:spPr>
          <a:xfrm>
            <a:off x="474133" y="1061156"/>
            <a:ext cx="10654115" cy="5111044"/>
          </a:xfrm>
        </p:spPr>
        <p:txBody>
          <a:bodyPr>
            <a:normAutofit/>
          </a:bodyPr>
          <a:lstStyle/>
          <a:p>
            <a:pPr marL="457200" marR="0" algn="just">
              <a:lnSpc>
                <a:spcPct val="115000"/>
              </a:lnSpc>
              <a:spcBef>
                <a:spcPts val="0"/>
              </a:spcBef>
              <a:spcAft>
                <a:spcPts val="0"/>
              </a:spcAft>
            </a:pPr>
            <a:r>
              <a:rPr lang="en-US" sz="3200" b="1" u="sng" dirty="0">
                <a:effectLst/>
                <a:latin typeface="Times New Roman" panose="02020603050405020304" pitchFamily="18" charset="0"/>
                <a:ea typeface="Calibri" panose="020F0502020204030204" pitchFamily="34" charset="0"/>
                <a:cs typeface="Times New Roman" panose="02020603050405020304" pitchFamily="18" charset="0"/>
              </a:rPr>
              <a:t>Disadvantages of mulching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May be breeding places for some pests and disease-causing organisms.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Mulch is susceptible to fire.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May be a source of weeds if the grass used as mulch reproduces vegetatively.</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Expensive to apply in a big field.</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95680965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88E44-BB6E-D9B5-F1A6-8379AD182B23}"/>
              </a:ext>
            </a:extLst>
          </p:cNvPr>
          <p:cNvSpPr>
            <a:spLocks noGrp="1"/>
          </p:cNvSpPr>
          <p:nvPr>
            <p:ph type="title"/>
          </p:nvPr>
        </p:nvSpPr>
        <p:spPr/>
        <p:txBody>
          <a:bodyPr/>
          <a:lstStyle/>
          <a:p>
            <a:pPr algn="ctr"/>
            <a:r>
              <a:rPr lang="en-US" u="sng" dirty="0"/>
              <a:t>Soil Conservation</a:t>
            </a:r>
          </a:p>
        </p:txBody>
      </p:sp>
      <p:sp>
        <p:nvSpPr>
          <p:cNvPr id="3" name="Content Placeholder 2">
            <a:extLst>
              <a:ext uri="{FF2B5EF4-FFF2-40B4-BE49-F238E27FC236}">
                <a16:creationId xmlns:a16="http://schemas.microsoft.com/office/drawing/2014/main" id="{34F547E7-6FC8-73F4-7263-C3F8E44BDA6C}"/>
              </a:ext>
            </a:extLst>
          </p:cNvPr>
          <p:cNvSpPr>
            <a:spLocks noGrp="1"/>
          </p:cNvSpPr>
          <p:nvPr>
            <p:ph idx="1"/>
          </p:nvPr>
        </p:nvSpPr>
        <p:spPr/>
        <p:txBody>
          <a:bodyPr>
            <a:normAutofit fontScale="77500" lnSpcReduction="20000"/>
          </a:bodyPr>
          <a:lstStyle/>
          <a:p>
            <a:pPr algn="just"/>
            <a:r>
              <a:rPr lang="en-US" sz="3600" dirty="0"/>
              <a:t>Refers to the practices of maintaining soil fertility.</a:t>
            </a:r>
          </a:p>
          <a:p>
            <a:pPr marL="0" indent="0" algn="just">
              <a:buNone/>
            </a:pPr>
            <a:r>
              <a:rPr lang="en-US" sz="3600" dirty="0"/>
              <a:t>or</a:t>
            </a:r>
          </a:p>
          <a:p>
            <a:pPr algn="just"/>
            <a:r>
              <a:rPr lang="en-US" sz="3600" dirty="0"/>
              <a:t>This is the protection and management of soil to maintain soil fertility.</a:t>
            </a:r>
          </a:p>
          <a:p>
            <a:pPr algn="just"/>
            <a:r>
              <a:rPr lang="en-US" sz="3600" dirty="0"/>
              <a:t>Soil conservation methods aim at controlling soil erosion and conserving soil nutrients.</a:t>
            </a:r>
          </a:p>
          <a:p>
            <a:pPr marL="0" indent="0" algn="just">
              <a:buNone/>
            </a:pPr>
            <a:r>
              <a:rPr lang="en-US" sz="3600" i="1" dirty="0">
                <a:solidFill>
                  <a:srgbClr val="FF0000"/>
                </a:solidFill>
              </a:rPr>
              <a:t>Qn. What are the methods used to conserve soil?</a:t>
            </a:r>
          </a:p>
        </p:txBody>
      </p:sp>
    </p:spTree>
    <p:extLst>
      <p:ext uri="{BB962C8B-B14F-4D97-AF65-F5344CB8AC3E}">
        <p14:creationId xmlns:p14="http://schemas.microsoft.com/office/powerpoint/2010/main" val="310677999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0CECC-3E2A-B535-86FC-98345DF06B7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FADD4FE-4BDB-080B-2D50-8821ECD8D40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24453505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A8560-9D86-7599-553E-ED469E72F480}"/>
              </a:ext>
            </a:extLst>
          </p:cNvPr>
          <p:cNvSpPr>
            <a:spLocks noGrp="1"/>
          </p:cNvSpPr>
          <p:nvPr>
            <p:ph type="title"/>
          </p:nvPr>
        </p:nvSpPr>
        <p:spPr/>
        <p:txBody>
          <a:bodyPr/>
          <a:lstStyle/>
          <a:p>
            <a:r>
              <a:rPr lang="en-US" dirty="0"/>
              <a:t>Methods of soil conservation</a:t>
            </a:r>
          </a:p>
        </p:txBody>
      </p:sp>
      <p:sp>
        <p:nvSpPr>
          <p:cNvPr id="3" name="Content Placeholder 2">
            <a:extLst>
              <a:ext uri="{FF2B5EF4-FFF2-40B4-BE49-F238E27FC236}">
                <a16:creationId xmlns:a16="http://schemas.microsoft.com/office/drawing/2014/main" id="{EF899B79-83B0-6D8B-0D18-34B41E749E13}"/>
              </a:ext>
            </a:extLst>
          </p:cNvPr>
          <p:cNvSpPr>
            <a:spLocks noGrp="1"/>
          </p:cNvSpPr>
          <p:nvPr>
            <p:ph idx="1"/>
          </p:nvPr>
        </p:nvSpPr>
        <p:spPr/>
        <p:txBody>
          <a:bodyPr>
            <a:normAutofit/>
          </a:bodyPr>
          <a:lstStyle/>
          <a:p>
            <a:pPr marL="342900" marR="0" lvl="0" indent="-342900" algn="just">
              <a:lnSpc>
                <a:spcPct val="115000"/>
              </a:lnSpc>
              <a:spcBef>
                <a:spcPts val="0"/>
              </a:spcBef>
              <a:spcAft>
                <a:spcPts val="1000"/>
              </a:spcAft>
              <a:buFont typeface="Symbol" panose="05050102010706020507" pitchFamily="18" charset="2"/>
              <a:buChar char=""/>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It includes all methods of controlling soil erosion and the following:</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3600" u="sng" dirty="0"/>
          </a:p>
          <a:p>
            <a:pPr marL="0" indent="0">
              <a:buNone/>
            </a:pPr>
            <a:r>
              <a:rPr lang="en-US" sz="3600" u="sng" dirty="0">
                <a:solidFill>
                  <a:srgbClr val="FF0000"/>
                </a:solidFill>
              </a:rPr>
              <a:t>Activity </a:t>
            </a:r>
          </a:p>
          <a:p>
            <a:pPr marL="0" indent="0">
              <a:buNone/>
            </a:pPr>
            <a:r>
              <a:rPr lang="en-US" sz="3600" dirty="0">
                <a:solidFill>
                  <a:srgbClr val="FF0000"/>
                </a:solidFill>
              </a:rPr>
              <a:t>Name the method of soil conservation shown in each photo</a:t>
            </a:r>
          </a:p>
        </p:txBody>
      </p:sp>
    </p:spTree>
    <p:extLst>
      <p:ext uri="{BB962C8B-B14F-4D97-AF65-F5344CB8AC3E}">
        <p14:creationId xmlns:p14="http://schemas.microsoft.com/office/powerpoint/2010/main" val="172415463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oil Conservation Methods | Agriculture Site">
            <a:extLst>
              <a:ext uri="{FF2B5EF4-FFF2-40B4-BE49-F238E27FC236}">
                <a16:creationId xmlns:a16="http://schemas.microsoft.com/office/drawing/2014/main" id="{A9749F94-6527-C6CE-EEB1-C69426D6841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54507" y="391886"/>
            <a:ext cx="8664986" cy="57803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609901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oil Conservation Methods For Maintaining Farmlands' Fertility">
            <a:extLst>
              <a:ext uri="{FF2B5EF4-FFF2-40B4-BE49-F238E27FC236}">
                <a16:creationId xmlns:a16="http://schemas.microsoft.com/office/drawing/2014/main" id="{D2C47D5E-5B9B-5449-E7F5-842FE4BA10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044" y="613619"/>
            <a:ext cx="10013245" cy="5537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934663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What Is Strip Cropping Class 10th">
            <a:extLst>
              <a:ext uri="{FF2B5EF4-FFF2-40B4-BE49-F238E27FC236}">
                <a16:creationId xmlns:a16="http://schemas.microsoft.com/office/drawing/2014/main" id="{BC66CAB5-72D3-F503-68EF-E2C73A11B0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7911" y="-139491"/>
            <a:ext cx="9347200" cy="68238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72823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8A97222-9512-7E3F-207E-4F726BD95823}"/>
              </a:ext>
            </a:extLst>
          </p:cNvPr>
          <p:cNvPicPr>
            <a:picLocks noChangeAspect="1"/>
          </p:cNvPicPr>
          <p:nvPr/>
        </p:nvPicPr>
        <p:blipFill>
          <a:blip r:embed="rId2"/>
          <a:stretch>
            <a:fillRect/>
          </a:stretch>
        </p:blipFill>
        <p:spPr>
          <a:xfrm>
            <a:off x="1230489" y="137625"/>
            <a:ext cx="9471378" cy="6407109"/>
          </a:xfrm>
          <a:prstGeom prst="rect">
            <a:avLst/>
          </a:prstGeom>
        </p:spPr>
      </p:pic>
    </p:spTree>
    <p:extLst>
      <p:ext uri="{BB962C8B-B14F-4D97-AF65-F5344CB8AC3E}">
        <p14:creationId xmlns:p14="http://schemas.microsoft.com/office/powerpoint/2010/main" val="315543379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ntercropping | Natural Water Retention Measures">
            <a:extLst>
              <a:ext uri="{FF2B5EF4-FFF2-40B4-BE49-F238E27FC236}">
                <a16:creationId xmlns:a16="http://schemas.microsoft.com/office/drawing/2014/main" id="{5D0675B8-1172-8923-1B7C-14C9C66A766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94844" y="523884"/>
            <a:ext cx="8094133" cy="6062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411993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CBA04-C3CD-90BB-A7E3-A89D1F6D68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18972C-FC6A-F135-D205-FF3904178EA1}"/>
              </a:ext>
            </a:extLst>
          </p:cNvPr>
          <p:cNvSpPr>
            <a:spLocks noGrp="1"/>
          </p:cNvSpPr>
          <p:nvPr>
            <p:ph idx="1"/>
          </p:nvPr>
        </p:nvSpPr>
        <p:spPr/>
        <p:txBody>
          <a:bodyPr/>
          <a:lstStyle/>
          <a:p>
            <a:endParaRPr lang="en-US"/>
          </a:p>
        </p:txBody>
      </p:sp>
      <p:pic>
        <p:nvPicPr>
          <p:cNvPr id="4098" name="Picture 2" descr="Choosing an irrigation system | West African AgriBusiness">
            <a:extLst>
              <a:ext uri="{FF2B5EF4-FFF2-40B4-BE49-F238E27FC236}">
                <a16:creationId xmlns:a16="http://schemas.microsoft.com/office/drawing/2014/main" id="{6311D941-DF85-B68F-299D-2C027A8368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0" y="481013"/>
            <a:ext cx="10477500" cy="5895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793145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08E31E-D77B-6948-1775-664ABEF821D7}"/>
              </a:ext>
            </a:extLst>
          </p:cNvPr>
          <p:cNvSpPr>
            <a:spLocks noGrp="1"/>
          </p:cNvSpPr>
          <p:nvPr>
            <p:ph idx="1"/>
          </p:nvPr>
        </p:nvSpPr>
        <p:spPr>
          <a:xfrm>
            <a:off x="0" y="824090"/>
            <a:ext cx="12192000" cy="6242756"/>
          </a:xfrm>
        </p:spPr>
        <p:txBody>
          <a:bodyPr>
            <a:noAutofit/>
          </a:bodyPr>
          <a:lstStyle/>
          <a:p>
            <a:pPr marL="0" marR="0" algn="just">
              <a:lnSpc>
                <a:spcPct val="115000"/>
              </a:lnSpc>
              <a:spcBef>
                <a:spcPts val="0"/>
              </a:spcBef>
              <a:spcAft>
                <a:spcPts val="0"/>
              </a:spcAft>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Crop rotation</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This is the changing of crops that are grown on a piece of land season after season.</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It enables balanced utilization of nutrients and breaks pest life cycles.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Legumes are included in a rotation cycle to add nitrogen in the soil.</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Mixed cropping/Intercropping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This is the growing of different crops on the same piece of land, randomly or uniformly.</a:t>
            </a:r>
            <a:r>
              <a:rPr lang="en-US" sz="3200" dirty="0">
                <a:effectLst/>
                <a:latin typeface="Calibri" panose="020F0502020204030204" pitchFamily="34" charset="0"/>
                <a:ea typeface="Calibri" panose="020F0502020204030204" pitchFamily="34" charset="0"/>
                <a:cs typeface="Times New Roman" panose="02020603050405020304" pitchFamily="18" charset="0"/>
              </a:rPr>
              <a:t> </a:t>
            </a: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It makes usage of nutrients spread and stress on the soil is reduced.</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3200" dirty="0"/>
          </a:p>
        </p:txBody>
      </p:sp>
    </p:spTree>
    <p:extLst>
      <p:ext uri="{BB962C8B-B14F-4D97-AF65-F5344CB8AC3E}">
        <p14:creationId xmlns:p14="http://schemas.microsoft.com/office/powerpoint/2010/main" val="210474609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0101A1-D39F-470C-5FD4-CA89A9183267}"/>
              </a:ext>
            </a:extLst>
          </p:cNvPr>
          <p:cNvSpPr>
            <a:spLocks noGrp="1"/>
          </p:cNvSpPr>
          <p:nvPr>
            <p:ph idx="1"/>
          </p:nvPr>
        </p:nvSpPr>
        <p:spPr>
          <a:xfrm>
            <a:off x="259644" y="169333"/>
            <a:ext cx="10916356" cy="6005689"/>
          </a:xfrm>
        </p:spPr>
        <p:txBody>
          <a:bodyPr>
            <a:normAutofit fontScale="92500"/>
          </a:bodyPr>
          <a:lstStyle/>
          <a:p>
            <a:pPr marL="0" marR="0" algn="just">
              <a:lnSpc>
                <a:spcPct val="115000"/>
              </a:lnSpc>
              <a:spcBef>
                <a:spcPts val="0"/>
              </a:spcBef>
              <a:spcAft>
                <a:spcPts val="1000"/>
              </a:spcAft>
            </a:pPr>
            <a:r>
              <a:rPr lang="en-US" sz="3900" b="1" dirty="0">
                <a:effectLst/>
                <a:latin typeface="Times New Roman" panose="02020603050405020304" pitchFamily="18" charset="0"/>
                <a:ea typeface="Calibri" panose="020F0502020204030204" pitchFamily="34" charset="0"/>
                <a:cs typeface="Times New Roman" panose="02020603050405020304" pitchFamily="18" charset="0"/>
              </a:rPr>
              <a:t>Bush fallowing </a:t>
            </a:r>
            <a:endParaRPr lang="en-US" sz="39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900" dirty="0">
                <a:effectLst/>
                <a:latin typeface="Times New Roman" panose="02020603050405020304" pitchFamily="18" charset="0"/>
                <a:ea typeface="Calibri" panose="020F0502020204030204" pitchFamily="34" charset="0"/>
                <a:cs typeface="Times New Roman" panose="02020603050405020304" pitchFamily="18" charset="0"/>
              </a:rPr>
              <a:t>Land is left uncultivated to rest and grow back to a bush.</a:t>
            </a:r>
            <a:endParaRPr lang="en-US" sz="3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900" b="1" dirty="0">
                <a:effectLst/>
                <a:latin typeface="Times New Roman" panose="02020603050405020304" pitchFamily="18" charset="0"/>
                <a:ea typeface="Calibri" panose="020F0502020204030204" pitchFamily="34" charset="0"/>
                <a:cs typeface="Times New Roman" panose="02020603050405020304" pitchFamily="18" charset="0"/>
              </a:rPr>
              <a:t>Weeding</a:t>
            </a:r>
            <a:endParaRPr lang="en-US" sz="39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900" dirty="0">
                <a:effectLst/>
                <a:latin typeface="Times New Roman" panose="02020603050405020304" pitchFamily="18" charset="0"/>
                <a:ea typeface="Calibri" panose="020F0502020204030204" pitchFamily="34" charset="0"/>
                <a:cs typeface="Times New Roman" panose="02020603050405020304" pitchFamily="18" charset="0"/>
              </a:rPr>
              <a:t>Removes unwanted plants (weeds) that would compete with plants for the available minerals and water in the soil. </a:t>
            </a:r>
            <a:endParaRPr lang="en-US" sz="3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900" b="1" dirty="0">
                <a:effectLst/>
                <a:latin typeface="Times New Roman" panose="02020603050405020304" pitchFamily="18" charset="0"/>
                <a:ea typeface="Calibri" panose="020F0502020204030204" pitchFamily="34" charset="0"/>
                <a:cs typeface="Times New Roman" panose="02020603050405020304" pitchFamily="18" charset="0"/>
              </a:rPr>
              <a:t>Application of humus</a:t>
            </a:r>
            <a:endParaRPr lang="en-US" sz="39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900" dirty="0">
                <a:effectLst/>
                <a:latin typeface="Times New Roman" panose="02020603050405020304" pitchFamily="18" charset="0"/>
                <a:ea typeface="Calibri" panose="020F0502020204030204" pitchFamily="34" charset="0"/>
                <a:cs typeface="Times New Roman" panose="02020603050405020304" pitchFamily="18" charset="0"/>
              </a:rPr>
              <a:t>This is done in form of manure.</a:t>
            </a:r>
            <a:endParaRPr lang="en-US" sz="39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10876139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0A94BD-3701-E186-5398-9C7460AA969E}"/>
              </a:ext>
            </a:extLst>
          </p:cNvPr>
          <p:cNvSpPr>
            <a:spLocks noGrp="1"/>
          </p:cNvSpPr>
          <p:nvPr>
            <p:ph idx="1"/>
          </p:nvPr>
        </p:nvSpPr>
        <p:spPr>
          <a:xfrm>
            <a:off x="677333" y="880533"/>
            <a:ext cx="10450915" cy="5291667"/>
          </a:xfrm>
        </p:spPr>
        <p:txBody>
          <a:bodyPr>
            <a:noAutofit/>
          </a:bodyPr>
          <a:lstStyle/>
          <a:p>
            <a:pPr marL="0" marR="0" algn="just">
              <a:lnSpc>
                <a:spcPct val="115000"/>
              </a:lnSpc>
              <a:spcBef>
                <a:spcPts val="0"/>
              </a:spcBef>
              <a:spcAft>
                <a:spcPts val="1000"/>
              </a:spcAft>
            </a:pP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Application of artificial fertilizers</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Done in form of potassium sulphate, ammonium sulphate and calcium phosphate to add nitrogen, phosphorus and potassium to soil.  </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Irrigation</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Font typeface="Symbol" panose="05050102010706020507" pitchFamily="18" charset="2"/>
              <a:buChar char=""/>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Improves the amount of water in the soil</a:t>
            </a:r>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3600" dirty="0"/>
          </a:p>
        </p:txBody>
      </p:sp>
    </p:spTree>
    <p:extLst>
      <p:ext uri="{BB962C8B-B14F-4D97-AF65-F5344CB8AC3E}">
        <p14:creationId xmlns:p14="http://schemas.microsoft.com/office/powerpoint/2010/main" val="75068597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32F5D0-728C-385A-B742-7640F9B6ABC7}"/>
              </a:ext>
            </a:extLst>
          </p:cNvPr>
          <p:cNvSpPr>
            <a:spLocks noGrp="1"/>
          </p:cNvSpPr>
          <p:nvPr>
            <p:ph idx="1"/>
          </p:nvPr>
        </p:nvSpPr>
        <p:spPr>
          <a:xfrm>
            <a:off x="1066800" y="1263453"/>
            <a:ext cx="10058400" cy="4050792"/>
          </a:xfrm>
        </p:spPr>
        <p:txBody>
          <a:bodyPr>
            <a:normAutofit/>
          </a:bodyPr>
          <a:lstStyle/>
          <a:p>
            <a:pPr marL="0" indent="0">
              <a:buNone/>
            </a:pPr>
            <a:r>
              <a:rPr lang="en-US" sz="3600" u="sng" dirty="0">
                <a:solidFill>
                  <a:srgbClr val="FF0000"/>
                </a:solidFill>
              </a:rPr>
              <a:t>Open discussion questions</a:t>
            </a:r>
          </a:p>
          <a:p>
            <a:pPr marL="0" indent="0">
              <a:buNone/>
            </a:pPr>
            <a:r>
              <a:rPr lang="en-US" sz="3600" dirty="0"/>
              <a:t>1. What role do microorganisms play in soil fertility?</a:t>
            </a:r>
          </a:p>
          <a:p>
            <a:pPr marL="0" indent="0">
              <a:buNone/>
            </a:pPr>
            <a:r>
              <a:rPr lang="en-US" sz="3600" i="1" dirty="0"/>
              <a:t>(Refer to roles of soil organisms in soil)</a:t>
            </a:r>
          </a:p>
          <a:p>
            <a:r>
              <a:rPr lang="en-US" sz="800" i="1" dirty="0"/>
              <a:t>Nutrient recycling/decomposition</a:t>
            </a:r>
          </a:p>
          <a:p>
            <a:r>
              <a:rPr lang="en-US" sz="800" i="1" dirty="0"/>
              <a:t>Clean the environment </a:t>
            </a:r>
          </a:p>
        </p:txBody>
      </p:sp>
    </p:spTree>
    <p:extLst>
      <p:ext uri="{BB962C8B-B14F-4D97-AF65-F5344CB8AC3E}">
        <p14:creationId xmlns:p14="http://schemas.microsoft.com/office/powerpoint/2010/main" val="422632609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CF703E-DBF6-7D92-89B5-ECFFF1E261AD}"/>
              </a:ext>
            </a:extLst>
          </p:cNvPr>
          <p:cNvSpPr>
            <a:spLocks noGrp="1"/>
          </p:cNvSpPr>
          <p:nvPr>
            <p:ph idx="1"/>
          </p:nvPr>
        </p:nvSpPr>
        <p:spPr>
          <a:xfrm>
            <a:off x="541867" y="587022"/>
            <a:ext cx="10586381" cy="5517444"/>
          </a:xfrm>
        </p:spPr>
        <p:txBody>
          <a:bodyPr>
            <a:normAutofit/>
          </a:bodyPr>
          <a:lstStyle/>
          <a:p>
            <a:pPr marL="0" marR="0" lvl="0" indent="0" algn="just">
              <a:lnSpc>
                <a:spcPct val="115000"/>
              </a:lnSpc>
              <a:spcBef>
                <a:spcPts val="0"/>
              </a:spcBef>
              <a:spcAft>
                <a:spcPts val="65"/>
              </a:spcAft>
              <a:buNone/>
            </a:pPr>
            <a:r>
              <a:rPr lang="en-US" sz="3600" dirty="0">
                <a:latin typeface="Times New Roman" panose="02020603050405020304" pitchFamily="18" charset="0"/>
                <a:ea typeface="Times New Roman" panose="02020603050405020304" pitchFamily="18" charset="0"/>
              </a:rPr>
              <a:t>2. </a:t>
            </a:r>
            <a:r>
              <a:rPr lang="en-US" sz="3600" dirty="0">
                <a:effectLst/>
                <a:latin typeface="Times New Roman" panose="02020603050405020304" pitchFamily="18" charset="0"/>
                <a:ea typeface="Times New Roman" panose="02020603050405020304" pitchFamily="18" charset="0"/>
              </a:rPr>
              <a:t> In what ways may human activities:</a:t>
            </a:r>
          </a:p>
          <a:p>
            <a:pPr marL="0" marR="0" indent="0" algn="just">
              <a:lnSpc>
                <a:spcPct val="115000"/>
              </a:lnSpc>
              <a:spcBef>
                <a:spcPts val="0"/>
              </a:spcBef>
              <a:spcAft>
                <a:spcPts val="65"/>
              </a:spcAft>
              <a:buNone/>
            </a:pPr>
            <a:r>
              <a:rPr lang="en-US" sz="3600" dirty="0">
                <a:effectLst/>
                <a:latin typeface="Times New Roman" panose="02020603050405020304" pitchFamily="18" charset="0"/>
                <a:ea typeface="Times New Roman" panose="02020603050405020304" pitchFamily="18" charset="0"/>
              </a:rPr>
              <a:t>(</a:t>
            </a:r>
            <a:r>
              <a:rPr lang="en-US" sz="3600" dirty="0" err="1">
                <a:effectLst/>
                <a:latin typeface="Times New Roman" panose="02020603050405020304" pitchFamily="18" charset="0"/>
                <a:ea typeface="Times New Roman" panose="02020603050405020304" pitchFamily="18" charset="0"/>
              </a:rPr>
              <a:t>i</a:t>
            </a:r>
            <a:r>
              <a:rPr lang="en-US" sz="3600" dirty="0">
                <a:effectLst/>
                <a:latin typeface="Times New Roman" panose="02020603050405020304" pitchFamily="18" charset="0"/>
                <a:ea typeface="Times New Roman" panose="02020603050405020304" pitchFamily="18" charset="0"/>
              </a:rPr>
              <a:t>)	improve soil?   (5 marks)</a:t>
            </a:r>
          </a:p>
          <a:p>
            <a:pPr marL="0" marR="0" indent="0" algn="just">
              <a:lnSpc>
                <a:spcPct val="115000"/>
              </a:lnSpc>
              <a:spcBef>
                <a:spcPts val="0"/>
              </a:spcBef>
              <a:spcAft>
                <a:spcPts val="65"/>
              </a:spcAft>
              <a:buNone/>
            </a:pPr>
            <a:r>
              <a:rPr lang="en-US" sz="3600" dirty="0">
                <a:effectLst/>
                <a:latin typeface="Times New Roman" panose="02020603050405020304" pitchFamily="18" charset="0"/>
                <a:ea typeface="Times New Roman" panose="02020603050405020304" pitchFamily="18" charset="0"/>
              </a:rPr>
              <a:t>(ii)      degrade soil?     (5 marks)</a:t>
            </a:r>
          </a:p>
          <a:p>
            <a:pPr marL="0" marR="0" indent="0" algn="just">
              <a:lnSpc>
                <a:spcPct val="115000"/>
              </a:lnSpc>
              <a:spcBef>
                <a:spcPts val="0"/>
              </a:spcBef>
              <a:spcAft>
                <a:spcPts val="65"/>
              </a:spcAft>
              <a:buNone/>
            </a:pPr>
            <a:r>
              <a:rPr lang="en-US" sz="3600" dirty="0">
                <a:latin typeface="Times New Roman" panose="02020603050405020304" pitchFamily="18" charset="0"/>
                <a:ea typeface="Times New Roman" panose="02020603050405020304" pitchFamily="18" charset="0"/>
              </a:rPr>
              <a:t>3.</a:t>
            </a:r>
            <a:r>
              <a:rPr lang="en-US" sz="3600" dirty="0">
                <a:effectLst/>
                <a:latin typeface="Times New Roman" panose="02020603050405020304" pitchFamily="18" charset="0"/>
                <a:ea typeface="Times New Roman" panose="02020603050405020304" pitchFamily="18" charset="0"/>
              </a:rPr>
              <a:t> Of what value is earthworms in maintaining soil in a condition suitable for crop growth?                                                                                 (4 marks)</a:t>
            </a:r>
          </a:p>
          <a:p>
            <a:endParaRPr lang="en-US" dirty="0"/>
          </a:p>
        </p:txBody>
      </p:sp>
    </p:spTree>
    <p:extLst>
      <p:ext uri="{BB962C8B-B14F-4D97-AF65-F5344CB8AC3E}">
        <p14:creationId xmlns:p14="http://schemas.microsoft.com/office/powerpoint/2010/main" val="44968731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A9E78F-77E5-C56F-FDF4-0C3F2845FFD8}"/>
              </a:ext>
            </a:extLst>
          </p:cNvPr>
          <p:cNvSpPr>
            <a:spLocks noGrp="1"/>
          </p:cNvSpPr>
          <p:nvPr>
            <p:ph idx="1"/>
          </p:nvPr>
        </p:nvSpPr>
        <p:spPr>
          <a:xfrm>
            <a:off x="564444" y="609600"/>
            <a:ext cx="11164712" cy="5644444"/>
          </a:xfrm>
        </p:spPr>
        <p:txBody>
          <a:bodyPr>
            <a:noAutofit/>
          </a:bodyPr>
          <a:lstStyle/>
          <a:p>
            <a:pPr marL="0" marR="0" lvl="0" indent="0" algn="just">
              <a:lnSpc>
                <a:spcPct val="115000"/>
              </a:lnSpc>
              <a:spcBef>
                <a:spcPts val="0"/>
              </a:spcBef>
              <a:spcAft>
                <a:spcPts val="65"/>
              </a:spcAft>
              <a:buNone/>
            </a:pPr>
            <a:r>
              <a:rPr lang="en-US" sz="3200" dirty="0">
                <a:effectLst/>
                <a:latin typeface="Times New Roman" panose="02020603050405020304" pitchFamily="18" charset="0"/>
                <a:ea typeface="Times New Roman" panose="02020603050405020304" pitchFamily="18" charset="0"/>
              </a:rPr>
              <a:t>In what ways may human activities:</a:t>
            </a:r>
          </a:p>
          <a:p>
            <a:pPr marL="0" marR="0" indent="0" algn="just">
              <a:lnSpc>
                <a:spcPct val="115000"/>
              </a:lnSpc>
              <a:spcBef>
                <a:spcPts val="0"/>
              </a:spcBef>
              <a:spcAft>
                <a:spcPts val="65"/>
              </a:spcAft>
              <a:buNone/>
            </a:pPr>
            <a:r>
              <a:rPr lang="en-US" sz="3200" dirty="0">
                <a:effectLst/>
                <a:latin typeface="Times New Roman" panose="02020603050405020304" pitchFamily="18" charset="0"/>
                <a:ea typeface="Times New Roman" panose="02020603050405020304" pitchFamily="18" charset="0"/>
              </a:rPr>
              <a:t>	(</a:t>
            </a:r>
            <a:r>
              <a:rPr lang="en-US" sz="3200" dirty="0" err="1">
                <a:effectLst/>
                <a:latin typeface="Times New Roman" panose="02020603050405020304" pitchFamily="18" charset="0"/>
                <a:ea typeface="Times New Roman" panose="02020603050405020304" pitchFamily="18" charset="0"/>
              </a:rPr>
              <a:t>i</a:t>
            </a:r>
            <a:r>
              <a:rPr lang="en-US" sz="3200" dirty="0">
                <a:effectLst/>
                <a:latin typeface="Times New Roman" panose="02020603050405020304" pitchFamily="18" charset="0"/>
                <a:ea typeface="Times New Roman" panose="02020603050405020304" pitchFamily="18" charset="0"/>
              </a:rPr>
              <a:t>)	improve soil?   (5 marks)</a:t>
            </a:r>
          </a:p>
          <a:p>
            <a:pPr marL="342900" marR="0" lvl="0" indent="-342900" algn="just">
              <a:lnSpc>
                <a:spcPct val="115000"/>
              </a:lnSpc>
              <a:spcBef>
                <a:spcPts val="0"/>
              </a:spcBef>
              <a:spcAft>
                <a:spcPts val="65"/>
              </a:spcAft>
              <a:buFont typeface="Symbol" panose="05050102010706020507" pitchFamily="18" charset="2"/>
              <a:buChar char=""/>
            </a:pPr>
            <a:r>
              <a:rPr lang="en-US" sz="3200" b="1" i="1" u="sng" dirty="0">
                <a:effectLst/>
                <a:latin typeface="Times New Roman" panose="02020603050405020304" pitchFamily="18" charset="0"/>
                <a:ea typeface="Times New Roman" panose="02020603050405020304" pitchFamily="18" charset="0"/>
              </a:rPr>
              <a:t>Crop rotation prevents soil exhaustion</a:t>
            </a:r>
            <a:endParaRPr lang="en-US" sz="3200" dirty="0">
              <a:effectLst/>
              <a:latin typeface="Times New Roman" panose="02020603050405020304" pitchFamily="18" charset="0"/>
              <a:ea typeface="Times New Roman" panose="02020603050405020304" pitchFamily="18" charset="0"/>
            </a:endParaRPr>
          </a:p>
          <a:p>
            <a:pPr marL="342900" marR="0" lvl="0" indent="-342900" algn="just">
              <a:lnSpc>
                <a:spcPct val="115000"/>
              </a:lnSpc>
              <a:spcBef>
                <a:spcPts val="0"/>
              </a:spcBef>
              <a:spcAft>
                <a:spcPts val="65"/>
              </a:spcAft>
              <a:buFont typeface="Symbol" panose="05050102010706020507" pitchFamily="18" charset="2"/>
              <a:buChar char=""/>
            </a:pPr>
            <a:r>
              <a:rPr lang="en-US" sz="3200" b="1" i="1" u="sng" dirty="0">
                <a:effectLst/>
                <a:latin typeface="Times New Roman" panose="02020603050405020304" pitchFamily="18" charset="0"/>
                <a:ea typeface="Times New Roman" panose="02020603050405020304" pitchFamily="18" charset="0"/>
              </a:rPr>
              <a:t>Growing legumes add nitrogen to soil</a:t>
            </a:r>
            <a:endParaRPr lang="en-US" sz="3200" dirty="0">
              <a:effectLst/>
              <a:latin typeface="Times New Roman" panose="02020603050405020304" pitchFamily="18" charset="0"/>
              <a:ea typeface="Times New Roman" panose="02020603050405020304" pitchFamily="18" charset="0"/>
            </a:endParaRPr>
          </a:p>
          <a:p>
            <a:pPr marL="342900" marR="0" lvl="0" indent="-342900" algn="just">
              <a:lnSpc>
                <a:spcPct val="115000"/>
              </a:lnSpc>
              <a:spcBef>
                <a:spcPts val="0"/>
              </a:spcBef>
              <a:spcAft>
                <a:spcPts val="65"/>
              </a:spcAft>
              <a:buFont typeface="Symbol" panose="05050102010706020507" pitchFamily="18" charset="2"/>
              <a:buChar char=""/>
            </a:pPr>
            <a:r>
              <a:rPr lang="en-US" sz="3200" b="1" i="1" u="sng" dirty="0">
                <a:effectLst/>
                <a:latin typeface="Times New Roman" panose="02020603050405020304" pitchFamily="18" charset="0"/>
                <a:ea typeface="Times New Roman" panose="02020603050405020304" pitchFamily="18" charset="0"/>
              </a:rPr>
              <a:t>Mulching controls soil erosion</a:t>
            </a:r>
            <a:endParaRPr lang="en-US" sz="3200" dirty="0">
              <a:effectLst/>
              <a:latin typeface="Times New Roman" panose="02020603050405020304" pitchFamily="18" charset="0"/>
              <a:ea typeface="Times New Roman" panose="02020603050405020304" pitchFamily="18" charset="0"/>
            </a:endParaRPr>
          </a:p>
          <a:p>
            <a:pPr marL="342900" marR="0" lvl="0" indent="-342900" algn="just">
              <a:lnSpc>
                <a:spcPct val="115000"/>
              </a:lnSpc>
              <a:spcBef>
                <a:spcPts val="0"/>
              </a:spcBef>
              <a:spcAft>
                <a:spcPts val="65"/>
              </a:spcAft>
              <a:buFont typeface="Symbol" panose="05050102010706020507" pitchFamily="18" charset="2"/>
              <a:buChar char=""/>
            </a:pPr>
            <a:r>
              <a:rPr lang="en-US" sz="3200" b="1" i="1" u="sng" dirty="0">
                <a:effectLst/>
                <a:latin typeface="Times New Roman" panose="02020603050405020304" pitchFamily="18" charset="0"/>
                <a:ea typeface="Times New Roman" panose="02020603050405020304" pitchFamily="18" charset="0"/>
              </a:rPr>
              <a:t>Application of manure adds nutrients/improves soil structure</a:t>
            </a:r>
            <a:endParaRPr lang="en-US" sz="3200" dirty="0">
              <a:effectLst/>
              <a:latin typeface="Times New Roman" panose="02020603050405020304" pitchFamily="18" charset="0"/>
              <a:ea typeface="Times New Roman" panose="02020603050405020304" pitchFamily="18" charset="0"/>
            </a:endParaRPr>
          </a:p>
          <a:p>
            <a:pPr marL="342900" marR="0" lvl="0" indent="-342900" algn="just">
              <a:lnSpc>
                <a:spcPct val="115000"/>
              </a:lnSpc>
              <a:spcBef>
                <a:spcPts val="0"/>
              </a:spcBef>
              <a:spcAft>
                <a:spcPts val="65"/>
              </a:spcAft>
              <a:buFont typeface="Symbol" panose="05050102010706020507" pitchFamily="18" charset="2"/>
              <a:buChar char=""/>
            </a:pPr>
            <a:r>
              <a:rPr lang="en-US" sz="3200" b="1" i="1" u="sng" dirty="0">
                <a:effectLst/>
                <a:latin typeface="Times New Roman" panose="02020603050405020304" pitchFamily="18" charset="0"/>
                <a:ea typeface="Times New Roman" panose="02020603050405020304" pitchFamily="18" charset="0"/>
              </a:rPr>
              <a:t>Addition of fertilizers adds nutrients to soil</a:t>
            </a:r>
            <a:endParaRPr lang="en-US" sz="3200" dirty="0">
              <a:effectLst/>
              <a:latin typeface="Times New Roman" panose="02020603050405020304" pitchFamily="18" charset="0"/>
              <a:ea typeface="Times New Roman" panose="02020603050405020304" pitchFamily="18" charset="0"/>
            </a:endParaRPr>
          </a:p>
          <a:p>
            <a:pPr marL="342900" marR="0" lvl="0" indent="-342900" algn="just">
              <a:lnSpc>
                <a:spcPct val="115000"/>
              </a:lnSpc>
              <a:spcBef>
                <a:spcPts val="0"/>
              </a:spcBef>
              <a:spcAft>
                <a:spcPts val="65"/>
              </a:spcAft>
              <a:buFont typeface="Symbol" panose="05050102010706020507" pitchFamily="18" charset="2"/>
              <a:buChar char=""/>
            </a:pPr>
            <a:r>
              <a:rPr lang="en-US" sz="3200" b="1" i="1" u="sng" dirty="0">
                <a:effectLst/>
                <a:latin typeface="Times New Roman" panose="02020603050405020304" pitchFamily="18" charset="0"/>
                <a:ea typeface="Times New Roman" panose="02020603050405020304" pitchFamily="18" charset="0"/>
              </a:rPr>
              <a:t>Application of lime lowers soil pH</a:t>
            </a:r>
            <a:endParaRPr lang="en-US" sz="3200" dirty="0">
              <a:effectLst/>
              <a:latin typeface="Times New Roman" panose="02020603050405020304" pitchFamily="18" charset="0"/>
              <a:ea typeface="Times New Roman" panose="02020603050405020304" pitchFamily="18" charset="0"/>
            </a:endParaRPr>
          </a:p>
          <a:p>
            <a:pPr marL="342900" marR="0" lvl="0" indent="-342900" algn="just">
              <a:lnSpc>
                <a:spcPct val="115000"/>
              </a:lnSpc>
              <a:spcBef>
                <a:spcPts val="0"/>
              </a:spcBef>
              <a:spcAft>
                <a:spcPts val="65"/>
              </a:spcAft>
              <a:buFont typeface="Symbol" panose="05050102010706020507" pitchFamily="18" charset="2"/>
              <a:buChar char=""/>
            </a:pPr>
            <a:r>
              <a:rPr lang="en-US" sz="3200" b="1" i="1" u="sng" dirty="0">
                <a:effectLst/>
                <a:latin typeface="Times New Roman" panose="02020603050405020304" pitchFamily="18" charset="0"/>
                <a:ea typeface="Times New Roman" panose="02020603050405020304" pitchFamily="18" charset="0"/>
              </a:rPr>
              <a:t>Terracing controls soil erosion</a:t>
            </a:r>
            <a:endParaRPr lang="en-US" sz="3200" dirty="0">
              <a:effectLst/>
              <a:latin typeface="Times New Roman" panose="02020603050405020304" pitchFamily="18" charset="0"/>
              <a:ea typeface="Times New Roman" panose="02020603050405020304" pitchFamily="18" charset="0"/>
            </a:endParaRPr>
          </a:p>
          <a:p>
            <a:pPr marL="342900" marR="0" lvl="0" indent="-342900" algn="just">
              <a:lnSpc>
                <a:spcPct val="115000"/>
              </a:lnSpc>
              <a:spcBef>
                <a:spcPts val="0"/>
              </a:spcBef>
              <a:spcAft>
                <a:spcPts val="65"/>
              </a:spcAft>
              <a:buFont typeface="Symbol" panose="05050102010706020507" pitchFamily="18" charset="2"/>
              <a:buChar char=""/>
            </a:pPr>
            <a:r>
              <a:rPr lang="en-US" sz="3200" b="1" i="1" u="sng" dirty="0">
                <a:effectLst/>
                <a:latin typeface="Times New Roman" panose="02020603050405020304" pitchFamily="18" charset="0"/>
                <a:ea typeface="Times New Roman" panose="02020603050405020304" pitchFamily="18" charset="0"/>
              </a:rPr>
              <a:t>Strip cropping, contour ploughing controls soil erosion</a:t>
            </a:r>
            <a:endParaRPr lang="en-US" sz="3200" dirty="0">
              <a:effectLst/>
              <a:latin typeface="Times New Roman" panose="02020603050405020304" pitchFamily="18" charset="0"/>
              <a:ea typeface="Times New Roman" panose="02020603050405020304" pitchFamily="18" charset="0"/>
            </a:endParaRPr>
          </a:p>
          <a:p>
            <a:pPr marL="0" indent="0">
              <a:buNone/>
            </a:pPr>
            <a:endParaRPr lang="en-US" sz="3200" dirty="0"/>
          </a:p>
        </p:txBody>
      </p:sp>
    </p:spTree>
    <p:extLst>
      <p:ext uri="{BB962C8B-B14F-4D97-AF65-F5344CB8AC3E}">
        <p14:creationId xmlns:p14="http://schemas.microsoft.com/office/powerpoint/2010/main" val="288377157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0E850D-9105-709E-A248-455C409821EA}"/>
              </a:ext>
            </a:extLst>
          </p:cNvPr>
          <p:cNvSpPr>
            <a:spLocks noGrp="1"/>
          </p:cNvSpPr>
          <p:nvPr>
            <p:ph idx="1"/>
          </p:nvPr>
        </p:nvSpPr>
        <p:spPr>
          <a:xfrm>
            <a:off x="1069848" y="1477941"/>
            <a:ext cx="10058400" cy="4050792"/>
          </a:xfrm>
        </p:spPr>
        <p:txBody>
          <a:bodyPr>
            <a:noAutofit/>
          </a:bodyPr>
          <a:lstStyle/>
          <a:p>
            <a:pPr marL="0" marR="0" indent="0" algn="just">
              <a:lnSpc>
                <a:spcPct val="115000"/>
              </a:lnSpc>
              <a:spcBef>
                <a:spcPts val="0"/>
              </a:spcBef>
              <a:spcAft>
                <a:spcPts val="65"/>
              </a:spcAft>
              <a:buNone/>
            </a:pPr>
            <a:r>
              <a:rPr lang="en-US" sz="3200" dirty="0">
                <a:effectLst/>
                <a:latin typeface="Times New Roman" panose="02020603050405020304" pitchFamily="18" charset="0"/>
                <a:ea typeface="Times New Roman" panose="02020603050405020304" pitchFamily="18" charset="0"/>
              </a:rPr>
              <a:t>(ii)      degrade soil?     (5 marks)</a:t>
            </a:r>
          </a:p>
          <a:p>
            <a:pPr marL="342900" marR="0" lvl="0" indent="-342900" algn="just">
              <a:lnSpc>
                <a:spcPct val="115000"/>
              </a:lnSpc>
              <a:spcBef>
                <a:spcPts val="0"/>
              </a:spcBef>
              <a:spcAft>
                <a:spcPts val="65"/>
              </a:spcAft>
              <a:buFont typeface="Symbol" panose="05050102010706020507" pitchFamily="18" charset="2"/>
              <a:buChar char=""/>
            </a:pPr>
            <a:r>
              <a:rPr lang="en-US" sz="3200" b="1" i="1" u="sng" dirty="0">
                <a:effectLst/>
                <a:latin typeface="Times New Roman" panose="02020603050405020304" pitchFamily="18" charset="0"/>
                <a:ea typeface="Times New Roman" panose="02020603050405020304" pitchFamily="18" charset="0"/>
              </a:rPr>
              <a:t>Over grazing leads to erosion</a:t>
            </a:r>
            <a:endParaRPr lang="en-US" sz="3200" dirty="0">
              <a:effectLst/>
              <a:latin typeface="Times New Roman" panose="02020603050405020304" pitchFamily="18" charset="0"/>
              <a:ea typeface="Times New Roman" panose="02020603050405020304" pitchFamily="18" charset="0"/>
            </a:endParaRPr>
          </a:p>
          <a:p>
            <a:pPr marL="342900" marR="0" lvl="0" indent="-342900" algn="just">
              <a:lnSpc>
                <a:spcPct val="115000"/>
              </a:lnSpc>
              <a:spcBef>
                <a:spcPts val="0"/>
              </a:spcBef>
              <a:spcAft>
                <a:spcPts val="65"/>
              </a:spcAft>
              <a:buFont typeface="Symbol" panose="05050102010706020507" pitchFamily="18" charset="2"/>
              <a:buChar char=""/>
            </a:pPr>
            <a:r>
              <a:rPr lang="en-US" sz="3200" b="1" i="1" u="sng" dirty="0">
                <a:effectLst/>
                <a:latin typeface="Times New Roman" panose="02020603050405020304" pitchFamily="18" charset="0"/>
                <a:ea typeface="Times New Roman" panose="02020603050405020304" pitchFamily="18" charset="0"/>
              </a:rPr>
              <a:t>Monoculture leads to soil exhaustion</a:t>
            </a:r>
            <a:endParaRPr lang="en-US" sz="3200" dirty="0">
              <a:effectLst/>
              <a:latin typeface="Times New Roman" panose="02020603050405020304" pitchFamily="18" charset="0"/>
              <a:ea typeface="Times New Roman" panose="02020603050405020304" pitchFamily="18" charset="0"/>
            </a:endParaRPr>
          </a:p>
          <a:p>
            <a:pPr marL="342900" marR="0" lvl="0" indent="-342900" algn="just">
              <a:lnSpc>
                <a:spcPct val="115000"/>
              </a:lnSpc>
              <a:spcBef>
                <a:spcPts val="0"/>
              </a:spcBef>
              <a:spcAft>
                <a:spcPts val="65"/>
              </a:spcAft>
              <a:buFont typeface="Symbol" panose="05050102010706020507" pitchFamily="18" charset="2"/>
              <a:buChar char=""/>
            </a:pPr>
            <a:r>
              <a:rPr lang="en-US" sz="3200" b="1" i="1" u="sng" dirty="0">
                <a:effectLst/>
                <a:latin typeface="Times New Roman" panose="02020603050405020304" pitchFamily="18" charset="0"/>
                <a:ea typeface="Times New Roman" panose="02020603050405020304" pitchFamily="18" charset="0"/>
              </a:rPr>
              <a:t>Excessive use of artificial fertilizers alters soil Ph</a:t>
            </a:r>
            <a:endParaRPr lang="en-US" sz="3200" dirty="0">
              <a:effectLst/>
              <a:latin typeface="Times New Roman" panose="02020603050405020304" pitchFamily="18" charset="0"/>
              <a:ea typeface="Times New Roman" panose="02020603050405020304" pitchFamily="18" charset="0"/>
            </a:endParaRPr>
          </a:p>
          <a:p>
            <a:pPr marL="342900" marR="0" lvl="0" indent="-342900" algn="just">
              <a:lnSpc>
                <a:spcPct val="115000"/>
              </a:lnSpc>
              <a:spcBef>
                <a:spcPts val="0"/>
              </a:spcBef>
              <a:spcAft>
                <a:spcPts val="65"/>
              </a:spcAft>
              <a:buFont typeface="Symbol" panose="05050102010706020507" pitchFamily="18" charset="2"/>
              <a:buChar char=""/>
            </a:pPr>
            <a:r>
              <a:rPr lang="en-US" sz="3200" b="1" i="1" u="sng" dirty="0">
                <a:effectLst/>
                <a:latin typeface="Times New Roman" panose="02020603050405020304" pitchFamily="18" charset="0"/>
                <a:ea typeface="Times New Roman" panose="02020603050405020304" pitchFamily="18" charset="0"/>
              </a:rPr>
              <a:t>Ploughing down slopes accelerate erosion</a:t>
            </a:r>
            <a:endParaRPr lang="en-US" sz="3200" dirty="0">
              <a:effectLst/>
              <a:latin typeface="Times New Roman" panose="02020603050405020304" pitchFamily="18" charset="0"/>
              <a:ea typeface="Times New Roman" panose="02020603050405020304" pitchFamily="18" charset="0"/>
            </a:endParaRPr>
          </a:p>
          <a:p>
            <a:pPr marL="342900" marR="0" lvl="0" indent="-342900" algn="just">
              <a:lnSpc>
                <a:spcPct val="115000"/>
              </a:lnSpc>
              <a:spcBef>
                <a:spcPts val="0"/>
              </a:spcBef>
              <a:spcAft>
                <a:spcPts val="65"/>
              </a:spcAft>
              <a:buFont typeface="Symbol" panose="05050102010706020507" pitchFamily="18" charset="2"/>
              <a:buChar char=""/>
            </a:pPr>
            <a:r>
              <a:rPr lang="en-US" sz="3200" b="1" i="1" u="sng" dirty="0">
                <a:effectLst/>
                <a:latin typeface="Times New Roman" panose="02020603050405020304" pitchFamily="18" charset="0"/>
                <a:ea typeface="Times New Roman" panose="02020603050405020304" pitchFamily="18" charset="0"/>
              </a:rPr>
              <a:t>Bush burning leads to erosion</a:t>
            </a:r>
            <a:endParaRPr lang="en-US" sz="3200" dirty="0">
              <a:effectLst/>
              <a:latin typeface="Times New Roman" panose="02020603050405020304" pitchFamily="18" charset="0"/>
              <a:ea typeface="Times New Roman" panose="02020603050405020304" pitchFamily="18" charset="0"/>
            </a:endParaRPr>
          </a:p>
          <a:p>
            <a:pPr marL="342900" marR="0" lvl="0" indent="-342900" algn="just">
              <a:lnSpc>
                <a:spcPct val="115000"/>
              </a:lnSpc>
              <a:spcBef>
                <a:spcPts val="0"/>
              </a:spcBef>
              <a:spcAft>
                <a:spcPts val="65"/>
              </a:spcAft>
              <a:buFont typeface="Symbol" panose="05050102010706020507" pitchFamily="18" charset="2"/>
              <a:buChar char=""/>
            </a:pPr>
            <a:r>
              <a:rPr lang="en-US" sz="3200" b="1" i="1" u="sng" dirty="0">
                <a:effectLst/>
                <a:latin typeface="Times New Roman" panose="02020603050405020304" pitchFamily="18" charset="0"/>
                <a:ea typeface="Times New Roman" panose="02020603050405020304" pitchFamily="18" charset="0"/>
              </a:rPr>
              <a:t>Disposal of plastics reduces water infiltration and aeration</a:t>
            </a:r>
            <a:endParaRPr lang="en-US" sz="3200" dirty="0">
              <a:effectLst/>
              <a:latin typeface="Times New Roman" panose="02020603050405020304" pitchFamily="18" charset="0"/>
              <a:ea typeface="Times New Roman" panose="02020603050405020304" pitchFamily="18" charset="0"/>
            </a:endParaRPr>
          </a:p>
          <a:p>
            <a:pPr marL="0" indent="0">
              <a:buNone/>
            </a:pPr>
            <a:endParaRPr lang="en-US" sz="3200" dirty="0"/>
          </a:p>
        </p:txBody>
      </p:sp>
    </p:spTree>
    <p:extLst>
      <p:ext uri="{BB962C8B-B14F-4D97-AF65-F5344CB8AC3E}">
        <p14:creationId xmlns:p14="http://schemas.microsoft.com/office/powerpoint/2010/main" val="32379682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D34CB4-5BB0-A66F-EBFB-F3FF099D26BA}"/>
              </a:ext>
            </a:extLst>
          </p:cNvPr>
          <p:cNvSpPr>
            <a:spLocks noGrp="1"/>
          </p:cNvSpPr>
          <p:nvPr>
            <p:ph idx="1"/>
          </p:nvPr>
        </p:nvSpPr>
        <p:spPr>
          <a:xfrm>
            <a:off x="1069848" y="1195719"/>
            <a:ext cx="10058400" cy="4050792"/>
          </a:xfrm>
        </p:spPr>
        <p:txBody>
          <a:bodyPr>
            <a:noAutofit/>
          </a:bodyPr>
          <a:lstStyle/>
          <a:p>
            <a:pPr marL="0" marR="0" indent="0" algn="just">
              <a:lnSpc>
                <a:spcPct val="115000"/>
              </a:lnSpc>
              <a:spcBef>
                <a:spcPts val="0"/>
              </a:spcBef>
              <a:spcAft>
                <a:spcPts val="65"/>
              </a:spcAft>
              <a:buNone/>
            </a:pPr>
            <a:r>
              <a:rPr lang="en-US" sz="3200" dirty="0">
                <a:effectLst/>
                <a:latin typeface="Times New Roman" panose="02020603050405020304" pitchFamily="18" charset="0"/>
                <a:ea typeface="Times New Roman" panose="02020603050405020304" pitchFamily="18" charset="0"/>
              </a:rPr>
              <a:t>(d) Of what value is earthworms in maintaining soil in a condition suitable for crop growth?                                                                                 (4 marks)</a:t>
            </a:r>
          </a:p>
          <a:p>
            <a:pPr marL="342900" marR="0" lvl="0" indent="-342900" algn="just">
              <a:lnSpc>
                <a:spcPct val="115000"/>
              </a:lnSpc>
              <a:spcBef>
                <a:spcPts val="0"/>
              </a:spcBef>
              <a:spcAft>
                <a:spcPts val="65"/>
              </a:spcAft>
              <a:buFont typeface="Symbol" panose="05050102010706020507" pitchFamily="18" charset="2"/>
              <a:buChar char=""/>
            </a:pPr>
            <a:r>
              <a:rPr lang="en-US" sz="3200" b="1" i="1" u="sng" dirty="0">
                <a:effectLst/>
                <a:latin typeface="Times New Roman" panose="02020603050405020304" pitchFamily="18" charset="0"/>
                <a:ea typeface="Times New Roman" panose="02020603050405020304" pitchFamily="18" charset="0"/>
              </a:rPr>
              <a:t>By burrowing/forming tunnels; improves drainage; and aeration/porosity; </a:t>
            </a:r>
            <a:endParaRPr lang="en-US" sz="3200" dirty="0">
              <a:effectLst/>
              <a:latin typeface="Times New Roman" panose="02020603050405020304" pitchFamily="18" charset="0"/>
              <a:ea typeface="Times New Roman" panose="02020603050405020304" pitchFamily="18" charset="0"/>
            </a:endParaRPr>
          </a:p>
          <a:p>
            <a:pPr marL="342900" marR="0" lvl="0" indent="-342900" algn="just">
              <a:lnSpc>
                <a:spcPct val="115000"/>
              </a:lnSpc>
              <a:spcBef>
                <a:spcPts val="0"/>
              </a:spcBef>
              <a:spcAft>
                <a:spcPts val="65"/>
              </a:spcAft>
              <a:buFont typeface="Symbol" panose="05050102010706020507" pitchFamily="18" charset="2"/>
              <a:buChar char=""/>
            </a:pPr>
            <a:r>
              <a:rPr lang="en-US" sz="3200" b="1" i="1" u="sng" dirty="0">
                <a:effectLst/>
                <a:latin typeface="Times New Roman" panose="02020603050405020304" pitchFamily="18" charset="0"/>
                <a:ea typeface="Times New Roman" panose="02020603050405020304" pitchFamily="18" charset="0"/>
              </a:rPr>
              <a:t>By feeding on dead plant materials; recycles nutrients/adds humus which soil texture;  </a:t>
            </a:r>
            <a:endParaRPr lang="en-US" sz="3200" dirty="0">
              <a:effectLst/>
              <a:latin typeface="Times New Roman" panose="02020603050405020304" pitchFamily="18" charset="0"/>
              <a:ea typeface="Times New Roman" panose="02020603050405020304" pitchFamily="18" charset="0"/>
            </a:endParaRPr>
          </a:p>
          <a:p>
            <a:pPr marL="342900" marR="0" lvl="0" indent="-342900" algn="just">
              <a:lnSpc>
                <a:spcPct val="115000"/>
              </a:lnSpc>
              <a:spcBef>
                <a:spcPts val="0"/>
              </a:spcBef>
              <a:spcAft>
                <a:spcPts val="65"/>
              </a:spcAft>
              <a:buFont typeface="Symbol" panose="05050102010706020507" pitchFamily="18" charset="2"/>
              <a:buChar char=""/>
            </a:pPr>
            <a:r>
              <a:rPr lang="en-US" sz="3200" b="1" i="1" u="sng" dirty="0">
                <a:effectLst/>
                <a:latin typeface="Times New Roman" panose="02020603050405020304" pitchFamily="18" charset="0"/>
                <a:ea typeface="Times New Roman" panose="02020603050405020304" pitchFamily="18" charset="0"/>
              </a:rPr>
              <a:t>Death and excretion; adds humus to soil.</a:t>
            </a:r>
            <a:endParaRPr lang="en-US" sz="3200" dirty="0">
              <a:effectLst/>
              <a:latin typeface="Times New Roman" panose="02020603050405020304" pitchFamily="18" charset="0"/>
              <a:ea typeface="Times New Roman" panose="02020603050405020304" pitchFamily="18" charset="0"/>
            </a:endParaRPr>
          </a:p>
          <a:p>
            <a:pPr marL="0" indent="0">
              <a:buNone/>
            </a:pPr>
            <a:endParaRPr lang="en-US" sz="3200" dirty="0"/>
          </a:p>
        </p:txBody>
      </p:sp>
    </p:spTree>
    <p:extLst>
      <p:ext uri="{BB962C8B-B14F-4D97-AF65-F5344CB8AC3E}">
        <p14:creationId xmlns:p14="http://schemas.microsoft.com/office/powerpoint/2010/main" val="392008767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D376F-94FE-5EE0-5677-0BB3494ED7E9}"/>
              </a:ext>
            </a:extLst>
          </p:cNvPr>
          <p:cNvSpPr>
            <a:spLocks noGrp="1"/>
          </p:cNvSpPr>
          <p:nvPr>
            <p:ph type="title"/>
          </p:nvPr>
        </p:nvSpPr>
        <p:spPr/>
        <p:txBody>
          <a:bodyPr/>
          <a:lstStyle/>
          <a:p>
            <a:pPr algn="ctr"/>
            <a:r>
              <a:rPr lang="en-US" dirty="0"/>
              <a:t>NUTRIENT CYCLES</a:t>
            </a:r>
          </a:p>
        </p:txBody>
      </p:sp>
      <p:sp>
        <p:nvSpPr>
          <p:cNvPr id="3" name="Content Placeholder 2">
            <a:extLst>
              <a:ext uri="{FF2B5EF4-FFF2-40B4-BE49-F238E27FC236}">
                <a16:creationId xmlns:a16="http://schemas.microsoft.com/office/drawing/2014/main" id="{FCB91F8B-974B-5B61-3431-9C7F4164238A}"/>
              </a:ext>
            </a:extLst>
          </p:cNvPr>
          <p:cNvSpPr>
            <a:spLocks noGrp="1"/>
          </p:cNvSpPr>
          <p:nvPr>
            <p:ph idx="1"/>
          </p:nvPr>
        </p:nvSpPr>
        <p:spPr/>
        <p:txBody>
          <a:bodyPr>
            <a:normAutofit fontScale="92500" lnSpcReduction="10000"/>
          </a:bodyPr>
          <a:lstStyle/>
          <a:p>
            <a:pPr algn="just"/>
            <a:r>
              <a:rPr lang="en-US" sz="3200" dirty="0"/>
              <a:t>It is the circulation of nutrients in nature/living and non-living components of the environment.</a:t>
            </a:r>
          </a:p>
          <a:p>
            <a:pPr algn="just"/>
            <a:r>
              <a:rPr lang="en-US" sz="3200" dirty="0"/>
              <a:t>Nutrient cycle is important because it changes nutrient elements into different forms/states that can be used by different forms of life on earth. </a:t>
            </a:r>
          </a:p>
          <a:p>
            <a:pPr algn="just"/>
            <a:r>
              <a:rPr lang="en-US" sz="3200" dirty="0"/>
              <a:t>It also prevents the locking up of nutrients in a component of the environment.</a:t>
            </a:r>
          </a:p>
        </p:txBody>
      </p:sp>
    </p:spTree>
    <p:extLst>
      <p:ext uri="{BB962C8B-B14F-4D97-AF65-F5344CB8AC3E}">
        <p14:creationId xmlns:p14="http://schemas.microsoft.com/office/powerpoint/2010/main" val="164345254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83554-1EA2-8CAB-31A0-546FC4DD090F}"/>
              </a:ext>
            </a:extLst>
          </p:cNvPr>
          <p:cNvSpPr>
            <a:spLocks noGrp="1"/>
          </p:cNvSpPr>
          <p:nvPr>
            <p:ph type="title"/>
          </p:nvPr>
        </p:nvSpPr>
        <p:spPr/>
        <p:txBody>
          <a:bodyPr/>
          <a:lstStyle/>
          <a:p>
            <a:pPr algn="ctr"/>
            <a:r>
              <a:rPr lang="en-US" dirty="0"/>
              <a:t>NITROGEN CYCLE</a:t>
            </a:r>
          </a:p>
        </p:txBody>
      </p:sp>
      <p:sp>
        <p:nvSpPr>
          <p:cNvPr id="3" name="Content Placeholder 2">
            <a:extLst>
              <a:ext uri="{FF2B5EF4-FFF2-40B4-BE49-F238E27FC236}">
                <a16:creationId xmlns:a16="http://schemas.microsoft.com/office/drawing/2014/main" id="{84795B2C-3909-0704-B35A-05A42B1B6256}"/>
              </a:ext>
            </a:extLst>
          </p:cNvPr>
          <p:cNvSpPr>
            <a:spLocks noGrp="1"/>
          </p:cNvSpPr>
          <p:nvPr>
            <p:ph idx="1"/>
          </p:nvPr>
        </p:nvSpPr>
        <p:spPr/>
        <p:txBody>
          <a:bodyPr>
            <a:normAutofit fontScale="77500" lnSpcReduction="20000"/>
          </a:bodyPr>
          <a:lstStyle/>
          <a:p>
            <a:r>
              <a:rPr lang="en-US" sz="3500" dirty="0"/>
              <a:t>What is the nitrogen cycle?</a:t>
            </a:r>
          </a:p>
          <a:p>
            <a:r>
              <a:rPr lang="en-US" sz="3500" dirty="0"/>
              <a:t>What is the importance of the nitrogen cycle?</a:t>
            </a:r>
          </a:p>
          <a:p>
            <a:r>
              <a:rPr lang="en-US" sz="3500" dirty="0"/>
              <a:t>What processes are involved in the nitrogen cycle?</a:t>
            </a:r>
          </a:p>
          <a:p>
            <a:r>
              <a:rPr lang="en-US" sz="3500" dirty="0"/>
              <a:t>What are the sources of nitrogen that get into the soil?</a:t>
            </a:r>
          </a:p>
          <a:p>
            <a:r>
              <a:rPr lang="en-US" sz="3500" dirty="0"/>
              <a:t>In what ways is nitrogen lost from the soil?</a:t>
            </a:r>
          </a:p>
          <a:p>
            <a:r>
              <a:rPr lang="en-US" sz="3500" dirty="0"/>
              <a:t>Of what use is nitrogen to plants?</a:t>
            </a:r>
          </a:p>
          <a:p>
            <a:r>
              <a:rPr lang="en-US" sz="3500" dirty="0"/>
              <a:t>What are the signs of nitrogen deficiency in plants?</a:t>
            </a:r>
          </a:p>
          <a:p>
            <a:endParaRPr lang="en-US" dirty="0"/>
          </a:p>
        </p:txBody>
      </p:sp>
    </p:spTree>
    <p:extLst>
      <p:ext uri="{BB962C8B-B14F-4D97-AF65-F5344CB8AC3E}">
        <p14:creationId xmlns:p14="http://schemas.microsoft.com/office/powerpoint/2010/main" val="44214489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D66C1-B4AC-29DD-A229-956A074FA23B}"/>
              </a:ext>
            </a:extLst>
          </p:cNvPr>
          <p:cNvSpPr>
            <a:spLocks noGrp="1"/>
          </p:cNvSpPr>
          <p:nvPr>
            <p:ph type="title"/>
          </p:nvPr>
        </p:nvSpPr>
        <p:spPr/>
        <p:txBody>
          <a:bodyPr>
            <a:normAutofit fontScale="90000"/>
          </a:bodyPr>
          <a:lstStyle/>
          <a:p>
            <a:r>
              <a:rPr lang="en-US" sz="4800" dirty="0"/>
              <a:t/>
            </a:r>
            <a:br>
              <a:rPr lang="en-US" sz="4800" dirty="0"/>
            </a:br>
            <a:r>
              <a:rPr lang="en-US" sz="4800" dirty="0"/>
              <a:t>Definition of nitrogen cycle</a:t>
            </a:r>
            <a:br>
              <a:rPr lang="en-US" sz="4800" dirty="0"/>
            </a:br>
            <a:r>
              <a:rPr lang="en-US" sz="4800" dirty="0"/>
              <a:t/>
            </a:r>
            <a:br>
              <a:rPr lang="en-US" sz="4800" dirty="0"/>
            </a:br>
            <a:r>
              <a:rPr lang="en-US" sz="4800" dirty="0"/>
              <a:t/>
            </a:r>
            <a:br>
              <a:rPr lang="en-US" sz="4800" dirty="0"/>
            </a:br>
            <a:r>
              <a:rPr lang="en-US" sz="4800" dirty="0"/>
              <a:t/>
            </a:r>
            <a:br>
              <a:rPr lang="en-US" sz="4800" dirty="0"/>
            </a:br>
            <a:r>
              <a:rPr lang="en-US" dirty="0"/>
              <a:t/>
            </a:r>
            <a:br>
              <a:rPr lang="en-US" dirty="0"/>
            </a:br>
            <a:endParaRPr lang="en-US" dirty="0"/>
          </a:p>
        </p:txBody>
      </p:sp>
      <p:sp>
        <p:nvSpPr>
          <p:cNvPr id="3" name="Content Placeholder 2">
            <a:extLst>
              <a:ext uri="{FF2B5EF4-FFF2-40B4-BE49-F238E27FC236}">
                <a16:creationId xmlns:a16="http://schemas.microsoft.com/office/drawing/2014/main" id="{46FB789B-9730-DE17-5623-B54E907549F2}"/>
              </a:ext>
            </a:extLst>
          </p:cNvPr>
          <p:cNvSpPr>
            <a:spLocks noGrp="1"/>
          </p:cNvSpPr>
          <p:nvPr>
            <p:ph idx="1"/>
          </p:nvPr>
        </p:nvSpPr>
        <p:spPr>
          <a:xfrm>
            <a:off x="1103312" y="2172195"/>
            <a:ext cx="10889905" cy="3327457"/>
          </a:xfrm>
        </p:spPr>
        <p:txBody>
          <a:bodyPr>
            <a:normAutofit/>
          </a:bodyPr>
          <a:lstStyle/>
          <a:p>
            <a:pPr algn="just"/>
            <a:endParaRPr lang="en-US" sz="4000" dirty="0"/>
          </a:p>
          <a:p>
            <a:pPr algn="just"/>
            <a:r>
              <a:rPr lang="en-US" sz="4000" dirty="0"/>
              <a:t>It is the circulation of nitrogen in nature/living and non-living components of the environment. </a:t>
            </a:r>
          </a:p>
        </p:txBody>
      </p:sp>
    </p:spTree>
    <p:extLst>
      <p:ext uri="{BB962C8B-B14F-4D97-AF65-F5344CB8AC3E}">
        <p14:creationId xmlns:p14="http://schemas.microsoft.com/office/powerpoint/2010/main" val="231906534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37B3C-6073-9CF0-65A0-D15D012EC746}"/>
              </a:ext>
            </a:extLst>
          </p:cNvPr>
          <p:cNvSpPr>
            <a:spLocks noGrp="1"/>
          </p:cNvSpPr>
          <p:nvPr>
            <p:ph type="title"/>
          </p:nvPr>
        </p:nvSpPr>
        <p:spPr/>
        <p:txBody>
          <a:bodyPr>
            <a:normAutofit fontScale="90000"/>
          </a:bodyPr>
          <a:lstStyle/>
          <a:p>
            <a:r>
              <a:rPr lang="en-US" sz="4800" dirty="0"/>
              <a:t>Importance of the nitrogen cycle</a:t>
            </a:r>
            <a:endParaRPr lang="en-US" dirty="0"/>
          </a:p>
        </p:txBody>
      </p:sp>
      <p:sp>
        <p:nvSpPr>
          <p:cNvPr id="3" name="Content Placeholder 2">
            <a:extLst>
              <a:ext uri="{FF2B5EF4-FFF2-40B4-BE49-F238E27FC236}">
                <a16:creationId xmlns:a16="http://schemas.microsoft.com/office/drawing/2014/main" id="{997503D9-1C49-B5FF-9F11-6A5BB1D2C60E}"/>
              </a:ext>
            </a:extLst>
          </p:cNvPr>
          <p:cNvSpPr>
            <a:spLocks noGrp="1"/>
          </p:cNvSpPr>
          <p:nvPr>
            <p:ph idx="1"/>
          </p:nvPr>
        </p:nvSpPr>
        <p:spPr/>
        <p:txBody>
          <a:bodyPr>
            <a:normAutofit/>
          </a:bodyPr>
          <a:lstStyle/>
          <a:p>
            <a:r>
              <a:rPr lang="en-US" sz="3200" dirty="0"/>
              <a:t>Nitrogen is converted to compounds that can be absorbed by plants.</a:t>
            </a:r>
          </a:p>
        </p:txBody>
      </p:sp>
    </p:spTree>
    <p:extLst>
      <p:ext uri="{BB962C8B-B14F-4D97-AF65-F5344CB8AC3E}">
        <p14:creationId xmlns:p14="http://schemas.microsoft.com/office/powerpoint/2010/main" val="413025790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268F1-E3AD-3FBF-17B5-8D295770D54D}"/>
              </a:ext>
            </a:extLst>
          </p:cNvPr>
          <p:cNvSpPr>
            <a:spLocks noGrp="1"/>
          </p:cNvSpPr>
          <p:nvPr>
            <p:ph type="title"/>
          </p:nvPr>
        </p:nvSpPr>
        <p:spPr>
          <a:xfrm>
            <a:off x="119271" y="-67051"/>
            <a:ext cx="11794433" cy="1609344"/>
          </a:xfrm>
        </p:spPr>
        <p:txBody>
          <a:bodyPr/>
          <a:lstStyle/>
          <a:p>
            <a:r>
              <a:rPr lang="en-US" sz="4800" b="1" dirty="0"/>
              <a:t>Processes involved in the nitrogen cycle</a:t>
            </a:r>
            <a:endParaRPr lang="en-US" b="1" dirty="0"/>
          </a:p>
        </p:txBody>
      </p:sp>
      <p:graphicFrame>
        <p:nvGraphicFramePr>
          <p:cNvPr id="4" name="Table 4">
            <a:extLst>
              <a:ext uri="{FF2B5EF4-FFF2-40B4-BE49-F238E27FC236}">
                <a16:creationId xmlns:a16="http://schemas.microsoft.com/office/drawing/2014/main" id="{5A7E2812-4896-43CD-33BE-D17102A7BEF3}"/>
              </a:ext>
            </a:extLst>
          </p:cNvPr>
          <p:cNvGraphicFramePr>
            <a:graphicFrameLocks noGrp="1"/>
          </p:cNvGraphicFramePr>
          <p:nvPr>
            <p:ph idx="1"/>
            <p:extLst>
              <p:ext uri="{D42A27DB-BD31-4B8C-83A1-F6EECF244321}">
                <p14:modId xmlns:p14="http://schemas.microsoft.com/office/powerpoint/2010/main" val="977057095"/>
              </p:ext>
            </p:extLst>
          </p:nvPr>
        </p:nvGraphicFramePr>
        <p:xfrm>
          <a:off x="119271" y="1431235"/>
          <a:ext cx="12072728" cy="4694924"/>
        </p:xfrm>
        <a:graphic>
          <a:graphicData uri="http://schemas.openxmlformats.org/drawingml/2006/table">
            <a:tbl>
              <a:tblPr firstRow="1" bandRow="1">
                <a:tableStyleId>{5C22544A-7EE6-4342-B048-85BDC9FD1C3A}</a:tableStyleId>
              </a:tblPr>
              <a:tblGrid>
                <a:gridCol w="2703856">
                  <a:extLst>
                    <a:ext uri="{9D8B030D-6E8A-4147-A177-3AD203B41FA5}">
                      <a16:colId xmlns:a16="http://schemas.microsoft.com/office/drawing/2014/main" val="2388246029"/>
                    </a:ext>
                  </a:extLst>
                </a:gridCol>
                <a:gridCol w="5880892">
                  <a:extLst>
                    <a:ext uri="{9D8B030D-6E8A-4147-A177-3AD203B41FA5}">
                      <a16:colId xmlns:a16="http://schemas.microsoft.com/office/drawing/2014/main" val="2821730348"/>
                    </a:ext>
                  </a:extLst>
                </a:gridCol>
                <a:gridCol w="3487980">
                  <a:extLst>
                    <a:ext uri="{9D8B030D-6E8A-4147-A177-3AD203B41FA5}">
                      <a16:colId xmlns:a16="http://schemas.microsoft.com/office/drawing/2014/main" val="2765136812"/>
                    </a:ext>
                  </a:extLst>
                </a:gridCol>
              </a:tblGrid>
              <a:tr h="1074002">
                <a:tc>
                  <a:txBody>
                    <a:bodyPr/>
                    <a:lstStyle/>
                    <a:p>
                      <a:r>
                        <a:rPr lang="en-US" sz="3200" dirty="0">
                          <a:solidFill>
                            <a:schemeClr val="tx1">
                              <a:lumMod val="95000"/>
                              <a:lumOff val="5000"/>
                            </a:schemeClr>
                          </a:solidFill>
                        </a:rPr>
                        <a:t>Process </a:t>
                      </a:r>
                    </a:p>
                  </a:txBody>
                  <a:tcPr/>
                </a:tc>
                <a:tc>
                  <a:txBody>
                    <a:bodyPr/>
                    <a:lstStyle/>
                    <a:p>
                      <a:r>
                        <a:rPr lang="en-US" sz="3200" dirty="0">
                          <a:solidFill>
                            <a:schemeClr val="tx1">
                              <a:lumMod val="95000"/>
                              <a:lumOff val="5000"/>
                            </a:schemeClr>
                          </a:solidFill>
                        </a:rPr>
                        <a:t>Definition </a:t>
                      </a:r>
                    </a:p>
                  </a:txBody>
                  <a:tcPr/>
                </a:tc>
                <a:tc>
                  <a:txBody>
                    <a:bodyPr/>
                    <a:lstStyle/>
                    <a:p>
                      <a:r>
                        <a:rPr lang="en-US" sz="3200" dirty="0">
                          <a:solidFill>
                            <a:schemeClr val="tx1">
                              <a:lumMod val="95000"/>
                              <a:lumOff val="5000"/>
                            </a:schemeClr>
                          </a:solidFill>
                        </a:rPr>
                        <a:t>Bacteria involved</a:t>
                      </a:r>
                    </a:p>
                  </a:txBody>
                  <a:tcPr/>
                </a:tc>
                <a:extLst>
                  <a:ext uri="{0D108BD9-81ED-4DB2-BD59-A6C34878D82A}">
                    <a16:rowId xmlns:a16="http://schemas.microsoft.com/office/drawing/2014/main" val="4203060953"/>
                  </a:ext>
                </a:extLst>
              </a:tr>
              <a:tr h="1564975">
                <a:tc>
                  <a:txBody>
                    <a:bodyPr/>
                    <a:lstStyle/>
                    <a:p>
                      <a:r>
                        <a:rPr lang="en-US" sz="3200" b="1" dirty="0">
                          <a:solidFill>
                            <a:srgbClr val="FF0000"/>
                          </a:solidFill>
                        </a:rPr>
                        <a:t>Nitrogen fixation</a:t>
                      </a:r>
                      <a:endParaRPr lang="en-US" sz="3200" dirty="0"/>
                    </a:p>
                  </a:txBody>
                  <a:tcPr/>
                </a:tc>
                <a:tc>
                  <a:txBody>
                    <a:bodyPr/>
                    <a:lstStyle/>
                    <a:p>
                      <a:r>
                        <a:rPr lang="en-US" sz="3200" dirty="0"/>
                        <a:t>Conversion of atmospheric nitrogen (nitrogen gas) into nitrates.</a:t>
                      </a:r>
                    </a:p>
                  </a:txBody>
                  <a:tcPr/>
                </a:tc>
                <a:tc>
                  <a:txBody>
                    <a:bodyPr/>
                    <a:lstStyle/>
                    <a:p>
                      <a:r>
                        <a:rPr lang="en-US" sz="3200" dirty="0"/>
                        <a:t>Nitrogen fixing bacteria</a:t>
                      </a:r>
                    </a:p>
                  </a:txBody>
                  <a:tcPr/>
                </a:tc>
                <a:extLst>
                  <a:ext uri="{0D108BD9-81ED-4DB2-BD59-A6C34878D82A}">
                    <a16:rowId xmlns:a16="http://schemas.microsoft.com/office/drawing/2014/main" val="4208863268"/>
                  </a:ext>
                </a:extLst>
              </a:tr>
              <a:tr h="20559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srgbClr val="FF0000"/>
                          </a:solidFill>
                        </a:rPr>
                        <a:t>Nitrification</a:t>
                      </a:r>
                      <a:endParaRPr 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t>Conversion of ammonia into nitrites, which is then oxidized to nitrates. </a:t>
                      </a:r>
                    </a:p>
                    <a:p>
                      <a:endParaRPr lang="en-US" sz="3200" dirty="0"/>
                    </a:p>
                  </a:txBody>
                  <a:tcPr/>
                </a:tc>
                <a:tc>
                  <a:txBody>
                    <a:bodyPr/>
                    <a:lstStyle/>
                    <a:p>
                      <a:r>
                        <a:rPr lang="en-US" sz="3200" dirty="0"/>
                        <a:t>Nitrifying bacteria</a:t>
                      </a:r>
                    </a:p>
                  </a:txBody>
                  <a:tcPr/>
                </a:tc>
                <a:extLst>
                  <a:ext uri="{0D108BD9-81ED-4DB2-BD59-A6C34878D82A}">
                    <a16:rowId xmlns:a16="http://schemas.microsoft.com/office/drawing/2014/main" val="2357858674"/>
                  </a:ext>
                </a:extLst>
              </a:tr>
            </a:tbl>
          </a:graphicData>
        </a:graphic>
      </p:graphicFrame>
    </p:spTree>
    <p:extLst>
      <p:ext uri="{BB962C8B-B14F-4D97-AF65-F5344CB8AC3E}">
        <p14:creationId xmlns:p14="http://schemas.microsoft.com/office/powerpoint/2010/main" val="236150190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F2B524-FD94-2ED7-B26C-41EE3BD1F72A}"/>
              </a:ext>
            </a:extLst>
          </p:cNvPr>
          <p:cNvSpPr>
            <a:spLocks noGrp="1"/>
          </p:cNvSpPr>
          <p:nvPr>
            <p:ph idx="1"/>
          </p:nvPr>
        </p:nvSpPr>
        <p:spPr/>
        <p:txBody>
          <a:bodyPr/>
          <a:lstStyle/>
          <a:p>
            <a:pPr algn="just"/>
            <a:endParaRPr lang="en-US" sz="2000" dirty="0"/>
          </a:p>
          <a:p>
            <a:pPr algn="just"/>
            <a:endParaRPr lang="en-US" sz="2000" dirty="0"/>
          </a:p>
          <a:p>
            <a:pPr algn="just"/>
            <a:endParaRPr lang="en-US" sz="2000" dirty="0"/>
          </a:p>
          <a:p>
            <a:endParaRPr lang="en-US" dirty="0"/>
          </a:p>
        </p:txBody>
      </p:sp>
      <p:graphicFrame>
        <p:nvGraphicFramePr>
          <p:cNvPr id="4" name="Table 3">
            <a:extLst>
              <a:ext uri="{FF2B5EF4-FFF2-40B4-BE49-F238E27FC236}">
                <a16:creationId xmlns:a16="http://schemas.microsoft.com/office/drawing/2014/main" id="{E7B97119-242D-0589-29AA-565FD9F64A68}"/>
              </a:ext>
            </a:extLst>
          </p:cNvPr>
          <p:cNvGraphicFramePr>
            <a:graphicFrameLocks noGrp="1"/>
          </p:cNvGraphicFramePr>
          <p:nvPr>
            <p:extLst>
              <p:ext uri="{D42A27DB-BD31-4B8C-83A1-F6EECF244321}">
                <p14:modId xmlns:p14="http://schemas.microsoft.com/office/powerpoint/2010/main" val="6587137"/>
              </p:ext>
            </p:extLst>
          </p:nvPr>
        </p:nvGraphicFramePr>
        <p:xfrm>
          <a:off x="129070" y="994465"/>
          <a:ext cx="12072728" cy="5185897"/>
        </p:xfrm>
        <a:graphic>
          <a:graphicData uri="http://schemas.openxmlformats.org/drawingml/2006/table">
            <a:tbl>
              <a:tblPr firstRow="1" bandRow="1">
                <a:tableStyleId>{5C22544A-7EE6-4342-B048-85BDC9FD1C3A}</a:tableStyleId>
              </a:tblPr>
              <a:tblGrid>
                <a:gridCol w="3475521">
                  <a:extLst>
                    <a:ext uri="{9D8B030D-6E8A-4147-A177-3AD203B41FA5}">
                      <a16:colId xmlns:a16="http://schemas.microsoft.com/office/drawing/2014/main" val="3245509553"/>
                    </a:ext>
                  </a:extLst>
                </a:gridCol>
                <a:gridCol w="5274366">
                  <a:extLst>
                    <a:ext uri="{9D8B030D-6E8A-4147-A177-3AD203B41FA5}">
                      <a16:colId xmlns:a16="http://schemas.microsoft.com/office/drawing/2014/main" val="2874762556"/>
                    </a:ext>
                  </a:extLst>
                </a:gridCol>
                <a:gridCol w="3322841">
                  <a:extLst>
                    <a:ext uri="{9D8B030D-6E8A-4147-A177-3AD203B41FA5}">
                      <a16:colId xmlns:a16="http://schemas.microsoft.com/office/drawing/2014/main" val="1791436956"/>
                    </a:ext>
                  </a:extLst>
                </a:gridCol>
              </a:tblGrid>
              <a:tr h="2055947">
                <a:tc>
                  <a:txBody>
                    <a:bodyPr/>
                    <a:lstStyle/>
                    <a:p>
                      <a:r>
                        <a:rPr lang="en-US" sz="3200" b="1" dirty="0">
                          <a:solidFill>
                            <a:srgbClr val="FF0000"/>
                          </a:solidFill>
                        </a:rPr>
                        <a:t>Ammonification</a:t>
                      </a:r>
                      <a:endParaRPr lang="en-US" sz="3200" dirty="0"/>
                    </a:p>
                  </a:txBody>
                  <a:tcP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0" dirty="0">
                          <a:solidFill>
                            <a:schemeClr val="tx1"/>
                          </a:solidFill>
                        </a:rPr>
                        <a:t>Break down of remains of plants and animals to from ammonia. </a:t>
                      </a:r>
                    </a:p>
                    <a:p>
                      <a:endParaRPr lang="en-US" sz="3200" b="0" dirty="0">
                        <a:solidFill>
                          <a:schemeClr val="tx1"/>
                        </a:solidFill>
                      </a:endParaRPr>
                    </a:p>
                  </a:txBody>
                  <a:tcPr/>
                </a:tc>
                <a:tc>
                  <a:txBody>
                    <a:bodyPr/>
                    <a:lstStyle/>
                    <a:p>
                      <a:r>
                        <a:rPr lang="en-US" sz="3200" b="0" dirty="0">
                          <a:solidFill>
                            <a:schemeClr val="tx1"/>
                          </a:solidFill>
                        </a:rPr>
                        <a:t>Ammonifying/putrefying bacteria (and fungi)</a:t>
                      </a:r>
                    </a:p>
                  </a:txBody>
                  <a:tcPr/>
                </a:tc>
                <a:extLst>
                  <a:ext uri="{0D108BD9-81ED-4DB2-BD59-A6C34878D82A}">
                    <a16:rowId xmlns:a16="http://schemas.microsoft.com/office/drawing/2014/main" val="729914898"/>
                  </a:ext>
                </a:extLst>
              </a:tr>
              <a:tr h="1564975">
                <a:tc>
                  <a:txBody>
                    <a:bodyPr/>
                    <a:lstStyle/>
                    <a:p>
                      <a:r>
                        <a:rPr lang="en-US" sz="3200" b="1" dirty="0">
                          <a:solidFill>
                            <a:srgbClr val="FF0000"/>
                          </a:solidFill>
                        </a:rPr>
                        <a:t>Denitrification</a:t>
                      </a:r>
                      <a:endParaRPr lang="en-US" sz="3200" dirty="0"/>
                    </a:p>
                  </a:txBody>
                  <a:tcPr/>
                </a:tc>
                <a:tc>
                  <a:txBody>
                    <a:bodyPr/>
                    <a:lstStyle/>
                    <a:p>
                      <a:r>
                        <a:rPr lang="en-US" sz="3200" b="0" dirty="0">
                          <a:solidFill>
                            <a:schemeClr val="bg1"/>
                          </a:solidFill>
                        </a:rPr>
                        <a:t>Conversion of nitrates back to nitrites and finally to nitrogen gas.</a:t>
                      </a:r>
                    </a:p>
                  </a:txBody>
                  <a:tcPr/>
                </a:tc>
                <a:tc>
                  <a:txBody>
                    <a:bodyPr/>
                    <a:lstStyle/>
                    <a:p>
                      <a:r>
                        <a:rPr lang="en-US" sz="3200" b="0" dirty="0">
                          <a:solidFill>
                            <a:schemeClr val="bg1"/>
                          </a:solidFill>
                        </a:rPr>
                        <a:t>Denitrifying bacteria</a:t>
                      </a:r>
                    </a:p>
                  </a:txBody>
                  <a:tcPr/>
                </a:tc>
                <a:extLst>
                  <a:ext uri="{0D108BD9-81ED-4DB2-BD59-A6C34878D82A}">
                    <a16:rowId xmlns:a16="http://schemas.microsoft.com/office/drawing/2014/main" val="1809617436"/>
                  </a:ext>
                </a:extLst>
              </a:tr>
              <a:tr h="1564975">
                <a:tc>
                  <a:txBody>
                    <a:bodyPr/>
                    <a:lstStyle/>
                    <a:p>
                      <a:pPr algn="just"/>
                      <a:endParaRPr lang="en-US" sz="3200" dirty="0"/>
                    </a:p>
                    <a:p>
                      <a:pPr algn="just"/>
                      <a:r>
                        <a:rPr lang="en-US" sz="3200" b="1" dirty="0">
                          <a:solidFill>
                            <a:srgbClr val="FF0000"/>
                          </a:solidFill>
                        </a:rPr>
                        <a:t>Assimilation</a:t>
                      </a:r>
                      <a:endParaRPr 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0" dirty="0">
                          <a:solidFill>
                            <a:schemeClr val="bg1"/>
                          </a:solidFill>
                        </a:rPr>
                        <a:t>Use of nitrogen to form body tissues.</a:t>
                      </a:r>
                    </a:p>
                    <a:p>
                      <a:endParaRPr lang="en-US" sz="3200" b="0" dirty="0">
                        <a:solidFill>
                          <a:schemeClr val="bg1"/>
                        </a:solidFill>
                      </a:endParaRPr>
                    </a:p>
                  </a:txBody>
                  <a:tcPr/>
                </a:tc>
                <a:tc>
                  <a:txBody>
                    <a:bodyPr/>
                    <a:lstStyle/>
                    <a:p>
                      <a:endParaRPr lang="en-US" sz="3200" b="0" dirty="0">
                        <a:solidFill>
                          <a:schemeClr val="bg1"/>
                        </a:solidFill>
                      </a:endParaRPr>
                    </a:p>
                  </a:txBody>
                  <a:tcPr/>
                </a:tc>
                <a:extLst>
                  <a:ext uri="{0D108BD9-81ED-4DB2-BD59-A6C34878D82A}">
                    <a16:rowId xmlns:a16="http://schemas.microsoft.com/office/drawing/2014/main" val="3420381550"/>
                  </a:ext>
                </a:extLst>
              </a:tr>
            </a:tbl>
          </a:graphicData>
        </a:graphic>
      </p:graphicFrame>
    </p:spTree>
    <p:extLst>
      <p:ext uri="{BB962C8B-B14F-4D97-AF65-F5344CB8AC3E}">
        <p14:creationId xmlns:p14="http://schemas.microsoft.com/office/powerpoint/2010/main" val="215319359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64A3702-A4ED-04FD-4CFC-8C7545D653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59026"/>
            <a:ext cx="12192000" cy="8597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144728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4CA33-1A2A-3F8A-02B2-712F65EBBB64}"/>
              </a:ext>
            </a:extLst>
          </p:cNvPr>
          <p:cNvSpPr>
            <a:spLocks noGrp="1"/>
          </p:cNvSpPr>
          <p:nvPr>
            <p:ph type="title"/>
          </p:nvPr>
        </p:nvSpPr>
        <p:spPr>
          <a:xfrm>
            <a:off x="646111" y="28650"/>
            <a:ext cx="9404723" cy="872499"/>
          </a:xfrm>
        </p:spPr>
        <p:txBody>
          <a:bodyPr/>
          <a:lstStyle/>
          <a:p>
            <a:r>
              <a:rPr lang="en-US" b="1" dirty="0"/>
              <a:t>Description</a:t>
            </a:r>
          </a:p>
        </p:txBody>
      </p:sp>
      <p:sp>
        <p:nvSpPr>
          <p:cNvPr id="3" name="Content Placeholder 2">
            <a:extLst>
              <a:ext uri="{FF2B5EF4-FFF2-40B4-BE49-F238E27FC236}">
                <a16:creationId xmlns:a16="http://schemas.microsoft.com/office/drawing/2014/main" id="{4B5815B0-0D0B-C0ED-DD52-DF298F082024}"/>
              </a:ext>
            </a:extLst>
          </p:cNvPr>
          <p:cNvSpPr>
            <a:spLocks noGrp="1"/>
          </p:cNvSpPr>
          <p:nvPr>
            <p:ph idx="1"/>
          </p:nvPr>
        </p:nvSpPr>
        <p:spPr>
          <a:xfrm>
            <a:off x="119270" y="781878"/>
            <a:ext cx="11887200" cy="5473148"/>
          </a:xfrm>
        </p:spPr>
        <p:txBody>
          <a:bodyPr>
            <a:normAutofit/>
          </a:bodyPr>
          <a:lstStyle/>
          <a:p>
            <a:pPr algn="just"/>
            <a:r>
              <a:rPr lang="en-US" sz="3200" dirty="0"/>
              <a:t>Nitrogen is fixed into the soil by lightning, nitrogen fixing bacteria and use of fertilizers.</a:t>
            </a:r>
          </a:p>
          <a:p>
            <a:pPr algn="just"/>
            <a:r>
              <a:rPr lang="en-US" sz="3200" dirty="0"/>
              <a:t>Plants absorb nitrogen in form of nitrates from the soil and use it to make proteins (assimilate the nitrogen).</a:t>
            </a:r>
          </a:p>
          <a:p>
            <a:pPr algn="just"/>
            <a:r>
              <a:rPr lang="en-US" sz="3200" dirty="0"/>
              <a:t>Through feeding, animals obtain nitrogen from plants.</a:t>
            </a:r>
          </a:p>
          <a:p>
            <a:pPr algn="just"/>
            <a:r>
              <a:rPr lang="en-US" sz="3200" dirty="0"/>
              <a:t>When   plants and animals die, the organic matter is broken down by ammonifying/putrefying bacteria in a process called ammonification/putrefaction to form ammonium compounds.</a:t>
            </a:r>
          </a:p>
        </p:txBody>
      </p:sp>
    </p:spTree>
    <p:extLst>
      <p:ext uri="{BB962C8B-B14F-4D97-AF65-F5344CB8AC3E}">
        <p14:creationId xmlns:p14="http://schemas.microsoft.com/office/powerpoint/2010/main" val="120344695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1BC26B-AF65-E553-7FA2-AA9751FC7BBF}"/>
              </a:ext>
            </a:extLst>
          </p:cNvPr>
          <p:cNvSpPr>
            <a:spLocks noGrp="1"/>
          </p:cNvSpPr>
          <p:nvPr>
            <p:ph idx="1"/>
          </p:nvPr>
        </p:nvSpPr>
        <p:spPr>
          <a:xfrm>
            <a:off x="106017" y="410818"/>
            <a:ext cx="11940209" cy="5910469"/>
          </a:xfrm>
        </p:spPr>
        <p:txBody>
          <a:bodyPr>
            <a:noAutofit/>
          </a:bodyPr>
          <a:lstStyle/>
          <a:p>
            <a:pPr algn="just"/>
            <a:r>
              <a:rPr lang="en-US" sz="3200" dirty="0"/>
              <a:t>The ammonium compounds are converted into nitrates through a process called nitration by nitrifying bacteria in two steps: </a:t>
            </a:r>
          </a:p>
          <a:p>
            <a:pPr marL="571500" indent="-571500" algn="just">
              <a:buFont typeface="+mj-lt"/>
              <a:buAutoNum type="romanLcPeriod"/>
            </a:pPr>
            <a:r>
              <a:rPr lang="en-US" sz="3200" dirty="0"/>
              <a:t>Bacteria of the genus Nitrosomonas convert ammonium compounds to nitrites. </a:t>
            </a:r>
          </a:p>
          <a:p>
            <a:pPr marL="571500" indent="-571500" algn="just">
              <a:buFont typeface="+mj-lt"/>
              <a:buAutoNum type="romanLcPeriod"/>
            </a:pPr>
            <a:r>
              <a:rPr lang="en-US" sz="3200" dirty="0"/>
              <a:t>Bacteria of the genus Nitrobacter convert the nitrites to nitrates.</a:t>
            </a:r>
          </a:p>
          <a:p>
            <a:pPr algn="just"/>
            <a:r>
              <a:rPr lang="en-US" sz="3200" dirty="0"/>
              <a:t>Denitrifying bacteria break down nitrates to gaseous nitrogen through denitrification process. </a:t>
            </a:r>
          </a:p>
          <a:p>
            <a:pPr algn="just"/>
            <a:r>
              <a:rPr lang="en-US" sz="3200" dirty="0"/>
              <a:t>The nitrogen is lost back into the atmosphere by volatilization.</a:t>
            </a:r>
          </a:p>
          <a:p>
            <a:pPr algn="just"/>
            <a:endParaRPr lang="en-US" sz="3200" dirty="0"/>
          </a:p>
        </p:txBody>
      </p:sp>
    </p:spTree>
    <p:extLst>
      <p:ext uri="{BB962C8B-B14F-4D97-AF65-F5344CB8AC3E}">
        <p14:creationId xmlns:p14="http://schemas.microsoft.com/office/powerpoint/2010/main" val="10198224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C8BA5-FB8F-47AB-93A3-A9C078FFAAAE}"/>
              </a:ext>
            </a:extLst>
          </p:cNvPr>
          <p:cNvSpPr>
            <a:spLocks noGrp="1"/>
          </p:cNvSpPr>
          <p:nvPr>
            <p:ph type="title"/>
          </p:nvPr>
        </p:nvSpPr>
        <p:spPr/>
        <p:txBody>
          <a:bodyPr/>
          <a:lstStyle/>
          <a:p>
            <a:r>
              <a:rPr lang="en-US" dirty="0"/>
              <a:t>Sources of Nitrogen</a:t>
            </a:r>
            <a:br>
              <a:rPr lang="en-US" dirty="0"/>
            </a:br>
            <a:endParaRPr lang="en-US" dirty="0"/>
          </a:p>
        </p:txBody>
      </p:sp>
      <p:sp>
        <p:nvSpPr>
          <p:cNvPr id="3" name="Content Placeholder 2">
            <a:extLst>
              <a:ext uri="{FF2B5EF4-FFF2-40B4-BE49-F238E27FC236}">
                <a16:creationId xmlns:a16="http://schemas.microsoft.com/office/drawing/2014/main" id="{341CC19A-09A2-07EB-292B-BE0806B5C598}"/>
              </a:ext>
            </a:extLst>
          </p:cNvPr>
          <p:cNvSpPr>
            <a:spLocks noGrp="1"/>
          </p:cNvSpPr>
          <p:nvPr>
            <p:ph idx="1"/>
          </p:nvPr>
        </p:nvSpPr>
        <p:spPr>
          <a:xfrm>
            <a:off x="477078" y="1853248"/>
            <a:ext cx="11436626" cy="4395151"/>
          </a:xfrm>
        </p:spPr>
        <p:txBody>
          <a:bodyPr/>
          <a:lstStyle/>
          <a:p>
            <a:pPr algn="just"/>
            <a:r>
              <a:rPr lang="en-US" sz="3200" dirty="0"/>
              <a:t>	Artificial fertilizers e.g. Ammonium Sulphate.</a:t>
            </a:r>
          </a:p>
          <a:p>
            <a:pPr algn="just"/>
            <a:r>
              <a:rPr lang="en-US" sz="3200" dirty="0"/>
              <a:t>Organic matter e.g. manure</a:t>
            </a:r>
          </a:p>
          <a:p>
            <a:pPr algn="just"/>
            <a:r>
              <a:rPr lang="en-US" sz="3200" dirty="0"/>
              <a:t>Atmospheric nitrogen from lightning</a:t>
            </a:r>
          </a:p>
          <a:p>
            <a:pPr algn="just"/>
            <a:r>
              <a:rPr lang="en-US" sz="3200" dirty="0"/>
              <a:t>Fixation by rhizobium and azotobacter bacteria.</a:t>
            </a:r>
          </a:p>
          <a:p>
            <a:pPr algn="just"/>
            <a:endParaRPr lang="en-US" dirty="0"/>
          </a:p>
        </p:txBody>
      </p:sp>
    </p:spTree>
    <p:extLst>
      <p:ext uri="{BB962C8B-B14F-4D97-AF65-F5344CB8AC3E}">
        <p14:creationId xmlns:p14="http://schemas.microsoft.com/office/powerpoint/2010/main" val="369767903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B270A-BD0B-9072-569A-A58A3734F8DA}"/>
              </a:ext>
            </a:extLst>
          </p:cNvPr>
          <p:cNvSpPr>
            <a:spLocks noGrp="1"/>
          </p:cNvSpPr>
          <p:nvPr>
            <p:ph type="title"/>
          </p:nvPr>
        </p:nvSpPr>
        <p:spPr/>
        <p:txBody>
          <a:bodyPr/>
          <a:lstStyle/>
          <a:p>
            <a:r>
              <a:rPr lang="en-US" dirty="0"/>
              <a:t>Loss of nitrogen from the soil</a:t>
            </a:r>
            <a:br>
              <a:rPr lang="en-US" dirty="0"/>
            </a:br>
            <a:endParaRPr lang="en-US" dirty="0"/>
          </a:p>
        </p:txBody>
      </p:sp>
      <p:sp>
        <p:nvSpPr>
          <p:cNvPr id="3" name="Content Placeholder 2">
            <a:extLst>
              <a:ext uri="{FF2B5EF4-FFF2-40B4-BE49-F238E27FC236}">
                <a16:creationId xmlns:a16="http://schemas.microsoft.com/office/drawing/2014/main" id="{9E891934-CDD8-36EF-9374-4A124915F8E9}"/>
              </a:ext>
            </a:extLst>
          </p:cNvPr>
          <p:cNvSpPr>
            <a:spLocks noGrp="1"/>
          </p:cNvSpPr>
          <p:nvPr>
            <p:ph idx="1"/>
          </p:nvPr>
        </p:nvSpPr>
        <p:spPr>
          <a:xfrm>
            <a:off x="1103312" y="2052918"/>
            <a:ext cx="10094775" cy="4228612"/>
          </a:xfrm>
        </p:spPr>
        <p:txBody>
          <a:bodyPr>
            <a:normAutofit/>
          </a:bodyPr>
          <a:lstStyle/>
          <a:p>
            <a:pPr algn="just"/>
            <a:r>
              <a:rPr lang="en-US" sz="3200" dirty="0"/>
              <a:t>Soil erosion.</a:t>
            </a:r>
          </a:p>
          <a:p>
            <a:pPr algn="just"/>
            <a:r>
              <a:rPr lang="en-US" sz="3200" dirty="0"/>
              <a:t>Leaching.</a:t>
            </a:r>
          </a:p>
          <a:p>
            <a:pPr algn="just"/>
            <a:r>
              <a:rPr lang="en-US" sz="3200" dirty="0"/>
              <a:t>Volatilization: Loss of nitrogen in gaseous form.</a:t>
            </a:r>
          </a:p>
          <a:p>
            <a:pPr algn="just"/>
            <a:r>
              <a:rPr lang="en-US" sz="3200" dirty="0"/>
              <a:t>Immobilization: Use by micro-organisms.</a:t>
            </a:r>
          </a:p>
          <a:p>
            <a:pPr algn="just"/>
            <a:endParaRPr lang="en-US" sz="3200" dirty="0"/>
          </a:p>
        </p:txBody>
      </p:sp>
    </p:spTree>
    <p:extLst>
      <p:ext uri="{BB962C8B-B14F-4D97-AF65-F5344CB8AC3E}">
        <p14:creationId xmlns:p14="http://schemas.microsoft.com/office/powerpoint/2010/main" val="8040883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DB272-4502-B2C3-4684-EF1769514D60}"/>
              </a:ext>
            </a:extLst>
          </p:cNvPr>
          <p:cNvSpPr>
            <a:spLocks noGrp="1"/>
          </p:cNvSpPr>
          <p:nvPr>
            <p:ph type="title"/>
          </p:nvPr>
        </p:nvSpPr>
        <p:spPr/>
        <p:txBody>
          <a:bodyPr/>
          <a:lstStyle/>
          <a:p>
            <a:r>
              <a:rPr lang="en-US" dirty="0"/>
              <a:t>Uses of Nitrogen to plants</a:t>
            </a:r>
            <a:br>
              <a:rPr lang="en-US" dirty="0"/>
            </a:br>
            <a:endParaRPr lang="en-US" dirty="0"/>
          </a:p>
        </p:txBody>
      </p:sp>
      <p:sp>
        <p:nvSpPr>
          <p:cNvPr id="3" name="Content Placeholder 2">
            <a:extLst>
              <a:ext uri="{FF2B5EF4-FFF2-40B4-BE49-F238E27FC236}">
                <a16:creationId xmlns:a16="http://schemas.microsoft.com/office/drawing/2014/main" id="{FF81DB0A-7B5B-F624-4BC8-471E4C4070E1}"/>
              </a:ext>
            </a:extLst>
          </p:cNvPr>
          <p:cNvSpPr>
            <a:spLocks noGrp="1"/>
          </p:cNvSpPr>
          <p:nvPr>
            <p:ph idx="1"/>
          </p:nvPr>
        </p:nvSpPr>
        <p:spPr>
          <a:xfrm>
            <a:off x="1103312" y="1853248"/>
            <a:ext cx="10442577" cy="4395151"/>
          </a:xfrm>
        </p:spPr>
        <p:txBody>
          <a:bodyPr>
            <a:normAutofit/>
          </a:bodyPr>
          <a:lstStyle/>
          <a:p>
            <a:r>
              <a:rPr lang="en-US" sz="3200" dirty="0"/>
              <a:t>Formation of plant proteins.</a:t>
            </a:r>
          </a:p>
          <a:p>
            <a:r>
              <a:rPr lang="en-US" sz="3200" dirty="0"/>
              <a:t>Formation of chlorophyll.</a:t>
            </a:r>
          </a:p>
          <a:p>
            <a:r>
              <a:rPr lang="en-US" sz="3200" dirty="0"/>
              <a:t>Rapid vegetative growth.</a:t>
            </a:r>
          </a:p>
          <a:p>
            <a:r>
              <a:rPr lang="en-US" sz="3200" dirty="0"/>
              <a:t>It increases the size of grains in cereal crops.</a:t>
            </a:r>
          </a:p>
          <a:p>
            <a:endParaRPr lang="en-US" sz="3200" dirty="0"/>
          </a:p>
        </p:txBody>
      </p:sp>
    </p:spTree>
    <p:extLst>
      <p:ext uri="{BB962C8B-B14F-4D97-AF65-F5344CB8AC3E}">
        <p14:creationId xmlns:p14="http://schemas.microsoft.com/office/powerpoint/2010/main" val="113955082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94EA5-1E11-1B99-C2EB-A19EC7446D75}"/>
              </a:ext>
            </a:extLst>
          </p:cNvPr>
          <p:cNvSpPr>
            <a:spLocks noGrp="1"/>
          </p:cNvSpPr>
          <p:nvPr>
            <p:ph type="title"/>
          </p:nvPr>
        </p:nvSpPr>
        <p:spPr/>
        <p:txBody>
          <a:bodyPr/>
          <a:lstStyle/>
          <a:p>
            <a:r>
              <a:rPr lang="en-US" dirty="0"/>
              <a:t>Deficiency symptoms</a:t>
            </a:r>
          </a:p>
        </p:txBody>
      </p:sp>
      <p:sp>
        <p:nvSpPr>
          <p:cNvPr id="3" name="Content Placeholder 2">
            <a:extLst>
              <a:ext uri="{FF2B5EF4-FFF2-40B4-BE49-F238E27FC236}">
                <a16:creationId xmlns:a16="http://schemas.microsoft.com/office/drawing/2014/main" id="{EB679423-FBF4-C867-849F-871DC8C4441D}"/>
              </a:ext>
            </a:extLst>
          </p:cNvPr>
          <p:cNvSpPr>
            <a:spLocks noGrp="1"/>
          </p:cNvSpPr>
          <p:nvPr>
            <p:ph idx="1"/>
          </p:nvPr>
        </p:nvSpPr>
        <p:spPr>
          <a:xfrm>
            <a:off x="1103312" y="1736036"/>
            <a:ext cx="10783888" cy="4512364"/>
          </a:xfrm>
        </p:spPr>
        <p:txBody>
          <a:bodyPr>
            <a:normAutofit/>
          </a:bodyPr>
          <a:lstStyle/>
          <a:p>
            <a:endParaRPr lang="en-US" sz="3200" dirty="0"/>
          </a:p>
          <a:p>
            <a:r>
              <a:rPr lang="en-US" sz="3200" dirty="0"/>
              <a:t>Yellowing of leaves i.e. loss of chlorophyll (chlorosis).</a:t>
            </a:r>
          </a:p>
          <a:p>
            <a:r>
              <a:rPr lang="en-US" sz="3200" dirty="0"/>
              <a:t>Stunted growth of plants.</a:t>
            </a:r>
          </a:p>
          <a:p>
            <a:r>
              <a:rPr lang="en-US" sz="3200" dirty="0"/>
              <a:t>Premature ripening of fruits and seeds.</a:t>
            </a:r>
          </a:p>
          <a:p>
            <a:r>
              <a:rPr lang="en-US" sz="3200" dirty="0"/>
              <a:t>Early flowering.</a:t>
            </a:r>
          </a:p>
          <a:p>
            <a:r>
              <a:rPr lang="en-US" sz="3200" dirty="0"/>
              <a:t>Reduced grain size of cereals.</a:t>
            </a:r>
          </a:p>
          <a:p>
            <a:endParaRPr lang="en-US" sz="3200" dirty="0"/>
          </a:p>
        </p:txBody>
      </p:sp>
    </p:spTree>
    <p:extLst>
      <p:ext uri="{BB962C8B-B14F-4D97-AF65-F5344CB8AC3E}">
        <p14:creationId xmlns:p14="http://schemas.microsoft.com/office/powerpoint/2010/main" val="154226993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CFFF1-E654-CA38-5993-EC7976B6EA9B}"/>
              </a:ext>
            </a:extLst>
          </p:cNvPr>
          <p:cNvSpPr>
            <a:spLocks noGrp="1"/>
          </p:cNvSpPr>
          <p:nvPr>
            <p:ph type="title"/>
          </p:nvPr>
        </p:nvSpPr>
        <p:spPr>
          <a:xfrm>
            <a:off x="681737" y="112816"/>
            <a:ext cx="9404723" cy="1400530"/>
          </a:xfrm>
        </p:spPr>
        <p:txBody>
          <a:bodyPr/>
          <a:lstStyle/>
          <a:p>
            <a:pPr algn="ctr"/>
            <a:r>
              <a:rPr lang="en-US" b="1" u="sng" dirty="0"/>
              <a:t>THE CARBON CYCLE</a:t>
            </a:r>
          </a:p>
        </p:txBody>
      </p:sp>
      <p:pic>
        <p:nvPicPr>
          <p:cNvPr id="1027" name="Picture 3">
            <a:extLst>
              <a:ext uri="{FF2B5EF4-FFF2-40B4-BE49-F238E27FC236}">
                <a16:creationId xmlns:a16="http://schemas.microsoft.com/office/drawing/2014/main" id="{F9BAFD0A-70AD-14DA-FFF0-1625CBF308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76" y="819397"/>
            <a:ext cx="12062330" cy="592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110169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D75C6-D936-6746-9571-296135E3C2BC}"/>
              </a:ext>
            </a:extLst>
          </p:cNvPr>
          <p:cNvSpPr>
            <a:spLocks noGrp="1"/>
          </p:cNvSpPr>
          <p:nvPr>
            <p:ph type="title"/>
          </p:nvPr>
        </p:nvSpPr>
        <p:spPr>
          <a:xfrm>
            <a:off x="612244" y="193074"/>
            <a:ext cx="9404723" cy="1400530"/>
          </a:xfrm>
        </p:spPr>
        <p:txBody>
          <a:bodyPr/>
          <a:lstStyle/>
          <a:p>
            <a:pPr algn="ctr"/>
            <a:r>
              <a:rPr lang="en-US" b="1" dirty="0"/>
              <a:t>Activity of integration</a:t>
            </a:r>
          </a:p>
        </p:txBody>
      </p:sp>
      <p:sp>
        <p:nvSpPr>
          <p:cNvPr id="3" name="Content Placeholder 2">
            <a:extLst>
              <a:ext uri="{FF2B5EF4-FFF2-40B4-BE49-F238E27FC236}">
                <a16:creationId xmlns:a16="http://schemas.microsoft.com/office/drawing/2014/main" id="{3839E934-C151-1F22-1A8F-F9E4310FA6DE}"/>
              </a:ext>
            </a:extLst>
          </p:cNvPr>
          <p:cNvSpPr>
            <a:spLocks noGrp="1"/>
          </p:cNvSpPr>
          <p:nvPr>
            <p:ph idx="1"/>
          </p:nvPr>
        </p:nvSpPr>
        <p:spPr>
          <a:xfrm>
            <a:off x="90311" y="1298222"/>
            <a:ext cx="11988799" cy="4950178"/>
          </a:xfrm>
        </p:spPr>
        <p:txBody>
          <a:bodyPr>
            <a:normAutofit lnSpcReduction="10000"/>
          </a:bodyPr>
          <a:lstStyle/>
          <a:p>
            <a:pPr marL="0" indent="0" algn="just">
              <a:buNone/>
            </a:pPr>
            <a:r>
              <a:rPr lang="en-US" sz="3200" dirty="0"/>
              <a:t>Crop production in many parts of Uganda has dropped as a result of increased population and need for more grazing land. As a result, many farmers continuously cultivate their land, leading to soil erosion thus reducing soil fertility and crop yields. </a:t>
            </a:r>
          </a:p>
          <a:p>
            <a:pPr marL="0" indent="0" algn="just">
              <a:buNone/>
            </a:pPr>
            <a:r>
              <a:rPr lang="en-US" sz="3200" b="1" dirty="0"/>
              <a:t>Task: </a:t>
            </a:r>
          </a:p>
          <a:p>
            <a:pPr marL="0" indent="0" algn="just">
              <a:buNone/>
            </a:pPr>
            <a:r>
              <a:rPr lang="en-US" sz="3200" dirty="0"/>
              <a:t>As an agriculture extension worker in your village, write an essay advising the local farmers on ways that they can use to overcome this problem. Your essay should not exceed one page.</a:t>
            </a:r>
          </a:p>
        </p:txBody>
      </p:sp>
    </p:spTree>
    <p:extLst>
      <p:ext uri="{BB962C8B-B14F-4D97-AF65-F5344CB8AC3E}">
        <p14:creationId xmlns:p14="http://schemas.microsoft.com/office/powerpoint/2010/main" val="7257307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0A908-0476-6841-F698-5BCF810F705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1593ABC-19E8-C199-9E7B-1C240DC7A203}"/>
              </a:ext>
            </a:extLst>
          </p:cNvPr>
          <p:cNvSpPr>
            <a:spLocks noGrp="1"/>
          </p:cNvSpPr>
          <p:nvPr>
            <p:ph idx="1"/>
          </p:nvPr>
        </p:nvSpPr>
        <p:spPr/>
        <p:txBody>
          <a:bodyPr/>
          <a:lstStyle/>
          <a:p>
            <a:endParaRPr lang="en-US"/>
          </a:p>
        </p:txBody>
      </p:sp>
      <p:sp>
        <p:nvSpPr>
          <p:cNvPr id="7" name="TextBox 6">
            <a:extLst>
              <a:ext uri="{FF2B5EF4-FFF2-40B4-BE49-F238E27FC236}">
                <a16:creationId xmlns:a16="http://schemas.microsoft.com/office/drawing/2014/main" id="{8C4FF78D-0ACE-8DA7-3884-70F1264A04E7}"/>
              </a:ext>
            </a:extLst>
          </p:cNvPr>
          <p:cNvSpPr txBox="1"/>
          <p:nvPr/>
        </p:nvSpPr>
        <p:spPr>
          <a:xfrm>
            <a:off x="3048000" y="2548524"/>
            <a:ext cx="6096000" cy="1754326"/>
          </a:xfrm>
          <a:prstGeom prst="rect">
            <a:avLst/>
          </a:prstGeom>
          <a:noFill/>
        </p:spPr>
        <p:txBody>
          <a:bodyPr wrap="square">
            <a:spAutoFit/>
          </a:bodyPr>
          <a:lstStyle/>
          <a:p>
            <a:r>
              <a:rPr lang="en-US" dirty="0"/>
              <a:t>7.	During this rainy season, there have been rampant cases of flooding around most parts of Uganda. In Nakawa division swampy places have shown the highest cases of this. Basing on </a:t>
            </a:r>
            <a:r>
              <a:rPr lang="en-US"/>
              <a:t>your </a:t>
            </a:r>
            <a:r>
              <a:rPr lang="en-US" smtClean="0"/>
              <a:t>knowledge </a:t>
            </a:r>
            <a:r>
              <a:rPr lang="en-US" dirty="0"/>
              <a:t>of biology suggest nature of soil in those areas and how they have caused floods.</a:t>
            </a:r>
          </a:p>
        </p:txBody>
      </p:sp>
    </p:spTree>
    <p:extLst>
      <p:ext uri="{BB962C8B-B14F-4D97-AF65-F5344CB8AC3E}">
        <p14:creationId xmlns:p14="http://schemas.microsoft.com/office/powerpoint/2010/main" val="383408112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53B3E-5813-E4C9-6F96-702B8F12E26D}"/>
              </a:ext>
            </a:extLst>
          </p:cNvPr>
          <p:cNvSpPr>
            <a:spLocks noGrp="1"/>
          </p:cNvSpPr>
          <p:nvPr>
            <p:ph type="title"/>
          </p:nvPr>
        </p:nvSpPr>
        <p:spPr>
          <a:xfrm>
            <a:off x="736422" y="0"/>
            <a:ext cx="10845978" cy="2052918"/>
          </a:xfrm>
        </p:spPr>
        <p:txBody>
          <a:bodyPr/>
          <a:lstStyle/>
          <a:p>
            <a:pPr algn="ctr"/>
            <a:r>
              <a:rPr lang="en-US" b="1" u="sng" dirty="0"/>
              <a:t>NUTRITION: </a:t>
            </a:r>
            <a:br>
              <a:rPr lang="en-US" b="1" u="sng" dirty="0"/>
            </a:br>
            <a:r>
              <a:rPr lang="en-US" b="1" u="sng" dirty="0"/>
              <a:t>NUTRITION TYPES AND NUTRIENT COMPOUNDS</a:t>
            </a:r>
          </a:p>
        </p:txBody>
      </p:sp>
      <p:sp>
        <p:nvSpPr>
          <p:cNvPr id="3" name="Content Placeholder 2">
            <a:extLst>
              <a:ext uri="{FF2B5EF4-FFF2-40B4-BE49-F238E27FC236}">
                <a16:creationId xmlns:a16="http://schemas.microsoft.com/office/drawing/2014/main" id="{C9AC4D9D-D51F-B17D-8140-5776B4ABBAF9}"/>
              </a:ext>
            </a:extLst>
          </p:cNvPr>
          <p:cNvSpPr>
            <a:spLocks noGrp="1"/>
          </p:cNvSpPr>
          <p:nvPr>
            <p:ph idx="1"/>
          </p:nvPr>
        </p:nvSpPr>
        <p:spPr>
          <a:xfrm>
            <a:off x="277091" y="2052918"/>
            <a:ext cx="11457709" cy="4250900"/>
          </a:xfrm>
        </p:spPr>
        <p:txBody>
          <a:bodyPr>
            <a:normAutofit/>
          </a:bodyPr>
          <a:lstStyle/>
          <a:p>
            <a:pPr algn="just"/>
            <a:r>
              <a:rPr lang="en-US" sz="3200" dirty="0"/>
              <a:t>What is the meaning of nutrition?</a:t>
            </a:r>
          </a:p>
          <a:p>
            <a:pPr algn="just"/>
            <a:r>
              <a:rPr lang="en-US" sz="3200" dirty="0"/>
              <a:t>Explain two main types of nutrition.</a:t>
            </a:r>
          </a:p>
          <a:p>
            <a:pPr algn="just"/>
            <a:r>
              <a:rPr lang="en-US" sz="3200" dirty="0"/>
              <a:t>What is a food nutrient?</a:t>
            </a:r>
          </a:p>
          <a:p>
            <a:pPr algn="just"/>
            <a:r>
              <a:rPr lang="en-US" sz="3200" dirty="0"/>
              <a:t>Identify different food nutrients, their food sources and importance in humans.</a:t>
            </a:r>
          </a:p>
          <a:p>
            <a:pPr algn="just"/>
            <a:r>
              <a:rPr lang="en-US" sz="3200" dirty="0"/>
              <a:t>What is a balanced diet?</a:t>
            </a:r>
          </a:p>
          <a:p>
            <a:pPr algn="just"/>
            <a:endParaRPr lang="en-US" sz="3200" dirty="0"/>
          </a:p>
        </p:txBody>
      </p:sp>
    </p:spTree>
    <p:extLst>
      <p:ext uri="{BB962C8B-B14F-4D97-AF65-F5344CB8AC3E}">
        <p14:creationId xmlns:p14="http://schemas.microsoft.com/office/powerpoint/2010/main" val="3586998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43579B-9E23-DA4B-58DE-B508816081EF}"/>
              </a:ext>
            </a:extLst>
          </p:cNvPr>
          <p:cNvSpPr>
            <a:spLocks noGrp="1"/>
          </p:cNvSpPr>
          <p:nvPr>
            <p:ph idx="1"/>
          </p:nvPr>
        </p:nvSpPr>
        <p:spPr>
          <a:xfrm>
            <a:off x="106017" y="927652"/>
            <a:ext cx="11979965" cy="5724939"/>
          </a:xfrm>
        </p:spPr>
        <p:txBody>
          <a:bodyPr>
            <a:noAutofit/>
          </a:bodyPr>
          <a:lstStyle/>
          <a:p>
            <a:pPr algn="just">
              <a:lnSpc>
                <a:spcPct val="150000"/>
              </a:lnSpc>
            </a:pPr>
            <a:r>
              <a:rPr lang="en-US" sz="3200" dirty="0"/>
              <a:t>Nutrition is the process by which an organism obtains takes in and utilizes food nutrients in their bodies.</a:t>
            </a:r>
          </a:p>
          <a:p>
            <a:pPr marL="0" indent="0" algn="ctr">
              <a:lnSpc>
                <a:spcPct val="150000"/>
              </a:lnSpc>
              <a:buNone/>
            </a:pPr>
            <a:r>
              <a:rPr lang="en-US" sz="3200" b="1" u="sng" dirty="0">
                <a:effectLst>
                  <a:outerShdw blurRad="38100" dist="38100" dir="2700000" algn="tl">
                    <a:srgbClr val="000000">
                      <a:alpha val="43137"/>
                    </a:srgbClr>
                  </a:outerShdw>
                </a:effectLst>
              </a:rPr>
              <a:t>Types of nutrition</a:t>
            </a:r>
          </a:p>
          <a:p>
            <a:pPr algn="just">
              <a:lnSpc>
                <a:spcPct val="150000"/>
              </a:lnSpc>
            </a:pPr>
            <a:r>
              <a:rPr lang="en-US" sz="3200" dirty="0"/>
              <a:t>Nutrition is broadly classified into two types namely;</a:t>
            </a:r>
          </a:p>
          <a:p>
            <a:pPr algn="just">
              <a:lnSpc>
                <a:spcPct val="150000"/>
              </a:lnSpc>
            </a:pPr>
            <a:endParaRPr lang="en-US" sz="3200" dirty="0"/>
          </a:p>
        </p:txBody>
      </p:sp>
    </p:spTree>
    <p:extLst>
      <p:ext uri="{BB962C8B-B14F-4D97-AF65-F5344CB8AC3E}">
        <p14:creationId xmlns:p14="http://schemas.microsoft.com/office/powerpoint/2010/main" val="214459715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5C93C9-6C2E-9A44-E168-618FE352D0E4}"/>
              </a:ext>
            </a:extLst>
          </p:cNvPr>
          <p:cNvSpPr>
            <a:spLocks noGrp="1"/>
          </p:cNvSpPr>
          <p:nvPr>
            <p:ph idx="1"/>
          </p:nvPr>
        </p:nvSpPr>
        <p:spPr>
          <a:xfrm>
            <a:off x="124178" y="395112"/>
            <a:ext cx="11796889" cy="5678310"/>
          </a:xfrm>
        </p:spPr>
        <p:txBody>
          <a:bodyPr>
            <a:noAutofit/>
          </a:bodyPr>
          <a:lstStyle/>
          <a:p>
            <a:pPr marL="0" indent="0" algn="just">
              <a:buNone/>
            </a:pPr>
            <a:r>
              <a:rPr lang="en-US" sz="2800" dirty="0"/>
              <a:t>1.	</a:t>
            </a:r>
            <a:r>
              <a:rPr lang="en-US" sz="2800" b="1" u="sng" dirty="0"/>
              <a:t>Autotrophic nutrition (auto: self, </a:t>
            </a:r>
            <a:r>
              <a:rPr lang="en-US" sz="2800" b="1" u="sng" dirty="0" err="1"/>
              <a:t>trophe</a:t>
            </a:r>
            <a:r>
              <a:rPr lang="en-US" sz="2800" b="1" u="sng" dirty="0"/>
              <a:t>: feeding)</a:t>
            </a:r>
          </a:p>
          <a:p>
            <a:pPr algn="just">
              <a:buFont typeface="Arial" panose="020B0604020202020204" pitchFamily="34" charset="0"/>
              <a:buChar char="•"/>
            </a:pPr>
            <a:r>
              <a:rPr lang="en-US" sz="2800" dirty="0"/>
              <a:t>A type of nutrition where an organism makes its own food/nutrients from simple inorganic molecules using some external source of energy.</a:t>
            </a:r>
          </a:p>
          <a:p>
            <a:pPr algn="just">
              <a:buFont typeface="Arial" panose="020B0604020202020204" pitchFamily="34" charset="0"/>
              <a:buChar char="•"/>
            </a:pPr>
            <a:r>
              <a:rPr lang="en-US" sz="2800" dirty="0"/>
              <a:t>The organisms are called </a:t>
            </a:r>
            <a:r>
              <a:rPr lang="en-US" sz="2800" b="1" u="sng" dirty="0"/>
              <a:t>autotrophs</a:t>
            </a:r>
            <a:r>
              <a:rPr lang="en-US" sz="2800" dirty="0"/>
              <a:t>. e.g. green plants, algae and some bacteria.</a:t>
            </a:r>
          </a:p>
          <a:p>
            <a:pPr algn="just">
              <a:buFont typeface="Arial" panose="020B0604020202020204" pitchFamily="34" charset="0"/>
              <a:buChar char="•"/>
            </a:pPr>
            <a:r>
              <a:rPr lang="en-US" sz="2800" dirty="0"/>
              <a:t>Types of autotrophic nutrition</a:t>
            </a:r>
          </a:p>
          <a:p>
            <a:pPr algn="just">
              <a:buFont typeface="Arial" panose="020B0604020202020204" pitchFamily="34" charset="0"/>
              <a:buChar char="•"/>
            </a:pPr>
            <a:r>
              <a:rPr lang="en-US" sz="2800" dirty="0"/>
              <a:t>a)	</a:t>
            </a:r>
            <a:r>
              <a:rPr lang="en-US" sz="2800" b="1" u="sng" dirty="0"/>
              <a:t>Photosynthesis</a:t>
            </a:r>
            <a:r>
              <a:rPr lang="en-US" sz="2800" dirty="0"/>
              <a:t>: Organisms use sunlight energy. </a:t>
            </a:r>
          </a:p>
          <a:p>
            <a:pPr algn="just">
              <a:buFont typeface="Arial" panose="020B0604020202020204" pitchFamily="34" charset="0"/>
              <a:buChar char="•"/>
            </a:pPr>
            <a:r>
              <a:rPr lang="en-US" sz="2800" dirty="0"/>
              <a:t>Examples include; green plants, algae, photosynthetic bacteria.</a:t>
            </a:r>
          </a:p>
          <a:p>
            <a:pPr algn="just">
              <a:buFont typeface="Arial" panose="020B0604020202020204" pitchFamily="34" charset="0"/>
              <a:buChar char="•"/>
            </a:pPr>
            <a:r>
              <a:rPr lang="en-US" sz="2800" dirty="0"/>
              <a:t>b)	</a:t>
            </a:r>
            <a:r>
              <a:rPr lang="en-US" sz="2800" b="1" u="sng" dirty="0"/>
              <a:t>Chemosynthesis</a:t>
            </a:r>
            <a:r>
              <a:rPr lang="en-US" sz="2800" dirty="0"/>
              <a:t>: Organisms use energy from specific chemical reactions (oxidation of various inorganic compounds). </a:t>
            </a:r>
          </a:p>
          <a:p>
            <a:pPr algn="just">
              <a:buFont typeface="Arial" panose="020B0604020202020204" pitchFamily="34" charset="0"/>
              <a:buChar char="•"/>
            </a:pPr>
            <a:r>
              <a:rPr lang="en-US" sz="2800" dirty="0"/>
              <a:t>Examples include; chemosynthetic bacteria like Sulphur bacteria.</a:t>
            </a:r>
          </a:p>
        </p:txBody>
      </p:sp>
    </p:spTree>
    <p:extLst>
      <p:ext uri="{BB962C8B-B14F-4D97-AF65-F5344CB8AC3E}">
        <p14:creationId xmlns:p14="http://schemas.microsoft.com/office/powerpoint/2010/main" val="11598387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AFEBD2-846A-42DE-DEE7-A9F7605B6507}"/>
              </a:ext>
            </a:extLst>
          </p:cNvPr>
          <p:cNvSpPr>
            <a:spLocks noGrp="1"/>
          </p:cNvSpPr>
          <p:nvPr>
            <p:ph idx="1"/>
          </p:nvPr>
        </p:nvSpPr>
        <p:spPr>
          <a:xfrm>
            <a:off x="191911" y="1174045"/>
            <a:ext cx="11808177" cy="5458177"/>
          </a:xfrm>
        </p:spPr>
        <p:txBody>
          <a:bodyPr/>
          <a:lstStyle/>
          <a:p>
            <a:pPr algn="just"/>
            <a:r>
              <a:rPr lang="en-US" sz="2800" dirty="0"/>
              <a:t>Autotrophs are referred to as producers because all other organisms depend on the food made by autotrophs either directly or indirectly.</a:t>
            </a:r>
          </a:p>
          <a:p>
            <a:pPr marL="0" indent="0" algn="just">
              <a:buNone/>
            </a:pPr>
            <a:r>
              <a:rPr lang="en-US" sz="2800" b="1" dirty="0"/>
              <a:t>2.	</a:t>
            </a:r>
            <a:r>
              <a:rPr lang="en-US" sz="2800" b="1" u="sng" dirty="0"/>
              <a:t>Heterotrophic nutrition (hetero: other/different, </a:t>
            </a:r>
            <a:r>
              <a:rPr lang="en-US" sz="2800" b="1" u="sng" dirty="0" err="1"/>
              <a:t>trophe</a:t>
            </a:r>
            <a:r>
              <a:rPr lang="en-US" sz="2800" b="1" u="sng" dirty="0"/>
              <a:t>: feeding)</a:t>
            </a:r>
          </a:p>
          <a:p>
            <a:pPr algn="just"/>
            <a:r>
              <a:rPr lang="en-US" sz="2800" dirty="0"/>
              <a:t>This is a type of nutrition where the organism feeds on already manufactured food by other organisms. </a:t>
            </a:r>
          </a:p>
          <a:p>
            <a:pPr algn="just"/>
            <a:r>
              <a:rPr lang="en-US" sz="2800" dirty="0"/>
              <a:t>The organisms are called heterotrophs e.g. some bacteria, all animals, fungi and insectivorous plants.</a:t>
            </a:r>
          </a:p>
          <a:p>
            <a:pPr algn="just"/>
            <a:r>
              <a:rPr lang="en-US" sz="2800" dirty="0"/>
              <a:t>It includes modes like holozoic nutrition, saprophytic nutrition, symbiosis, etc.  </a:t>
            </a:r>
          </a:p>
          <a:p>
            <a:pPr algn="just"/>
            <a:endParaRPr lang="en-US" sz="2800" dirty="0"/>
          </a:p>
          <a:p>
            <a:pPr algn="just"/>
            <a:endParaRPr lang="en-US" sz="2800" dirty="0"/>
          </a:p>
          <a:p>
            <a:pPr marL="0" indent="0">
              <a:buNone/>
            </a:pPr>
            <a:endParaRPr lang="en-US" sz="2000" dirty="0"/>
          </a:p>
          <a:p>
            <a:endParaRPr lang="en-US" dirty="0"/>
          </a:p>
        </p:txBody>
      </p:sp>
    </p:spTree>
    <p:extLst>
      <p:ext uri="{BB962C8B-B14F-4D97-AF65-F5344CB8AC3E}">
        <p14:creationId xmlns:p14="http://schemas.microsoft.com/office/powerpoint/2010/main" val="376995676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A2BC3-9426-9E08-FDAF-01ABD894BF77}"/>
              </a:ext>
            </a:extLst>
          </p:cNvPr>
          <p:cNvSpPr>
            <a:spLocks noGrp="1"/>
          </p:cNvSpPr>
          <p:nvPr>
            <p:ph type="title"/>
          </p:nvPr>
        </p:nvSpPr>
        <p:spPr/>
        <p:txBody>
          <a:bodyPr/>
          <a:lstStyle/>
          <a:p>
            <a:pPr algn="ctr"/>
            <a:r>
              <a:rPr lang="en-US" b="1" u="sng" dirty="0"/>
              <a:t>Nutrients found in food</a:t>
            </a:r>
          </a:p>
        </p:txBody>
      </p:sp>
      <p:sp>
        <p:nvSpPr>
          <p:cNvPr id="3" name="Content Placeholder 2">
            <a:extLst>
              <a:ext uri="{FF2B5EF4-FFF2-40B4-BE49-F238E27FC236}">
                <a16:creationId xmlns:a16="http://schemas.microsoft.com/office/drawing/2014/main" id="{E6A6686C-526A-CA08-2E69-5A7840156C3C}"/>
              </a:ext>
            </a:extLst>
          </p:cNvPr>
          <p:cNvSpPr>
            <a:spLocks noGrp="1"/>
          </p:cNvSpPr>
          <p:nvPr>
            <p:ph idx="1"/>
          </p:nvPr>
        </p:nvSpPr>
        <p:spPr>
          <a:xfrm>
            <a:off x="132522" y="1192696"/>
            <a:ext cx="11820939" cy="4678017"/>
          </a:xfrm>
        </p:spPr>
        <p:txBody>
          <a:bodyPr>
            <a:noAutofit/>
          </a:bodyPr>
          <a:lstStyle/>
          <a:p>
            <a:pPr algn="just"/>
            <a:r>
              <a:rPr lang="en-US" sz="3200" dirty="0"/>
              <a:t>Nutrients are chemical compounds found in food and required in the body for </a:t>
            </a:r>
            <a:r>
              <a:rPr lang="en-US" sz="3200" b="1" u="sng" dirty="0"/>
              <a:t>metabolism.</a:t>
            </a:r>
          </a:p>
          <a:p>
            <a:pPr algn="just"/>
            <a:r>
              <a:rPr lang="en-US" sz="3200" dirty="0"/>
              <a:t>Metabolism refers to </a:t>
            </a:r>
            <a:r>
              <a:rPr lang="en-US" sz="3200" b="1" u="sng" dirty="0"/>
              <a:t>chemical processes in the body</a:t>
            </a:r>
            <a:r>
              <a:rPr lang="en-US" sz="3200" dirty="0"/>
              <a:t>, e.g. production of energy (respiration).</a:t>
            </a:r>
          </a:p>
          <a:p>
            <a:pPr algn="just"/>
            <a:r>
              <a:rPr lang="en-US" sz="3200" dirty="0"/>
              <a:t>Nutrients are also called </a:t>
            </a:r>
            <a:r>
              <a:rPr lang="en-US" sz="3200" b="1" dirty="0"/>
              <a:t>chemicals of life.</a:t>
            </a:r>
          </a:p>
          <a:p>
            <a:pPr algn="just"/>
            <a:r>
              <a:rPr lang="en-US" sz="3200" dirty="0"/>
              <a:t>The nutrients include;</a:t>
            </a:r>
          </a:p>
          <a:p>
            <a:pPr marL="0" indent="0" algn="just">
              <a:buNone/>
            </a:pPr>
            <a:r>
              <a:rPr lang="en-US" sz="3200" dirty="0"/>
              <a:t>Carbohydrates, proteins, lipids, mineral salts, vitamins, fiber and water</a:t>
            </a:r>
          </a:p>
          <a:p>
            <a:pPr algn="just"/>
            <a:endParaRPr lang="en-US" sz="3200" dirty="0"/>
          </a:p>
        </p:txBody>
      </p:sp>
    </p:spTree>
    <p:extLst>
      <p:ext uri="{BB962C8B-B14F-4D97-AF65-F5344CB8AC3E}">
        <p14:creationId xmlns:p14="http://schemas.microsoft.com/office/powerpoint/2010/main" val="238120139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A642A-E3E7-F331-37A8-668F468D2B54}"/>
              </a:ext>
            </a:extLst>
          </p:cNvPr>
          <p:cNvSpPr>
            <a:spLocks noGrp="1"/>
          </p:cNvSpPr>
          <p:nvPr>
            <p:ph type="title"/>
          </p:nvPr>
        </p:nvSpPr>
        <p:spPr>
          <a:xfrm>
            <a:off x="646111" y="227432"/>
            <a:ext cx="9404723" cy="1400530"/>
          </a:xfrm>
        </p:spPr>
        <p:txBody>
          <a:bodyPr/>
          <a:lstStyle/>
          <a:p>
            <a:pPr algn="ctr"/>
            <a:r>
              <a:rPr lang="en-US" b="1" u="sng" dirty="0"/>
              <a:t>Food nutrients, sources and importance</a:t>
            </a:r>
          </a:p>
        </p:txBody>
      </p:sp>
      <p:sp>
        <p:nvSpPr>
          <p:cNvPr id="3" name="Content Placeholder 2">
            <a:extLst>
              <a:ext uri="{FF2B5EF4-FFF2-40B4-BE49-F238E27FC236}">
                <a16:creationId xmlns:a16="http://schemas.microsoft.com/office/drawing/2014/main" id="{AEF7F579-CD45-191D-4C54-657AC11F5ABF}"/>
              </a:ext>
            </a:extLst>
          </p:cNvPr>
          <p:cNvSpPr>
            <a:spLocks noGrp="1"/>
          </p:cNvSpPr>
          <p:nvPr>
            <p:ph idx="1"/>
          </p:nvPr>
        </p:nvSpPr>
        <p:spPr>
          <a:xfrm>
            <a:off x="145774" y="1590265"/>
            <a:ext cx="11900452" cy="4260573"/>
          </a:xfrm>
        </p:spPr>
        <p:txBody>
          <a:bodyPr>
            <a:noAutofit/>
          </a:bodyPr>
          <a:lstStyle/>
          <a:p>
            <a:pPr marL="0" indent="0">
              <a:lnSpc>
                <a:spcPct val="150000"/>
              </a:lnSpc>
              <a:buNone/>
            </a:pPr>
            <a:r>
              <a:rPr lang="en-US" sz="3200" b="1" dirty="0"/>
              <a:t>1)	 </a:t>
            </a:r>
            <a:r>
              <a:rPr lang="en-US" sz="3200" b="1" u="sng" dirty="0"/>
              <a:t>Carbohydrates </a:t>
            </a:r>
          </a:p>
          <a:p>
            <a:pPr algn="just">
              <a:lnSpc>
                <a:spcPct val="150000"/>
              </a:lnSpc>
            </a:pPr>
            <a:r>
              <a:rPr lang="en-US" sz="3200" dirty="0"/>
              <a:t>A carbohydrate is made up of atoms of carbon, hydrogen and oxygen only.</a:t>
            </a:r>
          </a:p>
          <a:p>
            <a:pPr algn="just">
              <a:lnSpc>
                <a:spcPct val="150000"/>
              </a:lnSpc>
            </a:pPr>
            <a:r>
              <a:rPr lang="en-US" sz="3200" dirty="0"/>
              <a:t>They are the sugars (saccharides).</a:t>
            </a:r>
          </a:p>
          <a:p>
            <a:pPr algn="just">
              <a:lnSpc>
                <a:spcPct val="150000"/>
              </a:lnSpc>
            </a:pPr>
            <a:r>
              <a:rPr lang="en-US" sz="3200" dirty="0"/>
              <a:t>Sources are foods like: cereals, cassava, potatoes, sugars from juicy fruits, yams, bread, bananas, honey, milk, etc.</a:t>
            </a:r>
          </a:p>
          <a:p>
            <a:pPr algn="just">
              <a:lnSpc>
                <a:spcPct val="150000"/>
              </a:lnSpc>
            </a:pPr>
            <a:endParaRPr lang="en-US" sz="3200" dirty="0"/>
          </a:p>
        </p:txBody>
      </p:sp>
    </p:spTree>
    <p:extLst>
      <p:ext uri="{BB962C8B-B14F-4D97-AF65-F5344CB8AC3E}">
        <p14:creationId xmlns:p14="http://schemas.microsoft.com/office/powerpoint/2010/main" val="313607611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FEEF1-F5D6-DF42-4811-5C5D8448C10B}"/>
              </a:ext>
            </a:extLst>
          </p:cNvPr>
          <p:cNvSpPr>
            <a:spLocks noGrp="1"/>
          </p:cNvSpPr>
          <p:nvPr>
            <p:ph type="title"/>
          </p:nvPr>
        </p:nvSpPr>
        <p:spPr/>
        <p:txBody>
          <a:bodyPr/>
          <a:lstStyle/>
          <a:p>
            <a:r>
              <a:rPr lang="en-US" b="1" dirty="0"/>
              <a:t>Types of carbohydrates</a:t>
            </a:r>
            <a:r>
              <a:rPr lang="en-US" dirty="0"/>
              <a:t/>
            </a:r>
            <a:br>
              <a:rPr lang="en-US" dirty="0"/>
            </a:br>
            <a:endParaRPr lang="en-US" dirty="0"/>
          </a:p>
        </p:txBody>
      </p:sp>
      <p:sp>
        <p:nvSpPr>
          <p:cNvPr id="3" name="Content Placeholder 2">
            <a:extLst>
              <a:ext uri="{FF2B5EF4-FFF2-40B4-BE49-F238E27FC236}">
                <a16:creationId xmlns:a16="http://schemas.microsoft.com/office/drawing/2014/main" id="{B5D050D4-5A3F-1060-A49D-75230F39D402}"/>
              </a:ext>
            </a:extLst>
          </p:cNvPr>
          <p:cNvSpPr>
            <a:spLocks noGrp="1"/>
          </p:cNvSpPr>
          <p:nvPr>
            <p:ph idx="1"/>
          </p:nvPr>
        </p:nvSpPr>
        <p:spPr>
          <a:xfrm>
            <a:off x="92766" y="1853248"/>
            <a:ext cx="11993217" cy="4395151"/>
          </a:xfrm>
        </p:spPr>
        <p:txBody>
          <a:bodyPr>
            <a:normAutofit/>
          </a:bodyPr>
          <a:lstStyle/>
          <a:p>
            <a:pPr marL="0" indent="0">
              <a:buNone/>
            </a:pPr>
            <a:r>
              <a:rPr lang="en-US" sz="3200" dirty="0"/>
              <a:t>(a) </a:t>
            </a:r>
            <a:r>
              <a:rPr lang="en-US" sz="3200" b="1" dirty="0"/>
              <a:t>Monosaccharides </a:t>
            </a:r>
          </a:p>
          <a:p>
            <a:r>
              <a:rPr lang="en-US" sz="3200" dirty="0"/>
              <a:t>These consist of one molecule of sugar. (mono = one, saccharide = sugar)</a:t>
            </a:r>
          </a:p>
          <a:p>
            <a:r>
              <a:rPr lang="en-US" sz="3200" dirty="0"/>
              <a:t>Examples: </a:t>
            </a:r>
          </a:p>
          <a:p>
            <a:pPr marL="0" indent="0">
              <a:buNone/>
            </a:pPr>
            <a:r>
              <a:rPr lang="en-US" sz="3200" dirty="0"/>
              <a:t>(</a:t>
            </a:r>
            <a:r>
              <a:rPr lang="en-US" sz="3200" dirty="0" err="1"/>
              <a:t>i</a:t>
            </a:r>
            <a:r>
              <a:rPr lang="en-US" sz="3200" dirty="0"/>
              <a:t>)	    Glucose – in honey.</a:t>
            </a:r>
          </a:p>
          <a:p>
            <a:pPr marL="0" indent="0">
              <a:buNone/>
            </a:pPr>
            <a:r>
              <a:rPr lang="en-US" sz="3200" dirty="0"/>
              <a:t>(ii)	Fructose - juicy fruits.</a:t>
            </a:r>
          </a:p>
          <a:p>
            <a:pPr marL="0" indent="0">
              <a:buNone/>
            </a:pPr>
            <a:r>
              <a:rPr lang="en-US" sz="3200" dirty="0"/>
              <a:t>(iii)	Galactose – in milk.</a:t>
            </a:r>
          </a:p>
          <a:p>
            <a:endParaRPr lang="en-US" sz="3200" dirty="0"/>
          </a:p>
        </p:txBody>
      </p:sp>
    </p:spTree>
    <p:extLst>
      <p:ext uri="{BB962C8B-B14F-4D97-AF65-F5344CB8AC3E}">
        <p14:creationId xmlns:p14="http://schemas.microsoft.com/office/powerpoint/2010/main" val="63383676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B0A34E-CD5A-F787-585C-EB93B3CAB29C}"/>
              </a:ext>
            </a:extLst>
          </p:cNvPr>
          <p:cNvSpPr>
            <a:spLocks noGrp="1"/>
          </p:cNvSpPr>
          <p:nvPr>
            <p:ph idx="1"/>
          </p:nvPr>
        </p:nvSpPr>
        <p:spPr>
          <a:xfrm>
            <a:off x="238540" y="172278"/>
            <a:ext cx="11675164" cy="6493565"/>
          </a:xfrm>
        </p:spPr>
        <p:txBody>
          <a:bodyPr>
            <a:normAutofit/>
          </a:bodyPr>
          <a:lstStyle/>
          <a:p>
            <a:pPr marL="0" indent="0" algn="just">
              <a:lnSpc>
                <a:spcPct val="150000"/>
              </a:lnSpc>
              <a:buNone/>
            </a:pPr>
            <a:r>
              <a:rPr lang="en-US" sz="3200" b="1" dirty="0"/>
              <a:t>Properties/characteristics of monosaccharides</a:t>
            </a:r>
          </a:p>
          <a:p>
            <a:pPr algn="just">
              <a:lnSpc>
                <a:spcPct val="150000"/>
              </a:lnSpc>
            </a:pPr>
            <a:r>
              <a:rPr lang="en-US" sz="3200" dirty="0"/>
              <a:t>Have sweet taste</a:t>
            </a:r>
          </a:p>
          <a:p>
            <a:pPr algn="just">
              <a:lnSpc>
                <a:spcPct val="150000"/>
              </a:lnSpc>
            </a:pPr>
            <a:r>
              <a:rPr lang="en-US" sz="3200" dirty="0"/>
              <a:t>Are soluble in water</a:t>
            </a:r>
          </a:p>
          <a:p>
            <a:pPr algn="just">
              <a:lnSpc>
                <a:spcPct val="150000"/>
              </a:lnSpc>
            </a:pPr>
            <a:r>
              <a:rPr lang="en-US" sz="3200" dirty="0"/>
              <a:t>Diffuse through a semi-permeable membrane</a:t>
            </a:r>
          </a:p>
          <a:p>
            <a:pPr algn="just">
              <a:lnSpc>
                <a:spcPct val="150000"/>
              </a:lnSpc>
            </a:pPr>
            <a:r>
              <a:rPr lang="en-US" sz="3200" dirty="0"/>
              <a:t>Are reducing sugars (change the </a:t>
            </a:r>
            <a:r>
              <a:rPr lang="en-US" sz="3200" dirty="0" err="1"/>
              <a:t>colour</a:t>
            </a:r>
            <a:r>
              <a:rPr lang="en-US" sz="3200" dirty="0"/>
              <a:t> of benedict’s solution(Cu (II) ions) from blue to orange (Cu (I)) when boiled)</a:t>
            </a:r>
          </a:p>
          <a:p>
            <a:pPr algn="just">
              <a:lnSpc>
                <a:spcPct val="150000"/>
              </a:lnSpc>
            </a:pPr>
            <a:endParaRPr lang="en-US" sz="3200" dirty="0"/>
          </a:p>
        </p:txBody>
      </p:sp>
    </p:spTree>
    <p:extLst>
      <p:ext uri="{BB962C8B-B14F-4D97-AF65-F5344CB8AC3E}">
        <p14:creationId xmlns:p14="http://schemas.microsoft.com/office/powerpoint/2010/main" val="130230712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29BE20-B862-7A99-6723-940265B39C0A}"/>
              </a:ext>
            </a:extLst>
          </p:cNvPr>
          <p:cNvSpPr>
            <a:spLocks noGrp="1"/>
          </p:cNvSpPr>
          <p:nvPr>
            <p:ph idx="1"/>
          </p:nvPr>
        </p:nvSpPr>
        <p:spPr>
          <a:xfrm>
            <a:off x="125895" y="145775"/>
            <a:ext cx="11940209" cy="6712225"/>
          </a:xfrm>
        </p:spPr>
        <p:txBody>
          <a:bodyPr>
            <a:noAutofit/>
          </a:bodyPr>
          <a:lstStyle/>
          <a:p>
            <a:pPr marL="0" indent="0" algn="just">
              <a:buNone/>
            </a:pPr>
            <a:r>
              <a:rPr lang="en-US" sz="3200" dirty="0"/>
              <a:t>(b) </a:t>
            </a:r>
            <a:r>
              <a:rPr lang="en-US" sz="3200" b="1" dirty="0"/>
              <a:t>Disaccharides</a:t>
            </a:r>
          </a:p>
          <a:p>
            <a:pPr algn="just"/>
            <a:r>
              <a:rPr lang="en-US" sz="3200" dirty="0"/>
              <a:t>These consist of two monosaccharide molecules. (di = two, saccharide = sugar)</a:t>
            </a:r>
          </a:p>
          <a:p>
            <a:pPr algn="just"/>
            <a:r>
              <a:rPr lang="en-US" sz="3200" dirty="0"/>
              <a:t>They are formed when two monosaccharides combine by the process of </a:t>
            </a:r>
            <a:r>
              <a:rPr lang="en-US" sz="3200" b="1" dirty="0"/>
              <a:t>condensation</a:t>
            </a:r>
          </a:p>
          <a:p>
            <a:pPr marL="0" indent="0" algn="just">
              <a:buNone/>
            </a:pPr>
            <a:r>
              <a:rPr lang="en-US" sz="3200" dirty="0"/>
              <a:t>Examples include:</a:t>
            </a:r>
          </a:p>
          <a:p>
            <a:pPr marL="0" indent="0" algn="just">
              <a:buNone/>
            </a:pPr>
            <a:r>
              <a:rPr lang="en-US" sz="3200" dirty="0"/>
              <a:t>(</a:t>
            </a:r>
            <a:r>
              <a:rPr lang="en-US" sz="3200" dirty="0" err="1"/>
              <a:t>i</a:t>
            </a:r>
            <a:r>
              <a:rPr lang="en-US" sz="3200" dirty="0"/>
              <a:t>)	</a:t>
            </a:r>
            <a:r>
              <a:rPr lang="en-US" sz="3200" b="1" dirty="0"/>
              <a:t>Sucrose: </a:t>
            </a:r>
            <a:r>
              <a:rPr lang="en-US" sz="3200" dirty="0"/>
              <a:t>found in sugarcane, made up of glucose and fructose.</a:t>
            </a:r>
          </a:p>
          <a:p>
            <a:pPr marL="0" indent="0" algn="just">
              <a:buNone/>
            </a:pPr>
            <a:r>
              <a:rPr lang="en-US" sz="3200" dirty="0"/>
              <a:t>(ii)</a:t>
            </a:r>
            <a:r>
              <a:rPr lang="en-US" sz="3200" b="1" dirty="0"/>
              <a:t>Maltose: </a:t>
            </a:r>
            <a:r>
              <a:rPr lang="en-US" sz="3200" dirty="0"/>
              <a:t>found in germinating seeds, made up of two glucose molecules.</a:t>
            </a:r>
          </a:p>
          <a:p>
            <a:pPr marL="0" indent="0" algn="just">
              <a:buNone/>
            </a:pPr>
            <a:r>
              <a:rPr lang="en-US" sz="3200" dirty="0"/>
              <a:t>(iii)	</a:t>
            </a:r>
            <a:r>
              <a:rPr lang="en-US" sz="3200" b="1" dirty="0"/>
              <a:t>Lactose: </a:t>
            </a:r>
            <a:r>
              <a:rPr lang="en-US" sz="3200" dirty="0"/>
              <a:t>found in milk made up of glucose and galactose.</a:t>
            </a:r>
          </a:p>
          <a:p>
            <a:pPr algn="just"/>
            <a:endParaRPr lang="en-US" sz="3200" dirty="0"/>
          </a:p>
        </p:txBody>
      </p:sp>
    </p:spTree>
    <p:extLst>
      <p:ext uri="{BB962C8B-B14F-4D97-AF65-F5344CB8AC3E}">
        <p14:creationId xmlns:p14="http://schemas.microsoft.com/office/powerpoint/2010/main" val="12379394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7885D5-F11F-D01F-2ACB-02C885B3985C}"/>
              </a:ext>
            </a:extLst>
          </p:cNvPr>
          <p:cNvSpPr>
            <a:spLocks noGrp="1"/>
          </p:cNvSpPr>
          <p:nvPr>
            <p:ph idx="1"/>
          </p:nvPr>
        </p:nvSpPr>
        <p:spPr>
          <a:xfrm>
            <a:off x="238539" y="635520"/>
            <a:ext cx="11714922" cy="5586959"/>
          </a:xfrm>
        </p:spPr>
        <p:txBody>
          <a:bodyPr>
            <a:noAutofit/>
          </a:bodyPr>
          <a:lstStyle/>
          <a:p>
            <a:pPr marL="0" indent="0" algn="just">
              <a:buNone/>
            </a:pPr>
            <a:r>
              <a:rPr lang="en-US" sz="3200" b="1" dirty="0"/>
              <a:t>Properties/characteristics of disaccharides</a:t>
            </a:r>
          </a:p>
          <a:p>
            <a:pPr algn="just"/>
            <a:r>
              <a:rPr lang="en-US" sz="3200" dirty="0"/>
              <a:t>Have sweet taste</a:t>
            </a:r>
          </a:p>
          <a:p>
            <a:pPr algn="just"/>
            <a:r>
              <a:rPr lang="en-US" sz="3200" dirty="0"/>
              <a:t>Soluble in water</a:t>
            </a:r>
          </a:p>
          <a:p>
            <a:pPr algn="just"/>
            <a:r>
              <a:rPr lang="en-US" sz="3200" dirty="0"/>
              <a:t>Diffuse (slower than monosaccharides) across semi permeable membrane.</a:t>
            </a:r>
          </a:p>
          <a:p>
            <a:pPr algn="just"/>
            <a:r>
              <a:rPr lang="en-US" sz="3200" dirty="0"/>
              <a:t>Are reducing sugars except </a:t>
            </a:r>
            <a:r>
              <a:rPr lang="en-US" sz="3200" b="1" dirty="0"/>
              <a:t>sucrose which is a non-reducing sugar</a:t>
            </a:r>
            <a:r>
              <a:rPr lang="en-US" sz="3200" dirty="0"/>
              <a:t>.</a:t>
            </a:r>
          </a:p>
          <a:p>
            <a:pPr algn="just"/>
            <a:r>
              <a:rPr lang="en-US" sz="3200" dirty="0"/>
              <a:t>They are easily converted to simple sugars by </a:t>
            </a:r>
            <a:r>
              <a:rPr lang="en-US" sz="3200" b="1" dirty="0"/>
              <a:t>hydrolysis</a:t>
            </a:r>
            <a:r>
              <a:rPr lang="en-US" sz="3200" dirty="0"/>
              <a:t> or action of enzymes and dilute mineral acids.</a:t>
            </a:r>
          </a:p>
          <a:p>
            <a:pPr algn="just"/>
            <a:endParaRPr lang="en-US" sz="3200" dirty="0"/>
          </a:p>
        </p:txBody>
      </p:sp>
    </p:spTree>
    <p:extLst>
      <p:ext uri="{BB962C8B-B14F-4D97-AF65-F5344CB8AC3E}">
        <p14:creationId xmlns:p14="http://schemas.microsoft.com/office/powerpoint/2010/main" val="178598856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4959F5-720B-4A9C-7DC5-C5539AAC6C42}"/>
              </a:ext>
            </a:extLst>
          </p:cNvPr>
          <p:cNvSpPr>
            <a:spLocks noGrp="1"/>
          </p:cNvSpPr>
          <p:nvPr>
            <p:ph idx="1"/>
          </p:nvPr>
        </p:nvSpPr>
        <p:spPr>
          <a:xfrm>
            <a:off x="159026" y="92766"/>
            <a:ext cx="11913704" cy="6639338"/>
          </a:xfrm>
        </p:spPr>
        <p:txBody>
          <a:bodyPr>
            <a:noAutofit/>
          </a:bodyPr>
          <a:lstStyle/>
          <a:p>
            <a:pPr marL="0" indent="0" algn="just">
              <a:buNone/>
            </a:pPr>
            <a:r>
              <a:rPr lang="en-US" sz="3200" dirty="0"/>
              <a:t>(c) </a:t>
            </a:r>
            <a:r>
              <a:rPr lang="en-US" sz="3200" b="1" dirty="0"/>
              <a:t>Polysaccharides</a:t>
            </a:r>
          </a:p>
          <a:p>
            <a:pPr algn="just"/>
            <a:r>
              <a:rPr lang="en-US" sz="3200" dirty="0"/>
              <a:t>Are large molecules that consist of long chains of monosaccharides. (poly = many, saccharide = sugar)</a:t>
            </a:r>
          </a:p>
          <a:p>
            <a:pPr algn="just"/>
            <a:r>
              <a:rPr lang="en-US" sz="3200" dirty="0"/>
              <a:t>They are formed by condensation of more than two molecules of monosaccharides.</a:t>
            </a:r>
          </a:p>
          <a:p>
            <a:pPr marL="0" indent="0" algn="just">
              <a:buNone/>
            </a:pPr>
            <a:r>
              <a:rPr lang="en-US" sz="3200" dirty="0"/>
              <a:t>Examples:</a:t>
            </a:r>
          </a:p>
          <a:p>
            <a:pPr marL="571500" indent="-571500" algn="just">
              <a:buFont typeface="+mj-lt"/>
              <a:buAutoNum type="romanLcPeriod"/>
            </a:pPr>
            <a:r>
              <a:rPr lang="en-US" sz="3200" b="1" dirty="0"/>
              <a:t>Starch;  </a:t>
            </a:r>
            <a:r>
              <a:rPr lang="en-US" sz="3200" dirty="0"/>
              <a:t>stored roots, underground stems and grains of plants. </a:t>
            </a:r>
          </a:p>
          <a:p>
            <a:pPr marL="571500" indent="-571500" algn="just">
              <a:buFont typeface="+mj-lt"/>
              <a:buAutoNum type="romanLcPeriod"/>
            </a:pPr>
            <a:r>
              <a:rPr lang="en-US" sz="3200" b="1" dirty="0"/>
              <a:t>Glycogen; </a:t>
            </a:r>
            <a:r>
              <a:rPr lang="en-US" sz="3200" dirty="0"/>
              <a:t>stored in liver and muscles of animals.</a:t>
            </a:r>
          </a:p>
          <a:p>
            <a:pPr marL="571500" indent="-571500" algn="just">
              <a:buFont typeface="+mj-lt"/>
              <a:buAutoNum type="romanLcPeriod"/>
            </a:pPr>
            <a:r>
              <a:rPr lang="en-US" sz="3200" b="1" dirty="0"/>
              <a:t>Cellulose; </a:t>
            </a:r>
            <a:r>
              <a:rPr lang="en-US" sz="3200" dirty="0"/>
              <a:t>in plant cell wall.</a:t>
            </a:r>
          </a:p>
          <a:p>
            <a:pPr marL="571500" indent="-571500" algn="just">
              <a:buFont typeface="+mj-lt"/>
              <a:buAutoNum type="romanLcPeriod"/>
            </a:pPr>
            <a:r>
              <a:rPr lang="en-US" sz="3200" b="1" dirty="0"/>
              <a:t>Chitin; </a:t>
            </a:r>
            <a:r>
              <a:rPr lang="en-US" sz="3200" dirty="0"/>
              <a:t>in exoskeleton of arthropods and cell wall of fungi.</a:t>
            </a:r>
          </a:p>
          <a:p>
            <a:pPr marL="0" indent="0">
              <a:buNone/>
            </a:pPr>
            <a:endParaRPr lang="en-US" sz="3200" dirty="0"/>
          </a:p>
        </p:txBody>
      </p:sp>
    </p:spTree>
    <p:extLst>
      <p:ext uri="{BB962C8B-B14F-4D97-AF65-F5344CB8AC3E}">
        <p14:creationId xmlns:p14="http://schemas.microsoft.com/office/powerpoint/2010/main" val="132773661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8D7853-250D-E563-7C3D-2E4BDEC1965A}"/>
              </a:ext>
            </a:extLst>
          </p:cNvPr>
          <p:cNvSpPr>
            <a:spLocks noGrp="1"/>
          </p:cNvSpPr>
          <p:nvPr>
            <p:ph idx="1"/>
          </p:nvPr>
        </p:nvSpPr>
        <p:spPr>
          <a:xfrm>
            <a:off x="344557" y="583096"/>
            <a:ext cx="11754677" cy="5976730"/>
          </a:xfrm>
        </p:spPr>
        <p:txBody>
          <a:bodyPr>
            <a:noAutofit/>
          </a:bodyPr>
          <a:lstStyle/>
          <a:p>
            <a:pPr marL="0" indent="0" algn="just">
              <a:lnSpc>
                <a:spcPct val="150000"/>
              </a:lnSpc>
              <a:buNone/>
            </a:pPr>
            <a:r>
              <a:rPr lang="en-US" sz="3200" b="1" dirty="0"/>
              <a:t>Properties of polysaccharides</a:t>
            </a:r>
          </a:p>
          <a:p>
            <a:pPr algn="just">
              <a:lnSpc>
                <a:spcPct val="150000"/>
              </a:lnSpc>
            </a:pPr>
            <a:r>
              <a:rPr lang="en-US" sz="3200" dirty="0"/>
              <a:t>Not sweet</a:t>
            </a:r>
          </a:p>
          <a:p>
            <a:pPr algn="just">
              <a:lnSpc>
                <a:spcPct val="150000"/>
              </a:lnSpc>
            </a:pPr>
            <a:r>
              <a:rPr lang="en-US" sz="3200" dirty="0"/>
              <a:t>Insoluble in water except glycogen which is slightly soluble.</a:t>
            </a:r>
          </a:p>
          <a:p>
            <a:pPr algn="just">
              <a:lnSpc>
                <a:spcPct val="150000"/>
              </a:lnSpc>
            </a:pPr>
            <a:r>
              <a:rPr lang="en-US" sz="3200" dirty="0"/>
              <a:t>They are large in size therefore cannot diffuse across a semi-permeable membrane.</a:t>
            </a:r>
          </a:p>
          <a:p>
            <a:pPr marL="0" indent="0" algn="just">
              <a:lnSpc>
                <a:spcPct val="150000"/>
              </a:lnSpc>
              <a:buNone/>
            </a:pPr>
            <a:endParaRPr lang="en-US" sz="3200" dirty="0"/>
          </a:p>
        </p:txBody>
      </p:sp>
    </p:spTree>
    <p:extLst>
      <p:ext uri="{BB962C8B-B14F-4D97-AF65-F5344CB8AC3E}">
        <p14:creationId xmlns:p14="http://schemas.microsoft.com/office/powerpoint/2010/main" val="286034153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823D7-3755-5723-0E95-8382BC7018CA}"/>
              </a:ext>
            </a:extLst>
          </p:cNvPr>
          <p:cNvSpPr>
            <a:spLocks noGrp="1"/>
          </p:cNvSpPr>
          <p:nvPr>
            <p:ph type="title"/>
          </p:nvPr>
        </p:nvSpPr>
        <p:spPr>
          <a:xfrm>
            <a:off x="646111" y="452718"/>
            <a:ext cx="11280846" cy="1600200"/>
          </a:xfrm>
        </p:spPr>
        <p:txBody>
          <a:bodyPr/>
          <a:lstStyle/>
          <a:p>
            <a:pPr algn="ctr"/>
            <a:r>
              <a:rPr lang="en-US" b="1" dirty="0"/>
              <a:t>Importance of carbohydrates in the diet</a:t>
            </a:r>
          </a:p>
        </p:txBody>
      </p:sp>
      <p:sp>
        <p:nvSpPr>
          <p:cNvPr id="3" name="Content Placeholder 2">
            <a:extLst>
              <a:ext uri="{FF2B5EF4-FFF2-40B4-BE49-F238E27FC236}">
                <a16:creationId xmlns:a16="http://schemas.microsoft.com/office/drawing/2014/main" id="{38170F0D-BB00-4158-B444-AD86F2D4AD07}"/>
              </a:ext>
            </a:extLst>
          </p:cNvPr>
          <p:cNvSpPr>
            <a:spLocks noGrp="1"/>
          </p:cNvSpPr>
          <p:nvPr>
            <p:ph idx="1"/>
          </p:nvPr>
        </p:nvSpPr>
        <p:spPr>
          <a:xfrm>
            <a:off x="132522" y="1378226"/>
            <a:ext cx="11940208" cy="5208104"/>
          </a:xfrm>
        </p:spPr>
        <p:txBody>
          <a:bodyPr>
            <a:normAutofit/>
          </a:bodyPr>
          <a:lstStyle/>
          <a:p>
            <a:endParaRPr lang="en-US" dirty="0"/>
          </a:p>
          <a:p>
            <a:pPr algn="just"/>
            <a:r>
              <a:rPr lang="en-US" sz="3200" dirty="0"/>
              <a:t>They are the main source of energy for metabolic processes. </a:t>
            </a:r>
          </a:p>
          <a:p>
            <a:pPr algn="just"/>
            <a:r>
              <a:rPr lang="en-US" sz="3200" dirty="0"/>
              <a:t>Some form structures like cell wall in plants and chitin in arthropods and fungi.</a:t>
            </a:r>
          </a:p>
          <a:p>
            <a:pPr algn="just"/>
            <a:r>
              <a:rPr lang="en-US" sz="3200" dirty="0"/>
              <a:t>They are energy reserve sources stored by plants in the form of starch and glycogen in animals.</a:t>
            </a:r>
          </a:p>
          <a:p>
            <a:pPr algn="just"/>
            <a:r>
              <a:rPr lang="en-US" sz="3200" dirty="0"/>
              <a:t>Soluble sugars like glucose control osmotic balance in the body.</a:t>
            </a:r>
          </a:p>
          <a:p>
            <a:endParaRPr lang="en-US" dirty="0"/>
          </a:p>
        </p:txBody>
      </p:sp>
    </p:spTree>
    <p:extLst>
      <p:ext uri="{BB962C8B-B14F-4D97-AF65-F5344CB8AC3E}">
        <p14:creationId xmlns:p14="http://schemas.microsoft.com/office/powerpoint/2010/main" val="335056277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387B4-C5F2-2CB9-21E4-164BB2722A7F}"/>
              </a:ext>
            </a:extLst>
          </p:cNvPr>
          <p:cNvSpPr>
            <a:spLocks noGrp="1"/>
          </p:cNvSpPr>
          <p:nvPr>
            <p:ph type="title"/>
          </p:nvPr>
        </p:nvSpPr>
        <p:spPr/>
        <p:txBody>
          <a:bodyPr/>
          <a:lstStyle/>
          <a:p>
            <a:r>
              <a:rPr lang="en-US" b="1" u="sng" dirty="0"/>
              <a:t>2. Proteins </a:t>
            </a:r>
          </a:p>
        </p:txBody>
      </p:sp>
      <p:sp>
        <p:nvSpPr>
          <p:cNvPr id="3" name="Content Placeholder 2">
            <a:extLst>
              <a:ext uri="{FF2B5EF4-FFF2-40B4-BE49-F238E27FC236}">
                <a16:creationId xmlns:a16="http://schemas.microsoft.com/office/drawing/2014/main" id="{C334BA1F-C561-4077-573F-8AC4211B07EE}"/>
              </a:ext>
            </a:extLst>
          </p:cNvPr>
          <p:cNvSpPr>
            <a:spLocks noGrp="1"/>
          </p:cNvSpPr>
          <p:nvPr>
            <p:ph idx="1"/>
          </p:nvPr>
        </p:nvSpPr>
        <p:spPr>
          <a:xfrm>
            <a:off x="212035" y="1404730"/>
            <a:ext cx="11794435" cy="5000552"/>
          </a:xfrm>
        </p:spPr>
        <p:txBody>
          <a:bodyPr>
            <a:noAutofit/>
          </a:bodyPr>
          <a:lstStyle/>
          <a:p>
            <a:pPr algn="just">
              <a:lnSpc>
                <a:spcPct val="150000"/>
              </a:lnSpc>
            </a:pPr>
            <a:r>
              <a:rPr lang="en-US" sz="3200" dirty="0"/>
              <a:t>A protein molecule consist of elements; carbon, hydrogen, oxygen and nitrogen, and sometimes phosphorus and </a:t>
            </a:r>
            <a:r>
              <a:rPr lang="en-US" sz="3200" dirty="0" err="1"/>
              <a:t>sulphur</a:t>
            </a:r>
            <a:r>
              <a:rPr lang="en-US" sz="3200" dirty="0"/>
              <a:t>. </a:t>
            </a:r>
          </a:p>
          <a:p>
            <a:pPr algn="just">
              <a:lnSpc>
                <a:spcPct val="150000"/>
              </a:lnSpc>
            </a:pPr>
            <a:r>
              <a:rPr lang="en-US" sz="3200" dirty="0"/>
              <a:t>The smallest unit of protein is called </a:t>
            </a:r>
            <a:r>
              <a:rPr lang="en-US" sz="3200" b="1" dirty="0"/>
              <a:t>amino acid</a:t>
            </a:r>
            <a:r>
              <a:rPr lang="en-US" sz="3200" dirty="0"/>
              <a:t>.</a:t>
            </a:r>
          </a:p>
          <a:p>
            <a:pPr algn="just">
              <a:lnSpc>
                <a:spcPct val="150000"/>
              </a:lnSpc>
            </a:pPr>
            <a:r>
              <a:rPr lang="en-US" sz="3200" b="1" dirty="0"/>
              <a:t>Food sources: </a:t>
            </a:r>
            <a:r>
              <a:rPr lang="en-US" sz="3200" dirty="0"/>
              <a:t>legumes like beans; soya, peas and fish, eggs, cheese, milk, liver and meat.</a:t>
            </a:r>
          </a:p>
          <a:p>
            <a:endParaRPr lang="en-US" sz="3200" dirty="0"/>
          </a:p>
        </p:txBody>
      </p:sp>
    </p:spTree>
    <p:extLst>
      <p:ext uri="{BB962C8B-B14F-4D97-AF65-F5344CB8AC3E}">
        <p14:creationId xmlns:p14="http://schemas.microsoft.com/office/powerpoint/2010/main" val="151655004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F701E-EB49-6FE4-FD09-D34F9B9E48B0}"/>
              </a:ext>
            </a:extLst>
          </p:cNvPr>
          <p:cNvSpPr>
            <a:spLocks noGrp="1"/>
          </p:cNvSpPr>
          <p:nvPr>
            <p:ph type="title"/>
          </p:nvPr>
        </p:nvSpPr>
        <p:spPr>
          <a:xfrm>
            <a:off x="645130" y="0"/>
            <a:ext cx="9404723" cy="1400530"/>
          </a:xfrm>
        </p:spPr>
        <p:txBody>
          <a:bodyPr/>
          <a:lstStyle/>
          <a:p>
            <a:r>
              <a:rPr lang="en-US" b="1" u="sng" dirty="0"/>
              <a:t>Functions of proteins in the body</a:t>
            </a:r>
            <a:r>
              <a:rPr lang="en-US" dirty="0"/>
              <a:t/>
            </a:r>
            <a:br>
              <a:rPr lang="en-US" dirty="0"/>
            </a:br>
            <a:endParaRPr lang="en-US" dirty="0"/>
          </a:p>
        </p:txBody>
      </p:sp>
      <p:sp>
        <p:nvSpPr>
          <p:cNvPr id="3" name="Content Placeholder 2">
            <a:extLst>
              <a:ext uri="{FF2B5EF4-FFF2-40B4-BE49-F238E27FC236}">
                <a16:creationId xmlns:a16="http://schemas.microsoft.com/office/drawing/2014/main" id="{F0DA06AD-C965-01C3-DC75-94E23FCE5148}"/>
              </a:ext>
            </a:extLst>
          </p:cNvPr>
          <p:cNvSpPr>
            <a:spLocks noGrp="1"/>
          </p:cNvSpPr>
          <p:nvPr>
            <p:ph idx="1"/>
          </p:nvPr>
        </p:nvSpPr>
        <p:spPr>
          <a:xfrm>
            <a:off x="119270" y="834888"/>
            <a:ext cx="12072730" cy="5897216"/>
          </a:xfrm>
        </p:spPr>
        <p:txBody>
          <a:bodyPr>
            <a:normAutofit fontScale="92500" lnSpcReduction="20000"/>
          </a:bodyPr>
          <a:lstStyle/>
          <a:p>
            <a:pPr algn="just"/>
            <a:r>
              <a:rPr lang="en-US" sz="4100" dirty="0"/>
              <a:t>Growth through formation of new cells.</a:t>
            </a:r>
          </a:p>
          <a:p>
            <a:pPr algn="just"/>
            <a:r>
              <a:rPr lang="en-US" sz="4100" dirty="0"/>
              <a:t>Repair of worn out tissues.</a:t>
            </a:r>
          </a:p>
          <a:p>
            <a:pPr algn="just"/>
            <a:r>
              <a:rPr lang="en-US" sz="4100" dirty="0"/>
              <a:t>Oxidized (broken down) to release energy when glucose is in short supply.</a:t>
            </a:r>
          </a:p>
          <a:p>
            <a:pPr algn="just"/>
            <a:r>
              <a:rPr lang="en-US" sz="4100" dirty="0"/>
              <a:t>Form structures like keratin found in nails, hair, hooves and beak of birds.</a:t>
            </a:r>
          </a:p>
          <a:p>
            <a:pPr algn="just"/>
            <a:r>
              <a:rPr lang="en-US" sz="4100" dirty="0"/>
              <a:t>Formation of enzymes and hormones.</a:t>
            </a:r>
          </a:p>
          <a:p>
            <a:pPr algn="just"/>
            <a:r>
              <a:rPr lang="en-US" sz="4100" dirty="0"/>
              <a:t>Used during blood clotting.</a:t>
            </a:r>
          </a:p>
          <a:p>
            <a:pPr algn="just"/>
            <a:r>
              <a:rPr lang="en-US" sz="4100" dirty="0"/>
              <a:t>Forms antibodies and antigens.</a:t>
            </a:r>
          </a:p>
          <a:p>
            <a:pPr algn="just"/>
            <a:r>
              <a:rPr lang="en-US" sz="4100" dirty="0"/>
              <a:t>Controls pH changes within blood plasma.</a:t>
            </a:r>
          </a:p>
          <a:p>
            <a:endParaRPr lang="en-US" dirty="0"/>
          </a:p>
        </p:txBody>
      </p:sp>
    </p:spTree>
    <p:extLst>
      <p:ext uri="{BB962C8B-B14F-4D97-AF65-F5344CB8AC3E}">
        <p14:creationId xmlns:p14="http://schemas.microsoft.com/office/powerpoint/2010/main" val="126370514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45487-E61A-2DFE-2B7B-D3839F916FFD}"/>
              </a:ext>
            </a:extLst>
          </p:cNvPr>
          <p:cNvSpPr>
            <a:spLocks noGrp="1"/>
          </p:cNvSpPr>
          <p:nvPr>
            <p:ph type="title"/>
          </p:nvPr>
        </p:nvSpPr>
        <p:spPr>
          <a:xfrm>
            <a:off x="579850" y="121414"/>
            <a:ext cx="9404723" cy="1400530"/>
          </a:xfrm>
        </p:spPr>
        <p:txBody>
          <a:bodyPr/>
          <a:lstStyle/>
          <a:p>
            <a:r>
              <a:rPr lang="en-US" dirty="0"/>
              <a:t>3. </a:t>
            </a:r>
            <a:r>
              <a:rPr lang="en-US" b="1" u="sng" dirty="0"/>
              <a:t>Lipids</a:t>
            </a:r>
            <a:r>
              <a:rPr lang="en-US" dirty="0"/>
              <a:t>  </a:t>
            </a:r>
            <a:br>
              <a:rPr lang="en-US" dirty="0"/>
            </a:br>
            <a:endParaRPr lang="en-US" dirty="0"/>
          </a:p>
        </p:txBody>
      </p:sp>
      <p:sp>
        <p:nvSpPr>
          <p:cNvPr id="3" name="Content Placeholder 2">
            <a:extLst>
              <a:ext uri="{FF2B5EF4-FFF2-40B4-BE49-F238E27FC236}">
                <a16:creationId xmlns:a16="http://schemas.microsoft.com/office/drawing/2014/main" id="{8179557C-96CF-0044-98A9-401BFEAB6866}"/>
              </a:ext>
            </a:extLst>
          </p:cNvPr>
          <p:cNvSpPr>
            <a:spLocks noGrp="1"/>
          </p:cNvSpPr>
          <p:nvPr>
            <p:ph idx="1"/>
          </p:nvPr>
        </p:nvSpPr>
        <p:spPr>
          <a:xfrm>
            <a:off x="238539" y="954157"/>
            <a:ext cx="11728174" cy="5685182"/>
          </a:xfrm>
        </p:spPr>
        <p:txBody>
          <a:bodyPr>
            <a:normAutofit fontScale="25000" lnSpcReduction="20000"/>
          </a:bodyPr>
          <a:lstStyle/>
          <a:p>
            <a:pPr algn="just">
              <a:lnSpc>
                <a:spcPct val="170000"/>
              </a:lnSpc>
            </a:pPr>
            <a:r>
              <a:rPr lang="en-US" sz="12800" dirty="0"/>
              <a:t>These are fats and oils. </a:t>
            </a:r>
          </a:p>
          <a:p>
            <a:pPr algn="just">
              <a:lnSpc>
                <a:spcPct val="170000"/>
              </a:lnSpc>
            </a:pPr>
            <a:r>
              <a:rPr lang="en-US" sz="12800" dirty="0"/>
              <a:t>Lipids consist of elements; carbon, hydrogen and oxygen like in carbohydrates except that the proportion of oxygen is less than that of carbohydrates. </a:t>
            </a:r>
          </a:p>
          <a:p>
            <a:pPr algn="just">
              <a:lnSpc>
                <a:spcPct val="170000"/>
              </a:lnSpc>
            </a:pPr>
            <a:r>
              <a:rPr lang="en-US" sz="12800" dirty="0"/>
              <a:t>Oils are liquid at room temperature while fats are solid.</a:t>
            </a:r>
          </a:p>
          <a:p>
            <a:pPr algn="just">
              <a:lnSpc>
                <a:spcPct val="170000"/>
              </a:lnSpc>
            </a:pPr>
            <a:r>
              <a:rPr lang="en-US" sz="12800" dirty="0"/>
              <a:t>Food sources include: milk and its products, meat, groundnuts, </a:t>
            </a:r>
            <a:r>
              <a:rPr lang="en-US" sz="12800" dirty="0" err="1"/>
              <a:t>simsim</a:t>
            </a:r>
            <a:r>
              <a:rPr lang="en-US" sz="12800" dirty="0"/>
              <a:t>, coconuts, sunflower, palm and fish.</a:t>
            </a:r>
          </a:p>
          <a:p>
            <a:endParaRPr lang="en-US" dirty="0"/>
          </a:p>
        </p:txBody>
      </p:sp>
    </p:spTree>
    <p:extLst>
      <p:ext uri="{BB962C8B-B14F-4D97-AF65-F5344CB8AC3E}">
        <p14:creationId xmlns:p14="http://schemas.microsoft.com/office/powerpoint/2010/main" val="410121154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22802-3E8E-3B27-5D1F-DFBDD56E6FB5}"/>
              </a:ext>
            </a:extLst>
          </p:cNvPr>
          <p:cNvSpPr>
            <a:spLocks noGrp="1"/>
          </p:cNvSpPr>
          <p:nvPr>
            <p:ph type="title"/>
          </p:nvPr>
        </p:nvSpPr>
        <p:spPr>
          <a:xfrm>
            <a:off x="460580" y="0"/>
            <a:ext cx="9404723" cy="1400530"/>
          </a:xfrm>
        </p:spPr>
        <p:txBody>
          <a:bodyPr/>
          <a:lstStyle/>
          <a:p>
            <a:r>
              <a:rPr lang="en-US" b="1" dirty="0"/>
              <a:t>Functions of lipids</a:t>
            </a:r>
            <a:br>
              <a:rPr lang="en-US" b="1" dirty="0"/>
            </a:br>
            <a:endParaRPr lang="en-US" b="1" dirty="0"/>
          </a:p>
        </p:txBody>
      </p:sp>
      <p:sp>
        <p:nvSpPr>
          <p:cNvPr id="3" name="Content Placeholder 2">
            <a:extLst>
              <a:ext uri="{FF2B5EF4-FFF2-40B4-BE49-F238E27FC236}">
                <a16:creationId xmlns:a16="http://schemas.microsoft.com/office/drawing/2014/main" id="{CF00169E-6299-9DD3-6584-82802FE76400}"/>
              </a:ext>
            </a:extLst>
          </p:cNvPr>
          <p:cNvSpPr>
            <a:spLocks noGrp="1"/>
          </p:cNvSpPr>
          <p:nvPr>
            <p:ph idx="1"/>
          </p:nvPr>
        </p:nvSpPr>
        <p:spPr>
          <a:xfrm>
            <a:off x="238540" y="821635"/>
            <a:ext cx="11492880" cy="5426765"/>
          </a:xfrm>
        </p:spPr>
        <p:txBody>
          <a:bodyPr>
            <a:normAutofit lnSpcReduction="10000"/>
          </a:bodyPr>
          <a:lstStyle/>
          <a:p>
            <a:pPr algn="just"/>
            <a:r>
              <a:rPr lang="en-US" sz="3200" dirty="0"/>
              <a:t>Insulate the body against heat loss.</a:t>
            </a:r>
          </a:p>
          <a:p>
            <a:pPr algn="just"/>
            <a:r>
              <a:rPr lang="en-US" sz="3200" dirty="0"/>
              <a:t>Respired to produce energy in the body</a:t>
            </a:r>
          </a:p>
          <a:p>
            <a:pPr algn="just"/>
            <a:r>
              <a:rPr lang="en-US" sz="3200" dirty="0"/>
              <a:t>Component of cell membranes</a:t>
            </a:r>
          </a:p>
          <a:p>
            <a:pPr algn="just"/>
            <a:r>
              <a:rPr lang="en-US" sz="3200" dirty="0"/>
              <a:t>Source of metabolic water to desert animals</a:t>
            </a:r>
          </a:p>
          <a:p>
            <a:pPr algn="just"/>
            <a:r>
              <a:rPr lang="en-US" sz="3200" dirty="0"/>
              <a:t>They are energy stores in the body (because excess carbohydrates are converted to fats and stored in adipose tissues under the skin). </a:t>
            </a:r>
          </a:p>
          <a:p>
            <a:pPr algn="just"/>
            <a:r>
              <a:rPr lang="en-US" sz="3200" dirty="0"/>
              <a:t>Solvents for fat soluble vitamins i.e. vitamins A, D, E, K.</a:t>
            </a:r>
          </a:p>
          <a:p>
            <a:pPr marL="0" indent="0" algn="just">
              <a:buNone/>
            </a:pPr>
            <a:r>
              <a:rPr lang="en-US" sz="3200" b="1" i="1" dirty="0"/>
              <a:t>Note: lipids is the most abundant food hence no deficiency occurs</a:t>
            </a:r>
          </a:p>
          <a:p>
            <a:pPr marL="0" indent="0">
              <a:buNone/>
            </a:pPr>
            <a:endParaRPr lang="en-US" dirty="0"/>
          </a:p>
        </p:txBody>
      </p:sp>
    </p:spTree>
    <p:extLst>
      <p:ext uri="{BB962C8B-B14F-4D97-AF65-F5344CB8AC3E}">
        <p14:creationId xmlns:p14="http://schemas.microsoft.com/office/powerpoint/2010/main" val="39731697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3A88C-FE6F-2617-FFA4-CF5E09B7E8CD}"/>
              </a:ext>
            </a:extLst>
          </p:cNvPr>
          <p:cNvSpPr>
            <a:spLocks noGrp="1"/>
          </p:cNvSpPr>
          <p:nvPr>
            <p:ph type="title"/>
          </p:nvPr>
        </p:nvSpPr>
        <p:spPr/>
        <p:txBody>
          <a:bodyPr/>
          <a:lstStyle/>
          <a:p>
            <a:r>
              <a:rPr lang="en-US" dirty="0"/>
              <a:t>4. </a:t>
            </a:r>
            <a:r>
              <a:rPr lang="en-US" b="1" u="sng" dirty="0"/>
              <a:t>Vitamins</a:t>
            </a:r>
          </a:p>
        </p:txBody>
      </p:sp>
      <p:sp>
        <p:nvSpPr>
          <p:cNvPr id="3" name="Content Placeholder 2">
            <a:extLst>
              <a:ext uri="{FF2B5EF4-FFF2-40B4-BE49-F238E27FC236}">
                <a16:creationId xmlns:a16="http://schemas.microsoft.com/office/drawing/2014/main" id="{D0EC4C9F-3A2A-E218-1374-94D03056A42F}"/>
              </a:ext>
            </a:extLst>
          </p:cNvPr>
          <p:cNvSpPr>
            <a:spLocks noGrp="1"/>
          </p:cNvSpPr>
          <p:nvPr>
            <p:ph idx="1"/>
          </p:nvPr>
        </p:nvSpPr>
        <p:spPr>
          <a:xfrm>
            <a:off x="159026" y="1338470"/>
            <a:ext cx="11502887" cy="5300869"/>
          </a:xfrm>
        </p:spPr>
        <p:txBody>
          <a:bodyPr>
            <a:normAutofit fontScale="62500" lnSpcReduction="20000"/>
          </a:bodyPr>
          <a:lstStyle/>
          <a:p>
            <a:pPr algn="just">
              <a:lnSpc>
                <a:spcPct val="120000"/>
              </a:lnSpc>
            </a:pPr>
            <a:r>
              <a:rPr lang="en-US" sz="5100" dirty="0"/>
              <a:t>These are organic compounds required in small quantities for proper functioning of the body.</a:t>
            </a:r>
          </a:p>
          <a:p>
            <a:pPr algn="just">
              <a:lnSpc>
                <a:spcPct val="120000"/>
              </a:lnSpc>
            </a:pPr>
            <a:r>
              <a:rPr lang="en-US" sz="5100" dirty="0"/>
              <a:t>Are classified into two:</a:t>
            </a:r>
          </a:p>
          <a:p>
            <a:pPr marL="0" indent="0" algn="just">
              <a:lnSpc>
                <a:spcPct val="120000"/>
              </a:lnSpc>
              <a:buNone/>
            </a:pPr>
            <a:r>
              <a:rPr lang="en-US" sz="5100" dirty="0" err="1"/>
              <a:t>i</a:t>
            </a:r>
            <a:r>
              <a:rPr lang="en-US" sz="5100" dirty="0"/>
              <a:t>)	</a:t>
            </a:r>
            <a:r>
              <a:rPr lang="en-US" sz="5100" b="1" dirty="0"/>
              <a:t>Water soluble vitamins: </a:t>
            </a:r>
            <a:r>
              <a:rPr lang="en-US" sz="5100" dirty="0"/>
              <a:t>dissolve in water e.g. Vitamin B and C.</a:t>
            </a:r>
          </a:p>
          <a:p>
            <a:pPr marL="1028700" indent="-1028700" algn="just">
              <a:lnSpc>
                <a:spcPct val="120000"/>
              </a:lnSpc>
              <a:buAutoNum type="romanLcParenR" startAt="2"/>
            </a:pPr>
            <a:r>
              <a:rPr lang="en-US" sz="5100" b="1" dirty="0"/>
              <a:t>Fat soluble vitamins: </a:t>
            </a:r>
            <a:r>
              <a:rPr lang="en-US" sz="5100" dirty="0"/>
              <a:t>dissolve in fats but not in water i.e. Vitamins A, D, E, and K.</a:t>
            </a:r>
          </a:p>
          <a:p>
            <a:pPr algn="just">
              <a:lnSpc>
                <a:spcPct val="120000"/>
              </a:lnSpc>
            </a:pPr>
            <a:r>
              <a:rPr lang="en-US" sz="5100" b="1" dirty="0"/>
              <a:t>Major food sources: </a:t>
            </a:r>
            <a:r>
              <a:rPr lang="en-US" sz="5100" dirty="0"/>
              <a:t>fruits and vegetables, unpolished cereals, eggs, milk, liver.</a:t>
            </a:r>
          </a:p>
          <a:p>
            <a:endParaRPr lang="en-US" dirty="0"/>
          </a:p>
        </p:txBody>
      </p:sp>
    </p:spTree>
    <p:extLst>
      <p:ext uri="{BB962C8B-B14F-4D97-AF65-F5344CB8AC3E}">
        <p14:creationId xmlns:p14="http://schemas.microsoft.com/office/powerpoint/2010/main" val="310252513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77540-1D0B-8254-DA14-864A24F416CB}"/>
              </a:ext>
            </a:extLst>
          </p:cNvPr>
          <p:cNvSpPr>
            <a:spLocks noGrp="1"/>
          </p:cNvSpPr>
          <p:nvPr>
            <p:ph type="title"/>
          </p:nvPr>
        </p:nvSpPr>
        <p:spPr/>
        <p:txBody>
          <a:bodyPr/>
          <a:lstStyle/>
          <a:p>
            <a:r>
              <a:rPr lang="en-US" dirty="0"/>
              <a:t>Research:</a:t>
            </a:r>
          </a:p>
        </p:txBody>
      </p:sp>
      <p:graphicFrame>
        <p:nvGraphicFramePr>
          <p:cNvPr id="4" name="Table 4">
            <a:extLst>
              <a:ext uri="{FF2B5EF4-FFF2-40B4-BE49-F238E27FC236}">
                <a16:creationId xmlns:a16="http://schemas.microsoft.com/office/drawing/2014/main" id="{4A3AF2E2-C06C-9F8E-895E-F889224DC358}"/>
              </a:ext>
            </a:extLst>
          </p:cNvPr>
          <p:cNvGraphicFramePr>
            <a:graphicFrameLocks noGrp="1"/>
          </p:cNvGraphicFramePr>
          <p:nvPr>
            <p:ph idx="1"/>
            <p:extLst>
              <p:ext uri="{D42A27DB-BD31-4B8C-83A1-F6EECF244321}">
                <p14:modId xmlns:p14="http://schemas.microsoft.com/office/powerpoint/2010/main" val="365940566"/>
              </p:ext>
            </p:extLst>
          </p:nvPr>
        </p:nvGraphicFramePr>
        <p:xfrm>
          <a:off x="646111" y="1853248"/>
          <a:ext cx="10899780" cy="2750514"/>
        </p:xfrm>
        <a:graphic>
          <a:graphicData uri="http://schemas.openxmlformats.org/drawingml/2006/table">
            <a:tbl>
              <a:tblPr firstRow="1" bandRow="1">
                <a:tableStyleId>{5C22544A-7EE6-4342-B048-85BDC9FD1C3A}</a:tableStyleId>
              </a:tblPr>
              <a:tblGrid>
                <a:gridCol w="2724945">
                  <a:extLst>
                    <a:ext uri="{9D8B030D-6E8A-4147-A177-3AD203B41FA5}">
                      <a16:colId xmlns:a16="http://schemas.microsoft.com/office/drawing/2014/main" val="4210938389"/>
                    </a:ext>
                  </a:extLst>
                </a:gridCol>
                <a:gridCol w="2724945">
                  <a:extLst>
                    <a:ext uri="{9D8B030D-6E8A-4147-A177-3AD203B41FA5}">
                      <a16:colId xmlns:a16="http://schemas.microsoft.com/office/drawing/2014/main" val="1968466171"/>
                    </a:ext>
                  </a:extLst>
                </a:gridCol>
                <a:gridCol w="2724945">
                  <a:extLst>
                    <a:ext uri="{9D8B030D-6E8A-4147-A177-3AD203B41FA5}">
                      <a16:colId xmlns:a16="http://schemas.microsoft.com/office/drawing/2014/main" val="3139766858"/>
                    </a:ext>
                  </a:extLst>
                </a:gridCol>
                <a:gridCol w="2724945">
                  <a:extLst>
                    <a:ext uri="{9D8B030D-6E8A-4147-A177-3AD203B41FA5}">
                      <a16:colId xmlns:a16="http://schemas.microsoft.com/office/drawing/2014/main" val="462260949"/>
                    </a:ext>
                  </a:extLst>
                </a:gridCol>
              </a:tblGrid>
              <a:tr h="1196034">
                <a:tc>
                  <a:txBody>
                    <a:bodyPr/>
                    <a:lstStyle/>
                    <a:p>
                      <a:r>
                        <a:rPr lang="en-US" sz="3200" dirty="0"/>
                        <a:t>Vitamin</a:t>
                      </a:r>
                    </a:p>
                  </a:txBody>
                  <a:tcPr/>
                </a:tc>
                <a:tc>
                  <a:txBody>
                    <a:bodyPr/>
                    <a:lstStyle/>
                    <a:p>
                      <a:r>
                        <a:rPr lang="en-US" sz="3200" dirty="0"/>
                        <a:t>Food source</a:t>
                      </a:r>
                    </a:p>
                  </a:txBody>
                  <a:tcPr/>
                </a:tc>
                <a:tc>
                  <a:txBody>
                    <a:bodyPr/>
                    <a:lstStyle/>
                    <a:p>
                      <a:r>
                        <a:rPr lang="en-US" sz="3200" dirty="0"/>
                        <a:t>Functions </a:t>
                      </a:r>
                    </a:p>
                  </a:txBody>
                  <a:tcPr/>
                </a:tc>
                <a:tc>
                  <a:txBody>
                    <a:bodyPr/>
                    <a:lstStyle/>
                    <a:p>
                      <a:r>
                        <a:rPr lang="en-US" sz="3200" dirty="0"/>
                        <a:t>Deficiency </a:t>
                      </a:r>
                    </a:p>
                  </a:txBody>
                  <a:tcPr/>
                </a:tc>
                <a:extLst>
                  <a:ext uri="{0D108BD9-81ED-4DB2-BD59-A6C34878D82A}">
                    <a16:rowId xmlns:a16="http://schemas.microsoft.com/office/drawing/2014/main" val="1710969804"/>
                  </a:ext>
                </a:extLst>
              </a:tr>
              <a:tr h="649276">
                <a:tc>
                  <a:txBody>
                    <a:bodyPr/>
                    <a:lstStyle/>
                    <a:p>
                      <a:r>
                        <a:rPr lang="en-US" sz="3200" dirty="0"/>
                        <a:t>K</a:t>
                      </a:r>
                    </a:p>
                  </a:txBody>
                  <a:tcPr/>
                </a:tc>
                <a:tc>
                  <a:txBody>
                    <a:bodyPr/>
                    <a:lstStyle/>
                    <a:p>
                      <a:r>
                        <a:rPr lang="en-US" sz="3200" dirty="0"/>
                        <a:t>Cabbage, spinach</a:t>
                      </a:r>
                    </a:p>
                  </a:txBody>
                  <a:tcPr/>
                </a:tc>
                <a:tc>
                  <a:txBody>
                    <a:bodyPr/>
                    <a:lstStyle/>
                    <a:p>
                      <a:r>
                        <a:rPr lang="en-US" sz="3200" dirty="0"/>
                        <a:t>Normal blood clotting</a:t>
                      </a:r>
                    </a:p>
                  </a:txBody>
                  <a:tcPr/>
                </a:tc>
                <a:tc>
                  <a:txBody>
                    <a:bodyPr/>
                    <a:lstStyle/>
                    <a:p>
                      <a:r>
                        <a:rPr lang="en-US" sz="3200" dirty="0"/>
                        <a:t>Prolonged bleeding</a:t>
                      </a:r>
                    </a:p>
                  </a:txBody>
                  <a:tcPr/>
                </a:tc>
                <a:extLst>
                  <a:ext uri="{0D108BD9-81ED-4DB2-BD59-A6C34878D82A}">
                    <a16:rowId xmlns:a16="http://schemas.microsoft.com/office/drawing/2014/main" val="1649591641"/>
                  </a:ext>
                </a:extLst>
              </a:tr>
            </a:tbl>
          </a:graphicData>
        </a:graphic>
      </p:graphicFrame>
    </p:spTree>
    <p:extLst>
      <p:ext uri="{BB962C8B-B14F-4D97-AF65-F5344CB8AC3E}">
        <p14:creationId xmlns:p14="http://schemas.microsoft.com/office/powerpoint/2010/main" val="28130825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4C808-2B25-5C72-8287-061F1BA355B0}"/>
              </a:ext>
            </a:extLst>
          </p:cNvPr>
          <p:cNvSpPr>
            <a:spLocks noGrp="1"/>
          </p:cNvSpPr>
          <p:nvPr>
            <p:ph type="title"/>
          </p:nvPr>
        </p:nvSpPr>
        <p:spPr>
          <a:xfrm>
            <a:off x="646111" y="41906"/>
            <a:ext cx="11108567" cy="766477"/>
          </a:xfrm>
        </p:spPr>
        <p:txBody>
          <a:bodyPr/>
          <a:lstStyle/>
          <a:p>
            <a:r>
              <a:rPr lang="en-US" dirty="0"/>
              <a:t>5. </a:t>
            </a:r>
            <a:r>
              <a:rPr lang="en-US" b="1" u="sng" dirty="0"/>
              <a:t>Mineral salts or mineral ions</a:t>
            </a:r>
            <a:r>
              <a:rPr lang="en-US" dirty="0"/>
              <a:t/>
            </a:r>
            <a:br>
              <a:rPr lang="en-US" dirty="0"/>
            </a:br>
            <a:endParaRPr lang="en-US" dirty="0"/>
          </a:p>
        </p:txBody>
      </p:sp>
      <p:sp>
        <p:nvSpPr>
          <p:cNvPr id="3" name="Content Placeholder 2">
            <a:extLst>
              <a:ext uri="{FF2B5EF4-FFF2-40B4-BE49-F238E27FC236}">
                <a16:creationId xmlns:a16="http://schemas.microsoft.com/office/drawing/2014/main" id="{CC0A70C2-6C39-B190-0B49-D64BF8DE9576}"/>
              </a:ext>
            </a:extLst>
          </p:cNvPr>
          <p:cNvSpPr>
            <a:spLocks noGrp="1"/>
          </p:cNvSpPr>
          <p:nvPr>
            <p:ph idx="1"/>
          </p:nvPr>
        </p:nvSpPr>
        <p:spPr>
          <a:xfrm>
            <a:off x="0" y="993913"/>
            <a:ext cx="11860696" cy="5353878"/>
          </a:xfrm>
        </p:spPr>
        <p:txBody>
          <a:bodyPr>
            <a:normAutofit/>
          </a:bodyPr>
          <a:lstStyle/>
          <a:p>
            <a:pPr marL="0" indent="0" algn="just">
              <a:buNone/>
            </a:pPr>
            <a:r>
              <a:rPr lang="en-US" sz="3200" dirty="0"/>
              <a:t>(a) Macro-elements</a:t>
            </a:r>
          </a:p>
          <a:p>
            <a:pPr algn="just"/>
            <a:r>
              <a:rPr lang="en-US" sz="3200" dirty="0"/>
              <a:t>They are required by the body in large quantities. E.g. nitrogen, </a:t>
            </a:r>
            <a:r>
              <a:rPr lang="en-US" sz="3200" dirty="0" err="1"/>
              <a:t>sulphur</a:t>
            </a:r>
            <a:r>
              <a:rPr lang="en-US" sz="3200" dirty="0"/>
              <a:t>, Calcium, Phosphorus, Sodium, Potassium, Iron and magnesium.</a:t>
            </a:r>
          </a:p>
          <a:p>
            <a:pPr marL="0" indent="0" algn="just">
              <a:buNone/>
            </a:pPr>
            <a:r>
              <a:rPr lang="en-US" sz="3200" dirty="0"/>
              <a:t>(b) Microelements/trace elements</a:t>
            </a:r>
          </a:p>
          <a:p>
            <a:pPr algn="just"/>
            <a:r>
              <a:rPr lang="en-US" sz="3200" dirty="0"/>
              <a:t> They are needed in small quantities by organisms. E.g. Zinc, Cobalt, Manganese, Boron, chlorine.</a:t>
            </a:r>
          </a:p>
          <a:p>
            <a:pPr algn="just"/>
            <a:r>
              <a:rPr lang="en-US" sz="3200" dirty="0"/>
              <a:t>Major food sources for mineral salts include: Fruits, vegetables, liver, eggs, table salt.</a:t>
            </a:r>
          </a:p>
          <a:p>
            <a:endParaRPr lang="en-US" dirty="0"/>
          </a:p>
        </p:txBody>
      </p:sp>
    </p:spTree>
    <p:extLst>
      <p:ext uri="{BB962C8B-B14F-4D97-AF65-F5344CB8AC3E}">
        <p14:creationId xmlns:p14="http://schemas.microsoft.com/office/powerpoint/2010/main" val="195325938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48E7E-488D-A0B3-AF35-414C12B0C90D}"/>
              </a:ext>
            </a:extLst>
          </p:cNvPr>
          <p:cNvSpPr>
            <a:spLocks noGrp="1"/>
          </p:cNvSpPr>
          <p:nvPr>
            <p:ph type="title"/>
          </p:nvPr>
        </p:nvSpPr>
        <p:spPr>
          <a:xfrm>
            <a:off x="646111" y="-64160"/>
            <a:ext cx="9404723" cy="1400530"/>
          </a:xfrm>
        </p:spPr>
        <p:txBody>
          <a:bodyPr/>
          <a:lstStyle/>
          <a:p>
            <a:r>
              <a:rPr lang="en-US" dirty="0"/>
              <a:t>6. </a:t>
            </a:r>
            <a:r>
              <a:rPr lang="en-US" b="1" u="sng" dirty="0"/>
              <a:t>Water</a:t>
            </a:r>
            <a:r>
              <a:rPr lang="en-US" dirty="0"/>
              <a:t/>
            </a:r>
            <a:br>
              <a:rPr lang="en-US" dirty="0"/>
            </a:br>
            <a:endParaRPr lang="en-US" dirty="0"/>
          </a:p>
        </p:txBody>
      </p:sp>
      <p:sp>
        <p:nvSpPr>
          <p:cNvPr id="3" name="Content Placeholder 2">
            <a:extLst>
              <a:ext uri="{FF2B5EF4-FFF2-40B4-BE49-F238E27FC236}">
                <a16:creationId xmlns:a16="http://schemas.microsoft.com/office/drawing/2014/main" id="{C045E1FA-E181-35CA-FC5B-C08277C91D58}"/>
              </a:ext>
            </a:extLst>
          </p:cNvPr>
          <p:cNvSpPr>
            <a:spLocks noGrp="1"/>
          </p:cNvSpPr>
          <p:nvPr>
            <p:ph idx="1"/>
          </p:nvPr>
        </p:nvSpPr>
        <p:spPr>
          <a:xfrm>
            <a:off x="0" y="596348"/>
            <a:ext cx="12059478" cy="6122503"/>
          </a:xfrm>
        </p:spPr>
        <p:txBody>
          <a:bodyPr>
            <a:noAutofit/>
          </a:bodyPr>
          <a:lstStyle/>
          <a:p>
            <a:pPr algn="just"/>
            <a:r>
              <a:rPr lang="en-US" sz="2800" dirty="0"/>
              <a:t>Water is made up of elements hydrogen and oxygen.</a:t>
            </a:r>
          </a:p>
          <a:p>
            <a:pPr algn="just"/>
            <a:r>
              <a:rPr lang="en-US" sz="2800" dirty="0"/>
              <a:t>It is a </a:t>
            </a:r>
            <a:r>
              <a:rPr lang="en-US" sz="2800" b="1" u="sng" dirty="0"/>
              <a:t>universal solvent</a:t>
            </a:r>
            <a:r>
              <a:rPr lang="en-US" sz="2800" dirty="0"/>
              <a:t> because it dissolves most nutrients (for transportation).</a:t>
            </a:r>
          </a:p>
          <a:p>
            <a:pPr marL="0" indent="0" algn="just">
              <a:buNone/>
            </a:pPr>
            <a:r>
              <a:rPr lang="en-US" sz="2800" b="1" u="sng" dirty="0"/>
              <a:t>Importance of water to plants</a:t>
            </a:r>
            <a:r>
              <a:rPr lang="en-US" sz="2800" dirty="0"/>
              <a:t>	</a:t>
            </a:r>
          </a:p>
          <a:p>
            <a:pPr algn="just"/>
            <a:r>
              <a:rPr lang="en-US" sz="2800" dirty="0"/>
              <a:t>Raw material for photosynthesis</a:t>
            </a:r>
          </a:p>
          <a:p>
            <a:pPr algn="just"/>
            <a:r>
              <a:rPr lang="en-US" sz="2800" dirty="0"/>
              <a:t>Cools plants during hot day by evaporating with some heat</a:t>
            </a:r>
          </a:p>
          <a:p>
            <a:pPr algn="just"/>
            <a:r>
              <a:rPr lang="en-US" sz="2800" dirty="0"/>
              <a:t>Dissolves mineral salts and transport them to other parts of the plants</a:t>
            </a:r>
          </a:p>
          <a:p>
            <a:pPr algn="just"/>
            <a:r>
              <a:rPr lang="en-US" sz="2800" dirty="0"/>
              <a:t>Dissolves manufactured food and transport it from leaves to other parts of the plant.</a:t>
            </a:r>
          </a:p>
          <a:p>
            <a:pPr algn="just"/>
            <a:r>
              <a:rPr lang="en-US" sz="2800" dirty="0"/>
              <a:t>Used in germination of seeds</a:t>
            </a:r>
          </a:p>
          <a:p>
            <a:pPr algn="just"/>
            <a:r>
              <a:rPr lang="en-US" sz="2800" dirty="0"/>
              <a:t>Important in fruits and seeds dispersal</a:t>
            </a:r>
          </a:p>
          <a:p>
            <a:pPr algn="just"/>
            <a:endParaRPr lang="en-US" sz="2800" dirty="0"/>
          </a:p>
        </p:txBody>
      </p:sp>
    </p:spTree>
    <p:extLst>
      <p:ext uri="{BB962C8B-B14F-4D97-AF65-F5344CB8AC3E}">
        <p14:creationId xmlns:p14="http://schemas.microsoft.com/office/powerpoint/2010/main" val="219941159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533FD-AE2F-0640-C462-79B6072B5AE5}"/>
              </a:ext>
            </a:extLst>
          </p:cNvPr>
          <p:cNvSpPr>
            <a:spLocks noGrp="1"/>
          </p:cNvSpPr>
          <p:nvPr>
            <p:ph type="title"/>
          </p:nvPr>
        </p:nvSpPr>
        <p:spPr>
          <a:xfrm>
            <a:off x="539113" y="291549"/>
            <a:ext cx="9404723" cy="1166191"/>
          </a:xfrm>
        </p:spPr>
        <p:txBody>
          <a:bodyPr/>
          <a:lstStyle/>
          <a:p>
            <a:r>
              <a:rPr lang="en-US" b="1" dirty="0"/>
              <a:t>Importance of water to animals</a:t>
            </a:r>
            <a:r>
              <a:rPr lang="en-US" dirty="0"/>
              <a:t/>
            </a:r>
            <a:br>
              <a:rPr lang="en-US" dirty="0"/>
            </a:br>
            <a:endParaRPr lang="en-US" dirty="0"/>
          </a:p>
        </p:txBody>
      </p:sp>
      <p:sp>
        <p:nvSpPr>
          <p:cNvPr id="3" name="Content Placeholder 2">
            <a:extLst>
              <a:ext uri="{FF2B5EF4-FFF2-40B4-BE49-F238E27FC236}">
                <a16:creationId xmlns:a16="http://schemas.microsoft.com/office/drawing/2014/main" id="{AAE244C6-6669-26CD-F8A5-9EC9CD6E6979}"/>
              </a:ext>
            </a:extLst>
          </p:cNvPr>
          <p:cNvSpPr>
            <a:spLocks noGrp="1"/>
          </p:cNvSpPr>
          <p:nvPr>
            <p:ph idx="1"/>
          </p:nvPr>
        </p:nvSpPr>
        <p:spPr>
          <a:xfrm>
            <a:off x="119270" y="1020422"/>
            <a:ext cx="11940208" cy="5698430"/>
          </a:xfrm>
        </p:spPr>
        <p:txBody>
          <a:bodyPr>
            <a:normAutofit/>
          </a:bodyPr>
          <a:lstStyle/>
          <a:p>
            <a:pPr algn="just">
              <a:lnSpc>
                <a:spcPct val="150000"/>
              </a:lnSpc>
            </a:pPr>
            <a:r>
              <a:rPr lang="en-US" sz="3200" dirty="0"/>
              <a:t>Cools the body of animal through evaporation, sweating in humans, and panting in dogs</a:t>
            </a:r>
          </a:p>
          <a:p>
            <a:pPr algn="just">
              <a:lnSpc>
                <a:spcPct val="150000"/>
              </a:lnSpc>
            </a:pPr>
            <a:r>
              <a:rPr lang="en-US" sz="3200" dirty="0"/>
              <a:t>Solvent that dissolves digested foods</a:t>
            </a:r>
          </a:p>
          <a:p>
            <a:pPr algn="just">
              <a:lnSpc>
                <a:spcPct val="150000"/>
              </a:lnSpc>
            </a:pPr>
            <a:r>
              <a:rPr lang="en-US" sz="3200" dirty="0"/>
              <a:t>Medium for transporting various secretions and substances around the body</a:t>
            </a:r>
          </a:p>
          <a:p>
            <a:pPr algn="just">
              <a:lnSpc>
                <a:spcPct val="150000"/>
              </a:lnSpc>
            </a:pPr>
            <a:r>
              <a:rPr lang="en-US" sz="3200" dirty="0"/>
              <a:t>Used for excreting waste products by kidney </a:t>
            </a:r>
            <a:r>
              <a:rPr lang="en-US" sz="3200" dirty="0" err="1"/>
              <a:t>eg</a:t>
            </a:r>
            <a:r>
              <a:rPr lang="en-US" sz="3200" dirty="0"/>
              <a:t> urea in urine</a:t>
            </a:r>
          </a:p>
          <a:p>
            <a:pPr marL="0" indent="0" algn="just">
              <a:buNone/>
            </a:pPr>
            <a:endParaRPr lang="en-US" sz="3200" dirty="0"/>
          </a:p>
          <a:p>
            <a:endParaRPr lang="en-US" dirty="0"/>
          </a:p>
        </p:txBody>
      </p:sp>
    </p:spTree>
    <p:extLst>
      <p:ext uri="{BB962C8B-B14F-4D97-AF65-F5344CB8AC3E}">
        <p14:creationId xmlns:p14="http://schemas.microsoft.com/office/powerpoint/2010/main" val="317178826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93ECC7-5775-BDCE-22C7-58AC2F03D93F}"/>
              </a:ext>
            </a:extLst>
          </p:cNvPr>
          <p:cNvSpPr>
            <a:spLocks noGrp="1"/>
          </p:cNvSpPr>
          <p:nvPr>
            <p:ph idx="1"/>
          </p:nvPr>
        </p:nvSpPr>
        <p:spPr>
          <a:xfrm>
            <a:off x="410818" y="276239"/>
            <a:ext cx="11622156" cy="6310091"/>
          </a:xfrm>
        </p:spPr>
        <p:txBody>
          <a:bodyPr>
            <a:noAutofit/>
          </a:bodyPr>
          <a:lstStyle/>
          <a:p>
            <a:pPr algn="just">
              <a:lnSpc>
                <a:spcPct val="150000"/>
              </a:lnSpc>
            </a:pPr>
            <a:r>
              <a:rPr lang="en-US" sz="3200" dirty="0"/>
              <a:t>Forms various secretions in the body like gastric juice, pancreatic juice, hormones and enzymes</a:t>
            </a:r>
          </a:p>
          <a:p>
            <a:pPr algn="just">
              <a:lnSpc>
                <a:spcPct val="150000"/>
              </a:lnSpc>
            </a:pPr>
            <a:r>
              <a:rPr lang="en-US" sz="3200" dirty="0"/>
              <a:t>Provides turgidity of hydrostatic skeleton in some organisms.</a:t>
            </a:r>
          </a:p>
          <a:p>
            <a:pPr algn="just">
              <a:lnSpc>
                <a:spcPct val="150000"/>
              </a:lnSpc>
            </a:pPr>
            <a:r>
              <a:rPr lang="en-US" sz="3200" dirty="0"/>
              <a:t>Lubricates joints and the eyes.</a:t>
            </a:r>
          </a:p>
          <a:p>
            <a:pPr algn="just">
              <a:lnSpc>
                <a:spcPct val="150000"/>
              </a:lnSpc>
            </a:pPr>
            <a:r>
              <a:rPr lang="en-US" sz="3200" dirty="0"/>
              <a:t>Formation of plasma fluid.</a:t>
            </a:r>
          </a:p>
          <a:p>
            <a:pPr algn="just">
              <a:lnSpc>
                <a:spcPct val="150000"/>
              </a:lnSpc>
            </a:pPr>
            <a:r>
              <a:rPr lang="en-US" sz="3200" dirty="0"/>
              <a:t>Many animals and birds use it to wash away ectoparasites.</a:t>
            </a:r>
          </a:p>
        </p:txBody>
      </p:sp>
    </p:spTree>
    <p:extLst>
      <p:ext uri="{BB962C8B-B14F-4D97-AF65-F5344CB8AC3E}">
        <p14:creationId xmlns:p14="http://schemas.microsoft.com/office/powerpoint/2010/main" val="106031532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7BC17-AE62-008D-AE63-B6EC2F2F8A58}"/>
              </a:ext>
            </a:extLst>
          </p:cNvPr>
          <p:cNvSpPr>
            <a:spLocks noGrp="1"/>
          </p:cNvSpPr>
          <p:nvPr>
            <p:ph type="title"/>
          </p:nvPr>
        </p:nvSpPr>
        <p:spPr>
          <a:xfrm>
            <a:off x="646111" y="452718"/>
            <a:ext cx="10419454" cy="912256"/>
          </a:xfrm>
        </p:spPr>
        <p:txBody>
          <a:bodyPr/>
          <a:lstStyle/>
          <a:p>
            <a:r>
              <a:rPr lang="en-US" dirty="0"/>
              <a:t>7</a:t>
            </a:r>
            <a:r>
              <a:rPr lang="en-US" b="1" dirty="0"/>
              <a:t>. </a:t>
            </a:r>
            <a:r>
              <a:rPr lang="en-US" b="1" u="sng" dirty="0"/>
              <a:t>Roughages (dietary fiber)</a:t>
            </a:r>
            <a:r>
              <a:rPr lang="en-US" dirty="0"/>
              <a:t/>
            </a:r>
            <a:br>
              <a:rPr lang="en-US" dirty="0"/>
            </a:br>
            <a:endParaRPr lang="en-US" dirty="0"/>
          </a:p>
        </p:txBody>
      </p:sp>
      <p:sp>
        <p:nvSpPr>
          <p:cNvPr id="3" name="Content Placeholder 2">
            <a:extLst>
              <a:ext uri="{FF2B5EF4-FFF2-40B4-BE49-F238E27FC236}">
                <a16:creationId xmlns:a16="http://schemas.microsoft.com/office/drawing/2014/main" id="{C0A4E02B-C8FF-9409-C69E-036C505A634A}"/>
              </a:ext>
            </a:extLst>
          </p:cNvPr>
          <p:cNvSpPr>
            <a:spLocks noGrp="1"/>
          </p:cNvSpPr>
          <p:nvPr>
            <p:ph idx="1"/>
          </p:nvPr>
        </p:nvSpPr>
        <p:spPr>
          <a:xfrm>
            <a:off x="198783" y="1245704"/>
            <a:ext cx="11794433" cy="5261113"/>
          </a:xfrm>
        </p:spPr>
        <p:txBody>
          <a:bodyPr>
            <a:normAutofit/>
          </a:bodyPr>
          <a:lstStyle/>
          <a:p>
            <a:pPr algn="just">
              <a:lnSpc>
                <a:spcPct val="150000"/>
              </a:lnSpc>
            </a:pPr>
            <a:r>
              <a:rPr lang="en-US" sz="3200" dirty="0"/>
              <a:t>It is indigestible.</a:t>
            </a:r>
          </a:p>
          <a:p>
            <a:pPr algn="just">
              <a:lnSpc>
                <a:spcPct val="150000"/>
              </a:lnSpc>
            </a:pPr>
            <a:r>
              <a:rPr lang="en-US" sz="3200" dirty="0"/>
              <a:t>Roughage is made of grain, fruit, roots and vegetable fibers.</a:t>
            </a:r>
          </a:p>
          <a:p>
            <a:pPr algn="just">
              <a:lnSpc>
                <a:spcPct val="150000"/>
              </a:lnSpc>
            </a:pPr>
            <a:r>
              <a:rPr lang="en-US" sz="3200" dirty="0"/>
              <a:t> Roughage adds bulk to the food thereby making digestion easy and avoids constipation.                               </a:t>
            </a:r>
          </a:p>
          <a:p>
            <a:pPr marL="0" indent="0">
              <a:buNone/>
            </a:pPr>
            <a:endParaRPr lang="en-US" dirty="0"/>
          </a:p>
        </p:txBody>
      </p:sp>
    </p:spTree>
    <p:extLst>
      <p:ext uri="{BB962C8B-B14F-4D97-AF65-F5344CB8AC3E}">
        <p14:creationId xmlns:p14="http://schemas.microsoft.com/office/powerpoint/2010/main" val="288226182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D9D12-234E-AFB0-3386-CC804196002E}"/>
              </a:ext>
            </a:extLst>
          </p:cNvPr>
          <p:cNvSpPr>
            <a:spLocks noGrp="1"/>
          </p:cNvSpPr>
          <p:nvPr>
            <p:ph type="title"/>
          </p:nvPr>
        </p:nvSpPr>
        <p:spPr>
          <a:xfrm>
            <a:off x="646111" y="41906"/>
            <a:ext cx="9404723" cy="779729"/>
          </a:xfrm>
        </p:spPr>
        <p:txBody>
          <a:bodyPr/>
          <a:lstStyle/>
          <a:p>
            <a:pPr algn="ctr"/>
            <a:r>
              <a:rPr lang="en-US" b="1" u="sng" dirty="0"/>
              <a:t>Food tests</a:t>
            </a:r>
          </a:p>
        </p:txBody>
      </p:sp>
      <p:sp>
        <p:nvSpPr>
          <p:cNvPr id="3" name="Content Placeholder 2">
            <a:extLst>
              <a:ext uri="{FF2B5EF4-FFF2-40B4-BE49-F238E27FC236}">
                <a16:creationId xmlns:a16="http://schemas.microsoft.com/office/drawing/2014/main" id="{8DF5ECBD-2FD2-8F80-0DA5-745002AD6E9E}"/>
              </a:ext>
            </a:extLst>
          </p:cNvPr>
          <p:cNvSpPr>
            <a:spLocks noGrp="1"/>
          </p:cNvSpPr>
          <p:nvPr>
            <p:ph idx="1"/>
          </p:nvPr>
        </p:nvSpPr>
        <p:spPr>
          <a:xfrm>
            <a:off x="119270" y="1152937"/>
            <a:ext cx="11940208" cy="5552660"/>
          </a:xfrm>
        </p:spPr>
        <p:txBody>
          <a:bodyPr>
            <a:normAutofit/>
          </a:bodyPr>
          <a:lstStyle/>
          <a:p>
            <a:pPr algn="just">
              <a:lnSpc>
                <a:spcPct val="150000"/>
              </a:lnSpc>
            </a:pPr>
            <a:r>
              <a:rPr lang="en-US" sz="3200" dirty="0"/>
              <a:t>These are tests done with specific reagents and following specific procedures to find out whether certain food substance (or nutrient) is present in a given food sample.</a:t>
            </a:r>
          </a:p>
          <a:p>
            <a:pPr algn="just">
              <a:lnSpc>
                <a:spcPct val="150000"/>
              </a:lnSpc>
            </a:pPr>
            <a:r>
              <a:rPr lang="en-US" sz="3200" dirty="0" err="1"/>
              <a:t>Colour</a:t>
            </a:r>
            <a:r>
              <a:rPr lang="en-US" sz="3200" dirty="0"/>
              <a:t> changes are observed and recorded for identification of the food type.</a:t>
            </a:r>
          </a:p>
          <a:p>
            <a:endParaRPr lang="en-US" sz="3200" dirty="0"/>
          </a:p>
        </p:txBody>
      </p:sp>
    </p:spTree>
    <p:extLst>
      <p:ext uri="{BB962C8B-B14F-4D97-AF65-F5344CB8AC3E}">
        <p14:creationId xmlns:p14="http://schemas.microsoft.com/office/powerpoint/2010/main" val="389221256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2992F-C293-C047-F81F-C8088B28692C}"/>
              </a:ext>
            </a:extLst>
          </p:cNvPr>
          <p:cNvSpPr>
            <a:spLocks noGrp="1"/>
          </p:cNvSpPr>
          <p:nvPr>
            <p:ph type="title"/>
          </p:nvPr>
        </p:nvSpPr>
        <p:spPr>
          <a:xfrm>
            <a:off x="742122" y="-24361"/>
            <a:ext cx="9308712" cy="713474"/>
          </a:xfrm>
        </p:spPr>
        <p:txBody>
          <a:bodyPr/>
          <a:lstStyle/>
          <a:p>
            <a:r>
              <a:rPr lang="en-US" dirty="0"/>
              <a:t>Test for carbohydrates </a:t>
            </a:r>
          </a:p>
        </p:txBody>
      </p:sp>
      <p:graphicFrame>
        <p:nvGraphicFramePr>
          <p:cNvPr id="4" name="Table 4">
            <a:extLst>
              <a:ext uri="{FF2B5EF4-FFF2-40B4-BE49-F238E27FC236}">
                <a16:creationId xmlns:a16="http://schemas.microsoft.com/office/drawing/2014/main" id="{4547CA46-390E-B99F-9C81-0D43AD16CE9C}"/>
              </a:ext>
            </a:extLst>
          </p:cNvPr>
          <p:cNvGraphicFramePr>
            <a:graphicFrameLocks noGrp="1"/>
          </p:cNvGraphicFramePr>
          <p:nvPr>
            <p:ph idx="1"/>
            <p:extLst>
              <p:ext uri="{D42A27DB-BD31-4B8C-83A1-F6EECF244321}">
                <p14:modId xmlns:p14="http://schemas.microsoft.com/office/powerpoint/2010/main" val="2190227961"/>
              </p:ext>
            </p:extLst>
          </p:nvPr>
        </p:nvGraphicFramePr>
        <p:xfrm>
          <a:off x="119271" y="689113"/>
          <a:ext cx="11979963" cy="6212619"/>
        </p:xfrm>
        <a:graphic>
          <a:graphicData uri="http://schemas.openxmlformats.org/drawingml/2006/table">
            <a:tbl>
              <a:tblPr firstRow="1" bandRow="1">
                <a:tableStyleId>{5C22544A-7EE6-4342-B048-85BDC9FD1C3A}</a:tableStyleId>
              </a:tblPr>
              <a:tblGrid>
                <a:gridCol w="3993321">
                  <a:extLst>
                    <a:ext uri="{9D8B030D-6E8A-4147-A177-3AD203B41FA5}">
                      <a16:colId xmlns:a16="http://schemas.microsoft.com/office/drawing/2014/main" val="3570073581"/>
                    </a:ext>
                  </a:extLst>
                </a:gridCol>
                <a:gridCol w="3993321">
                  <a:extLst>
                    <a:ext uri="{9D8B030D-6E8A-4147-A177-3AD203B41FA5}">
                      <a16:colId xmlns:a16="http://schemas.microsoft.com/office/drawing/2014/main" val="1916634535"/>
                    </a:ext>
                  </a:extLst>
                </a:gridCol>
                <a:gridCol w="3993321">
                  <a:extLst>
                    <a:ext uri="{9D8B030D-6E8A-4147-A177-3AD203B41FA5}">
                      <a16:colId xmlns:a16="http://schemas.microsoft.com/office/drawing/2014/main" val="3970891884"/>
                    </a:ext>
                  </a:extLst>
                </a:gridCol>
              </a:tblGrid>
              <a:tr h="890706">
                <a:tc>
                  <a:txBody>
                    <a:bodyPr/>
                    <a:lstStyle/>
                    <a:p>
                      <a:pPr marL="0" marR="0" algn="just">
                        <a:lnSpc>
                          <a:spcPct val="115000"/>
                        </a:lnSpc>
                        <a:spcBef>
                          <a:spcPts val="0"/>
                        </a:spcBef>
                        <a:spcAft>
                          <a:spcPts val="0"/>
                        </a:spcAft>
                      </a:pPr>
                      <a:r>
                        <a:rPr lang="en-US" sz="2800" dirty="0">
                          <a:effectLst/>
                          <a:latin typeface="+mn-lt"/>
                          <a:ea typeface="Calibri" panose="020F0502020204030204" pitchFamily="34" charset="0"/>
                          <a:cs typeface="Times New Roman" panose="02020603050405020304" pitchFamily="18" charset="0"/>
                        </a:rPr>
                        <a:t>Test/ procedure</a:t>
                      </a:r>
                    </a:p>
                  </a:txBody>
                  <a:tcPr marL="68580" marR="68580" marT="0" marB="0"/>
                </a:tc>
                <a:tc>
                  <a:txBody>
                    <a:bodyPr/>
                    <a:lstStyle/>
                    <a:p>
                      <a:pPr marL="0" marR="0" algn="just">
                        <a:lnSpc>
                          <a:spcPct val="115000"/>
                        </a:lnSpc>
                        <a:spcBef>
                          <a:spcPts val="0"/>
                        </a:spcBef>
                        <a:spcAft>
                          <a:spcPts val="0"/>
                        </a:spcAft>
                      </a:pPr>
                      <a:r>
                        <a:rPr lang="en-US" sz="2800" dirty="0">
                          <a:effectLst/>
                          <a:latin typeface="+mn-lt"/>
                          <a:ea typeface="Calibri" panose="020F0502020204030204" pitchFamily="34" charset="0"/>
                          <a:cs typeface="Times New Roman" panose="02020603050405020304" pitchFamily="18" charset="0"/>
                        </a:rPr>
                        <a:t>Observation</a:t>
                      </a:r>
                    </a:p>
                  </a:txBody>
                  <a:tcPr marL="68580" marR="68580" marT="0" marB="0"/>
                </a:tc>
                <a:tc>
                  <a:txBody>
                    <a:bodyPr/>
                    <a:lstStyle/>
                    <a:p>
                      <a:pPr marL="0" marR="0" algn="just">
                        <a:lnSpc>
                          <a:spcPct val="115000"/>
                        </a:lnSpc>
                        <a:spcBef>
                          <a:spcPts val="0"/>
                        </a:spcBef>
                        <a:spcAft>
                          <a:spcPts val="0"/>
                        </a:spcAft>
                      </a:pPr>
                      <a:r>
                        <a:rPr lang="en-US" sz="2800" dirty="0">
                          <a:effectLst/>
                          <a:latin typeface="+mn-lt"/>
                          <a:ea typeface="Calibri" panose="020F0502020204030204" pitchFamily="34" charset="0"/>
                          <a:cs typeface="Times New Roman" panose="02020603050405020304" pitchFamily="18" charset="0"/>
                        </a:rPr>
                        <a:t>Conclusion/</a:t>
                      </a:r>
                    </a:p>
                    <a:p>
                      <a:pPr marL="0" marR="0" algn="just">
                        <a:lnSpc>
                          <a:spcPct val="115000"/>
                        </a:lnSpc>
                        <a:spcBef>
                          <a:spcPts val="0"/>
                        </a:spcBef>
                        <a:spcAft>
                          <a:spcPts val="0"/>
                        </a:spcAft>
                      </a:pPr>
                      <a:r>
                        <a:rPr lang="en-US" sz="2800" dirty="0">
                          <a:effectLst/>
                          <a:latin typeface="+mn-lt"/>
                          <a:ea typeface="Calibri" panose="020F0502020204030204" pitchFamily="34" charset="0"/>
                          <a:cs typeface="Times New Roman" panose="02020603050405020304" pitchFamily="18" charset="0"/>
                        </a:rPr>
                        <a:t>Deduction</a:t>
                      </a:r>
                    </a:p>
                  </a:txBody>
                  <a:tcPr marL="68580" marR="68580" marT="0" marB="0"/>
                </a:tc>
                <a:extLst>
                  <a:ext uri="{0D108BD9-81ED-4DB2-BD59-A6C34878D82A}">
                    <a16:rowId xmlns:a16="http://schemas.microsoft.com/office/drawing/2014/main" val="2661216677"/>
                  </a:ext>
                </a:extLst>
              </a:tr>
              <a:tr h="2759473">
                <a:tc>
                  <a:txBody>
                    <a:bodyPr/>
                    <a:lstStyle/>
                    <a:p>
                      <a:pPr marL="0" marR="0" algn="just">
                        <a:lnSpc>
                          <a:spcPct val="115000"/>
                        </a:lnSpc>
                        <a:spcBef>
                          <a:spcPts val="0"/>
                        </a:spcBef>
                        <a:spcAft>
                          <a:spcPts val="0"/>
                        </a:spcAft>
                      </a:pPr>
                      <a:r>
                        <a:rPr lang="en-US" sz="2800" dirty="0">
                          <a:effectLst/>
                          <a:latin typeface="+mn-lt"/>
                          <a:ea typeface="Calibri" panose="020F0502020204030204" pitchFamily="34" charset="0"/>
                          <a:cs typeface="Times New Roman" panose="02020603050405020304" pitchFamily="18" charset="0"/>
                        </a:rPr>
                        <a:t>(a) </a:t>
                      </a:r>
                      <a:r>
                        <a:rPr lang="en-US" sz="2800" u="sng" dirty="0">
                          <a:effectLst/>
                          <a:latin typeface="+mn-lt"/>
                          <a:ea typeface="Calibri" panose="020F0502020204030204" pitchFamily="34" charset="0"/>
                          <a:cs typeface="Times New Roman" panose="02020603050405020304" pitchFamily="18" charset="0"/>
                        </a:rPr>
                        <a:t>Starch</a:t>
                      </a:r>
                      <a:endParaRPr lang="en-US" sz="2800" dirty="0">
                        <a:effectLst/>
                        <a:latin typeface="+mn-lt"/>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sz="2800" dirty="0">
                          <a:effectLst/>
                          <a:latin typeface="+mn-lt"/>
                          <a:ea typeface="Calibri" panose="020F0502020204030204" pitchFamily="34" charset="0"/>
                          <a:cs typeface="Times New Roman" panose="02020603050405020304" pitchFamily="18" charset="0"/>
                        </a:rPr>
                        <a:t>Put 1cm</a:t>
                      </a:r>
                      <a:r>
                        <a:rPr lang="en-US" sz="2800" baseline="30000" dirty="0">
                          <a:effectLst/>
                          <a:latin typeface="+mn-lt"/>
                          <a:ea typeface="Calibri" panose="020F0502020204030204" pitchFamily="34" charset="0"/>
                          <a:cs typeface="Times New Roman" panose="02020603050405020304" pitchFamily="18" charset="0"/>
                        </a:rPr>
                        <a:t>3</a:t>
                      </a:r>
                      <a:r>
                        <a:rPr lang="en-US" sz="2800" dirty="0">
                          <a:effectLst/>
                          <a:latin typeface="+mn-lt"/>
                          <a:ea typeface="Calibri" panose="020F0502020204030204" pitchFamily="34" charset="0"/>
                          <a:cs typeface="Times New Roman" panose="02020603050405020304" pitchFamily="18" charset="0"/>
                        </a:rPr>
                        <a:t> of substance in a test tube and add 2 drops of iodine solution</a:t>
                      </a:r>
                    </a:p>
                  </a:txBody>
                  <a:tcPr marL="114300" marR="114300" marT="0" marB="0"/>
                </a:tc>
                <a:tc>
                  <a:txBody>
                    <a:bodyPr/>
                    <a:lstStyle/>
                    <a:p>
                      <a:pPr marL="0" marR="0" algn="just">
                        <a:lnSpc>
                          <a:spcPct val="115000"/>
                        </a:lnSpc>
                        <a:spcBef>
                          <a:spcPts val="0"/>
                        </a:spcBef>
                        <a:spcAft>
                          <a:spcPts val="0"/>
                        </a:spcAft>
                      </a:pPr>
                      <a:r>
                        <a:rPr lang="en-US" sz="2800" dirty="0">
                          <a:effectLst/>
                          <a:latin typeface="+mn-lt"/>
                          <a:ea typeface="Calibri" panose="020F0502020204030204" pitchFamily="34" charset="0"/>
                          <a:cs typeface="Times New Roman" panose="02020603050405020304" pitchFamily="18" charset="0"/>
                        </a:rPr>
                        <a:t>Turbid/</a:t>
                      </a:r>
                      <a:r>
                        <a:rPr lang="en-US" sz="2800" dirty="0" err="1">
                          <a:effectLst/>
                          <a:latin typeface="+mn-lt"/>
                          <a:ea typeface="Calibri" panose="020F0502020204030204" pitchFamily="34" charset="0"/>
                          <a:cs typeface="Times New Roman" panose="02020603050405020304" pitchFamily="18" charset="0"/>
                        </a:rPr>
                        <a:t>colourless</a:t>
                      </a:r>
                      <a:r>
                        <a:rPr lang="en-US" sz="2800" dirty="0">
                          <a:effectLst/>
                          <a:latin typeface="+mn-lt"/>
                          <a:ea typeface="Calibri" panose="020F0502020204030204" pitchFamily="34" charset="0"/>
                          <a:cs typeface="Times New Roman" panose="02020603050405020304" pitchFamily="18" charset="0"/>
                        </a:rPr>
                        <a:t> solution turns to black or blue-black solution</a:t>
                      </a:r>
                    </a:p>
                  </a:txBody>
                  <a:tcPr marL="68580" marR="68580" marT="0" marB="0"/>
                </a:tc>
                <a:tc>
                  <a:txBody>
                    <a:bodyPr/>
                    <a:lstStyle/>
                    <a:p>
                      <a:pPr marL="0" marR="0" algn="just">
                        <a:lnSpc>
                          <a:spcPct val="115000"/>
                        </a:lnSpc>
                        <a:spcBef>
                          <a:spcPts val="0"/>
                        </a:spcBef>
                        <a:spcAft>
                          <a:spcPts val="0"/>
                        </a:spcAft>
                      </a:pPr>
                      <a:r>
                        <a:rPr lang="en-US" sz="2800" dirty="0">
                          <a:effectLst/>
                          <a:latin typeface="+mn-lt"/>
                          <a:ea typeface="Calibri" panose="020F0502020204030204" pitchFamily="34" charset="0"/>
                          <a:cs typeface="Times New Roman" panose="02020603050405020304" pitchFamily="18" charset="0"/>
                        </a:rPr>
                        <a:t>Starch present</a:t>
                      </a:r>
                    </a:p>
                  </a:txBody>
                  <a:tcPr marL="68580" marR="68580" marT="0" marB="0"/>
                </a:tc>
                <a:extLst>
                  <a:ext uri="{0D108BD9-81ED-4DB2-BD59-A6C34878D82A}">
                    <a16:rowId xmlns:a16="http://schemas.microsoft.com/office/drawing/2014/main" val="2438830814"/>
                  </a:ext>
                </a:extLst>
              </a:tr>
              <a:tr h="2286795">
                <a:tc>
                  <a:txBody>
                    <a:bodyPr/>
                    <a:lstStyle/>
                    <a:p>
                      <a:pPr marL="0" marR="0" algn="just">
                        <a:lnSpc>
                          <a:spcPct val="115000"/>
                        </a:lnSpc>
                        <a:spcBef>
                          <a:spcPts val="0"/>
                        </a:spcBef>
                        <a:spcAft>
                          <a:spcPts val="0"/>
                        </a:spcAft>
                      </a:pPr>
                      <a:endParaRPr lang="en-US" sz="2800" dirty="0">
                        <a:effectLst/>
                        <a:latin typeface="+mn-lt"/>
                        <a:ea typeface="Calibri" panose="020F0502020204030204" pitchFamily="34" charset="0"/>
                        <a:cs typeface="Times New Roman" panose="02020603050405020304" pitchFamily="18" charset="0"/>
                      </a:endParaRPr>
                    </a:p>
                  </a:txBody>
                  <a:tcPr marL="114300" marR="114300" marT="0" marB="0"/>
                </a:tc>
                <a:tc>
                  <a:txBody>
                    <a:bodyPr/>
                    <a:lstStyle/>
                    <a:p>
                      <a:pPr marL="0" marR="0" algn="just">
                        <a:lnSpc>
                          <a:spcPct val="115000"/>
                        </a:lnSpc>
                        <a:spcBef>
                          <a:spcPts val="0"/>
                        </a:spcBef>
                        <a:spcAft>
                          <a:spcPts val="0"/>
                        </a:spcAft>
                      </a:pPr>
                      <a:r>
                        <a:rPr lang="en-US" sz="2800" dirty="0">
                          <a:effectLst/>
                          <a:latin typeface="+mn-lt"/>
                          <a:ea typeface="Calibri" panose="020F0502020204030204" pitchFamily="34" charset="0"/>
                          <a:cs typeface="Times New Roman" panose="02020603050405020304" pitchFamily="18" charset="0"/>
                        </a:rPr>
                        <a:t>Turbid/</a:t>
                      </a:r>
                      <a:r>
                        <a:rPr lang="en-US" sz="2800" dirty="0" err="1">
                          <a:effectLst/>
                          <a:latin typeface="+mn-lt"/>
                          <a:ea typeface="Calibri" panose="020F0502020204030204" pitchFamily="34" charset="0"/>
                          <a:cs typeface="Times New Roman" panose="02020603050405020304" pitchFamily="18" charset="0"/>
                        </a:rPr>
                        <a:t>colourless</a:t>
                      </a:r>
                      <a:r>
                        <a:rPr lang="en-US" sz="2800" dirty="0">
                          <a:effectLst/>
                          <a:latin typeface="+mn-lt"/>
                          <a:ea typeface="Calibri" panose="020F0502020204030204" pitchFamily="34" charset="0"/>
                          <a:cs typeface="Times New Roman" panose="02020603050405020304" pitchFamily="18" charset="0"/>
                        </a:rPr>
                        <a:t> solution turns to brown solution</a:t>
                      </a:r>
                    </a:p>
                  </a:txBody>
                  <a:tcPr marL="68580" marR="68580" marT="0" marB="0"/>
                </a:tc>
                <a:tc>
                  <a:txBody>
                    <a:bodyPr/>
                    <a:lstStyle/>
                    <a:p>
                      <a:pPr marL="0" marR="0" algn="just">
                        <a:lnSpc>
                          <a:spcPct val="115000"/>
                        </a:lnSpc>
                        <a:spcBef>
                          <a:spcPts val="0"/>
                        </a:spcBef>
                        <a:spcAft>
                          <a:spcPts val="0"/>
                        </a:spcAft>
                      </a:pPr>
                      <a:r>
                        <a:rPr lang="en-US" sz="2800" dirty="0">
                          <a:effectLst/>
                          <a:latin typeface="+mn-lt"/>
                          <a:ea typeface="Calibri" panose="020F0502020204030204" pitchFamily="34" charset="0"/>
                          <a:cs typeface="Times New Roman" panose="02020603050405020304" pitchFamily="18" charset="0"/>
                        </a:rPr>
                        <a:t>Starch absent</a:t>
                      </a:r>
                    </a:p>
                  </a:txBody>
                  <a:tcPr marL="68580" marR="68580" marT="0" marB="0"/>
                </a:tc>
                <a:extLst>
                  <a:ext uri="{0D108BD9-81ED-4DB2-BD59-A6C34878D82A}">
                    <a16:rowId xmlns:a16="http://schemas.microsoft.com/office/drawing/2014/main" val="2766209141"/>
                  </a:ext>
                </a:extLst>
              </a:tr>
            </a:tbl>
          </a:graphicData>
        </a:graphic>
      </p:graphicFrame>
    </p:spTree>
    <p:extLst>
      <p:ext uri="{BB962C8B-B14F-4D97-AF65-F5344CB8AC3E}">
        <p14:creationId xmlns:p14="http://schemas.microsoft.com/office/powerpoint/2010/main" val="340360654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5CE8822E-8462-0480-00E6-C9103EC541BD}"/>
              </a:ext>
            </a:extLst>
          </p:cNvPr>
          <p:cNvGraphicFramePr>
            <a:graphicFrameLocks noGrp="1"/>
          </p:cNvGraphicFramePr>
          <p:nvPr>
            <p:ph idx="1"/>
            <p:extLst>
              <p:ext uri="{D42A27DB-BD31-4B8C-83A1-F6EECF244321}">
                <p14:modId xmlns:p14="http://schemas.microsoft.com/office/powerpoint/2010/main" val="4104860602"/>
              </p:ext>
            </p:extLst>
          </p:nvPr>
        </p:nvGraphicFramePr>
        <p:xfrm>
          <a:off x="92765" y="463827"/>
          <a:ext cx="11993218" cy="6163971"/>
        </p:xfrm>
        <a:graphic>
          <a:graphicData uri="http://schemas.openxmlformats.org/drawingml/2006/table">
            <a:tbl>
              <a:tblPr firstRow="1" firstCol="1" bandRow="1">
                <a:tableStyleId>{5C22544A-7EE6-4342-B048-85BDC9FD1C3A}</a:tableStyleId>
              </a:tblPr>
              <a:tblGrid>
                <a:gridCol w="4356199">
                  <a:extLst>
                    <a:ext uri="{9D8B030D-6E8A-4147-A177-3AD203B41FA5}">
                      <a16:colId xmlns:a16="http://schemas.microsoft.com/office/drawing/2014/main" val="312860536"/>
                    </a:ext>
                  </a:extLst>
                </a:gridCol>
                <a:gridCol w="4356199">
                  <a:extLst>
                    <a:ext uri="{9D8B030D-6E8A-4147-A177-3AD203B41FA5}">
                      <a16:colId xmlns:a16="http://schemas.microsoft.com/office/drawing/2014/main" val="1205255733"/>
                    </a:ext>
                  </a:extLst>
                </a:gridCol>
                <a:gridCol w="3280820">
                  <a:extLst>
                    <a:ext uri="{9D8B030D-6E8A-4147-A177-3AD203B41FA5}">
                      <a16:colId xmlns:a16="http://schemas.microsoft.com/office/drawing/2014/main" val="2755077347"/>
                    </a:ext>
                  </a:extLst>
                </a:gridCol>
              </a:tblGrid>
              <a:tr h="3125711">
                <a:tc rowSpan="2">
                  <a:txBody>
                    <a:bodyPr/>
                    <a:lstStyle/>
                    <a:p>
                      <a:pPr marL="0" marR="0" algn="just">
                        <a:lnSpc>
                          <a:spcPct val="115000"/>
                        </a:lnSpc>
                        <a:spcBef>
                          <a:spcPts val="0"/>
                        </a:spcBef>
                        <a:spcAft>
                          <a:spcPts val="0"/>
                        </a:spcAft>
                      </a:pPr>
                      <a:r>
                        <a:rPr lang="en-US" sz="2800" b="0" dirty="0">
                          <a:effectLst/>
                        </a:rPr>
                        <a:t>(b)</a:t>
                      </a:r>
                      <a:r>
                        <a:rPr lang="en-US" sz="2800" b="0" u="sng" dirty="0">
                          <a:effectLst/>
                        </a:rPr>
                        <a:t>Reducing sugar</a:t>
                      </a:r>
                      <a:endParaRPr lang="en-US" sz="2800" b="0" dirty="0">
                        <a:effectLst/>
                      </a:endParaRPr>
                    </a:p>
                    <a:p>
                      <a:pPr marL="0" marR="0" algn="just">
                        <a:lnSpc>
                          <a:spcPct val="115000"/>
                        </a:lnSpc>
                        <a:spcBef>
                          <a:spcPts val="0"/>
                        </a:spcBef>
                        <a:spcAft>
                          <a:spcPts val="0"/>
                        </a:spcAft>
                      </a:pPr>
                      <a:r>
                        <a:rPr lang="en-US" sz="2800" b="0" dirty="0">
                          <a:effectLst/>
                        </a:rPr>
                        <a:t>Put 1cm</a:t>
                      </a:r>
                      <a:r>
                        <a:rPr lang="en-US" sz="2800" b="0" baseline="30000" dirty="0">
                          <a:effectLst/>
                        </a:rPr>
                        <a:t>3</a:t>
                      </a:r>
                      <a:r>
                        <a:rPr lang="en-US" sz="2800" b="0" dirty="0">
                          <a:effectLst/>
                        </a:rPr>
                        <a:t> of substance in a test tube and add 1cm</a:t>
                      </a:r>
                      <a:r>
                        <a:rPr lang="en-US" sz="2800" b="0" baseline="30000" dirty="0">
                          <a:effectLst/>
                        </a:rPr>
                        <a:t>3</a:t>
                      </a:r>
                      <a:r>
                        <a:rPr lang="en-US" sz="2800" b="0" dirty="0">
                          <a:effectLst/>
                        </a:rPr>
                        <a:t> of Benedict’s / Fehling’s solution and boil</a:t>
                      </a:r>
                      <a:endParaRPr lang="en-US" sz="2800" b="0" dirty="0">
                        <a:effectLst/>
                        <a:latin typeface="Calibri" panose="020F0502020204030204" pitchFamily="34" charset="0"/>
                        <a:ea typeface="Calibri" panose="020F0502020204030204" pitchFamily="34" charset="0"/>
                        <a:cs typeface="Times New Roman" panose="02020603050405020304" pitchFamily="18" charset="0"/>
                      </a:endParaRPr>
                    </a:p>
                  </a:txBody>
                  <a:tcPr marL="42457" marR="42457" marT="0" marB="0"/>
                </a:tc>
                <a:tc>
                  <a:txBody>
                    <a:bodyPr/>
                    <a:lstStyle/>
                    <a:p>
                      <a:pPr marL="0" marR="0" algn="just">
                        <a:lnSpc>
                          <a:spcPct val="115000"/>
                        </a:lnSpc>
                        <a:spcBef>
                          <a:spcPts val="0"/>
                        </a:spcBef>
                        <a:spcAft>
                          <a:spcPts val="0"/>
                        </a:spcAft>
                      </a:pPr>
                      <a:r>
                        <a:rPr lang="en-US" sz="2800" b="0" dirty="0">
                          <a:effectLst/>
                        </a:rPr>
                        <a:t>Turbid/</a:t>
                      </a:r>
                      <a:r>
                        <a:rPr lang="en-US" sz="2800" b="0" dirty="0" err="1">
                          <a:effectLst/>
                        </a:rPr>
                        <a:t>colourless</a:t>
                      </a:r>
                      <a:r>
                        <a:rPr lang="en-US" sz="2800" b="0" dirty="0">
                          <a:effectLst/>
                        </a:rPr>
                        <a:t> solution turns to blue solution, green solution, yellow precipitate, orange precipitate and finally brown or red precipitate.</a:t>
                      </a:r>
                      <a:endParaRPr lang="en-US" sz="2800" b="0" dirty="0">
                        <a:effectLst/>
                        <a:latin typeface="Calibri" panose="020F0502020204030204" pitchFamily="34" charset="0"/>
                        <a:ea typeface="Calibri" panose="020F0502020204030204" pitchFamily="34" charset="0"/>
                        <a:cs typeface="Times New Roman" panose="02020603050405020304" pitchFamily="18" charset="0"/>
                      </a:endParaRPr>
                    </a:p>
                  </a:txBody>
                  <a:tcPr marL="42457" marR="42457" marT="0" marB="0"/>
                </a:tc>
                <a:tc>
                  <a:txBody>
                    <a:bodyPr/>
                    <a:lstStyle/>
                    <a:p>
                      <a:pPr marL="0" marR="0" algn="just">
                        <a:lnSpc>
                          <a:spcPct val="115000"/>
                        </a:lnSpc>
                        <a:spcBef>
                          <a:spcPts val="0"/>
                        </a:spcBef>
                        <a:spcAft>
                          <a:spcPts val="0"/>
                        </a:spcAft>
                      </a:pPr>
                      <a:r>
                        <a:rPr lang="en-US" sz="2800" b="0">
                          <a:effectLst/>
                        </a:rPr>
                        <a:t>Reducing sugar </a:t>
                      </a:r>
                      <a:r>
                        <a:rPr lang="en-US" sz="2800" b="0" dirty="0">
                          <a:effectLst/>
                        </a:rPr>
                        <a:t>present</a:t>
                      </a:r>
                      <a:endParaRPr lang="en-US" sz="2800" b="0" dirty="0">
                        <a:effectLst/>
                        <a:latin typeface="Calibri" panose="020F0502020204030204" pitchFamily="34" charset="0"/>
                        <a:ea typeface="Calibri" panose="020F0502020204030204" pitchFamily="34" charset="0"/>
                        <a:cs typeface="Times New Roman" panose="02020603050405020304" pitchFamily="18" charset="0"/>
                      </a:endParaRPr>
                    </a:p>
                  </a:txBody>
                  <a:tcPr marL="42457" marR="42457" marT="0" marB="0"/>
                </a:tc>
                <a:extLst>
                  <a:ext uri="{0D108BD9-81ED-4DB2-BD59-A6C34878D82A}">
                    <a16:rowId xmlns:a16="http://schemas.microsoft.com/office/drawing/2014/main" val="1599343429"/>
                  </a:ext>
                </a:extLst>
              </a:tr>
              <a:tr h="2728875">
                <a:tc vMerge="1">
                  <a:txBody>
                    <a:bodyPr/>
                    <a:lstStyle/>
                    <a:p>
                      <a:endParaRPr lang="en-US"/>
                    </a:p>
                  </a:txBody>
                  <a:tcPr/>
                </a:tc>
                <a:tc>
                  <a:txBody>
                    <a:bodyPr/>
                    <a:lstStyle/>
                    <a:p>
                      <a:pPr marL="0" marR="0" algn="just">
                        <a:lnSpc>
                          <a:spcPct val="115000"/>
                        </a:lnSpc>
                        <a:spcBef>
                          <a:spcPts val="0"/>
                        </a:spcBef>
                        <a:spcAft>
                          <a:spcPts val="0"/>
                        </a:spcAft>
                      </a:pPr>
                      <a:r>
                        <a:rPr lang="en-US" sz="2800" b="0" dirty="0">
                          <a:effectLst/>
                        </a:rPr>
                        <a:t>Turbid/</a:t>
                      </a:r>
                      <a:r>
                        <a:rPr lang="en-US" sz="2800" b="0" dirty="0" err="1">
                          <a:effectLst/>
                        </a:rPr>
                        <a:t>colourless</a:t>
                      </a:r>
                      <a:r>
                        <a:rPr lang="en-US" sz="2800" b="0" dirty="0">
                          <a:effectLst/>
                        </a:rPr>
                        <a:t> solution turns to blue solution and persists.</a:t>
                      </a:r>
                      <a:endParaRPr lang="en-US" sz="2800" b="0" dirty="0">
                        <a:effectLst/>
                        <a:latin typeface="Calibri" panose="020F0502020204030204" pitchFamily="34" charset="0"/>
                        <a:ea typeface="Calibri" panose="020F0502020204030204" pitchFamily="34" charset="0"/>
                        <a:cs typeface="Times New Roman" panose="02020603050405020304" pitchFamily="18" charset="0"/>
                      </a:endParaRPr>
                    </a:p>
                  </a:txBody>
                  <a:tcPr marL="42457" marR="42457" marT="0" marB="0"/>
                </a:tc>
                <a:tc>
                  <a:txBody>
                    <a:bodyPr/>
                    <a:lstStyle/>
                    <a:p>
                      <a:pPr marL="0" marR="0" algn="just">
                        <a:lnSpc>
                          <a:spcPct val="115000"/>
                        </a:lnSpc>
                        <a:spcBef>
                          <a:spcPts val="0"/>
                        </a:spcBef>
                        <a:spcAft>
                          <a:spcPts val="0"/>
                        </a:spcAft>
                      </a:pPr>
                      <a:r>
                        <a:rPr lang="en-US" sz="2800" b="0" dirty="0">
                          <a:effectLst/>
                        </a:rPr>
                        <a:t>Reducing sugar absent</a:t>
                      </a:r>
                    </a:p>
                    <a:p>
                      <a:pPr marL="0" marR="0" algn="just">
                        <a:lnSpc>
                          <a:spcPct val="115000"/>
                        </a:lnSpc>
                        <a:spcBef>
                          <a:spcPts val="0"/>
                        </a:spcBef>
                        <a:spcAft>
                          <a:spcPts val="0"/>
                        </a:spcAft>
                      </a:pPr>
                      <a:r>
                        <a:rPr lang="en-US" sz="2800" b="0" dirty="0">
                          <a:effectLst/>
                        </a:rPr>
                        <a:t> </a:t>
                      </a:r>
                    </a:p>
                    <a:p>
                      <a:pPr marL="0" marR="0" algn="just">
                        <a:lnSpc>
                          <a:spcPct val="115000"/>
                        </a:lnSpc>
                        <a:spcBef>
                          <a:spcPts val="0"/>
                        </a:spcBef>
                        <a:spcAft>
                          <a:spcPts val="0"/>
                        </a:spcAft>
                      </a:pPr>
                      <a:r>
                        <a:rPr lang="en-US" sz="2800" b="0" dirty="0">
                          <a:effectLst/>
                        </a:rPr>
                        <a:t> </a:t>
                      </a:r>
                    </a:p>
                  </a:txBody>
                  <a:tcPr marL="42457" marR="42457" marT="0" marB="0"/>
                </a:tc>
                <a:extLst>
                  <a:ext uri="{0D108BD9-81ED-4DB2-BD59-A6C34878D82A}">
                    <a16:rowId xmlns:a16="http://schemas.microsoft.com/office/drawing/2014/main" val="2074281749"/>
                  </a:ext>
                </a:extLst>
              </a:tr>
            </a:tbl>
          </a:graphicData>
        </a:graphic>
      </p:graphicFrame>
    </p:spTree>
    <p:extLst>
      <p:ext uri="{BB962C8B-B14F-4D97-AF65-F5344CB8AC3E}">
        <p14:creationId xmlns:p14="http://schemas.microsoft.com/office/powerpoint/2010/main" val="2916653386"/>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DE63AB5-837B-8345-A202-EFD472A1DA7A}"/>
              </a:ext>
            </a:extLst>
          </p:cNvPr>
          <p:cNvGraphicFramePr>
            <a:graphicFrameLocks noGrp="1"/>
          </p:cNvGraphicFramePr>
          <p:nvPr>
            <p:ph idx="1"/>
            <p:extLst>
              <p:ext uri="{D42A27DB-BD31-4B8C-83A1-F6EECF244321}">
                <p14:modId xmlns:p14="http://schemas.microsoft.com/office/powerpoint/2010/main" val="3097309668"/>
              </p:ext>
            </p:extLst>
          </p:nvPr>
        </p:nvGraphicFramePr>
        <p:xfrm>
          <a:off x="159027" y="410817"/>
          <a:ext cx="11781182" cy="5987015"/>
        </p:xfrm>
        <a:graphic>
          <a:graphicData uri="http://schemas.openxmlformats.org/drawingml/2006/table">
            <a:tbl>
              <a:tblPr firstRow="1" firstCol="1" bandRow="1">
                <a:tableStyleId>{5C22544A-7EE6-4342-B048-85BDC9FD1C3A}</a:tableStyleId>
              </a:tblPr>
              <a:tblGrid>
                <a:gridCol w="4279183">
                  <a:extLst>
                    <a:ext uri="{9D8B030D-6E8A-4147-A177-3AD203B41FA5}">
                      <a16:colId xmlns:a16="http://schemas.microsoft.com/office/drawing/2014/main" val="3483394625"/>
                    </a:ext>
                  </a:extLst>
                </a:gridCol>
                <a:gridCol w="4279183">
                  <a:extLst>
                    <a:ext uri="{9D8B030D-6E8A-4147-A177-3AD203B41FA5}">
                      <a16:colId xmlns:a16="http://schemas.microsoft.com/office/drawing/2014/main" val="422118947"/>
                    </a:ext>
                  </a:extLst>
                </a:gridCol>
                <a:gridCol w="3222816">
                  <a:extLst>
                    <a:ext uri="{9D8B030D-6E8A-4147-A177-3AD203B41FA5}">
                      <a16:colId xmlns:a16="http://schemas.microsoft.com/office/drawing/2014/main" val="1697083085"/>
                    </a:ext>
                  </a:extLst>
                </a:gridCol>
              </a:tblGrid>
              <a:tr h="3756514">
                <a:tc rowSpan="2">
                  <a:txBody>
                    <a:bodyPr/>
                    <a:lstStyle/>
                    <a:p>
                      <a:pPr marL="0" marR="0" algn="just">
                        <a:lnSpc>
                          <a:spcPct val="115000"/>
                        </a:lnSpc>
                        <a:spcBef>
                          <a:spcPts val="0"/>
                        </a:spcBef>
                        <a:spcAft>
                          <a:spcPts val="0"/>
                        </a:spcAft>
                      </a:pPr>
                      <a:r>
                        <a:rPr lang="en-US" sz="2800" b="0" dirty="0">
                          <a:effectLst/>
                        </a:rPr>
                        <a:t>(c)</a:t>
                      </a:r>
                      <a:r>
                        <a:rPr lang="en-US" sz="2800" b="0" u="sng" dirty="0">
                          <a:effectLst/>
                        </a:rPr>
                        <a:t>Non-reducing sugar</a:t>
                      </a:r>
                      <a:endParaRPr lang="en-US" sz="2800" b="0" dirty="0">
                        <a:effectLst/>
                      </a:endParaRPr>
                    </a:p>
                    <a:p>
                      <a:pPr marL="0" marR="0" algn="just">
                        <a:lnSpc>
                          <a:spcPct val="115000"/>
                        </a:lnSpc>
                        <a:spcBef>
                          <a:spcPts val="0"/>
                        </a:spcBef>
                        <a:spcAft>
                          <a:spcPts val="0"/>
                        </a:spcAft>
                      </a:pPr>
                      <a:r>
                        <a:rPr lang="en-US" sz="2800" b="0" dirty="0">
                          <a:effectLst/>
                        </a:rPr>
                        <a:t>Put 1cm</a:t>
                      </a:r>
                      <a:r>
                        <a:rPr lang="en-US" sz="2800" b="0" baseline="30000" dirty="0">
                          <a:effectLst/>
                        </a:rPr>
                        <a:t>3</a:t>
                      </a:r>
                      <a:r>
                        <a:rPr lang="en-US" sz="2800" b="0" dirty="0">
                          <a:effectLst/>
                        </a:rPr>
                        <a:t> of substance in a test tube and add 1cm</a:t>
                      </a:r>
                      <a:r>
                        <a:rPr lang="en-US" sz="2800" b="0" baseline="30000" dirty="0">
                          <a:effectLst/>
                        </a:rPr>
                        <a:t>3</a:t>
                      </a:r>
                      <a:r>
                        <a:rPr lang="en-US" sz="2800" b="0" dirty="0">
                          <a:effectLst/>
                        </a:rPr>
                        <a:t> of Hydrochloric acid, boil the mixture, and cool, add 1cm</a:t>
                      </a:r>
                      <a:r>
                        <a:rPr lang="en-US" sz="2800" b="0" baseline="30000" dirty="0">
                          <a:effectLst/>
                        </a:rPr>
                        <a:t>3</a:t>
                      </a:r>
                      <a:r>
                        <a:rPr lang="en-US" sz="2800" b="0" dirty="0">
                          <a:effectLst/>
                        </a:rPr>
                        <a:t> of sodium hydroxide solution followed by Benedict’s solution and boil.</a:t>
                      </a:r>
                      <a:endParaRPr lang="en-US" sz="2800" b="0" dirty="0">
                        <a:effectLst/>
                        <a:latin typeface="Calibri" panose="020F0502020204030204" pitchFamily="34" charset="0"/>
                        <a:ea typeface="Calibri" panose="020F0502020204030204" pitchFamily="34" charset="0"/>
                        <a:cs typeface="Times New Roman" panose="02020603050405020304" pitchFamily="18" charset="0"/>
                      </a:endParaRPr>
                    </a:p>
                  </a:txBody>
                  <a:tcPr marL="48813" marR="48813" marT="0" marB="0"/>
                </a:tc>
                <a:tc>
                  <a:txBody>
                    <a:bodyPr/>
                    <a:lstStyle/>
                    <a:p>
                      <a:pPr marL="0" marR="0" algn="just">
                        <a:lnSpc>
                          <a:spcPct val="115000"/>
                        </a:lnSpc>
                        <a:spcBef>
                          <a:spcPts val="0"/>
                        </a:spcBef>
                        <a:spcAft>
                          <a:spcPts val="0"/>
                        </a:spcAft>
                      </a:pPr>
                      <a:r>
                        <a:rPr lang="en-US" sz="2800" b="0" dirty="0">
                          <a:effectLst/>
                        </a:rPr>
                        <a:t>Turbid/</a:t>
                      </a:r>
                      <a:r>
                        <a:rPr lang="en-US" sz="2800" b="0" dirty="0" err="1">
                          <a:effectLst/>
                        </a:rPr>
                        <a:t>colourless</a:t>
                      </a:r>
                      <a:r>
                        <a:rPr lang="en-US" sz="2800" b="0" dirty="0">
                          <a:effectLst/>
                        </a:rPr>
                        <a:t> solution turns to blue solution, green solution, yellow precipitate, orange, precipitate and finally brown or red precipitate.</a:t>
                      </a:r>
                      <a:endParaRPr lang="en-US" sz="2800" b="0" dirty="0">
                        <a:effectLst/>
                        <a:latin typeface="Calibri" panose="020F0502020204030204" pitchFamily="34" charset="0"/>
                        <a:ea typeface="Calibri" panose="020F0502020204030204" pitchFamily="34" charset="0"/>
                        <a:cs typeface="Times New Roman" panose="02020603050405020304" pitchFamily="18" charset="0"/>
                      </a:endParaRPr>
                    </a:p>
                  </a:txBody>
                  <a:tcPr marL="48813" marR="48813" marT="0" marB="0"/>
                </a:tc>
                <a:tc>
                  <a:txBody>
                    <a:bodyPr/>
                    <a:lstStyle/>
                    <a:p>
                      <a:pPr marL="0" marR="0" algn="just">
                        <a:lnSpc>
                          <a:spcPct val="115000"/>
                        </a:lnSpc>
                        <a:spcBef>
                          <a:spcPts val="0"/>
                        </a:spcBef>
                        <a:spcAft>
                          <a:spcPts val="0"/>
                        </a:spcAft>
                      </a:pPr>
                      <a:r>
                        <a:rPr lang="en-US" sz="2800" b="0" dirty="0">
                          <a:effectLst/>
                        </a:rPr>
                        <a:t>Non-reducing sugar present</a:t>
                      </a:r>
                    </a:p>
                    <a:p>
                      <a:pPr marL="0" marR="0" algn="just">
                        <a:lnSpc>
                          <a:spcPct val="115000"/>
                        </a:lnSpc>
                        <a:spcBef>
                          <a:spcPts val="0"/>
                        </a:spcBef>
                        <a:spcAft>
                          <a:spcPts val="0"/>
                        </a:spcAft>
                      </a:pPr>
                      <a:r>
                        <a:rPr lang="en-US" sz="2800" b="0" dirty="0">
                          <a:effectLst/>
                        </a:rPr>
                        <a:t> </a:t>
                      </a:r>
                    </a:p>
                    <a:p>
                      <a:pPr marL="0" marR="0" algn="just">
                        <a:lnSpc>
                          <a:spcPct val="115000"/>
                        </a:lnSpc>
                        <a:spcBef>
                          <a:spcPts val="0"/>
                        </a:spcBef>
                        <a:spcAft>
                          <a:spcPts val="0"/>
                        </a:spcAft>
                      </a:pPr>
                      <a:r>
                        <a:rPr lang="en-US" sz="2800" b="0" dirty="0">
                          <a:effectLst/>
                        </a:rPr>
                        <a:t> </a:t>
                      </a:r>
                    </a:p>
                    <a:p>
                      <a:pPr marL="0" marR="0" algn="just">
                        <a:lnSpc>
                          <a:spcPct val="115000"/>
                        </a:lnSpc>
                        <a:spcBef>
                          <a:spcPts val="0"/>
                        </a:spcBef>
                        <a:spcAft>
                          <a:spcPts val="0"/>
                        </a:spcAft>
                      </a:pPr>
                      <a:r>
                        <a:rPr lang="en-US" sz="2800" b="0" dirty="0">
                          <a:effectLst/>
                        </a:rPr>
                        <a:t> </a:t>
                      </a:r>
                    </a:p>
                    <a:p>
                      <a:pPr marL="0" marR="0" algn="just">
                        <a:lnSpc>
                          <a:spcPct val="115000"/>
                        </a:lnSpc>
                        <a:spcBef>
                          <a:spcPts val="0"/>
                        </a:spcBef>
                        <a:spcAft>
                          <a:spcPts val="0"/>
                        </a:spcAft>
                      </a:pPr>
                      <a:r>
                        <a:rPr lang="en-US" sz="2800" b="0" dirty="0">
                          <a:effectLst/>
                        </a:rPr>
                        <a:t> </a:t>
                      </a:r>
                    </a:p>
                    <a:p>
                      <a:pPr marL="0" marR="0" algn="just">
                        <a:lnSpc>
                          <a:spcPct val="115000"/>
                        </a:lnSpc>
                        <a:spcBef>
                          <a:spcPts val="0"/>
                        </a:spcBef>
                        <a:spcAft>
                          <a:spcPts val="0"/>
                        </a:spcAft>
                      </a:pPr>
                      <a:r>
                        <a:rPr lang="en-US" sz="2800" b="0" dirty="0">
                          <a:effectLst/>
                        </a:rPr>
                        <a:t> </a:t>
                      </a:r>
                    </a:p>
                    <a:p>
                      <a:pPr marL="0" marR="0" algn="just">
                        <a:lnSpc>
                          <a:spcPct val="115000"/>
                        </a:lnSpc>
                        <a:spcBef>
                          <a:spcPts val="0"/>
                        </a:spcBef>
                        <a:spcAft>
                          <a:spcPts val="0"/>
                        </a:spcAft>
                      </a:pPr>
                      <a:r>
                        <a:rPr lang="en-US" sz="2800" b="0" dirty="0">
                          <a:effectLst/>
                        </a:rPr>
                        <a:t> </a:t>
                      </a:r>
                      <a:endParaRPr lang="en-US" sz="2800" b="0" dirty="0">
                        <a:effectLst/>
                        <a:latin typeface="Calibri" panose="020F0502020204030204" pitchFamily="34" charset="0"/>
                        <a:ea typeface="Calibri" panose="020F0502020204030204" pitchFamily="34" charset="0"/>
                        <a:cs typeface="Times New Roman" panose="02020603050405020304" pitchFamily="18" charset="0"/>
                      </a:endParaRPr>
                    </a:p>
                  </a:txBody>
                  <a:tcPr marL="48813" marR="48813" marT="0" marB="0"/>
                </a:tc>
                <a:extLst>
                  <a:ext uri="{0D108BD9-81ED-4DB2-BD59-A6C34878D82A}">
                    <a16:rowId xmlns:a16="http://schemas.microsoft.com/office/drawing/2014/main" val="709692602"/>
                  </a:ext>
                </a:extLst>
              </a:tr>
              <a:tr h="2061191">
                <a:tc vMerge="1">
                  <a:txBody>
                    <a:bodyPr/>
                    <a:lstStyle/>
                    <a:p>
                      <a:endParaRPr lang="en-US"/>
                    </a:p>
                  </a:txBody>
                  <a:tcPr/>
                </a:tc>
                <a:tc>
                  <a:txBody>
                    <a:bodyPr/>
                    <a:lstStyle/>
                    <a:p>
                      <a:pPr marL="0" marR="0" algn="just">
                        <a:lnSpc>
                          <a:spcPct val="115000"/>
                        </a:lnSpc>
                        <a:spcBef>
                          <a:spcPts val="0"/>
                        </a:spcBef>
                        <a:spcAft>
                          <a:spcPts val="0"/>
                        </a:spcAft>
                      </a:pPr>
                      <a:r>
                        <a:rPr lang="en-US" sz="2800" b="0" dirty="0">
                          <a:effectLst/>
                        </a:rPr>
                        <a:t>Turbid/</a:t>
                      </a:r>
                      <a:r>
                        <a:rPr lang="en-US" sz="2800" b="0" dirty="0" err="1">
                          <a:effectLst/>
                        </a:rPr>
                        <a:t>colourless</a:t>
                      </a:r>
                      <a:r>
                        <a:rPr lang="en-US" sz="2800" b="0" dirty="0">
                          <a:effectLst/>
                        </a:rPr>
                        <a:t> solution turns to blue solution and persists.</a:t>
                      </a:r>
                      <a:endParaRPr lang="en-US" sz="2800" b="0" dirty="0">
                        <a:effectLst/>
                        <a:latin typeface="Calibri" panose="020F0502020204030204" pitchFamily="34" charset="0"/>
                        <a:ea typeface="Calibri" panose="020F0502020204030204" pitchFamily="34" charset="0"/>
                        <a:cs typeface="Times New Roman" panose="02020603050405020304" pitchFamily="18" charset="0"/>
                      </a:endParaRPr>
                    </a:p>
                  </a:txBody>
                  <a:tcPr marL="48813" marR="48813" marT="0" marB="0"/>
                </a:tc>
                <a:tc>
                  <a:txBody>
                    <a:bodyPr/>
                    <a:lstStyle/>
                    <a:p>
                      <a:pPr marL="0" marR="0" algn="just">
                        <a:lnSpc>
                          <a:spcPct val="115000"/>
                        </a:lnSpc>
                        <a:spcBef>
                          <a:spcPts val="0"/>
                        </a:spcBef>
                        <a:spcAft>
                          <a:spcPts val="0"/>
                        </a:spcAft>
                      </a:pPr>
                      <a:r>
                        <a:rPr lang="en-US" sz="2800" b="0" dirty="0">
                          <a:effectLst/>
                        </a:rPr>
                        <a:t>Non reducing sugar absent</a:t>
                      </a:r>
                      <a:endParaRPr lang="en-US" sz="2800" b="0" dirty="0">
                        <a:effectLst/>
                        <a:latin typeface="Calibri" panose="020F0502020204030204" pitchFamily="34" charset="0"/>
                        <a:ea typeface="Calibri" panose="020F0502020204030204" pitchFamily="34" charset="0"/>
                        <a:cs typeface="Times New Roman" panose="02020603050405020304" pitchFamily="18" charset="0"/>
                      </a:endParaRPr>
                    </a:p>
                  </a:txBody>
                  <a:tcPr marL="48813" marR="48813" marT="0" marB="0"/>
                </a:tc>
                <a:extLst>
                  <a:ext uri="{0D108BD9-81ED-4DB2-BD59-A6C34878D82A}">
                    <a16:rowId xmlns:a16="http://schemas.microsoft.com/office/drawing/2014/main" val="3267757695"/>
                  </a:ext>
                </a:extLst>
              </a:tr>
            </a:tbl>
          </a:graphicData>
        </a:graphic>
      </p:graphicFrame>
    </p:spTree>
    <p:extLst>
      <p:ext uri="{BB962C8B-B14F-4D97-AF65-F5344CB8AC3E}">
        <p14:creationId xmlns:p14="http://schemas.microsoft.com/office/powerpoint/2010/main" val="341958164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38CA8B-8259-CE55-7944-D3E88FC1EC52}"/>
              </a:ext>
            </a:extLst>
          </p:cNvPr>
          <p:cNvSpPr>
            <a:spLocks noGrp="1"/>
          </p:cNvSpPr>
          <p:nvPr>
            <p:ph idx="1"/>
          </p:nvPr>
        </p:nvSpPr>
        <p:spPr>
          <a:xfrm>
            <a:off x="198784" y="1245704"/>
            <a:ext cx="11767930" cy="5002695"/>
          </a:xfrm>
        </p:spPr>
        <p:txBody>
          <a:bodyPr/>
          <a:lstStyle/>
          <a:p>
            <a:pPr marL="0" indent="0" algn="just">
              <a:buNone/>
            </a:pPr>
            <a:r>
              <a:rPr lang="en-US" sz="3200" b="1" dirty="0"/>
              <a:t>Note</a:t>
            </a:r>
          </a:p>
          <a:p>
            <a:pPr algn="just"/>
            <a:r>
              <a:rPr lang="en-US" sz="3200" dirty="0"/>
              <a:t>Hydrochloric acid is used to breakdown non reducing sugar(complex sugar) to reducing sugar.</a:t>
            </a:r>
          </a:p>
          <a:p>
            <a:pPr algn="just"/>
            <a:r>
              <a:rPr lang="en-US" sz="3200" dirty="0"/>
              <a:t>Sodium hydroxide is used to neutralize the hydrochloric acid to form a neutral solution.</a:t>
            </a:r>
          </a:p>
          <a:p>
            <a:endParaRPr lang="en-US" dirty="0"/>
          </a:p>
        </p:txBody>
      </p:sp>
    </p:spTree>
    <p:extLst>
      <p:ext uri="{BB962C8B-B14F-4D97-AF65-F5344CB8AC3E}">
        <p14:creationId xmlns:p14="http://schemas.microsoft.com/office/powerpoint/2010/main" val="241033191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A38A8-A436-A5A7-A383-164BDA62F76B}"/>
              </a:ext>
            </a:extLst>
          </p:cNvPr>
          <p:cNvSpPr>
            <a:spLocks noGrp="1"/>
          </p:cNvSpPr>
          <p:nvPr>
            <p:ph type="title"/>
          </p:nvPr>
        </p:nvSpPr>
        <p:spPr>
          <a:xfrm>
            <a:off x="645130" y="238539"/>
            <a:ext cx="9161479" cy="768626"/>
          </a:xfrm>
        </p:spPr>
        <p:txBody>
          <a:bodyPr/>
          <a:lstStyle/>
          <a:p>
            <a:r>
              <a:rPr lang="en-US" dirty="0"/>
              <a:t>Test for proteins</a:t>
            </a:r>
          </a:p>
        </p:txBody>
      </p:sp>
      <p:graphicFrame>
        <p:nvGraphicFramePr>
          <p:cNvPr id="5" name="Content Placeholder 4">
            <a:extLst>
              <a:ext uri="{FF2B5EF4-FFF2-40B4-BE49-F238E27FC236}">
                <a16:creationId xmlns:a16="http://schemas.microsoft.com/office/drawing/2014/main" id="{684864D5-E258-879D-D404-445A09B8A646}"/>
              </a:ext>
            </a:extLst>
          </p:cNvPr>
          <p:cNvGraphicFramePr>
            <a:graphicFrameLocks noGrp="1"/>
          </p:cNvGraphicFramePr>
          <p:nvPr>
            <p:ph idx="1"/>
            <p:extLst>
              <p:ext uri="{D42A27DB-BD31-4B8C-83A1-F6EECF244321}">
                <p14:modId xmlns:p14="http://schemas.microsoft.com/office/powerpoint/2010/main" val="2432505502"/>
              </p:ext>
            </p:extLst>
          </p:nvPr>
        </p:nvGraphicFramePr>
        <p:xfrm>
          <a:off x="145775" y="1073423"/>
          <a:ext cx="11940208" cy="5045020"/>
        </p:xfrm>
        <a:graphic>
          <a:graphicData uri="http://schemas.openxmlformats.org/drawingml/2006/table">
            <a:tbl>
              <a:tblPr firstRow="1" firstCol="1" bandRow="1">
                <a:tableStyleId>{5C22544A-7EE6-4342-B048-85BDC9FD1C3A}</a:tableStyleId>
              </a:tblPr>
              <a:tblGrid>
                <a:gridCol w="4672255">
                  <a:extLst>
                    <a:ext uri="{9D8B030D-6E8A-4147-A177-3AD203B41FA5}">
                      <a16:colId xmlns:a16="http://schemas.microsoft.com/office/drawing/2014/main" val="2057807650"/>
                    </a:ext>
                  </a:extLst>
                </a:gridCol>
                <a:gridCol w="4672255">
                  <a:extLst>
                    <a:ext uri="{9D8B030D-6E8A-4147-A177-3AD203B41FA5}">
                      <a16:colId xmlns:a16="http://schemas.microsoft.com/office/drawing/2014/main" val="1545562926"/>
                    </a:ext>
                  </a:extLst>
                </a:gridCol>
                <a:gridCol w="2595698">
                  <a:extLst>
                    <a:ext uri="{9D8B030D-6E8A-4147-A177-3AD203B41FA5}">
                      <a16:colId xmlns:a16="http://schemas.microsoft.com/office/drawing/2014/main" val="678833849"/>
                    </a:ext>
                  </a:extLst>
                </a:gridCol>
              </a:tblGrid>
              <a:tr h="879497">
                <a:tc>
                  <a:txBody>
                    <a:bodyPr/>
                    <a:lstStyle/>
                    <a:p>
                      <a:pPr marL="0" marR="0" algn="just">
                        <a:lnSpc>
                          <a:spcPct val="115000"/>
                        </a:lnSpc>
                        <a:spcBef>
                          <a:spcPts val="0"/>
                        </a:spcBef>
                        <a:spcAft>
                          <a:spcPts val="0"/>
                        </a:spcAft>
                      </a:pPr>
                      <a:r>
                        <a:rPr lang="en-US" sz="2800">
                          <a:effectLst/>
                        </a:rPr>
                        <a:t>Test /procedure</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43259" marR="43259" marT="0" marB="0"/>
                </a:tc>
                <a:tc>
                  <a:txBody>
                    <a:bodyPr/>
                    <a:lstStyle/>
                    <a:p>
                      <a:pPr marL="0" marR="0" algn="just">
                        <a:lnSpc>
                          <a:spcPct val="115000"/>
                        </a:lnSpc>
                        <a:spcBef>
                          <a:spcPts val="0"/>
                        </a:spcBef>
                        <a:spcAft>
                          <a:spcPts val="0"/>
                        </a:spcAft>
                      </a:pPr>
                      <a:r>
                        <a:rPr lang="en-US" sz="2800">
                          <a:effectLst/>
                        </a:rPr>
                        <a:t>Observation</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43259" marR="43259" marT="0" marB="0"/>
                </a:tc>
                <a:tc>
                  <a:txBody>
                    <a:bodyPr/>
                    <a:lstStyle/>
                    <a:p>
                      <a:pPr marL="0" marR="0" algn="just">
                        <a:lnSpc>
                          <a:spcPct val="115000"/>
                        </a:lnSpc>
                        <a:spcBef>
                          <a:spcPts val="0"/>
                        </a:spcBef>
                        <a:spcAft>
                          <a:spcPts val="0"/>
                        </a:spcAft>
                      </a:pPr>
                      <a:r>
                        <a:rPr lang="en-US" sz="2800">
                          <a:effectLst/>
                        </a:rPr>
                        <a:t>Conclusion/deduction</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43259" marR="43259" marT="0" marB="0"/>
                </a:tc>
                <a:extLst>
                  <a:ext uri="{0D108BD9-81ED-4DB2-BD59-A6C34878D82A}">
                    <a16:rowId xmlns:a16="http://schemas.microsoft.com/office/drawing/2014/main" val="820072969"/>
                  </a:ext>
                </a:extLst>
              </a:tr>
              <a:tr h="1553398">
                <a:tc rowSpan="2">
                  <a:txBody>
                    <a:bodyPr/>
                    <a:lstStyle/>
                    <a:p>
                      <a:pPr marL="0" marR="0" algn="just">
                        <a:lnSpc>
                          <a:spcPct val="115000"/>
                        </a:lnSpc>
                        <a:spcBef>
                          <a:spcPts val="0"/>
                        </a:spcBef>
                        <a:spcAft>
                          <a:spcPts val="0"/>
                        </a:spcAft>
                      </a:pPr>
                      <a:r>
                        <a:rPr lang="en-US" sz="2800" b="0" u="sng" dirty="0">
                          <a:effectLst/>
                        </a:rPr>
                        <a:t>Biuret’s test</a:t>
                      </a:r>
                      <a:endParaRPr lang="en-US" sz="2800" b="0" dirty="0">
                        <a:effectLst/>
                      </a:endParaRPr>
                    </a:p>
                    <a:p>
                      <a:pPr marL="0" marR="0" algn="just">
                        <a:lnSpc>
                          <a:spcPct val="115000"/>
                        </a:lnSpc>
                        <a:spcBef>
                          <a:spcPts val="0"/>
                        </a:spcBef>
                        <a:spcAft>
                          <a:spcPts val="0"/>
                        </a:spcAft>
                      </a:pPr>
                      <a:r>
                        <a:rPr lang="en-US" sz="2800" b="0" dirty="0">
                          <a:effectLst/>
                        </a:rPr>
                        <a:t>Put 1cm</a:t>
                      </a:r>
                      <a:r>
                        <a:rPr lang="en-US" sz="2800" b="0" baseline="30000" dirty="0">
                          <a:effectLst/>
                        </a:rPr>
                        <a:t>3</a:t>
                      </a:r>
                      <a:r>
                        <a:rPr lang="en-US" sz="2800" b="0" dirty="0">
                          <a:effectLst/>
                        </a:rPr>
                        <a:t> of substance in a test tube and add 1cm</a:t>
                      </a:r>
                      <a:r>
                        <a:rPr lang="en-US" sz="2800" b="0" baseline="30000" dirty="0">
                          <a:effectLst/>
                        </a:rPr>
                        <a:t>3</a:t>
                      </a:r>
                      <a:r>
                        <a:rPr lang="en-US" sz="2800" b="0" dirty="0">
                          <a:effectLst/>
                        </a:rPr>
                        <a:t> of sodium hydroxide solution followed by 3 drops of copper (II) sulphate solution</a:t>
                      </a:r>
                      <a:endParaRPr lang="en-US" sz="2800" b="0" dirty="0">
                        <a:effectLst/>
                        <a:latin typeface="Calibri" panose="020F0502020204030204" pitchFamily="34" charset="0"/>
                        <a:ea typeface="Calibri" panose="020F0502020204030204" pitchFamily="34" charset="0"/>
                        <a:cs typeface="Times New Roman" panose="02020603050405020304" pitchFamily="18" charset="0"/>
                      </a:endParaRPr>
                    </a:p>
                  </a:txBody>
                  <a:tcPr marL="43259" marR="43259" marT="0" marB="0"/>
                </a:tc>
                <a:tc>
                  <a:txBody>
                    <a:bodyPr/>
                    <a:lstStyle/>
                    <a:p>
                      <a:pPr marL="0" marR="0" algn="just">
                        <a:lnSpc>
                          <a:spcPct val="115000"/>
                        </a:lnSpc>
                        <a:spcBef>
                          <a:spcPts val="0"/>
                        </a:spcBef>
                        <a:spcAft>
                          <a:spcPts val="0"/>
                        </a:spcAft>
                      </a:pPr>
                      <a:r>
                        <a:rPr lang="en-US" sz="2800">
                          <a:effectLst/>
                        </a:rPr>
                        <a:t>Turbid/colourless solution turns to Purple (or violet) solution.</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43259" marR="43259" marT="0" marB="0"/>
                </a:tc>
                <a:tc>
                  <a:txBody>
                    <a:bodyPr/>
                    <a:lstStyle/>
                    <a:p>
                      <a:pPr marL="0" marR="0" algn="just">
                        <a:lnSpc>
                          <a:spcPct val="115000"/>
                        </a:lnSpc>
                        <a:spcBef>
                          <a:spcPts val="0"/>
                        </a:spcBef>
                        <a:spcAft>
                          <a:spcPts val="0"/>
                        </a:spcAft>
                      </a:pPr>
                      <a:r>
                        <a:rPr lang="en-US" sz="2800">
                          <a:effectLst/>
                        </a:rPr>
                        <a:t>Proteins present</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43259" marR="43259" marT="0" marB="0"/>
                </a:tc>
                <a:extLst>
                  <a:ext uri="{0D108BD9-81ED-4DB2-BD59-A6C34878D82A}">
                    <a16:rowId xmlns:a16="http://schemas.microsoft.com/office/drawing/2014/main" val="1728767677"/>
                  </a:ext>
                </a:extLst>
              </a:tr>
              <a:tr h="2510166">
                <a:tc vMerge="1">
                  <a:txBody>
                    <a:bodyPr/>
                    <a:lstStyle/>
                    <a:p>
                      <a:endParaRPr lang="en-US"/>
                    </a:p>
                  </a:txBody>
                  <a:tcPr/>
                </a:tc>
                <a:tc>
                  <a:txBody>
                    <a:bodyPr/>
                    <a:lstStyle/>
                    <a:p>
                      <a:pPr marL="0" marR="0" algn="just">
                        <a:lnSpc>
                          <a:spcPct val="115000"/>
                        </a:lnSpc>
                        <a:spcBef>
                          <a:spcPts val="0"/>
                        </a:spcBef>
                        <a:spcAft>
                          <a:spcPts val="0"/>
                        </a:spcAft>
                      </a:pPr>
                      <a:r>
                        <a:rPr lang="en-US" sz="2800" dirty="0">
                          <a:effectLst/>
                        </a:rPr>
                        <a:t>Turbid solution turns to blue solution</a:t>
                      </a:r>
                    </a:p>
                    <a:p>
                      <a:pPr marL="0" marR="0" algn="just">
                        <a:lnSpc>
                          <a:spcPct val="115000"/>
                        </a:lnSpc>
                        <a:spcBef>
                          <a:spcPts val="0"/>
                        </a:spcBef>
                        <a:spcAft>
                          <a:spcPts val="0"/>
                        </a:spcAft>
                      </a:pPr>
                      <a:r>
                        <a:rPr lang="en-US" sz="2800" dirty="0">
                          <a:effectLst/>
                        </a:rPr>
                        <a:t> </a:t>
                      </a:r>
                    </a:p>
                    <a:p>
                      <a:pPr marL="0" marR="0" algn="just">
                        <a:lnSpc>
                          <a:spcPct val="115000"/>
                        </a:lnSpc>
                        <a:spcBef>
                          <a:spcPts val="0"/>
                        </a:spcBef>
                        <a:spcAft>
                          <a:spcPts val="0"/>
                        </a:spcAft>
                      </a:pPr>
                      <a:r>
                        <a:rPr lang="en-US" sz="2800" dirty="0">
                          <a:effectLst/>
                        </a:rPr>
                        <a:t> </a:t>
                      </a:r>
                    </a:p>
                  </a:txBody>
                  <a:tcPr marL="43259" marR="43259" marT="0" marB="0"/>
                </a:tc>
                <a:tc>
                  <a:txBody>
                    <a:bodyPr/>
                    <a:lstStyle/>
                    <a:p>
                      <a:pPr marL="0" marR="0" algn="just">
                        <a:lnSpc>
                          <a:spcPct val="115000"/>
                        </a:lnSpc>
                        <a:spcBef>
                          <a:spcPts val="0"/>
                        </a:spcBef>
                        <a:spcAft>
                          <a:spcPts val="0"/>
                        </a:spcAft>
                      </a:pPr>
                      <a:r>
                        <a:rPr lang="en-US" sz="2800" dirty="0">
                          <a:effectLst/>
                        </a:rPr>
                        <a:t>Proteins absent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43259" marR="43259" marT="0" marB="0"/>
                </a:tc>
                <a:extLst>
                  <a:ext uri="{0D108BD9-81ED-4DB2-BD59-A6C34878D82A}">
                    <a16:rowId xmlns:a16="http://schemas.microsoft.com/office/drawing/2014/main" val="851702121"/>
                  </a:ext>
                </a:extLst>
              </a:tr>
            </a:tbl>
          </a:graphicData>
        </a:graphic>
      </p:graphicFrame>
    </p:spTree>
    <p:extLst>
      <p:ext uri="{BB962C8B-B14F-4D97-AF65-F5344CB8AC3E}">
        <p14:creationId xmlns:p14="http://schemas.microsoft.com/office/powerpoint/2010/main" val="71180031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F7803-1DFB-2384-69E0-7FD6B3B34444}"/>
              </a:ext>
            </a:extLst>
          </p:cNvPr>
          <p:cNvSpPr>
            <a:spLocks noGrp="1"/>
          </p:cNvSpPr>
          <p:nvPr>
            <p:ph type="title"/>
          </p:nvPr>
        </p:nvSpPr>
        <p:spPr>
          <a:xfrm>
            <a:off x="646111" y="41905"/>
            <a:ext cx="9404723" cy="766478"/>
          </a:xfrm>
        </p:spPr>
        <p:txBody>
          <a:bodyPr/>
          <a:lstStyle/>
          <a:p>
            <a:r>
              <a:rPr lang="en-US" b="1" dirty="0"/>
              <a:t>Test for lipids</a:t>
            </a:r>
          </a:p>
        </p:txBody>
      </p:sp>
      <p:graphicFrame>
        <p:nvGraphicFramePr>
          <p:cNvPr id="5" name="Content Placeholder 4">
            <a:extLst>
              <a:ext uri="{FF2B5EF4-FFF2-40B4-BE49-F238E27FC236}">
                <a16:creationId xmlns:a16="http://schemas.microsoft.com/office/drawing/2014/main" id="{50D0E698-2274-7CC9-9DBC-9621B43D43E9}"/>
              </a:ext>
            </a:extLst>
          </p:cNvPr>
          <p:cNvGraphicFramePr>
            <a:graphicFrameLocks noGrp="1"/>
          </p:cNvGraphicFramePr>
          <p:nvPr>
            <p:ph idx="1"/>
            <p:extLst>
              <p:ext uri="{D42A27DB-BD31-4B8C-83A1-F6EECF244321}">
                <p14:modId xmlns:p14="http://schemas.microsoft.com/office/powerpoint/2010/main" val="2838567362"/>
              </p:ext>
            </p:extLst>
          </p:nvPr>
        </p:nvGraphicFramePr>
        <p:xfrm>
          <a:off x="132521" y="1205949"/>
          <a:ext cx="11926958" cy="4907280"/>
        </p:xfrm>
        <a:graphic>
          <a:graphicData uri="http://schemas.openxmlformats.org/drawingml/2006/table">
            <a:tbl>
              <a:tblPr firstRow="1" firstCol="1" bandRow="1">
                <a:tableStyleId>{5C22544A-7EE6-4342-B048-85BDC9FD1C3A}</a:tableStyleId>
              </a:tblPr>
              <a:tblGrid>
                <a:gridCol w="4483819">
                  <a:extLst>
                    <a:ext uri="{9D8B030D-6E8A-4147-A177-3AD203B41FA5}">
                      <a16:colId xmlns:a16="http://schemas.microsoft.com/office/drawing/2014/main" val="1350458263"/>
                    </a:ext>
                  </a:extLst>
                </a:gridCol>
                <a:gridCol w="4483819">
                  <a:extLst>
                    <a:ext uri="{9D8B030D-6E8A-4147-A177-3AD203B41FA5}">
                      <a16:colId xmlns:a16="http://schemas.microsoft.com/office/drawing/2014/main" val="29073897"/>
                    </a:ext>
                  </a:extLst>
                </a:gridCol>
                <a:gridCol w="2959320">
                  <a:extLst>
                    <a:ext uri="{9D8B030D-6E8A-4147-A177-3AD203B41FA5}">
                      <a16:colId xmlns:a16="http://schemas.microsoft.com/office/drawing/2014/main" val="2967215647"/>
                    </a:ext>
                  </a:extLst>
                </a:gridCol>
              </a:tblGrid>
              <a:tr h="756022">
                <a:tc>
                  <a:txBody>
                    <a:bodyPr/>
                    <a:lstStyle/>
                    <a:p>
                      <a:pPr marL="0" marR="0" algn="just">
                        <a:lnSpc>
                          <a:spcPct val="115000"/>
                        </a:lnSpc>
                        <a:spcBef>
                          <a:spcPts val="0"/>
                        </a:spcBef>
                        <a:spcAft>
                          <a:spcPts val="0"/>
                        </a:spcAft>
                      </a:pPr>
                      <a:r>
                        <a:rPr lang="en-US" sz="2800" dirty="0">
                          <a:effectLst/>
                        </a:rPr>
                        <a:t>Test /procedure</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45726" marR="45726" marT="0" marB="0"/>
                </a:tc>
                <a:tc>
                  <a:txBody>
                    <a:bodyPr/>
                    <a:lstStyle/>
                    <a:p>
                      <a:pPr marL="0" marR="0" algn="just">
                        <a:lnSpc>
                          <a:spcPct val="115000"/>
                        </a:lnSpc>
                        <a:spcBef>
                          <a:spcPts val="0"/>
                        </a:spcBef>
                        <a:spcAft>
                          <a:spcPts val="0"/>
                        </a:spcAft>
                      </a:pPr>
                      <a:r>
                        <a:rPr lang="en-US" sz="2800">
                          <a:effectLst/>
                        </a:rPr>
                        <a:t>Observation</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45726" marR="45726" marT="0" marB="0"/>
                </a:tc>
                <a:tc>
                  <a:txBody>
                    <a:bodyPr/>
                    <a:lstStyle/>
                    <a:p>
                      <a:pPr marL="0" marR="0" algn="just">
                        <a:lnSpc>
                          <a:spcPct val="115000"/>
                        </a:lnSpc>
                        <a:spcBef>
                          <a:spcPts val="0"/>
                        </a:spcBef>
                        <a:spcAft>
                          <a:spcPts val="0"/>
                        </a:spcAft>
                      </a:pPr>
                      <a:r>
                        <a:rPr lang="en-US" sz="2800">
                          <a:effectLst/>
                        </a:rPr>
                        <a:t>Conclusion/deduction</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45726" marR="45726" marT="0" marB="0"/>
                </a:tc>
                <a:extLst>
                  <a:ext uri="{0D108BD9-81ED-4DB2-BD59-A6C34878D82A}">
                    <a16:rowId xmlns:a16="http://schemas.microsoft.com/office/drawing/2014/main" val="3261384048"/>
                  </a:ext>
                </a:extLst>
              </a:tr>
              <a:tr h="1928924">
                <a:tc rowSpan="2">
                  <a:txBody>
                    <a:bodyPr/>
                    <a:lstStyle/>
                    <a:p>
                      <a:pPr marL="0" marR="0" algn="just">
                        <a:lnSpc>
                          <a:spcPct val="115000"/>
                        </a:lnSpc>
                        <a:spcBef>
                          <a:spcPts val="0"/>
                        </a:spcBef>
                        <a:spcAft>
                          <a:spcPts val="0"/>
                        </a:spcAft>
                      </a:pPr>
                      <a:r>
                        <a:rPr lang="en-US" sz="2800" b="0" dirty="0">
                          <a:effectLst/>
                        </a:rPr>
                        <a:t>(a)</a:t>
                      </a:r>
                      <a:r>
                        <a:rPr lang="en-US" sz="2800" b="0" u="sng" dirty="0">
                          <a:effectLst/>
                        </a:rPr>
                        <a:t>Emulsion  test</a:t>
                      </a:r>
                      <a:endParaRPr lang="en-US" sz="2800" b="0" dirty="0">
                        <a:effectLst/>
                      </a:endParaRPr>
                    </a:p>
                    <a:p>
                      <a:pPr marL="0" marR="0" algn="just">
                        <a:lnSpc>
                          <a:spcPct val="115000"/>
                        </a:lnSpc>
                        <a:spcBef>
                          <a:spcPts val="0"/>
                        </a:spcBef>
                        <a:spcAft>
                          <a:spcPts val="0"/>
                        </a:spcAft>
                      </a:pPr>
                      <a:r>
                        <a:rPr lang="en-US" sz="2800" b="0" dirty="0">
                          <a:effectLst/>
                        </a:rPr>
                        <a:t>Put 1cm</a:t>
                      </a:r>
                      <a:r>
                        <a:rPr lang="en-US" sz="2800" b="0" baseline="30000" dirty="0">
                          <a:effectLst/>
                        </a:rPr>
                        <a:t>3</a:t>
                      </a:r>
                      <a:r>
                        <a:rPr lang="en-US" sz="2800" b="0" dirty="0">
                          <a:effectLst/>
                        </a:rPr>
                        <a:t> of substance in a test tube and add 1cm</a:t>
                      </a:r>
                      <a:r>
                        <a:rPr lang="en-US" sz="2800" b="0" baseline="30000" dirty="0">
                          <a:effectLst/>
                        </a:rPr>
                        <a:t>3</a:t>
                      </a:r>
                      <a:r>
                        <a:rPr lang="en-US" sz="2800" b="0" dirty="0">
                          <a:effectLst/>
                        </a:rPr>
                        <a:t> of ethanol and shake the mixture then  follow by 1cm</a:t>
                      </a:r>
                      <a:r>
                        <a:rPr lang="en-US" sz="2800" b="0" baseline="30000" dirty="0">
                          <a:effectLst/>
                        </a:rPr>
                        <a:t>3</a:t>
                      </a:r>
                      <a:r>
                        <a:rPr lang="en-US" sz="2800" b="0" dirty="0">
                          <a:effectLst/>
                        </a:rPr>
                        <a:t> of water</a:t>
                      </a:r>
                      <a:endParaRPr lang="en-US" sz="2800" b="0" dirty="0">
                        <a:effectLst/>
                        <a:latin typeface="Calibri" panose="020F0502020204030204" pitchFamily="34" charset="0"/>
                        <a:ea typeface="Calibri" panose="020F0502020204030204" pitchFamily="34" charset="0"/>
                        <a:cs typeface="Times New Roman" panose="02020603050405020304" pitchFamily="18" charset="0"/>
                      </a:endParaRPr>
                    </a:p>
                  </a:txBody>
                  <a:tcPr marL="45726" marR="45726" marT="0" marB="0"/>
                </a:tc>
                <a:tc>
                  <a:txBody>
                    <a:bodyPr/>
                    <a:lstStyle/>
                    <a:p>
                      <a:pPr marL="0" marR="0" algn="just">
                        <a:lnSpc>
                          <a:spcPct val="115000"/>
                        </a:lnSpc>
                        <a:spcBef>
                          <a:spcPts val="0"/>
                        </a:spcBef>
                        <a:spcAft>
                          <a:spcPts val="0"/>
                        </a:spcAft>
                      </a:pPr>
                      <a:r>
                        <a:rPr lang="en-US" sz="2800">
                          <a:effectLst/>
                        </a:rPr>
                        <a:t>Turbid/colourless solution turns to white emulsion.</a:t>
                      </a:r>
                    </a:p>
                    <a:p>
                      <a:pPr marL="0" marR="0" algn="just">
                        <a:lnSpc>
                          <a:spcPct val="115000"/>
                        </a:lnSpc>
                        <a:spcBef>
                          <a:spcPts val="0"/>
                        </a:spcBef>
                        <a:spcAft>
                          <a:spcPts val="0"/>
                        </a:spcAft>
                      </a:pPr>
                      <a:r>
                        <a:rPr lang="en-US" sz="2800">
                          <a:effectLst/>
                        </a:rPr>
                        <a:t> </a:t>
                      </a:r>
                    </a:p>
                    <a:p>
                      <a:pPr marL="0" marR="0" algn="just">
                        <a:lnSpc>
                          <a:spcPct val="115000"/>
                        </a:lnSpc>
                        <a:spcBef>
                          <a:spcPts val="0"/>
                        </a:spcBef>
                        <a:spcAft>
                          <a:spcPts val="0"/>
                        </a:spcAft>
                      </a:pPr>
                      <a:r>
                        <a:rPr lang="en-US" sz="2800">
                          <a:effectLst/>
                        </a:rPr>
                        <a:t> </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45726" marR="45726" marT="0" marB="0"/>
                </a:tc>
                <a:tc>
                  <a:txBody>
                    <a:bodyPr/>
                    <a:lstStyle/>
                    <a:p>
                      <a:pPr marL="0" marR="0" algn="just">
                        <a:lnSpc>
                          <a:spcPct val="115000"/>
                        </a:lnSpc>
                        <a:spcBef>
                          <a:spcPts val="0"/>
                        </a:spcBef>
                        <a:spcAft>
                          <a:spcPts val="0"/>
                        </a:spcAft>
                      </a:pPr>
                      <a:r>
                        <a:rPr lang="en-US" sz="2800">
                          <a:effectLst/>
                        </a:rPr>
                        <a:t>Lipids  present</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45726" marR="45726" marT="0" marB="0"/>
                </a:tc>
                <a:extLst>
                  <a:ext uri="{0D108BD9-81ED-4DB2-BD59-A6C34878D82A}">
                    <a16:rowId xmlns:a16="http://schemas.microsoft.com/office/drawing/2014/main" val="2229493423"/>
                  </a:ext>
                </a:extLst>
              </a:tr>
              <a:tr h="1317608">
                <a:tc vMerge="1">
                  <a:txBody>
                    <a:bodyPr/>
                    <a:lstStyle/>
                    <a:p>
                      <a:endParaRPr lang="en-US"/>
                    </a:p>
                  </a:txBody>
                  <a:tcPr/>
                </a:tc>
                <a:tc>
                  <a:txBody>
                    <a:bodyPr/>
                    <a:lstStyle/>
                    <a:p>
                      <a:pPr marL="0" marR="0" algn="just">
                        <a:lnSpc>
                          <a:spcPct val="115000"/>
                        </a:lnSpc>
                        <a:spcBef>
                          <a:spcPts val="0"/>
                        </a:spcBef>
                        <a:spcAft>
                          <a:spcPts val="0"/>
                        </a:spcAft>
                      </a:pPr>
                      <a:r>
                        <a:rPr lang="en-US" sz="2800" dirty="0" err="1">
                          <a:effectLst/>
                        </a:rPr>
                        <a:t>Colourless</a:t>
                      </a:r>
                      <a:r>
                        <a:rPr lang="en-US" sz="2800" dirty="0">
                          <a:effectLst/>
                        </a:rPr>
                        <a:t> solution remains </a:t>
                      </a:r>
                      <a:r>
                        <a:rPr lang="en-US" sz="2800" dirty="0" err="1">
                          <a:effectLst/>
                        </a:rPr>
                        <a:t>colourless</a:t>
                      </a:r>
                      <a:r>
                        <a:rPr lang="en-US" sz="2800" dirty="0">
                          <a:effectLst/>
                        </a:rPr>
                        <a:t>.</a:t>
                      </a:r>
                    </a:p>
                    <a:p>
                      <a:pPr marL="0" marR="0" algn="just">
                        <a:lnSpc>
                          <a:spcPct val="115000"/>
                        </a:lnSpc>
                        <a:spcBef>
                          <a:spcPts val="0"/>
                        </a:spcBef>
                        <a:spcAft>
                          <a:spcPts val="0"/>
                        </a:spcAft>
                      </a:pPr>
                      <a:r>
                        <a:rPr lang="en-US" sz="2800" dirty="0">
                          <a:effectLst/>
                        </a:rPr>
                        <a:t> </a:t>
                      </a:r>
                    </a:p>
                    <a:p>
                      <a:pPr marL="0" marR="0" algn="just">
                        <a:lnSpc>
                          <a:spcPct val="115000"/>
                        </a:lnSpc>
                        <a:spcBef>
                          <a:spcPts val="0"/>
                        </a:spcBef>
                        <a:spcAft>
                          <a:spcPts val="0"/>
                        </a:spcAft>
                      </a:pPr>
                      <a:r>
                        <a:rPr lang="en-US" sz="2800" dirty="0">
                          <a:effectLst/>
                        </a:rPr>
                        <a:t>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45726" marR="45726" marT="0" marB="0"/>
                </a:tc>
                <a:tc>
                  <a:txBody>
                    <a:bodyPr/>
                    <a:lstStyle/>
                    <a:p>
                      <a:pPr marL="0" marR="0" algn="just">
                        <a:lnSpc>
                          <a:spcPct val="115000"/>
                        </a:lnSpc>
                        <a:spcBef>
                          <a:spcPts val="0"/>
                        </a:spcBef>
                        <a:spcAft>
                          <a:spcPts val="0"/>
                        </a:spcAft>
                      </a:pPr>
                      <a:r>
                        <a:rPr lang="en-US" sz="2800" dirty="0">
                          <a:effectLst/>
                        </a:rPr>
                        <a:t>Lipids absent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45726" marR="45726" marT="0" marB="0"/>
                </a:tc>
                <a:extLst>
                  <a:ext uri="{0D108BD9-81ED-4DB2-BD59-A6C34878D82A}">
                    <a16:rowId xmlns:a16="http://schemas.microsoft.com/office/drawing/2014/main" val="1455550255"/>
                  </a:ext>
                </a:extLst>
              </a:tr>
            </a:tbl>
          </a:graphicData>
        </a:graphic>
      </p:graphicFrame>
    </p:spTree>
    <p:extLst>
      <p:ext uri="{BB962C8B-B14F-4D97-AF65-F5344CB8AC3E}">
        <p14:creationId xmlns:p14="http://schemas.microsoft.com/office/powerpoint/2010/main" val="4033165876"/>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1079D07F-B4D6-D52C-3A5C-CCD570DE06E6}"/>
              </a:ext>
            </a:extLst>
          </p:cNvPr>
          <p:cNvGraphicFramePr>
            <a:graphicFrameLocks noGrp="1"/>
          </p:cNvGraphicFramePr>
          <p:nvPr>
            <p:ph idx="1"/>
            <p:extLst>
              <p:ext uri="{D42A27DB-BD31-4B8C-83A1-F6EECF244321}">
                <p14:modId xmlns:p14="http://schemas.microsoft.com/office/powerpoint/2010/main" val="1135993203"/>
              </p:ext>
            </p:extLst>
          </p:nvPr>
        </p:nvGraphicFramePr>
        <p:xfrm>
          <a:off x="198783" y="1643268"/>
          <a:ext cx="11754679" cy="4077771"/>
        </p:xfrm>
        <a:graphic>
          <a:graphicData uri="http://schemas.openxmlformats.org/drawingml/2006/table">
            <a:tbl>
              <a:tblPr firstRow="1" firstCol="1" bandRow="1">
                <a:tableStyleId>{5C22544A-7EE6-4342-B048-85BDC9FD1C3A}</a:tableStyleId>
              </a:tblPr>
              <a:tblGrid>
                <a:gridCol w="4419052">
                  <a:extLst>
                    <a:ext uri="{9D8B030D-6E8A-4147-A177-3AD203B41FA5}">
                      <a16:colId xmlns:a16="http://schemas.microsoft.com/office/drawing/2014/main" val="3222331964"/>
                    </a:ext>
                  </a:extLst>
                </a:gridCol>
                <a:gridCol w="4419052">
                  <a:extLst>
                    <a:ext uri="{9D8B030D-6E8A-4147-A177-3AD203B41FA5}">
                      <a16:colId xmlns:a16="http://schemas.microsoft.com/office/drawing/2014/main" val="2641545173"/>
                    </a:ext>
                  </a:extLst>
                </a:gridCol>
                <a:gridCol w="2916575">
                  <a:extLst>
                    <a:ext uri="{9D8B030D-6E8A-4147-A177-3AD203B41FA5}">
                      <a16:colId xmlns:a16="http://schemas.microsoft.com/office/drawing/2014/main" val="1046585093"/>
                    </a:ext>
                  </a:extLst>
                </a:gridCol>
              </a:tblGrid>
              <a:tr h="1829214">
                <a:tc rowSpan="2">
                  <a:txBody>
                    <a:bodyPr/>
                    <a:lstStyle/>
                    <a:p>
                      <a:pPr marL="0" marR="0" algn="just">
                        <a:lnSpc>
                          <a:spcPct val="115000"/>
                        </a:lnSpc>
                        <a:spcBef>
                          <a:spcPts val="0"/>
                        </a:spcBef>
                        <a:spcAft>
                          <a:spcPts val="0"/>
                        </a:spcAft>
                      </a:pPr>
                      <a:r>
                        <a:rPr lang="en-US" sz="3200" b="0" dirty="0">
                          <a:effectLst/>
                        </a:rPr>
                        <a:t>(b)  </a:t>
                      </a:r>
                    </a:p>
                    <a:p>
                      <a:pPr marL="0" marR="0" algn="just">
                        <a:lnSpc>
                          <a:spcPct val="115000"/>
                        </a:lnSpc>
                        <a:spcBef>
                          <a:spcPts val="0"/>
                        </a:spcBef>
                        <a:spcAft>
                          <a:spcPts val="0"/>
                        </a:spcAft>
                      </a:pPr>
                      <a:r>
                        <a:rPr lang="en-US" sz="3200" b="0" u="sng" dirty="0">
                          <a:effectLst/>
                        </a:rPr>
                        <a:t>Translucent mark test </a:t>
                      </a:r>
                      <a:endParaRPr lang="en-US" sz="3200" b="0" dirty="0">
                        <a:effectLst/>
                      </a:endParaRPr>
                    </a:p>
                    <a:p>
                      <a:pPr marL="0" marR="0" algn="just">
                        <a:lnSpc>
                          <a:spcPct val="115000"/>
                        </a:lnSpc>
                        <a:spcBef>
                          <a:spcPts val="0"/>
                        </a:spcBef>
                        <a:spcAft>
                          <a:spcPts val="0"/>
                        </a:spcAft>
                      </a:pPr>
                      <a:r>
                        <a:rPr lang="en-US" sz="3200" b="0" dirty="0">
                          <a:effectLst/>
                        </a:rPr>
                        <a:t>Smear the substance on a dry filter paper and hold it against light. </a:t>
                      </a:r>
                      <a:endParaRPr lang="en-US" sz="3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3200" b="0">
                          <a:effectLst/>
                        </a:rPr>
                        <a:t>Translucent/ grease spot formed</a:t>
                      </a:r>
                      <a:endParaRPr lang="en-US" sz="3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3200" b="0">
                          <a:effectLst/>
                        </a:rPr>
                        <a:t>Lipid present</a:t>
                      </a:r>
                      <a:endParaRPr lang="en-US" sz="32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6394120"/>
                  </a:ext>
                </a:extLst>
              </a:tr>
              <a:tr h="2248557">
                <a:tc vMerge="1">
                  <a:txBody>
                    <a:bodyPr/>
                    <a:lstStyle/>
                    <a:p>
                      <a:endParaRPr lang="en-US"/>
                    </a:p>
                  </a:txBody>
                  <a:tcPr/>
                </a:tc>
                <a:tc>
                  <a:txBody>
                    <a:bodyPr/>
                    <a:lstStyle/>
                    <a:p>
                      <a:pPr marL="0" marR="0" algn="just">
                        <a:lnSpc>
                          <a:spcPct val="115000"/>
                        </a:lnSpc>
                        <a:spcBef>
                          <a:spcPts val="0"/>
                        </a:spcBef>
                        <a:spcAft>
                          <a:spcPts val="0"/>
                        </a:spcAft>
                      </a:pPr>
                      <a:r>
                        <a:rPr lang="en-US" sz="3200" b="0" dirty="0">
                          <a:effectLst/>
                        </a:rPr>
                        <a:t>No translucent/ grease spot formed </a:t>
                      </a:r>
                      <a:endParaRPr lang="en-US" sz="3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15000"/>
                        </a:lnSpc>
                        <a:spcBef>
                          <a:spcPts val="0"/>
                        </a:spcBef>
                        <a:spcAft>
                          <a:spcPts val="0"/>
                        </a:spcAft>
                      </a:pPr>
                      <a:r>
                        <a:rPr lang="en-US" sz="3200" b="0" dirty="0">
                          <a:effectLst/>
                        </a:rPr>
                        <a:t>Lipid absent</a:t>
                      </a:r>
                      <a:endParaRPr lang="en-US" sz="3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64244748"/>
                  </a:ext>
                </a:extLst>
              </a:tr>
            </a:tbl>
          </a:graphicData>
        </a:graphic>
      </p:graphicFrame>
    </p:spTree>
    <p:extLst>
      <p:ext uri="{BB962C8B-B14F-4D97-AF65-F5344CB8AC3E}">
        <p14:creationId xmlns:p14="http://schemas.microsoft.com/office/powerpoint/2010/main" val="110465377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3F735-452B-5FE4-B620-8071CA3B1CCA}"/>
              </a:ext>
            </a:extLst>
          </p:cNvPr>
          <p:cNvSpPr>
            <a:spLocks noGrp="1"/>
          </p:cNvSpPr>
          <p:nvPr>
            <p:ph type="title"/>
          </p:nvPr>
        </p:nvSpPr>
        <p:spPr>
          <a:xfrm>
            <a:off x="646111" y="280442"/>
            <a:ext cx="9404723" cy="1400530"/>
          </a:xfrm>
        </p:spPr>
        <p:txBody>
          <a:bodyPr/>
          <a:lstStyle/>
          <a:p>
            <a:r>
              <a:rPr lang="en-US" dirty="0"/>
              <a:t>Test for vitamin C</a:t>
            </a:r>
          </a:p>
        </p:txBody>
      </p:sp>
      <p:graphicFrame>
        <p:nvGraphicFramePr>
          <p:cNvPr id="4" name="Content Placeholder 3">
            <a:extLst>
              <a:ext uri="{FF2B5EF4-FFF2-40B4-BE49-F238E27FC236}">
                <a16:creationId xmlns:a16="http://schemas.microsoft.com/office/drawing/2014/main" id="{34805D08-7033-D4C6-04CA-852E958A14B1}"/>
              </a:ext>
            </a:extLst>
          </p:cNvPr>
          <p:cNvGraphicFramePr>
            <a:graphicFrameLocks noGrp="1"/>
          </p:cNvGraphicFramePr>
          <p:nvPr>
            <p:ph idx="1"/>
            <p:extLst>
              <p:ext uri="{D42A27DB-BD31-4B8C-83A1-F6EECF244321}">
                <p14:modId xmlns:p14="http://schemas.microsoft.com/office/powerpoint/2010/main" val="616087897"/>
              </p:ext>
            </p:extLst>
          </p:nvPr>
        </p:nvGraphicFramePr>
        <p:xfrm>
          <a:off x="212035" y="1113184"/>
          <a:ext cx="11887200" cy="5156974"/>
        </p:xfrm>
        <a:graphic>
          <a:graphicData uri="http://schemas.openxmlformats.org/drawingml/2006/table">
            <a:tbl>
              <a:tblPr firstRow="1" firstCol="1" bandRow="1">
                <a:tableStyleId>{5C22544A-7EE6-4342-B048-85BDC9FD1C3A}</a:tableStyleId>
              </a:tblPr>
              <a:tblGrid>
                <a:gridCol w="4297680">
                  <a:extLst>
                    <a:ext uri="{9D8B030D-6E8A-4147-A177-3AD203B41FA5}">
                      <a16:colId xmlns:a16="http://schemas.microsoft.com/office/drawing/2014/main" val="3891452618"/>
                    </a:ext>
                  </a:extLst>
                </a:gridCol>
                <a:gridCol w="3840480">
                  <a:extLst>
                    <a:ext uri="{9D8B030D-6E8A-4147-A177-3AD203B41FA5}">
                      <a16:colId xmlns:a16="http://schemas.microsoft.com/office/drawing/2014/main" val="1575577127"/>
                    </a:ext>
                  </a:extLst>
                </a:gridCol>
                <a:gridCol w="3749040">
                  <a:extLst>
                    <a:ext uri="{9D8B030D-6E8A-4147-A177-3AD203B41FA5}">
                      <a16:colId xmlns:a16="http://schemas.microsoft.com/office/drawing/2014/main" val="1782723058"/>
                    </a:ext>
                  </a:extLst>
                </a:gridCol>
              </a:tblGrid>
              <a:tr h="1129823">
                <a:tc>
                  <a:txBody>
                    <a:bodyPr/>
                    <a:lstStyle/>
                    <a:p>
                      <a:pPr marL="0" marR="0" algn="just">
                        <a:lnSpc>
                          <a:spcPct val="115000"/>
                        </a:lnSpc>
                        <a:spcBef>
                          <a:spcPts val="0"/>
                        </a:spcBef>
                        <a:spcAft>
                          <a:spcPts val="0"/>
                        </a:spcAft>
                      </a:pPr>
                      <a:r>
                        <a:rPr lang="en-US" sz="3200">
                          <a:effectLst/>
                        </a:rPr>
                        <a:t>Test /procedure</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0827" marR="60827" marT="0" marB="0"/>
                </a:tc>
                <a:tc>
                  <a:txBody>
                    <a:bodyPr/>
                    <a:lstStyle/>
                    <a:p>
                      <a:pPr marL="0" marR="0" algn="just">
                        <a:lnSpc>
                          <a:spcPct val="115000"/>
                        </a:lnSpc>
                        <a:spcBef>
                          <a:spcPts val="0"/>
                        </a:spcBef>
                        <a:spcAft>
                          <a:spcPts val="0"/>
                        </a:spcAft>
                      </a:pPr>
                      <a:r>
                        <a:rPr lang="en-US" sz="3200">
                          <a:effectLst/>
                        </a:rPr>
                        <a:t>Observation</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0827" marR="60827" marT="0" marB="0"/>
                </a:tc>
                <a:tc>
                  <a:txBody>
                    <a:bodyPr/>
                    <a:lstStyle/>
                    <a:p>
                      <a:pPr marL="0" marR="0" algn="just">
                        <a:lnSpc>
                          <a:spcPct val="115000"/>
                        </a:lnSpc>
                        <a:spcBef>
                          <a:spcPts val="0"/>
                        </a:spcBef>
                        <a:spcAft>
                          <a:spcPts val="0"/>
                        </a:spcAft>
                      </a:pPr>
                      <a:r>
                        <a:rPr lang="en-US" sz="3200">
                          <a:effectLst/>
                        </a:rPr>
                        <a:t>Conclusion/deduction</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60827" marR="60827" marT="0" marB="0"/>
                </a:tc>
                <a:extLst>
                  <a:ext uri="{0D108BD9-81ED-4DB2-BD59-A6C34878D82A}">
                    <a16:rowId xmlns:a16="http://schemas.microsoft.com/office/drawing/2014/main" val="3307590728"/>
                  </a:ext>
                </a:extLst>
              </a:tr>
              <a:tr h="1714277">
                <a:tc rowSpan="2">
                  <a:txBody>
                    <a:bodyPr/>
                    <a:lstStyle/>
                    <a:p>
                      <a:pPr marL="0" marR="0" algn="just">
                        <a:lnSpc>
                          <a:spcPct val="115000"/>
                        </a:lnSpc>
                        <a:spcBef>
                          <a:spcPts val="0"/>
                        </a:spcBef>
                        <a:spcAft>
                          <a:spcPts val="0"/>
                        </a:spcAft>
                      </a:pPr>
                      <a:r>
                        <a:rPr lang="en-US" sz="3200" b="0">
                          <a:effectLst/>
                        </a:rPr>
                        <a:t>Put 1cm</a:t>
                      </a:r>
                      <a:r>
                        <a:rPr lang="en-US" sz="3200" b="0" baseline="30000">
                          <a:effectLst/>
                        </a:rPr>
                        <a:t>3</a:t>
                      </a:r>
                      <a:r>
                        <a:rPr lang="en-US" sz="3200" b="0">
                          <a:effectLst/>
                        </a:rPr>
                        <a:t> of DCPIP in a test tube and add the substance to be tested dropwise until there is no further change </a:t>
                      </a:r>
                      <a:endParaRPr lang="en-US" sz="3200" b="0">
                        <a:effectLst/>
                        <a:latin typeface="Calibri" panose="020F0502020204030204" pitchFamily="34" charset="0"/>
                        <a:ea typeface="Calibri" panose="020F0502020204030204" pitchFamily="34" charset="0"/>
                        <a:cs typeface="Times New Roman" panose="02020603050405020304" pitchFamily="18" charset="0"/>
                      </a:endParaRPr>
                    </a:p>
                  </a:txBody>
                  <a:tcPr marL="60827" marR="60827" marT="0" marB="0"/>
                </a:tc>
                <a:tc>
                  <a:txBody>
                    <a:bodyPr/>
                    <a:lstStyle/>
                    <a:p>
                      <a:pPr marL="0" marR="0" algn="just">
                        <a:lnSpc>
                          <a:spcPct val="115000"/>
                        </a:lnSpc>
                        <a:spcBef>
                          <a:spcPts val="0"/>
                        </a:spcBef>
                        <a:spcAft>
                          <a:spcPts val="0"/>
                        </a:spcAft>
                      </a:pPr>
                      <a:r>
                        <a:rPr lang="en-US" sz="3200" b="0">
                          <a:effectLst/>
                        </a:rPr>
                        <a:t>The blue colour of DCPIP  turns to colourless.</a:t>
                      </a:r>
                      <a:endParaRPr lang="en-US" sz="3200" b="0">
                        <a:effectLst/>
                        <a:latin typeface="Calibri" panose="020F0502020204030204" pitchFamily="34" charset="0"/>
                        <a:ea typeface="Calibri" panose="020F0502020204030204" pitchFamily="34" charset="0"/>
                        <a:cs typeface="Times New Roman" panose="02020603050405020304" pitchFamily="18" charset="0"/>
                      </a:endParaRPr>
                    </a:p>
                  </a:txBody>
                  <a:tcPr marL="60827" marR="60827" marT="0" marB="0"/>
                </a:tc>
                <a:tc>
                  <a:txBody>
                    <a:bodyPr/>
                    <a:lstStyle/>
                    <a:p>
                      <a:pPr marL="0" marR="0" algn="just">
                        <a:lnSpc>
                          <a:spcPct val="115000"/>
                        </a:lnSpc>
                        <a:spcBef>
                          <a:spcPts val="0"/>
                        </a:spcBef>
                        <a:spcAft>
                          <a:spcPts val="0"/>
                        </a:spcAft>
                      </a:pPr>
                      <a:r>
                        <a:rPr lang="en-US" sz="3200" b="0">
                          <a:effectLst/>
                        </a:rPr>
                        <a:t>Vitamin C present</a:t>
                      </a:r>
                      <a:endParaRPr lang="en-US" sz="3200" b="0">
                        <a:effectLst/>
                        <a:latin typeface="Calibri" panose="020F0502020204030204" pitchFamily="34" charset="0"/>
                        <a:ea typeface="Calibri" panose="020F0502020204030204" pitchFamily="34" charset="0"/>
                        <a:cs typeface="Times New Roman" panose="02020603050405020304" pitchFamily="18" charset="0"/>
                      </a:endParaRPr>
                    </a:p>
                  </a:txBody>
                  <a:tcPr marL="60827" marR="60827" marT="0" marB="0"/>
                </a:tc>
                <a:extLst>
                  <a:ext uri="{0D108BD9-81ED-4DB2-BD59-A6C34878D82A}">
                    <a16:rowId xmlns:a16="http://schemas.microsoft.com/office/drawing/2014/main" val="513122723"/>
                  </a:ext>
                </a:extLst>
              </a:tr>
              <a:tr h="1752042">
                <a:tc vMerge="1">
                  <a:txBody>
                    <a:bodyPr/>
                    <a:lstStyle/>
                    <a:p>
                      <a:endParaRPr lang="en-US"/>
                    </a:p>
                  </a:txBody>
                  <a:tcPr/>
                </a:tc>
                <a:tc>
                  <a:txBody>
                    <a:bodyPr/>
                    <a:lstStyle/>
                    <a:p>
                      <a:pPr marL="0" marR="0" algn="just">
                        <a:lnSpc>
                          <a:spcPct val="115000"/>
                        </a:lnSpc>
                        <a:spcBef>
                          <a:spcPts val="0"/>
                        </a:spcBef>
                        <a:spcAft>
                          <a:spcPts val="0"/>
                        </a:spcAft>
                      </a:pPr>
                      <a:r>
                        <a:rPr lang="en-US" sz="3200" b="0">
                          <a:effectLst/>
                        </a:rPr>
                        <a:t>The blue colour of DCPIP persists/remains.</a:t>
                      </a:r>
                      <a:endParaRPr lang="en-US" sz="3200" b="0">
                        <a:effectLst/>
                        <a:latin typeface="Calibri" panose="020F0502020204030204" pitchFamily="34" charset="0"/>
                        <a:ea typeface="Calibri" panose="020F0502020204030204" pitchFamily="34" charset="0"/>
                        <a:cs typeface="Times New Roman" panose="02020603050405020304" pitchFamily="18" charset="0"/>
                      </a:endParaRPr>
                    </a:p>
                  </a:txBody>
                  <a:tcPr marL="60827" marR="60827" marT="0" marB="0"/>
                </a:tc>
                <a:tc>
                  <a:txBody>
                    <a:bodyPr/>
                    <a:lstStyle/>
                    <a:p>
                      <a:pPr marL="0" marR="0" algn="just">
                        <a:lnSpc>
                          <a:spcPct val="115000"/>
                        </a:lnSpc>
                        <a:spcBef>
                          <a:spcPts val="0"/>
                        </a:spcBef>
                        <a:spcAft>
                          <a:spcPts val="0"/>
                        </a:spcAft>
                      </a:pPr>
                      <a:r>
                        <a:rPr lang="en-US" sz="3200" b="0">
                          <a:effectLst/>
                        </a:rPr>
                        <a:t>Vitamin C absent</a:t>
                      </a:r>
                      <a:endParaRPr lang="en-US" sz="3200" b="0">
                        <a:effectLst/>
                        <a:latin typeface="Calibri" panose="020F0502020204030204" pitchFamily="34" charset="0"/>
                        <a:ea typeface="Calibri" panose="020F0502020204030204" pitchFamily="34" charset="0"/>
                        <a:cs typeface="Times New Roman" panose="02020603050405020304" pitchFamily="18" charset="0"/>
                      </a:endParaRPr>
                    </a:p>
                  </a:txBody>
                  <a:tcPr marL="60827" marR="60827" marT="0" marB="0"/>
                </a:tc>
                <a:extLst>
                  <a:ext uri="{0D108BD9-81ED-4DB2-BD59-A6C34878D82A}">
                    <a16:rowId xmlns:a16="http://schemas.microsoft.com/office/drawing/2014/main" val="1317285607"/>
                  </a:ext>
                </a:extLst>
              </a:tr>
              <a:tr h="545699">
                <a:tc gridSpan="3">
                  <a:txBody>
                    <a:bodyPr/>
                    <a:lstStyle/>
                    <a:p>
                      <a:pPr marL="0" marR="0" algn="just">
                        <a:lnSpc>
                          <a:spcPct val="115000"/>
                        </a:lnSpc>
                        <a:spcBef>
                          <a:spcPts val="0"/>
                        </a:spcBef>
                        <a:spcAft>
                          <a:spcPts val="0"/>
                        </a:spcAft>
                      </a:pPr>
                      <a:r>
                        <a:rPr lang="en-US" sz="3200" b="0" dirty="0">
                          <a:effectLst/>
                        </a:rPr>
                        <a:t>DCPIP in full: </a:t>
                      </a:r>
                      <a:r>
                        <a:rPr lang="en-US" sz="3200" b="0" dirty="0" err="1">
                          <a:effectLst/>
                        </a:rPr>
                        <a:t>Dichlorophenolindolphenol</a:t>
                      </a:r>
                      <a:endParaRPr lang="en-US" sz="3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0827" marR="60827"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98902636"/>
                  </a:ext>
                </a:extLst>
              </a:tr>
            </a:tbl>
          </a:graphicData>
        </a:graphic>
      </p:graphicFrame>
    </p:spTree>
    <p:extLst>
      <p:ext uri="{BB962C8B-B14F-4D97-AF65-F5344CB8AC3E}">
        <p14:creationId xmlns:p14="http://schemas.microsoft.com/office/powerpoint/2010/main" val="385789851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EEFF5-2828-D654-A163-6D8DE082B799}"/>
              </a:ext>
            </a:extLst>
          </p:cNvPr>
          <p:cNvSpPr>
            <a:spLocks noGrp="1"/>
          </p:cNvSpPr>
          <p:nvPr>
            <p:ph type="title"/>
          </p:nvPr>
        </p:nvSpPr>
        <p:spPr>
          <a:xfrm>
            <a:off x="646111" y="41906"/>
            <a:ext cx="9404723" cy="1400530"/>
          </a:xfrm>
        </p:spPr>
        <p:txBody>
          <a:bodyPr/>
          <a:lstStyle/>
          <a:p>
            <a:pPr algn="ctr"/>
            <a:r>
              <a:rPr lang="en-US" b="1" u="sng" dirty="0"/>
              <a:t>Balanced diet</a:t>
            </a:r>
          </a:p>
        </p:txBody>
      </p:sp>
      <p:sp>
        <p:nvSpPr>
          <p:cNvPr id="3" name="Content Placeholder 2">
            <a:extLst>
              <a:ext uri="{FF2B5EF4-FFF2-40B4-BE49-F238E27FC236}">
                <a16:creationId xmlns:a16="http://schemas.microsoft.com/office/drawing/2014/main" id="{2C5D9186-9A03-E796-0B79-5DE80A4569A4}"/>
              </a:ext>
            </a:extLst>
          </p:cNvPr>
          <p:cNvSpPr>
            <a:spLocks noGrp="1"/>
          </p:cNvSpPr>
          <p:nvPr>
            <p:ph idx="1"/>
          </p:nvPr>
        </p:nvSpPr>
        <p:spPr>
          <a:xfrm>
            <a:off x="106018" y="1298714"/>
            <a:ext cx="11926956" cy="5261112"/>
          </a:xfrm>
        </p:spPr>
        <p:txBody>
          <a:bodyPr>
            <a:normAutofit lnSpcReduction="10000"/>
          </a:bodyPr>
          <a:lstStyle/>
          <a:p>
            <a:pPr>
              <a:lnSpc>
                <a:spcPct val="150000"/>
              </a:lnSpc>
            </a:pPr>
            <a:r>
              <a:rPr lang="en-US" sz="3200" dirty="0"/>
              <a:t>It is a diet containing all the necessary nutrients in the right amounts for normal functioning of the body.</a:t>
            </a:r>
          </a:p>
          <a:p>
            <a:pPr>
              <a:lnSpc>
                <a:spcPct val="150000"/>
              </a:lnSpc>
            </a:pPr>
            <a:r>
              <a:rPr lang="en-US" sz="3200" dirty="0"/>
              <a:t>A balanced diet differs slightly from one individual to another depending on age, sex and level of physical activity.</a:t>
            </a:r>
          </a:p>
          <a:p>
            <a:pPr>
              <a:lnSpc>
                <a:spcPct val="150000"/>
              </a:lnSpc>
            </a:pPr>
            <a:r>
              <a:rPr lang="en-US" sz="3200" dirty="0"/>
              <a:t>Imbalanced diet leads to </a:t>
            </a:r>
            <a:r>
              <a:rPr lang="en-US" sz="3200" b="1" u="sng" dirty="0"/>
              <a:t>malnutrition</a:t>
            </a:r>
            <a:r>
              <a:rPr lang="en-US" sz="3200" dirty="0"/>
              <a:t> which shows through diseases like kwashiorkor, marasmus, obesity, etc.</a:t>
            </a:r>
          </a:p>
          <a:p>
            <a:pPr marL="0" indent="0">
              <a:lnSpc>
                <a:spcPct val="150000"/>
              </a:lnSpc>
              <a:buNone/>
            </a:pPr>
            <a:endParaRPr lang="en-US" sz="3200" dirty="0"/>
          </a:p>
          <a:p>
            <a:pPr marL="0" indent="0">
              <a:lnSpc>
                <a:spcPct val="150000"/>
              </a:lnSpc>
              <a:buNone/>
            </a:pPr>
            <a:endParaRPr lang="en-US" sz="3200" dirty="0"/>
          </a:p>
          <a:p>
            <a:pPr marL="0" indent="0">
              <a:lnSpc>
                <a:spcPct val="150000"/>
              </a:lnSpc>
              <a:buNone/>
            </a:pPr>
            <a:endParaRPr lang="en-US" sz="3200" dirty="0"/>
          </a:p>
        </p:txBody>
      </p:sp>
    </p:spTree>
    <p:extLst>
      <p:ext uri="{BB962C8B-B14F-4D97-AF65-F5344CB8AC3E}">
        <p14:creationId xmlns:p14="http://schemas.microsoft.com/office/powerpoint/2010/main" val="3084597197"/>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9037B-1153-E844-CA1A-02FFE942D8C2}"/>
              </a:ext>
            </a:extLst>
          </p:cNvPr>
          <p:cNvSpPr>
            <a:spLocks noGrp="1"/>
          </p:cNvSpPr>
          <p:nvPr>
            <p:ph type="title"/>
          </p:nvPr>
        </p:nvSpPr>
        <p:spPr>
          <a:xfrm>
            <a:off x="752128" y="0"/>
            <a:ext cx="9404723" cy="1400530"/>
          </a:xfrm>
        </p:spPr>
        <p:txBody>
          <a:bodyPr/>
          <a:lstStyle/>
          <a:p>
            <a:pPr algn="ctr"/>
            <a:r>
              <a:rPr lang="en-US" b="1" u="sng" dirty="0"/>
              <a:t>Malnutrition </a:t>
            </a:r>
          </a:p>
        </p:txBody>
      </p:sp>
      <p:sp>
        <p:nvSpPr>
          <p:cNvPr id="3" name="Content Placeholder 2">
            <a:extLst>
              <a:ext uri="{FF2B5EF4-FFF2-40B4-BE49-F238E27FC236}">
                <a16:creationId xmlns:a16="http://schemas.microsoft.com/office/drawing/2014/main" id="{A81DFDC1-0978-96CA-6C42-5A4ED337DBC9}"/>
              </a:ext>
            </a:extLst>
          </p:cNvPr>
          <p:cNvSpPr>
            <a:spLocks noGrp="1"/>
          </p:cNvSpPr>
          <p:nvPr>
            <p:ph idx="1"/>
          </p:nvPr>
        </p:nvSpPr>
        <p:spPr>
          <a:xfrm>
            <a:off x="152400" y="700265"/>
            <a:ext cx="11887200" cy="4512365"/>
          </a:xfrm>
        </p:spPr>
        <p:txBody>
          <a:bodyPr>
            <a:normAutofit/>
          </a:bodyPr>
          <a:lstStyle/>
          <a:p>
            <a:pPr algn="just"/>
            <a:r>
              <a:rPr lang="en-US" sz="3200" dirty="0"/>
              <a:t>Malnutrition refers to deficiencies, excesses, or imbalances in a person’s intake of energy and/or nutrients.</a:t>
            </a:r>
          </a:p>
          <a:p>
            <a:pPr algn="just"/>
            <a:endParaRPr lang="en-US" sz="3200" dirty="0"/>
          </a:p>
        </p:txBody>
      </p:sp>
      <p:pic>
        <p:nvPicPr>
          <p:cNvPr id="1026" name="Picture 2" descr="Malnutrition-free India by 2022: Is it a realisable goal?">
            <a:extLst>
              <a:ext uri="{FF2B5EF4-FFF2-40B4-BE49-F238E27FC236}">
                <a16:creationId xmlns:a16="http://schemas.microsoft.com/office/drawing/2014/main" id="{8BD104BF-771E-6A8E-B636-3A339F7033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17054"/>
            <a:ext cx="6189582" cy="346616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1.4M children in Somalia to suffer acute malnutrition in 2017, UNICEF says  - ABC News">
            <a:extLst>
              <a:ext uri="{FF2B5EF4-FFF2-40B4-BE49-F238E27FC236}">
                <a16:creationId xmlns:a16="http://schemas.microsoft.com/office/drawing/2014/main" id="{F09A576A-BAF3-76E2-F1BF-F33FCA6E78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9582" y="2217054"/>
            <a:ext cx="5826725" cy="3466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841924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2FADCEB-5ED9-E8EC-94B3-CCCE8A677624}"/>
              </a:ext>
            </a:extLst>
          </p:cNvPr>
          <p:cNvPicPr>
            <a:picLocks noChangeAspect="1"/>
          </p:cNvPicPr>
          <p:nvPr/>
        </p:nvPicPr>
        <p:blipFill>
          <a:blip r:embed="rId2"/>
          <a:stretch>
            <a:fillRect/>
          </a:stretch>
        </p:blipFill>
        <p:spPr>
          <a:xfrm>
            <a:off x="205408" y="271446"/>
            <a:ext cx="11781183" cy="6315108"/>
          </a:xfrm>
          <a:prstGeom prst="rect">
            <a:avLst/>
          </a:prstGeom>
        </p:spPr>
      </p:pic>
    </p:spTree>
    <p:extLst>
      <p:ext uri="{BB962C8B-B14F-4D97-AF65-F5344CB8AC3E}">
        <p14:creationId xmlns:p14="http://schemas.microsoft.com/office/powerpoint/2010/main" val="189782328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8E6242-2228-6DAB-F2E7-76DB2A560B06}"/>
              </a:ext>
            </a:extLst>
          </p:cNvPr>
          <p:cNvSpPr>
            <a:spLocks noGrp="1"/>
          </p:cNvSpPr>
          <p:nvPr>
            <p:ph idx="1"/>
          </p:nvPr>
        </p:nvSpPr>
        <p:spPr>
          <a:xfrm>
            <a:off x="821636" y="2398642"/>
            <a:ext cx="10734260" cy="1630017"/>
          </a:xfrm>
        </p:spPr>
        <p:txBody>
          <a:bodyPr>
            <a:normAutofit/>
          </a:bodyPr>
          <a:lstStyle/>
          <a:p>
            <a:pPr marL="0" indent="0">
              <a:buNone/>
            </a:pPr>
            <a:r>
              <a:rPr lang="en-US" sz="3200" dirty="0"/>
              <a:t>What are the common nutrient deficiency diseases and disorders?</a:t>
            </a:r>
          </a:p>
        </p:txBody>
      </p:sp>
    </p:spTree>
    <p:extLst>
      <p:ext uri="{BB962C8B-B14F-4D97-AF65-F5344CB8AC3E}">
        <p14:creationId xmlns:p14="http://schemas.microsoft.com/office/powerpoint/2010/main" val="3070081794"/>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C9E335F7-4DA8-544E-D1D6-920986F2FDBB}"/>
              </a:ext>
            </a:extLst>
          </p:cNvPr>
          <p:cNvGraphicFramePr>
            <a:graphicFrameLocks noGrp="1"/>
          </p:cNvGraphicFramePr>
          <p:nvPr>
            <p:ph idx="1"/>
            <p:extLst>
              <p:ext uri="{D42A27DB-BD31-4B8C-83A1-F6EECF244321}">
                <p14:modId xmlns:p14="http://schemas.microsoft.com/office/powerpoint/2010/main" val="2770445722"/>
              </p:ext>
            </p:extLst>
          </p:nvPr>
        </p:nvGraphicFramePr>
        <p:xfrm>
          <a:off x="159026" y="145772"/>
          <a:ext cx="11873948" cy="6467063"/>
        </p:xfrm>
        <a:graphic>
          <a:graphicData uri="http://schemas.openxmlformats.org/drawingml/2006/table">
            <a:tbl>
              <a:tblPr firstRow="1" bandRow="1">
                <a:tableStyleId>{5C22544A-7EE6-4342-B048-85BDC9FD1C3A}</a:tableStyleId>
              </a:tblPr>
              <a:tblGrid>
                <a:gridCol w="3223876">
                  <a:extLst>
                    <a:ext uri="{9D8B030D-6E8A-4147-A177-3AD203B41FA5}">
                      <a16:colId xmlns:a16="http://schemas.microsoft.com/office/drawing/2014/main" val="1995447851"/>
                    </a:ext>
                  </a:extLst>
                </a:gridCol>
                <a:gridCol w="8650072">
                  <a:extLst>
                    <a:ext uri="{9D8B030D-6E8A-4147-A177-3AD203B41FA5}">
                      <a16:colId xmlns:a16="http://schemas.microsoft.com/office/drawing/2014/main" val="1795939106"/>
                    </a:ext>
                  </a:extLst>
                </a:gridCol>
              </a:tblGrid>
              <a:tr h="614114">
                <a:tc>
                  <a:txBody>
                    <a:bodyPr/>
                    <a:lstStyle/>
                    <a:p>
                      <a:r>
                        <a:rPr lang="en-US" sz="3200" dirty="0"/>
                        <a:t>Nutrient </a:t>
                      </a:r>
                    </a:p>
                  </a:txBody>
                  <a:tcPr/>
                </a:tc>
                <a:tc>
                  <a:txBody>
                    <a:bodyPr/>
                    <a:lstStyle/>
                    <a:p>
                      <a:r>
                        <a:rPr lang="en-US" sz="3200" dirty="0"/>
                        <a:t>Deficiency disease and symptoms</a:t>
                      </a:r>
                    </a:p>
                  </a:txBody>
                  <a:tcPr/>
                </a:tc>
                <a:extLst>
                  <a:ext uri="{0D108BD9-81ED-4DB2-BD59-A6C34878D82A}">
                    <a16:rowId xmlns:a16="http://schemas.microsoft.com/office/drawing/2014/main" val="44925392"/>
                  </a:ext>
                </a:extLst>
              </a:tr>
              <a:tr h="5852949">
                <a:tc>
                  <a:txBody>
                    <a:bodyPr/>
                    <a:lstStyle/>
                    <a:p>
                      <a:r>
                        <a:rPr lang="en-US" sz="3200" b="1" dirty="0"/>
                        <a:t>Carbohydrates</a:t>
                      </a:r>
                      <a:r>
                        <a:rPr lang="en-US" sz="3200" dirty="0"/>
                        <a:t> </a:t>
                      </a:r>
                    </a:p>
                  </a:txBody>
                  <a:tcPr/>
                </a:tc>
                <a:tc>
                  <a:txBody>
                    <a:bodyPr/>
                    <a:lstStyle/>
                    <a:p>
                      <a:r>
                        <a:rPr lang="en-US" sz="3200" b="1" dirty="0"/>
                        <a:t>Marasmus</a:t>
                      </a:r>
                    </a:p>
                    <a:p>
                      <a:pPr marL="285750" lvl="0" indent="-285750">
                        <a:buFont typeface="Arial" panose="020B0604020202020204" pitchFamily="34" charset="0"/>
                        <a:buChar char="•"/>
                      </a:pPr>
                      <a:r>
                        <a:rPr lang="en-US" sz="3200" kern="1200" dirty="0">
                          <a:solidFill>
                            <a:schemeClr val="dk1"/>
                          </a:solidFill>
                          <a:effectLst/>
                          <a:latin typeface="+mn-lt"/>
                          <a:ea typeface="+mn-ea"/>
                          <a:cs typeface="+mn-cs"/>
                        </a:rPr>
                        <a:t>General body weakness</a:t>
                      </a:r>
                    </a:p>
                    <a:p>
                      <a:pPr marL="285750" lvl="0" indent="-285750">
                        <a:buFont typeface="Arial" panose="020B0604020202020204" pitchFamily="34" charset="0"/>
                        <a:buChar char="•"/>
                      </a:pPr>
                      <a:r>
                        <a:rPr lang="en-US" sz="3200" kern="1200" dirty="0">
                          <a:solidFill>
                            <a:schemeClr val="dk1"/>
                          </a:solidFill>
                          <a:effectLst/>
                          <a:latin typeface="+mn-lt"/>
                          <a:ea typeface="+mn-ea"/>
                          <a:cs typeface="+mn-cs"/>
                        </a:rPr>
                        <a:t>Eyes are white in color</a:t>
                      </a:r>
                    </a:p>
                    <a:p>
                      <a:pPr marL="285750" lvl="0" indent="-285750">
                        <a:buFont typeface="Arial" panose="020B0604020202020204" pitchFamily="34" charset="0"/>
                        <a:buChar char="•"/>
                      </a:pPr>
                      <a:r>
                        <a:rPr lang="en-US" sz="3200" kern="1200" dirty="0">
                          <a:solidFill>
                            <a:schemeClr val="dk1"/>
                          </a:solidFill>
                          <a:effectLst/>
                          <a:latin typeface="+mn-lt"/>
                          <a:ea typeface="+mn-ea"/>
                          <a:cs typeface="+mn-cs"/>
                        </a:rPr>
                        <a:t>Hair on the head  is brown and sparse, with unusual softness.</a:t>
                      </a:r>
                    </a:p>
                    <a:p>
                      <a:pPr marL="285750" lvl="0" indent="-285750">
                        <a:buFont typeface="Arial" panose="020B0604020202020204" pitchFamily="34" charset="0"/>
                        <a:buChar char="•"/>
                      </a:pPr>
                      <a:r>
                        <a:rPr lang="en-US" sz="3200" kern="1200" dirty="0">
                          <a:solidFill>
                            <a:schemeClr val="dk1"/>
                          </a:solidFill>
                          <a:effectLst/>
                          <a:latin typeface="+mn-lt"/>
                          <a:ea typeface="+mn-ea"/>
                          <a:cs typeface="+mn-cs"/>
                        </a:rPr>
                        <a:t>Weight loss.</a:t>
                      </a:r>
                    </a:p>
                    <a:p>
                      <a:pPr marL="285750" lvl="0" indent="-285750">
                        <a:buFont typeface="Arial" panose="020B0604020202020204" pitchFamily="34" charset="0"/>
                        <a:buChar char="•"/>
                      </a:pPr>
                      <a:r>
                        <a:rPr lang="en-US" sz="3200" kern="1200" dirty="0">
                          <a:solidFill>
                            <a:schemeClr val="dk1"/>
                          </a:solidFill>
                          <a:effectLst/>
                          <a:latin typeface="+mn-lt"/>
                          <a:ea typeface="+mn-ea"/>
                          <a:cs typeface="+mn-cs"/>
                        </a:rPr>
                        <a:t>Swollen lower parts of the body like stomach, feet, and sometimes cheek.</a:t>
                      </a:r>
                    </a:p>
                    <a:p>
                      <a:pPr marL="285750" lvl="0" indent="-285750">
                        <a:buFont typeface="Arial" panose="020B0604020202020204" pitchFamily="34" charset="0"/>
                        <a:buChar char="•"/>
                      </a:pPr>
                      <a:r>
                        <a:rPr lang="en-US" sz="3200" kern="1200" dirty="0">
                          <a:solidFill>
                            <a:schemeClr val="dk1"/>
                          </a:solidFill>
                          <a:effectLst/>
                          <a:latin typeface="+mn-lt"/>
                          <a:ea typeface="+mn-ea"/>
                          <a:cs typeface="+mn-cs"/>
                        </a:rPr>
                        <a:t>Chronic diarrhea and fatigue.</a:t>
                      </a:r>
                    </a:p>
                    <a:p>
                      <a:r>
                        <a:rPr lang="en-US" sz="3200" b="1" i="1" kern="1200" dirty="0">
                          <a:solidFill>
                            <a:schemeClr val="dk1"/>
                          </a:solidFill>
                          <a:effectLst/>
                          <a:latin typeface="+mn-lt"/>
                          <a:ea typeface="+mn-ea"/>
                          <a:cs typeface="+mn-cs"/>
                        </a:rPr>
                        <a:t>Too much carbohydrates cause obesity</a:t>
                      </a:r>
                      <a:endParaRPr lang="en-US" sz="3200" b="1" i="1" dirty="0"/>
                    </a:p>
                  </a:txBody>
                  <a:tcPr/>
                </a:tc>
                <a:extLst>
                  <a:ext uri="{0D108BD9-81ED-4DB2-BD59-A6C34878D82A}">
                    <a16:rowId xmlns:a16="http://schemas.microsoft.com/office/drawing/2014/main" val="3939196403"/>
                  </a:ext>
                </a:extLst>
              </a:tr>
            </a:tbl>
          </a:graphicData>
        </a:graphic>
      </p:graphicFrame>
    </p:spTree>
    <p:extLst>
      <p:ext uri="{BB962C8B-B14F-4D97-AF65-F5344CB8AC3E}">
        <p14:creationId xmlns:p14="http://schemas.microsoft.com/office/powerpoint/2010/main" val="73093112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CAB47D19-68FB-0584-FBD1-1FC9F1EB08CB}"/>
              </a:ext>
            </a:extLst>
          </p:cNvPr>
          <p:cNvGraphicFramePr>
            <a:graphicFrameLocks noGrp="1"/>
          </p:cNvGraphicFramePr>
          <p:nvPr>
            <p:ph idx="1"/>
            <p:extLst>
              <p:ext uri="{D42A27DB-BD31-4B8C-83A1-F6EECF244321}">
                <p14:modId xmlns:p14="http://schemas.microsoft.com/office/powerpoint/2010/main" val="1824123717"/>
              </p:ext>
            </p:extLst>
          </p:nvPr>
        </p:nvGraphicFramePr>
        <p:xfrm>
          <a:off x="99391" y="318053"/>
          <a:ext cx="11993218" cy="5994037"/>
        </p:xfrm>
        <a:graphic>
          <a:graphicData uri="http://schemas.openxmlformats.org/drawingml/2006/table">
            <a:tbl>
              <a:tblPr firstRow="1" bandRow="1">
                <a:tableStyleId>{5C22544A-7EE6-4342-B048-85BDC9FD1C3A}</a:tableStyleId>
              </a:tblPr>
              <a:tblGrid>
                <a:gridCol w="2043837">
                  <a:extLst>
                    <a:ext uri="{9D8B030D-6E8A-4147-A177-3AD203B41FA5}">
                      <a16:colId xmlns:a16="http://schemas.microsoft.com/office/drawing/2014/main" val="483113900"/>
                    </a:ext>
                  </a:extLst>
                </a:gridCol>
                <a:gridCol w="9949381">
                  <a:extLst>
                    <a:ext uri="{9D8B030D-6E8A-4147-A177-3AD203B41FA5}">
                      <a16:colId xmlns:a16="http://schemas.microsoft.com/office/drawing/2014/main" val="905408125"/>
                    </a:ext>
                  </a:extLst>
                </a:gridCol>
              </a:tblGrid>
              <a:tr h="2650435">
                <a:tc>
                  <a:txBody>
                    <a:bodyPr/>
                    <a:lstStyle/>
                    <a:p>
                      <a:r>
                        <a:rPr lang="en-US" sz="2800" dirty="0"/>
                        <a:t> Proteins</a:t>
                      </a:r>
                    </a:p>
                  </a:txBody>
                  <a:tcPr/>
                </a:tc>
                <a:tc>
                  <a:txBody>
                    <a:bodyPr/>
                    <a:lstStyle/>
                    <a:p>
                      <a:r>
                        <a:rPr lang="en-US" sz="2800" dirty="0"/>
                        <a:t>Kwashiorkor</a:t>
                      </a:r>
                    </a:p>
                    <a:p>
                      <a:pPr marL="457200" indent="-457200" algn="just">
                        <a:buFont typeface="Arial" panose="020B0604020202020204" pitchFamily="34" charset="0"/>
                        <a:buChar char="•"/>
                      </a:pPr>
                      <a:r>
                        <a:rPr lang="en-US" sz="2800" b="0" dirty="0"/>
                        <a:t>Stunted growth</a:t>
                      </a:r>
                    </a:p>
                    <a:p>
                      <a:pPr marL="457200" indent="-457200" algn="just">
                        <a:buFont typeface="Arial" panose="020B0604020202020204" pitchFamily="34" charset="0"/>
                        <a:buChar char="•"/>
                      </a:pPr>
                      <a:r>
                        <a:rPr lang="en-US" sz="2800" b="0" dirty="0"/>
                        <a:t>Pot belly </a:t>
                      </a:r>
                    </a:p>
                    <a:p>
                      <a:pPr marL="457200" indent="-457200" algn="just">
                        <a:buFont typeface="Arial" panose="020B0604020202020204" pitchFamily="34" charset="0"/>
                        <a:buChar char="•"/>
                      </a:pPr>
                      <a:r>
                        <a:rPr lang="en-US" sz="2800" b="0" dirty="0"/>
                        <a:t>General body weakness</a:t>
                      </a:r>
                      <a:endParaRPr lang="en-US" sz="2800" b="0" kern="1200" dirty="0">
                        <a:solidFill>
                          <a:schemeClr val="lt1"/>
                        </a:solidFill>
                        <a:effectLst/>
                        <a:latin typeface="+mn-lt"/>
                        <a:ea typeface="+mn-ea"/>
                        <a:cs typeface="+mn-cs"/>
                      </a:endParaRPr>
                    </a:p>
                    <a:p>
                      <a:pPr marL="457200" lvl="0" indent="-457200" algn="just">
                        <a:buFont typeface="Arial" panose="020B0604020202020204" pitchFamily="34" charset="0"/>
                        <a:buChar char="•"/>
                      </a:pPr>
                      <a:r>
                        <a:rPr lang="en-US" sz="2800" b="0" kern="1200" dirty="0">
                          <a:solidFill>
                            <a:schemeClr val="lt1"/>
                          </a:solidFill>
                          <a:effectLst/>
                          <a:latin typeface="+mn-lt"/>
                          <a:ea typeface="+mn-ea"/>
                          <a:cs typeface="+mn-cs"/>
                        </a:rPr>
                        <a:t>Sparse hair</a:t>
                      </a:r>
                    </a:p>
                    <a:p>
                      <a:endParaRPr lang="en-US" sz="2800" dirty="0"/>
                    </a:p>
                  </a:txBody>
                  <a:tcPr/>
                </a:tc>
                <a:extLst>
                  <a:ext uri="{0D108BD9-81ED-4DB2-BD59-A6C34878D82A}">
                    <a16:rowId xmlns:a16="http://schemas.microsoft.com/office/drawing/2014/main" val="3718651012"/>
                  </a:ext>
                </a:extLst>
              </a:tr>
              <a:tr h="1444543">
                <a:tc>
                  <a:txBody>
                    <a:bodyPr/>
                    <a:lstStyle/>
                    <a:p>
                      <a:r>
                        <a:rPr lang="en-US" sz="2800" b="1" dirty="0"/>
                        <a:t>Iron</a:t>
                      </a:r>
                    </a:p>
                  </a:txBody>
                  <a:tcPr/>
                </a:tc>
                <a:tc>
                  <a:txBody>
                    <a:bodyPr/>
                    <a:lstStyle/>
                    <a:p>
                      <a:r>
                        <a:rPr lang="en-US" sz="2800" b="1" dirty="0" err="1"/>
                        <a:t>Anaemia</a:t>
                      </a:r>
                      <a:r>
                        <a:rPr lang="en-US" sz="2800" b="1" dirty="0"/>
                        <a:t> </a:t>
                      </a:r>
                    </a:p>
                    <a:p>
                      <a:r>
                        <a:rPr lang="en-US" sz="2800" dirty="0"/>
                        <a:t>Tiredness, shortness of breath, chest pain and dizziness.</a:t>
                      </a:r>
                    </a:p>
                    <a:p>
                      <a:endParaRPr lang="en-US" sz="2800" dirty="0"/>
                    </a:p>
                  </a:txBody>
                  <a:tcPr/>
                </a:tc>
                <a:extLst>
                  <a:ext uri="{0D108BD9-81ED-4DB2-BD59-A6C34878D82A}">
                    <a16:rowId xmlns:a16="http://schemas.microsoft.com/office/drawing/2014/main" val="1719872824"/>
                  </a:ext>
                </a:extLst>
              </a:tr>
              <a:tr h="1897734">
                <a:tc>
                  <a:txBody>
                    <a:bodyPr/>
                    <a:lstStyle/>
                    <a:p>
                      <a:r>
                        <a:rPr lang="en-US" sz="2800" b="1" dirty="0"/>
                        <a:t>Iodine </a:t>
                      </a:r>
                    </a:p>
                  </a:txBody>
                  <a:tcPr/>
                </a:tc>
                <a:tc>
                  <a:txBody>
                    <a:bodyPr/>
                    <a:lstStyle/>
                    <a:p>
                      <a:r>
                        <a:rPr lang="en-US" sz="2800" b="1" dirty="0" err="1"/>
                        <a:t>Goitre</a:t>
                      </a:r>
                      <a:endParaRPr lang="en-US" sz="2800" b="1" dirty="0"/>
                    </a:p>
                    <a:p>
                      <a:r>
                        <a:rPr lang="en-US" sz="2800" b="0" dirty="0"/>
                        <a:t>A large swelling in the neck due to swollen thyroid gland, slow metabolism, slow growth.</a:t>
                      </a:r>
                    </a:p>
                    <a:p>
                      <a:endParaRPr lang="en-US" sz="2800" dirty="0"/>
                    </a:p>
                  </a:txBody>
                  <a:tcPr/>
                </a:tc>
                <a:extLst>
                  <a:ext uri="{0D108BD9-81ED-4DB2-BD59-A6C34878D82A}">
                    <a16:rowId xmlns:a16="http://schemas.microsoft.com/office/drawing/2014/main" val="738619332"/>
                  </a:ext>
                </a:extLst>
              </a:tr>
            </a:tbl>
          </a:graphicData>
        </a:graphic>
      </p:graphicFrame>
    </p:spTree>
    <p:extLst>
      <p:ext uri="{BB962C8B-B14F-4D97-AF65-F5344CB8AC3E}">
        <p14:creationId xmlns:p14="http://schemas.microsoft.com/office/powerpoint/2010/main" val="3670711551"/>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274AA4DB-6128-3BF1-E436-886A929039E7}"/>
              </a:ext>
            </a:extLst>
          </p:cNvPr>
          <p:cNvGraphicFramePr>
            <a:graphicFrameLocks noGrp="1"/>
          </p:cNvGraphicFramePr>
          <p:nvPr>
            <p:ph idx="1"/>
            <p:extLst>
              <p:ext uri="{D42A27DB-BD31-4B8C-83A1-F6EECF244321}">
                <p14:modId xmlns:p14="http://schemas.microsoft.com/office/powerpoint/2010/main" val="3050429185"/>
              </p:ext>
            </p:extLst>
          </p:nvPr>
        </p:nvGraphicFramePr>
        <p:xfrm>
          <a:off x="125896" y="79508"/>
          <a:ext cx="11940208" cy="6614160"/>
        </p:xfrm>
        <a:graphic>
          <a:graphicData uri="http://schemas.openxmlformats.org/drawingml/2006/table">
            <a:tbl>
              <a:tblPr firstRow="1" bandRow="1">
                <a:tableStyleId>{5C22544A-7EE6-4342-B048-85BDC9FD1C3A}</a:tableStyleId>
              </a:tblPr>
              <a:tblGrid>
                <a:gridCol w="2716695">
                  <a:extLst>
                    <a:ext uri="{9D8B030D-6E8A-4147-A177-3AD203B41FA5}">
                      <a16:colId xmlns:a16="http://schemas.microsoft.com/office/drawing/2014/main" val="1629068615"/>
                    </a:ext>
                  </a:extLst>
                </a:gridCol>
                <a:gridCol w="9223513">
                  <a:extLst>
                    <a:ext uri="{9D8B030D-6E8A-4147-A177-3AD203B41FA5}">
                      <a16:colId xmlns:a16="http://schemas.microsoft.com/office/drawing/2014/main" val="2613288493"/>
                    </a:ext>
                  </a:extLst>
                </a:gridCol>
              </a:tblGrid>
              <a:tr h="1895061">
                <a:tc>
                  <a:txBody>
                    <a:bodyPr/>
                    <a:lstStyle/>
                    <a:p>
                      <a:r>
                        <a:rPr lang="en-US" sz="3200" b="0" dirty="0"/>
                        <a:t>Calcium </a:t>
                      </a:r>
                    </a:p>
                    <a:p>
                      <a:r>
                        <a:rPr lang="en-US" sz="3200" b="0" dirty="0"/>
                        <a:t>Phosphorus </a:t>
                      </a:r>
                    </a:p>
                    <a:p>
                      <a:r>
                        <a:rPr lang="en-US" sz="3200" b="0" dirty="0"/>
                        <a:t>Vitamin D</a:t>
                      </a:r>
                    </a:p>
                  </a:txBody>
                  <a:tcPr/>
                </a:tc>
                <a:tc>
                  <a:txBody>
                    <a:bodyPr/>
                    <a:lstStyle/>
                    <a:p>
                      <a:r>
                        <a:rPr lang="en-US" sz="3200" dirty="0"/>
                        <a:t>Rickets</a:t>
                      </a:r>
                    </a:p>
                    <a:p>
                      <a:pPr marL="457200" indent="-457200">
                        <a:buFont typeface="Arial" panose="020B0604020202020204" pitchFamily="34" charset="0"/>
                        <a:buChar char="•"/>
                      </a:pPr>
                      <a:r>
                        <a:rPr lang="en-US" sz="3200" b="0" dirty="0"/>
                        <a:t>Weak and deformed bones.</a:t>
                      </a:r>
                    </a:p>
                    <a:p>
                      <a:pPr marL="457200" indent="-457200">
                        <a:buFont typeface="Arial" panose="020B0604020202020204" pitchFamily="34" charset="0"/>
                        <a:buChar char="•"/>
                      </a:pPr>
                      <a:r>
                        <a:rPr lang="en-US" sz="3200" b="0" dirty="0"/>
                        <a:t>Weak teeth.</a:t>
                      </a:r>
                    </a:p>
                    <a:p>
                      <a:pPr marL="457200" indent="-457200">
                        <a:buFont typeface="Arial" panose="020B0604020202020204" pitchFamily="34" charset="0"/>
                        <a:buChar char="•"/>
                      </a:pPr>
                      <a:r>
                        <a:rPr lang="en-US" sz="3200" b="0" dirty="0"/>
                        <a:t>Muscle cramps.</a:t>
                      </a:r>
                    </a:p>
                    <a:p>
                      <a:pPr marL="457200" indent="-457200">
                        <a:buFont typeface="Arial" panose="020B0604020202020204" pitchFamily="34" charset="0"/>
                        <a:buChar char="•"/>
                      </a:pPr>
                      <a:r>
                        <a:rPr lang="en-US" sz="3200" b="0" dirty="0"/>
                        <a:t>Nervous disorders.</a:t>
                      </a:r>
                    </a:p>
                    <a:p>
                      <a:pPr marL="457200" indent="-457200">
                        <a:buFont typeface="Arial" panose="020B0604020202020204" pitchFamily="34" charset="0"/>
                        <a:buChar char="•"/>
                      </a:pPr>
                      <a:r>
                        <a:rPr lang="en-US" sz="3200" b="0" dirty="0"/>
                        <a:t>Excessive bleeding minor injuries.</a:t>
                      </a:r>
                    </a:p>
                  </a:txBody>
                  <a:tcPr/>
                </a:tc>
                <a:extLst>
                  <a:ext uri="{0D108BD9-81ED-4DB2-BD59-A6C34878D82A}">
                    <a16:rowId xmlns:a16="http://schemas.microsoft.com/office/drawing/2014/main" val="1942024258"/>
                  </a:ext>
                </a:extLst>
              </a:tr>
              <a:tr h="1219460">
                <a:tc>
                  <a:txBody>
                    <a:bodyPr/>
                    <a:lstStyle/>
                    <a:p>
                      <a:r>
                        <a:rPr lang="en-US" sz="3200" dirty="0"/>
                        <a:t>Vitamin B</a:t>
                      </a:r>
                      <a:r>
                        <a:rPr lang="en-US" sz="1600" dirty="0"/>
                        <a:t>1</a:t>
                      </a:r>
                      <a:endParaRPr lang="en-US" sz="3200" dirty="0"/>
                    </a:p>
                    <a:p>
                      <a:r>
                        <a:rPr lang="en-US" sz="3200" dirty="0"/>
                        <a:t>(Thiamine)</a:t>
                      </a:r>
                    </a:p>
                  </a:txBody>
                  <a:tcPr/>
                </a:tc>
                <a:tc>
                  <a:txBody>
                    <a:bodyPr/>
                    <a:lstStyle/>
                    <a:p>
                      <a:r>
                        <a:rPr lang="en-US" sz="3200" b="1" dirty="0"/>
                        <a:t>Beriberi </a:t>
                      </a:r>
                    </a:p>
                    <a:p>
                      <a:pPr marL="457200" indent="-457200">
                        <a:buFont typeface="Arial" panose="020B0604020202020204" pitchFamily="34" charset="0"/>
                        <a:buChar char="•"/>
                      </a:pPr>
                      <a:r>
                        <a:rPr lang="en-US" sz="3200" dirty="0"/>
                        <a:t>Swollen legs, muscle wasting, slow heart rate</a:t>
                      </a:r>
                    </a:p>
                  </a:txBody>
                  <a:tcPr/>
                </a:tc>
                <a:extLst>
                  <a:ext uri="{0D108BD9-81ED-4DB2-BD59-A6C34878D82A}">
                    <a16:rowId xmlns:a16="http://schemas.microsoft.com/office/drawing/2014/main" val="2772853602"/>
                  </a:ext>
                </a:extLst>
              </a:tr>
              <a:tr h="1219460">
                <a:tc>
                  <a:txBody>
                    <a:bodyPr/>
                    <a:lstStyle/>
                    <a:p>
                      <a:r>
                        <a:rPr lang="en-US" sz="3200" dirty="0"/>
                        <a:t>Vitamin C</a:t>
                      </a:r>
                    </a:p>
                    <a:p>
                      <a:r>
                        <a:rPr lang="en-US" sz="3200" dirty="0"/>
                        <a:t>(ascorbic acid)</a:t>
                      </a:r>
                    </a:p>
                  </a:txBody>
                  <a:tcPr/>
                </a:tc>
                <a:tc>
                  <a:txBody>
                    <a:bodyPr/>
                    <a:lstStyle/>
                    <a:p>
                      <a:pPr marL="0" indent="0">
                        <a:buFont typeface="Arial" panose="020B0604020202020204" pitchFamily="34" charset="0"/>
                        <a:buNone/>
                      </a:pPr>
                      <a:r>
                        <a:rPr lang="en-US" sz="3200" b="1" dirty="0"/>
                        <a:t>Scurvy</a:t>
                      </a:r>
                    </a:p>
                    <a:p>
                      <a:pPr marL="457200" indent="-457200">
                        <a:buFont typeface="Arial" panose="020B0604020202020204" pitchFamily="34" charset="0"/>
                        <a:buChar char="•"/>
                      </a:pPr>
                      <a:r>
                        <a:rPr lang="en-US" sz="3200" dirty="0"/>
                        <a:t>Gum bleeding, brittle bones, delayed wound healing</a:t>
                      </a:r>
                    </a:p>
                    <a:p>
                      <a:pPr marL="0" indent="0">
                        <a:buFont typeface="Arial" panose="020B0604020202020204" pitchFamily="34" charset="0"/>
                        <a:buNone/>
                      </a:pPr>
                      <a:endParaRPr lang="en-US" sz="3200" dirty="0"/>
                    </a:p>
                  </a:txBody>
                  <a:tcPr/>
                </a:tc>
                <a:extLst>
                  <a:ext uri="{0D108BD9-81ED-4DB2-BD59-A6C34878D82A}">
                    <a16:rowId xmlns:a16="http://schemas.microsoft.com/office/drawing/2014/main" val="3738776825"/>
                  </a:ext>
                </a:extLst>
              </a:tr>
            </a:tbl>
          </a:graphicData>
        </a:graphic>
      </p:graphicFrame>
    </p:spTree>
    <p:extLst>
      <p:ext uri="{BB962C8B-B14F-4D97-AF65-F5344CB8AC3E}">
        <p14:creationId xmlns:p14="http://schemas.microsoft.com/office/powerpoint/2010/main" val="340904669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2FC65FC1-0526-C452-21EC-20D4E027E96C}"/>
              </a:ext>
            </a:extLst>
          </p:cNvPr>
          <p:cNvGraphicFramePr>
            <a:graphicFrameLocks noGrp="1"/>
          </p:cNvGraphicFramePr>
          <p:nvPr>
            <p:ph idx="1"/>
            <p:extLst>
              <p:ext uri="{D42A27DB-BD31-4B8C-83A1-F6EECF244321}">
                <p14:modId xmlns:p14="http://schemas.microsoft.com/office/powerpoint/2010/main" val="2914779413"/>
              </p:ext>
            </p:extLst>
          </p:nvPr>
        </p:nvGraphicFramePr>
        <p:xfrm>
          <a:off x="198782" y="172280"/>
          <a:ext cx="11834191" cy="6359653"/>
        </p:xfrm>
        <a:graphic>
          <a:graphicData uri="http://schemas.openxmlformats.org/drawingml/2006/table">
            <a:tbl>
              <a:tblPr firstRow="1" bandRow="1">
                <a:tableStyleId>{5C22544A-7EE6-4342-B048-85BDC9FD1C3A}</a:tableStyleId>
              </a:tblPr>
              <a:tblGrid>
                <a:gridCol w="3579315">
                  <a:extLst>
                    <a:ext uri="{9D8B030D-6E8A-4147-A177-3AD203B41FA5}">
                      <a16:colId xmlns:a16="http://schemas.microsoft.com/office/drawing/2014/main" val="2224197983"/>
                    </a:ext>
                  </a:extLst>
                </a:gridCol>
                <a:gridCol w="8254876">
                  <a:extLst>
                    <a:ext uri="{9D8B030D-6E8A-4147-A177-3AD203B41FA5}">
                      <a16:colId xmlns:a16="http://schemas.microsoft.com/office/drawing/2014/main" val="263529678"/>
                    </a:ext>
                  </a:extLst>
                </a:gridCol>
              </a:tblGrid>
              <a:tr h="629577">
                <a:tc>
                  <a:txBody>
                    <a:bodyPr/>
                    <a:lstStyle/>
                    <a:p>
                      <a:r>
                        <a:rPr lang="en-US" sz="3200" dirty="0"/>
                        <a:t>Vitamin K</a:t>
                      </a:r>
                    </a:p>
                  </a:txBody>
                  <a:tcPr/>
                </a:tc>
                <a:tc>
                  <a:txBody>
                    <a:bodyPr/>
                    <a:lstStyle/>
                    <a:p>
                      <a:pPr marL="457200" indent="-457200">
                        <a:buFont typeface="Arial" panose="020B0604020202020204" pitchFamily="34" charset="0"/>
                        <a:buChar char="•"/>
                      </a:pPr>
                      <a:r>
                        <a:rPr lang="en-US" sz="3200" b="0" dirty="0"/>
                        <a:t>Excessive bleeding from minor injuries</a:t>
                      </a:r>
                    </a:p>
                  </a:txBody>
                  <a:tcPr/>
                </a:tc>
                <a:extLst>
                  <a:ext uri="{0D108BD9-81ED-4DB2-BD59-A6C34878D82A}">
                    <a16:rowId xmlns:a16="http://schemas.microsoft.com/office/drawing/2014/main" val="1130913576"/>
                  </a:ext>
                </a:extLst>
              </a:tr>
              <a:tr h="2753864">
                <a:tc>
                  <a:txBody>
                    <a:bodyPr/>
                    <a:lstStyle/>
                    <a:p>
                      <a:r>
                        <a:rPr lang="en-US" sz="3200" dirty="0"/>
                        <a:t>Vitamin B2</a:t>
                      </a:r>
                    </a:p>
                    <a:p>
                      <a:r>
                        <a:rPr lang="en-US" sz="3200" dirty="0"/>
                        <a:t>Vitamin B12</a:t>
                      </a:r>
                    </a:p>
                  </a:txBody>
                  <a:tcPr/>
                </a:tc>
                <a:tc>
                  <a:txBody>
                    <a:bodyPr/>
                    <a:lstStyle/>
                    <a:p>
                      <a:r>
                        <a:rPr lang="en-US" sz="3200" b="1" dirty="0"/>
                        <a:t>Pellagra </a:t>
                      </a:r>
                    </a:p>
                    <a:p>
                      <a:pPr marL="457200" indent="-457200">
                        <a:buFont typeface="Arial" panose="020B0604020202020204" pitchFamily="34" charset="0"/>
                        <a:buChar char="•"/>
                      </a:pPr>
                      <a:r>
                        <a:rPr lang="en-US" sz="3200" dirty="0"/>
                        <a:t>Sores in mouth and tongue</a:t>
                      </a:r>
                    </a:p>
                    <a:p>
                      <a:pPr marL="457200" indent="-457200">
                        <a:buFont typeface="Arial" panose="020B0604020202020204" pitchFamily="34" charset="0"/>
                        <a:buChar char="•"/>
                      </a:pPr>
                      <a:r>
                        <a:rPr lang="en-US" sz="3200" dirty="0"/>
                        <a:t>Cracked lips</a:t>
                      </a:r>
                    </a:p>
                    <a:p>
                      <a:pPr marL="457200" indent="-457200">
                        <a:buFont typeface="Arial" panose="020B0604020202020204" pitchFamily="34" charset="0"/>
                        <a:buChar char="•"/>
                      </a:pPr>
                      <a:r>
                        <a:rPr lang="en-US" sz="3200" dirty="0"/>
                        <a:t>Eye irritation </a:t>
                      </a:r>
                    </a:p>
                    <a:p>
                      <a:pPr marL="457200" indent="-457200">
                        <a:buFont typeface="Arial" panose="020B0604020202020204" pitchFamily="34" charset="0"/>
                        <a:buChar char="•"/>
                      </a:pPr>
                      <a:r>
                        <a:rPr lang="en-US" sz="3200" dirty="0"/>
                        <a:t>Dementia </a:t>
                      </a:r>
                    </a:p>
                    <a:p>
                      <a:pPr marL="457200" indent="-457200">
                        <a:buFont typeface="Arial" panose="020B0604020202020204" pitchFamily="34" charset="0"/>
                        <a:buChar char="•"/>
                      </a:pPr>
                      <a:r>
                        <a:rPr lang="en-US" sz="3200" dirty="0"/>
                        <a:t>Skin lesions </a:t>
                      </a:r>
                    </a:p>
                  </a:txBody>
                  <a:tcPr/>
                </a:tc>
                <a:extLst>
                  <a:ext uri="{0D108BD9-81ED-4DB2-BD59-A6C34878D82A}">
                    <a16:rowId xmlns:a16="http://schemas.microsoft.com/office/drawing/2014/main" val="3530238482"/>
                  </a:ext>
                </a:extLst>
              </a:tr>
              <a:tr h="643947">
                <a:tc>
                  <a:txBody>
                    <a:bodyPr/>
                    <a:lstStyle/>
                    <a:p>
                      <a:r>
                        <a:rPr lang="en-US" sz="3200" dirty="0"/>
                        <a:t>Vitamin E</a:t>
                      </a:r>
                    </a:p>
                  </a:txBody>
                  <a:tcPr/>
                </a:tc>
                <a:tc>
                  <a:txBody>
                    <a:bodyPr/>
                    <a:lstStyle/>
                    <a:p>
                      <a:pPr marL="457200" indent="-457200">
                        <a:buFont typeface="Arial" panose="020B0604020202020204" pitchFamily="34" charset="0"/>
                        <a:buChar char="•"/>
                      </a:pPr>
                      <a:r>
                        <a:rPr lang="en-US" sz="3200" b="1" dirty="0"/>
                        <a:t>Sterility</a:t>
                      </a:r>
                      <a:r>
                        <a:rPr lang="en-US" sz="3200" dirty="0"/>
                        <a:t> </a:t>
                      </a:r>
                    </a:p>
                  </a:txBody>
                  <a:tcPr/>
                </a:tc>
                <a:extLst>
                  <a:ext uri="{0D108BD9-81ED-4DB2-BD59-A6C34878D82A}">
                    <a16:rowId xmlns:a16="http://schemas.microsoft.com/office/drawing/2014/main" val="1428933801"/>
                  </a:ext>
                </a:extLst>
              </a:tr>
              <a:tr h="2068609">
                <a:tc>
                  <a:txBody>
                    <a:bodyPr/>
                    <a:lstStyle/>
                    <a:p>
                      <a:r>
                        <a:rPr lang="en-US" sz="3200" dirty="0"/>
                        <a:t>Vitamin A</a:t>
                      </a:r>
                    </a:p>
                  </a:txBody>
                  <a:tcPr/>
                </a:tc>
                <a:tc>
                  <a:txBody>
                    <a:bodyPr/>
                    <a:lstStyle/>
                    <a:p>
                      <a:pPr marL="457200" indent="-457200">
                        <a:buFont typeface="Arial" panose="020B0604020202020204" pitchFamily="34" charset="0"/>
                        <a:buChar char="•"/>
                      </a:pPr>
                      <a:r>
                        <a:rPr lang="en-US" sz="3200" b="0" dirty="0"/>
                        <a:t>Night blindness</a:t>
                      </a:r>
                    </a:p>
                    <a:p>
                      <a:pPr marL="457200" indent="-457200">
                        <a:buFont typeface="Arial" panose="020B0604020202020204" pitchFamily="34" charset="0"/>
                        <a:buChar char="•"/>
                      </a:pPr>
                      <a:r>
                        <a:rPr lang="en-US" sz="3200" b="0" dirty="0"/>
                        <a:t>Reduced immunity</a:t>
                      </a:r>
                    </a:p>
                  </a:txBody>
                  <a:tcPr/>
                </a:tc>
                <a:extLst>
                  <a:ext uri="{0D108BD9-81ED-4DB2-BD59-A6C34878D82A}">
                    <a16:rowId xmlns:a16="http://schemas.microsoft.com/office/drawing/2014/main" val="3524809570"/>
                  </a:ext>
                </a:extLst>
              </a:tr>
            </a:tbl>
          </a:graphicData>
        </a:graphic>
      </p:graphicFrame>
    </p:spTree>
    <p:extLst>
      <p:ext uri="{BB962C8B-B14F-4D97-AF65-F5344CB8AC3E}">
        <p14:creationId xmlns:p14="http://schemas.microsoft.com/office/powerpoint/2010/main" val="2164330310"/>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0BD5C-B0B4-E04B-22D9-B49BC75EFD90}"/>
              </a:ext>
            </a:extLst>
          </p:cNvPr>
          <p:cNvSpPr>
            <a:spLocks noGrp="1"/>
          </p:cNvSpPr>
          <p:nvPr>
            <p:ph type="title"/>
          </p:nvPr>
        </p:nvSpPr>
        <p:spPr>
          <a:xfrm>
            <a:off x="924407" y="0"/>
            <a:ext cx="9404723" cy="1400530"/>
          </a:xfrm>
        </p:spPr>
        <p:txBody>
          <a:bodyPr/>
          <a:lstStyle/>
          <a:p>
            <a:pPr algn="ctr"/>
            <a:r>
              <a:rPr lang="en-US" b="1" dirty="0"/>
              <a:t>Eating disorders</a:t>
            </a:r>
          </a:p>
        </p:txBody>
      </p:sp>
      <p:sp>
        <p:nvSpPr>
          <p:cNvPr id="3" name="Content Placeholder 2">
            <a:extLst>
              <a:ext uri="{FF2B5EF4-FFF2-40B4-BE49-F238E27FC236}">
                <a16:creationId xmlns:a16="http://schemas.microsoft.com/office/drawing/2014/main" id="{68A15C74-5386-7E9B-3D2B-AE6FAE4F5F14}"/>
              </a:ext>
            </a:extLst>
          </p:cNvPr>
          <p:cNvSpPr>
            <a:spLocks noGrp="1"/>
          </p:cNvSpPr>
          <p:nvPr>
            <p:ph idx="1"/>
          </p:nvPr>
        </p:nvSpPr>
        <p:spPr>
          <a:xfrm>
            <a:off x="160498" y="759000"/>
            <a:ext cx="11871004" cy="6084804"/>
          </a:xfrm>
        </p:spPr>
        <p:txBody>
          <a:bodyPr numCol="1">
            <a:noAutofit/>
          </a:bodyPr>
          <a:lstStyle/>
          <a:p>
            <a:pPr marL="0" indent="0" algn="just">
              <a:buNone/>
            </a:pPr>
            <a:r>
              <a:rPr lang="en-US" sz="3200" b="1" u="sng" dirty="0"/>
              <a:t>Obesity </a:t>
            </a:r>
          </a:p>
          <a:p>
            <a:pPr algn="just"/>
            <a:r>
              <a:rPr lang="en-US" sz="3200" dirty="0"/>
              <a:t>Is a condition of excessive fat accumulation in the body that increases the risk of health problems.</a:t>
            </a:r>
          </a:p>
          <a:p>
            <a:pPr marL="0" indent="0" algn="just">
              <a:buNone/>
            </a:pPr>
            <a:r>
              <a:rPr lang="en-US" sz="3200" b="1" u="sng" dirty="0"/>
              <a:t>Causes</a:t>
            </a:r>
          </a:p>
          <a:p>
            <a:pPr algn="just"/>
            <a:r>
              <a:rPr lang="en-US" sz="3200" dirty="0"/>
              <a:t>Eating more carbohydrates than they are being used in the body. Excess carbohydrates eaten are converted to fats for storage.</a:t>
            </a:r>
          </a:p>
          <a:p>
            <a:pPr algn="just"/>
            <a:r>
              <a:rPr lang="en-US" sz="3200" dirty="0"/>
              <a:t>Physical inactivity (sedentary lifestyle)</a:t>
            </a:r>
          </a:p>
          <a:p>
            <a:pPr algn="just"/>
            <a:r>
              <a:rPr lang="en-US" sz="3200" dirty="0"/>
              <a:t>genetic make up (heredity)</a:t>
            </a:r>
          </a:p>
          <a:p>
            <a:pPr algn="just"/>
            <a:r>
              <a:rPr lang="en-US" sz="3200" dirty="0"/>
              <a:t>hormonal disorder, medications, etc.</a:t>
            </a:r>
          </a:p>
          <a:p>
            <a:pPr marL="0" indent="0" algn="just">
              <a:buNone/>
            </a:pPr>
            <a:endParaRPr lang="en-US" sz="3200" dirty="0"/>
          </a:p>
        </p:txBody>
      </p:sp>
    </p:spTree>
    <p:extLst>
      <p:ext uri="{BB962C8B-B14F-4D97-AF65-F5344CB8AC3E}">
        <p14:creationId xmlns:p14="http://schemas.microsoft.com/office/powerpoint/2010/main" val="333240835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B24CA-D9F8-18E7-1FA7-62AE22B5F569}"/>
              </a:ext>
            </a:extLst>
          </p:cNvPr>
          <p:cNvSpPr>
            <a:spLocks noGrp="1"/>
          </p:cNvSpPr>
          <p:nvPr>
            <p:ph type="title"/>
          </p:nvPr>
        </p:nvSpPr>
        <p:spPr/>
        <p:txBody>
          <a:bodyPr/>
          <a:lstStyle/>
          <a:p>
            <a:r>
              <a:rPr lang="en-US" b="1" dirty="0"/>
              <a:t>Dangers of overweight and obesity</a:t>
            </a:r>
          </a:p>
        </p:txBody>
      </p:sp>
      <p:sp>
        <p:nvSpPr>
          <p:cNvPr id="3" name="Content Placeholder 2">
            <a:extLst>
              <a:ext uri="{FF2B5EF4-FFF2-40B4-BE49-F238E27FC236}">
                <a16:creationId xmlns:a16="http://schemas.microsoft.com/office/drawing/2014/main" id="{2626C53C-102C-A166-0DFD-AD6E5F56B8DE}"/>
              </a:ext>
            </a:extLst>
          </p:cNvPr>
          <p:cNvSpPr>
            <a:spLocks noGrp="1"/>
          </p:cNvSpPr>
          <p:nvPr>
            <p:ph idx="1"/>
          </p:nvPr>
        </p:nvSpPr>
        <p:spPr>
          <a:xfrm>
            <a:off x="174171" y="1233713"/>
            <a:ext cx="12017829" cy="5442857"/>
          </a:xfrm>
        </p:spPr>
        <p:txBody>
          <a:bodyPr>
            <a:normAutofit fontScale="92500" lnSpcReduction="20000"/>
          </a:bodyPr>
          <a:lstStyle/>
          <a:p>
            <a:pPr marL="0" indent="0" algn="just">
              <a:buNone/>
            </a:pPr>
            <a:r>
              <a:rPr lang="en-US" sz="3200" dirty="0"/>
              <a:t>Increased risk of developing diseases like </a:t>
            </a:r>
          </a:p>
          <a:p>
            <a:pPr algn="just"/>
            <a:r>
              <a:rPr lang="en-US" sz="3200" dirty="0"/>
              <a:t>High blood pressure</a:t>
            </a:r>
          </a:p>
          <a:p>
            <a:pPr algn="just"/>
            <a:r>
              <a:rPr lang="en-US" sz="3200" dirty="0"/>
              <a:t>Type 2 diabetes</a:t>
            </a:r>
          </a:p>
          <a:p>
            <a:pPr algn="just"/>
            <a:r>
              <a:rPr lang="en-US" sz="3200" dirty="0"/>
              <a:t>Arthritis</a:t>
            </a:r>
          </a:p>
          <a:p>
            <a:pPr algn="just"/>
            <a:r>
              <a:rPr lang="en-US" sz="3200" dirty="0"/>
              <a:t>Female infertility</a:t>
            </a:r>
          </a:p>
          <a:p>
            <a:pPr algn="just"/>
            <a:r>
              <a:rPr lang="en-US" sz="3200" dirty="0"/>
              <a:t>Lower back pain</a:t>
            </a:r>
          </a:p>
          <a:p>
            <a:pPr algn="just"/>
            <a:r>
              <a:rPr lang="en-US" sz="3200" dirty="0"/>
              <a:t>Heart diseases</a:t>
            </a:r>
          </a:p>
          <a:p>
            <a:pPr algn="just"/>
            <a:r>
              <a:rPr lang="en-US" sz="3200" dirty="0"/>
              <a:t>Depression</a:t>
            </a:r>
          </a:p>
          <a:p>
            <a:pPr algn="just"/>
            <a:r>
              <a:rPr lang="en-US" sz="3200" dirty="0"/>
              <a:t>Varicose vein</a:t>
            </a:r>
          </a:p>
          <a:p>
            <a:pPr algn="just"/>
            <a:r>
              <a:rPr lang="en-US" sz="3200" dirty="0"/>
              <a:t>Sleep apnea</a:t>
            </a:r>
          </a:p>
          <a:p>
            <a:pPr algn="just"/>
            <a:r>
              <a:rPr lang="en-US" sz="3200" dirty="0"/>
              <a:t>Acid reflux, </a:t>
            </a:r>
            <a:r>
              <a:rPr lang="en-US" sz="3200" dirty="0" err="1"/>
              <a:t>etc</a:t>
            </a:r>
            <a:endParaRPr lang="en-US" sz="3200" dirty="0"/>
          </a:p>
          <a:p>
            <a:pPr algn="just"/>
            <a:endParaRPr lang="en-US" sz="3200" dirty="0"/>
          </a:p>
          <a:p>
            <a:endParaRPr lang="en-US" dirty="0"/>
          </a:p>
        </p:txBody>
      </p:sp>
      <p:pic>
        <p:nvPicPr>
          <p:cNvPr id="4104" name="Picture 8" descr="Fact Check: No, SA does not weigh in as the world's 3rd most obese nation -  The Mail &amp; Guardian">
            <a:extLst>
              <a:ext uri="{FF2B5EF4-FFF2-40B4-BE49-F238E27FC236}">
                <a16:creationId xmlns:a16="http://schemas.microsoft.com/office/drawing/2014/main" id="{3ED1A82D-41CE-A9E6-77C9-CBFA6727671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735" t="3374" r="32296" b="5435"/>
          <a:stretch/>
        </p:blipFill>
        <p:spPr bwMode="auto">
          <a:xfrm>
            <a:off x="8816487" y="1064073"/>
            <a:ext cx="3201341" cy="561249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6583CA88-B423-2B12-D6B6-15B18B48F904}"/>
              </a:ext>
            </a:extLst>
          </p:cNvPr>
          <p:cNvPicPr>
            <a:picLocks noChangeAspect="1"/>
          </p:cNvPicPr>
          <p:nvPr/>
        </p:nvPicPr>
        <p:blipFill>
          <a:blip r:embed="rId3"/>
          <a:stretch>
            <a:fillRect/>
          </a:stretch>
        </p:blipFill>
        <p:spPr>
          <a:xfrm>
            <a:off x="4314824" y="1676041"/>
            <a:ext cx="4501664" cy="5000529"/>
          </a:xfrm>
          <a:prstGeom prst="rect">
            <a:avLst/>
          </a:prstGeom>
        </p:spPr>
      </p:pic>
    </p:spTree>
    <p:extLst>
      <p:ext uri="{BB962C8B-B14F-4D97-AF65-F5344CB8AC3E}">
        <p14:creationId xmlns:p14="http://schemas.microsoft.com/office/powerpoint/2010/main" val="41975451"/>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71635-1802-8921-CFE8-E17FDB7F7B07}"/>
              </a:ext>
            </a:extLst>
          </p:cNvPr>
          <p:cNvSpPr>
            <a:spLocks noGrp="1"/>
          </p:cNvSpPr>
          <p:nvPr>
            <p:ph type="title"/>
          </p:nvPr>
        </p:nvSpPr>
        <p:spPr>
          <a:xfrm>
            <a:off x="689654" y="336607"/>
            <a:ext cx="9404723" cy="1400530"/>
          </a:xfrm>
        </p:spPr>
        <p:txBody>
          <a:bodyPr/>
          <a:lstStyle/>
          <a:p>
            <a:r>
              <a:rPr lang="en-US" b="1" dirty="0"/>
              <a:t>Managing/avoiding of obesity</a:t>
            </a:r>
          </a:p>
        </p:txBody>
      </p:sp>
      <p:sp>
        <p:nvSpPr>
          <p:cNvPr id="3" name="Content Placeholder 2">
            <a:extLst>
              <a:ext uri="{FF2B5EF4-FFF2-40B4-BE49-F238E27FC236}">
                <a16:creationId xmlns:a16="http://schemas.microsoft.com/office/drawing/2014/main" id="{DE0321D0-7045-C6CE-2FFA-FA1FC983B4E4}"/>
              </a:ext>
            </a:extLst>
          </p:cNvPr>
          <p:cNvSpPr>
            <a:spLocks noGrp="1"/>
          </p:cNvSpPr>
          <p:nvPr>
            <p:ph idx="1"/>
          </p:nvPr>
        </p:nvSpPr>
        <p:spPr>
          <a:xfrm>
            <a:off x="181428" y="1036872"/>
            <a:ext cx="11829143" cy="5484521"/>
          </a:xfrm>
        </p:spPr>
        <p:txBody>
          <a:bodyPr numCol="2">
            <a:normAutofit/>
          </a:bodyPr>
          <a:lstStyle/>
          <a:p>
            <a:pPr algn="just"/>
            <a:r>
              <a:rPr lang="en-US" sz="3200" dirty="0"/>
              <a:t>Healthy diet: low carbohydrate diets.</a:t>
            </a:r>
          </a:p>
          <a:p>
            <a:pPr algn="just"/>
            <a:r>
              <a:rPr lang="en-US" sz="3200" dirty="0"/>
              <a:t>Regular exercise to burn excess fats.</a:t>
            </a:r>
          </a:p>
          <a:p>
            <a:pPr algn="just"/>
            <a:r>
              <a:rPr lang="en-US" sz="3200" dirty="0"/>
              <a:t>Stress management e.g. through counselling.</a:t>
            </a:r>
          </a:p>
          <a:p>
            <a:pPr algn="just"/>
            <a:r>
              <a:rPr lang="en-US" sz="3200" dirty="0"/>
              <a:t>Medication e.g. appetite suppressants.</a:t>
            </a:r>
          </a:p>
          <a:p>
            <a:pPr algn="just"/>
            <a:r>
              <a:rPr lang="en-US" sz="3200" dirty="0"/>
              <a:t>Surgery for class III obesity.</a:t>
            </a:r>
          </a:p>
        </p:txBody>
      </p:sp>
      <p:pic>
        <p:nvPicPr>
          <p:cNvPr id="5122" name="Picture 2" descr="4 Ways to Overcome Obesity - wikiHow">
            <a:extLst>
              <a:ext uri="{FF2B5EF4-FFF2-40B4-BE49-F238E27FC236}">
                <a16:creationId xmlns:a16="http://schemas.microsoft.com/office/drawing/2014/main" id="{40EB3F95-D68C-1BA7-1AB4-40FD45BAD9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389" y="1285194"/>
            <a:ext cx="5724182" cy="42876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600317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95920-A96D-0BF0-0743-F1604E18EDA2}"/>
              </a:ext>
            </a:extLst>
          </p:cNvPr>
          <p:cNvSpPr>
            <a:spLocks noGrp="1"/>
          </p:cNvSpPr>
          <p:nvPr>
            <p:ph type="title"/>
          </p:nvPr>
        </p:nvSpPr>
        <p:spPr>
          <a:xfrm>
            <a:off x="646111" y="31812"/>
            <a:ext cx="9404723" cy="1400530"/>
          </a:xfrm>
        </p:spPr>
        <p:txBody>
          <a:bodyPr/>
          <a:lstStyle/>
          <a:p>
            <a:r>
              <a:rPr lang="en-US" b="1" dirty="0"/>
              <a:t>Body Mass Index (BMI)</a:t>
            </a:r>
          </a:p>
        </p:txBody>
      </p:sp>
      <p:sp>
        <p:nvSpPr>
          <p:cNvPr id="3" name="Content Placeholder 2">
            <a:extLst>
              <a:ext uri="{FF2B5EF4-FFF2-40B4-BE49-F238E27FC236}">
                <a16:creationId xmlns:a16="http://schemas.microsoft.com/office/drawing/2014/main" id="{298FA176-D152-33D8-A628-63F041C036F9}"/>
              </a:ext>
            </a:extLst>
          </p:cNvPr>
          <p:cNvSpPr>
            <a:spLocks noGrp="1"/>
          </p:cNvSpPr>
          <p:nvPr>
            <p:ph idx="1"/>
          </p:nvPr>
        </p:nvSpPr>
        <p:spPr>
          <a:xfrm>
            <a:off x="181427" y="925236"/>
            <a:ext cx="11829145" cy="5900952"/>
          </a:xfrm>
        </p:spPr>
        <p:txBody>
          <a:bodyPr>
            <a:normAutofit/>
          </a:bodyPr>
          <a:lstStyle/>
          <a:p>
            <a:pPr algn="just"/>
            <a:r>
              <a:rPr lang="en-US" sz="3200" dirty="0"/>
              <a:t>It is a measure of body fat based on ratio of height to body weight. </a:t>
            </a:r>
          </a:p>
          <a:p>
            <a:pPr algn="just"/>
            <a:r>
              <a:rPr lang="en-US" sz="3200" dirty="0"/>
              <a:t>Formula: weight in kilograms divided by the square of height in meters.</a:t>
            </a:r>
          </a:p>
          <a:p>
            <a:pPr algn="just"/>
            <a:r>
              <a:rPr lang="en-US" sz="3200" dirty="0"/>
              <a:t>It is important for showing weight status of individuals.</a:t>
            </a:r>
          </a:p>
          <a:p>
            <a:pPr marL="0" indent="0" algn="just">
              <a:buNone/>
            </a:pPr>
            <a:endParaRPr lang="en-US" sz="3200" dirty="0"/>
          </a:p>
        </p:txBody>
      </p:sp>
      <p:graphicFrame>
        <p:nvGraphicFramePr>
          <p:cNvPr id="4" name="Table 4">
            <a:extLst>
              <a:ext uri="{FF2B5EF4-FFF2-40B4-BE49-F238E27FC236}">
                <a16:creationId xmlns:a16="http://schemas.microsoft.com/office/drawing/2014/main" id="{D12F3CB9-9BCE-BD8F-D005-61295FE08D6D}"/>
              </a:ext>
            </a:extLst>
          </p:cNvPr>
          <p:cNvGraphicFramePr>
            <a:graphicFrameLocks noGrp="1"/>
          </p:cNvGraphicFramePr>
          <p:nvPr>
            <p:extLst>
              <p:ext uri="{D42A27DB-BD31-4B8C-83A1-F6EECF244321}">
                <p14:modId xmlns:p14="http://schemas.microsoft.com/office/powerpoint/2010/main" val="3190770902"/>
              </p:ext>
            </p:extLst>
          </p:nvPr>
        </p:nvGraphicFramePr>
        <p:xfrm>
          <a:off x="181426" y="3739850"/>
          <a:ext cx="11829144" cy="2895600"/>
        </p:xfrm>
        <a:graphic>
          <a:graphicData uri="http://schemas.openxmlformats.org/drawingml/2006/table">
            <a:tbl>
              <a:tblPr firstRow="1" bandRow="1">
                <a:tableStyleId>{5C22544A-7EE6-4342-B048-85BDC9FD1C3A}</a:tableStyleId>
              </a:tblPr>
              <a:tblGrid>
                <a:gridCol w="5914572">
                  <a:extLst>
                    <a:ext uri="{9D8B030D-6E8A-4147-A177-3AD203B41FA5}">
                      <a16:colId xmlns:a16="http://schemas.microsoft.com/office/drawing/2014/main" val="3759656052"/>
                    </a:ext>
                  </a:extLst>
                </a:gridCol>
                <a:gridCol w="5914572">
                  <a:extLst>
                    <a:ext uri="{9D8B030D-6E8A-4147-A177-3AD203B41FA5}">
                      <a16:colId xmlns:a16="http://schemas.microsoft.com/office/drawing/2014/main" val="292664289"/>
                    </a:ext>
                  </a:extLst>
                </a:gridCol>
              </a:tblGrid>
              <a:tr h="552438">
                <a:tc>
                  <a:txBody>
                    <a:bodyPr/>
                    <a:lstStyle/>
                    <a:p>
                      <a:pPr algn="just"/>
                      <a:r>
                        <a:rPr lang="en-US" sz="3200" dirty="0"/>
                        <a:t>BMI</a:t>
                      </a:r>
                    </a:p>
                  </a:txBody>
                  <a:tcPr/>
                </a:tc>
                <a:tc>
                  <a:txBody>
                    <a:bodyPr/>
                    <a:lstStyle/>
                    <a:p>
                      <a:pPr algn="just"/>
                      <a:r>
                        <a:rPr lang="en-US" sz="3200" dirty="0"/>
                        <a:t>Weight status</a:t>
                      </a:r>
                    </a:p>
                  </a:txBody>
                  <a:tcPr/>
                </a:tc>
                <a:extLst>
                  <a:ext uri="{0D108BD9-81ED-4DB2-BD59-A6C34878D82A}">
                    <a16:rowId xmlns:a16="http://schemas.microsoft.com/office/drawing/2014/main" val="3775149419"/>
                  </a:ext>
                </a:extLst>
              </a:tr>
              <a:tr h="552438">
                <a:tc>
                  <a:txBody>
                    <a:bodyPr/>
                    <a:lstStyle/>
                    <a:p>
                      <a:pPr algn="just" fontAlgn="t"/>
                      <a:r>
                        <a:rPr lang="en-US" sz="3200" dirty="0">
                          <a:effectLst/>
                        </a:rPr>
                        <a:t>Below 18.5</a:t>
                      </a:r>
                    </a:p>
                  </a:txBody>
                  <a:tcPr/>
                </a:tc>
                <a:tc>
                  <a:txBody>
                    <a:bodyPr/>
                    <a:lstStyle/>
                    <a:p>
                      <a:pPr algn="just" fontAlgn="t"/>
                      <a:r>
                        <a:rPr lang="en-US" sz="3200">
                          <a:effectLst/>
                        </a:rPr>
                        <a:t>Underweight</a:t>
                      </a:r>
                    </a:p>
                  </a:txBody>
                  <a:tcPr/>
                </a:tc>
                <a:extLst>
                  <a:ext uri="{0D108BD9-81ED-4DB2-BD59-A6C34878D82A}">
                    <a16:rowId xmlns:a16="http://schemas.microsoft.com/office/drawing/2014/main" val="2724784556"/>
                  </a:ext>
                </a:extLst>
              </a:tr>
              <a:tr h="552438">
                <a:tc>
                  <a:txBody>
                    <a:bodyPr/>
                    <a:lstStyle/>
                    <a:p>
                      <a:pPr algn="just" fontAlgn="t"/>
                      <a:r>
                        <a:rPr lang="en-US" sz="3200">
                          <a:effectLst/>
                        </a:rPr>
                        <a:t>18.5 – 24.9</a:t>
                      </a:r>
                    </a:p>
                  </a:txBody>
                  <a:tcPr/>
                </a:tc>
                <a:tc>
                  <a:txBody>
                    <a:bodyPr/>
                    <a:lstStyle/>
                    <a:p>
                      <a:pPr algn="just" fontAlgn="t"/>
                      <a:r>
                        <a:rPr lang="en-US" sz="3200">
                          <a:effectLst/>
                        </a:rPr>
                        <a:t>Healthy Weight</a:t>
                      </a:r>
                    </a:p>
                  </a:txBody>
                  <a:tcPr/>
                </a:tc>
                <a:extLst>
                  <a:ext uri="{0D108BD9-81ED-4DB2-BD59-A6C34878D82A}">
                    <a16:rowId xmlns:a16="http://schemas.microsoft.com/office/drawing/2014/main" val="1924762585"/>
                  </a:ext>
                </a:extLst>
              </a:tr>
              <a:tr h="552438">
                <a:tc>
                  <a:txBody>
                    <a:bodyPr/>
                    <a:lstStyle/>
                    <a:p>
                      <a:pPr algn="just" fontAlgn="t"/>
                      <a:r>
                        <a:rPr lang="en-US" sz="3200">
                          <a:effectLst/>
                        </a:rPr>
                        <a:t>25.0 – 29.9</a:t>
                      </a:r>
                    </a:p>
                  </a:txBody>
                  <a:tcPr/>
                </a:tc>
                <a:tc>
                  <a:txBody>
                    <a:bodyPr/>
                    <a:lstStyle/>
                    <a:p>
                      <a:pPr algn="just" fontAlgn="t"/>
                      <a:r>
                        <a:rPr lang="en-US" sz="3200">
                          <a:effectLst/>
                        </a:rPr>
                        <a:t>Overweight</a:t>
                      </a:r>
                    </a:p>
                  </a:txBody>
                  <a:tcPr/>
                </a:tc>
                <a:extLst>
                  <a:ext uri="{0D108BD9-81ED-4DB2-BD59-A6C34878D82A}">
                    <a16:rowId xmlns:a16="http://schemas.microsoft.com/office/drawing/2014/main" val="1344708871"/>
                  </a:ext>
                </a:extLst>
              </a:tr>
              <a:tr h="552438">
                <a:tc>
                  <a:txBody>
                    <a:bodyPr/>
                    <a:lstStyle/>
                    <a:p>
                      <a:pPr algn="just" fontAlgn="t"/>
                      <a:r>
                        <a:rPr lang="en-US" sz="3200">
                          <a:effectLst/>
                        </a:rPr>
                        <a:t>30.0 and Above</a:t>
                      </a:r>
                    </a:p>
                  </a:txBody>
                  <a:tcPr/>
                </a:tc>
                <a:tc>
                  <a:txBody>
                    <a:bodyPr/>
                    <a:lstStyle/>
                    <a:p>
                      <a:pPr algn="just" fontAlgn="t"/>
                      <a:r>
                        <a:rPr lang="en-US" sz="3200" dirty="0">
                          <a:effectLst/>
                        </a:rPr>
                        <a:t>Obesity</a:t>
                      </a:r>
                    </a:p>
                  </a:txBody>
                  <a:tcPr/>
                </a:tc>
                <a:extLst>
                  <a:ext uri="{0D108BD9-81ED-4DB2-BD59-A6C34878D82A}">
                    <a16:rowId xmlns:a16="http://schemas.microsoft.com/office/drawing/2014/main" val="3745480341"/>
                  </a:ext>
                </a:extLst>
              </a:tr>
            </a:tbl>
          </a:graphicData>
        </a:graphic>
      </p:graphicFrame>
    </p:spTree>
    <p:extLst>
      <p:ext uri="{BB962C8B-B14F-4D97-AF65-F5344CB8AC3E}">
        <p14:creationId xmlns:p14="http://schemas.microsoft.com/office/powerpoint/2010/main" val="314126044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032F03-ADFD-2C61-0516-00319E00B016}"/>
              </a:ext>
            </a:extLst>
          </p:cNvPr>
          <p:cNvSpPr>
            <a:spLocks noGrp="1"/>
          </p:cNvSpPr>
          <p:nvPr>
            <p:ph idx="1"/>
          </p:nvPr>
        </p:nvSpPr>
        <p:spPr>
          <a:xfrm>
            <a:off x="420914" y="1349830"/>
            <a:ext cx="11292115" cy="4898570"/>
          </a:xfrm>
        </p:spPr>
        <p:txBody>
          <a:bodyPr>
            <a:normAutofit/>
          </a:bodyPr>
          <a:lstStyle/>
          <a:p>
            <a:pPr marL="0" indent="0">
              <a:buNone/>
            </a:pPr>
            <a:r>
              <a:rPr lang="en-US" sz="3200" b="0" i="0" dirty="0">
                <a:effectLst/>
                <a:latin typeface="Open Sans" panose="020B0606030504020204" pitchFamily="34" charset="0"/>
              </a:rPr>
              <a:t>Example: Weight = 68 kg, Height = 165 cm (1.65 m)</a:t>
            </a:r>
            <a:r>
              <a:rPr lang="en-US" sz="3200" dirty="0"/>
              <a:t/>
            </a:r>
            <a:br>
              <a:rPr lang="en-US" sz="3200" dirty="0"/>
            </a:br>
            <a:r>
              <a:rPr lang="en-US" sz="3200" b="0" i="0" dirty="0">
                <a:effectLst/>
                <a:latin typeface="Open Sans" panose="020B0606030504020204" pitchFamily="34" charset="0"/>
              </a:rPr>
              <a:t>Calculation: BMI = 68 ÷ (1.65)</a:t>
            </a:r>
            <a:r>
              <a:rPr lang="en-US" sz="3200" b="0" i="0" u="none" strike="noStrike" baseline="30000" dirty="0">
                <a:effectLst/>
                <a:latin typeface="Open Sans" panose="020B0606030504020204" pitchFamily="34" charset="0"/>
              </a:rPr>
              <a:t>2</a:t>
            </a:r>
            <a:r>
              <a:rPr lang="en-US" sz="3200" b="0" i="0" dirty="0">
                <a:effectLst/>
                <a:latin typeface="Open Sans" panose="020B0606030504020204" pitchFamily="34" charset="0"/>
              </a:rPr>
              <a:t> = 24.98</a:t>
            </a:r>
          </a:p>
          <a:p>
            <a:pPr marL="0" indent="0" algn="just">
              <a:buNone/>
            </a:pPr>
            <a:endParaRPr lang="en-US" sz="3200" dirty="0">
              <a:latin typeface="Open Sans" panose="020B0606030504020204" pitchFamily="34" charset="0"/>
            </a:endParaRPr>
          </a:p>
          <a:p>
            <a:pPr marL="0" indent="0" algn="just">
              <a:buNone/>
            </a:pPr>
            <a:endParaRPr lang="en-US" sz="3200" dirty="0">
              <a:latin typeface="Open Sans" panose="020B0606030504020204" pitchFamily="34" charset="0"/>
            </a:endParaRPr>
          </a:p>
          <a:p>
            <a:pPr marL="0" indent="0" algn="just">
              <a:buNone/>
            </a:pPr>
            <a:r>
              <a:rPr lang="en-US" sz="3200" dirty="0">
                <a:latin typeface="Open Sans" panose="020B0606030504020204" pitchFamily="34" charset="0"/>
              </a:rPr>
              <a:t>Note: BMI for children and teens changes according to age and sex because the amount of body fat changes with age and the amount of body fat differs between girls and boys.</a:t>
            </a:r>
            <a:endParaRPr lang="en-US" sz="3200" dirty="0"/>
          </a:p>
        </p:txBody>
      </p:sp>
    </p:spTree>
    <p:extLst>
      <p:ext uri="{BB962C8B-B14F-4D97-AF65-F5344CB8AC3E}">
        <p14:creationId xmlns:p14="http://schemas.microsoft.com/office/powerpoint/2010/main" val="3014224033"/>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F7713-C975-10A6-2273-34D053240183}"/>
              </a:ext>
            </a:extLst>
          </p:cNvPr>
          <p:cNvSpPr>
            <a:spLocks noGrp="1"/>
          </p:cNvSpPr>
          <p:nvPr>
            <p:ph type="title"/>
          </p:nvPr>
        </p:nvSpPr>
        <p:spPr>
          <a:xfrm>
            <a:off x="878340" y="190074"/>
            <a:ext cx="9426803" cy="839053"/>
          </a:xfrm>
        </p:spPr>
        <p:txBody>
          <a:bodyPr/>
          <a:lstStyle/>
          <a:p>
            <a:r>
              <a:rPr lang="en-US" b="1" u="sng" dirty="0"/>
              <a:t>Bulimia</a:t>
            </a:r>
          </a:p>
        </p:txBody>
      </p:sp>
      <p:sp>
        <p:nvSpPr>
          <p:cNvPr id="3" name="Content Placeholder 2">
            <a:extLst>
              <a:ext uri="{FF2B5EF4-FFF2-40B4-BE49-F238E27FC236}">
                <a16:creationId xmlns:a16="http://schemas.microsoft.com/office/drawing/2014/main" id="{3EECE092-1FD1-A7DF-E33B-BD5BA08E6064}"/>
              </a:ext>
            </a:extLst>
          </p:cNvPr>
          <p:cNvSpPr>
            <a:spLocks noGrp="1"/>
          </p:cNvSpPr>
          <p:nvPr>
            <p:ph idx="1"/>
          </p:nvPr>
        </p:nvSpPr>
        <p:spPr>
          <a:xfrm>
            <a:off x="101600" y="1016000"/>
            <a:ext cx="11988800" cy="5651926"/>
          </a:xfrm>
        </p:spPr>
        <p:txBody>
          <a:bodyPr>
            <a:normAutofit/>
          </a:bodyPr>
          <a:lstStyle/>
          <a:p>
            <a:pPr algn="just"/>
            <a:r>
              <a:rPr lang="en-US" sz="3200" dirty="0"/>
              <a:t>An eating disorder where a person eats unusually large quantities of food in a short period of time (binge)then gets rid of the food (purge) by ways such as self-induced vomiting, fasting, vigorous exercise, use of laxatives or diuretics.</a:t>
            </a:r>
          </a:p>
          <a:p>
            <a:pPr algn="just"/>
            <a:r>
              <a:rPr lang="en-US" sz="3200" dirty="0"/>
              <a:t>It is considered a mental disorder.</a:t>
            </a:r>
          </a:p>
          <a:p>
            <a:pPr algn="just"/>
            <a:r>
              <a:rPr lang="en-US" sz="3200" dirty="0"/>
              <a:t>Effects: Throat and stomach ulcers, tooth decay and cavities, fluctuation in weight, etc.</a:t>
            </a:r>
          </a:p>
          <a:p>
            <a:pPr algn="just"/>
            <a:r>
              <a:rPr lang="en-US" sz="3200" dirty="0"/>
              <a:t>Management: Psychotherapy, Nutritional counseling, medication e.g. antidepressants, etc.</a:t>
            </a:r>
          </a:p>
        </p:txBody>
      </p:sp>
    </p:spTree>
    <p:extLst>
      <p:ext uri="{BB962C8B-B14F-4D97-AF65-F5344CB8AC3E}">
        <p14:creationId xmlns:p14="http://schemas.microsoft.com/office/powerpoint/2010/main" val="292623552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FA63F-BA7C-447D-C669-7F11FA906E35}"/>
              </a:ext>
            </a:extLst>
          </p:cNvPr>
          <p:cNvSpPr>
            <a:spLocks noGrp="1"/>
          </p:cNvSpPr>
          <p:nvPr>
            <p:ph type="title"/>
          </p:nvPr>
        </p:nvSpPr>
        <p:spPr>
          <a:xfrm>
            <a:off x="544511" y="152400"/>
            <a:ext cx="10152518" cy="1400530"/>
          </a:xfrm>
        </p:spPr>
        <p:txBody>
          <a:bodyPr/>
          <a:lstStyle/>
          <a:p>
            <a:r>
              <a:rPr lang="en-US" b="1" u="sng" dirty="0"/>
              <a:t>Anorexia</a:t>
            </a:r>
            <a:r>
              <a:rPr lang="en-US" dirty="0"/>
              <a:t> </a:t>
            </a:r>
          </a:p>
        </p:txBody>
      </p:sp>
      <p:sp>
        <p:nvSpPr>
          <p:cNvPr id="3" name="Content Placeholder 2">
            <a:extLst>
              <a:ext uri="{FF2B5EF4-FFF2-40B4-BE49-F238E27FC236}">
                <a16:creationId xmlns:a16="http://schemas.microsoft.com/office/drawing/2014/main" id="{7406D796-B1D9-3A77-547D-7B658FACF6F9}"/>
              </a:ext>
            </a:extLst>
          </p:cNvPr>
          <p:cNvSpPr>
            <a:spLocks noGrp="1"/>
          </p:cNvSpPr>
          <p:nvPr>
            <p:ph idx="1"/>
          </p:nvPr>
        </p:nvSpPr>
        <p:spPr>
          <a:xfrm>
            <a:off x="203201" y="943429"/>
            <a:ext cx="11567885" cy="5762171"/>
          </a:xfrm>
        </p:spPr>
        <p:txBody>
          <a:bodyPr>
            <a:normAutofit fontScale="92500" lnSpcReduction="10000"/>
          </a:bodyPr>
          <a:lstStyle/>
          <a:p>
            <a:pPr algn="just"/>
            <a:r>
              <a:rPr lang="en-US" sz="3200" dirty="0"/>
              <a:t>is an eating disorder where a person feels a need to keep their weight as low as possible and engages in self-starvation, extreme diets and extreme exercise to lose weight.</a:t>
            </a:r>
          </a:p>
          <a:p>
            <a:pPr algn="just"/>
            <a:r>
              <a:rPr lang="en-US" sz="3200" dirty="0"/>
              <a:t>Signs/symptoms: missing meals, abnormal fear of being fat, weight loss, lack of menstrual periods  (females), etc.</a:t>
            </a:r>
          </a:p>
          <a:p>
            <a:pPr algn="just"/>
            <a:r>
              <a:rPr lang="en-US" sz="3200" dirty="0"/>
              <a:t>Associated problems: loss of fertility, low sex drive, osteoporosis, weak muscles, poor concentration and memory, weakened immune system, heart diseases, low blood pressure,  etc.</a:t>
            </a:r>
          </a:p>
          <a:p>
            <a:pPr algn="just"/>
            <a:r>
              <a:rPr lang="en-US" sz="3200" dirty="0"/>
              <a:t>Treatment: psychotherapy, restoring normal eating patterns, medicines.</a:t>
            </a:r>
          </a:p>
        </p:txBody>
      </p:sp>
    </p:spTree>
    <p:extLst>
      <p:ext uri="{BB962C8B-B14F-4D97-AF65-F5344CB8AC3E}">
        <p14:creationId xmlns:p14="http://schemas.microsoft.com/office/powerpoint/2010/main" val="278086491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BE867-99CB-B272-E820-08EBA5D576A6}"/>
              </a:ext>
            </a:extLst>
          </p:cNvPr>
          <p:cNvSpPr>
            <a:spLocks noGrp="1"/>
          </p:cNvSpPr>
          <p:nvPr>
            <p:ph type="title"/>
          </p:nvPr>
        </p:nvSpPr>
        <p:spPr>
          <a:xfrm>
            <a:off x="646111" y="23737"/>
            <a:ext cx="9671933" cy="822930"/>
          </a:xfrm>
        </p:spPr>
        <p:txBody>
          <a:bodyPr/>
          <a:lstStyle/>
          <a:p>
            <a:r>
              <a:rPr lang="en-US" dirty="0"/>
              <a:t>Use of drugs to change body image</a:t>
            </a:r>
          </a:p>
        </p:txBody>
      </p:sp>
      <p:sp>
        <p:nvSpPr>
          <p:cNvPr id="3" name="Content Placeholder 2">
            <a:extLst>
              <a:ext uri="{FF2B5EF4-FFF2-40B4-BE49-F238E27FC236}">
                <a16:creationId xmlns:a16="http://schemas.microsoft.com/office/drawing/2014/main" id="{B4FB4D77-B9F8-E25E-B605-D28D0DA0054A}"/>
              </a:ext>
            </a:extLst>
          </p:cNvPr>
          <p:cNvSpPr>
            <a:spLocks noGrp="1"/>
          </p:cNvSpPr>
          <p:nvPr>
            <p:ph idx="1"/>
          </p:nvPr>
        </p:nvSpPr>
        <p:spPr>
          <a:xfrm>
            <a:off x="39511" y="1111956"/>
            <a:ext cx="12112978" cy="4634088"/>
          </a:xfrm>
        </p:spPr>
        <p:txBody>
          <a:bodyPr>
            <a:noAutofit/>
          </a:bodyPr>
          <a:lstStyle/>
          <a:p>
            <a:r>
              <a:rPr lang="en-US" sz="2800" dirty="0"/>
              <a:t>Occurs in people who are dissatisfied with their natural images.</a:t>
            </a:r>
          </a:p>
          <a:p>
            <a:r>
              <a:rPr lang="en-US" sz="2800" dirty="0"/>
              <a:t>Involves use of diet pills mostly by females, to attain slim shape.</a:t>
            </a:r>
          </a:p>
          <a:p>
            <a:r>
              <a:rPr lang="en-US" sz="2800" dirty="0"/>
              <a:t>Males use steroids to appear more masculine.</a:t>
            </a:r>
          </a:p>
          <a:p>
            <a:r>
              <a:rPr lang="en-US" sz="2800" dirty="0"/>
              <a:t>Diet pills can cause high blood pressure, fast heart rate, increased blood pressure and heart rate</a:t>
            </a:r>
          </a:p>
          <a:p>
            <a:r>
              <a:rPr lang="en-US" sz="2800" dirty="0"/>
              <a:t>insomnia (trouble sleeping)</a:t>
            </a:r>
          </a:p>
          <a:p>
            <a:r>
              <a:rPr lang="en-US" sz="2800" dirty="0"/>
              <a:t>nervousness</a:t>
            </a:r>
          </a:p>
          <a:p>
            <a:r>
              <a:rPr lang="en-US" sz="2800" dirty="0"/>
              <a:t>blurred vision</a:t>
            </a:r>
          </a:p>
          <a:p>
            <a:r>
              <a:rPr lang="en-US" sz="2800" dirty="0"/>
              <a:t>restlessness</a:t>
            </a:r>
          </a:p>
          <a:p>
            <a:r>
              <a:rPr lang="en-US" sz="2800" dirty="0"/>
              <a:t>Headache, </a:t>
            </a:r>
            <a:r>
              <a:rPr lang="en-US" sz="2800" dirty="0" err="1"/>
              <a:t>etc</a:t>
            </a:r>
            <a:endParaRPr lang="en-US" sz="2800" dirty="0"/>
          </a:p>
        </p:txBody>
      </p:sp>
    </p:spTree>
    <p:extLst>
      <p:ext uri="{BB962C8B-B14F-4D97-AF65-F5344CB8AC3E}">
        <p14:creationId xmlns:p14="http://schemas.microsoft.com/office/powerpoint/2010/main" val="2033858246"/>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5B036-4BD8-F0ED-0C7F-9660F54A846D}"/>
              </a:ext>
            </a:extLst>
          </p:cNvPr>
          <p:cNvSpPr>
            <a:spLocks noGrp="1"/>
          </p:cNvSpPr>
          <p:nvPr>
            <p:ph type="title"/>
          </p:nvPr>
        </p:nvSpPr>
        <p:spPr/>
        <p:txBody>
          <a:bodyPr/>
          <a:lstStyle/>
          <a:p>
            <a:pPr algn="ctr"/>
            <a:r>
              <a:rPr lang="en-US" b="1" dirty="0"/>
              <a:t>Size and self esteem</a:t>
            </a:r>
          </a:p>
        </p:txBody>
      </p:sp>
      <p:sp>
        <p:nvSpPr>
          <p:cNvPr id="3" name="Content Placeholder 2">
            <a:extLst>
              <a:ext uri="{FF2B5EF4-FFF2-40B4-BE49-F238E27FC236}">
                <a16:creationId xmlns:a16="http://schemas.microsoft.com/office/drawing/2014/main" id="{6DC45775-E2E1-8B1D-9736-F987EB72B96A}"/>
              </a:ext>
            </a:extLst>
          </p:cNvPr>
          <p:cNvSpPr>
            <a:spLocks noGrp="1"/>
          </p:cNvSpPr>
          <p:nvPr>
            <p:ph idx="1"/>
          </p:nvPr>
        </p:nvSpPr>
        <p:spPr>
          <a:xfrm>
            <a:off x="237068" y="1761068"/>
            <a:ext cx="11537244" cy="4346222"/>
          </a:xfrm>
        </p:spPr>
        <p:txBody>
          <a:bodyPr/>
          <a:lstStyle/>
          <a:p>
            <a:pPr algn="just"/>
            <a:r>
              <a:rPr lang="en-US" sz="2800" dirty="0"/>
              <a:t>Self esteem is one’s own sense of personal worth or value.</a:t>
            </a:r>
          </a:p>
          <a:p>
            <a:pPr algn="just"/>
            <a:r>
              <a:rPr lang="en-US" sz="2800" dirty="0"/>
              <a:t>Size affects one’s appearance and can </a:t>
            </a:r>
            <a:r>
              <a:rPr lang="en-US" sz="2800"/>
              <a:t>affect one’s </a:t>
            </a:r>
            <a:r>
              <a:rPr lang="en-US" sz="2800" dirty="0"/>
              <a:t>self esteem.</a:t>
            </a:r>
          </a:p>
          <a:p>
            <a:pPr algn="just"/>
            <a:r>
              <a:rPr lang="en-US" sz="2800" dirty="0"/>
              <a:t>People with high self esteem accept and value themselves, are confident about themselves which make then beautiful/handsome and attractive regardless of their height, size and shape.</a:t>
            </a:r>
          </a:p>
          <a:p>
            <a:endParaRPr lang="en-US" dirty="0"/>
          </a:p>
        </p:txBody>
      </p:sp>
    </p:spTree>
    <p:extLst>
      <p:ext uri="{BB962C8B-B14F-4D97-AF65-F5344CB8AC3E}">
        <p14:creationId xmlns:p14="http://schemas.microsoft.com/office/powerpoint/2010/main" val="3413247002"/>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90B6A-FDAC-7C79-0918-AADD30E45855}"/>
              </a:ext>
            </a:extLst>
          </p:cNvPr>
          <p:cNvSpPr>
            <a:spLocks noGrp="1"/>
          </p:cNvSpPr>
          <p:nvPr>
            <p:ph type="title"/>
          </p:nvPr>
        </p:nvSpPr>
        <p:spPr/>
        <p:txBody>
          <a:bodyPr/>
          <a:lstStyle/>
          <a:p>
            <a:pPr algn="ctr"/>
            <a:r>
              <a:rPr lang="en-US" b="1" u="sng" dirty="0">
                <a:effectLst>
                  <a:outerShdw blurRad="38100" dist="38100" dir="2700000" algn="tl">
                    <a:srgbClr val="000000">
                      <a:alpha val="43137"/>
                    </a:srgbClr>
                  </a:outerShdw>
                </a:effectLst>
              </a:rPr>
              <a:t>Activity of integration</a:t>
            </a:r>
          </a:p>
        </p:txBody>
      </p:sp>
      <p:sp>
        <p:nvSpPr>
          <p:cNvPr id="3" name="Content Placeholder 2">
            <a:extLst>
              <a:ext uri="{FF2B5EF4-FFF2-40B4-BE49-F238E27FC236}">
                <a16:creationId xmlns:a16="http://schemas.microsoft.com/office/drawing/2014/main" id="{344D10B0-5DAD-D8F3-24DA-F8156762E9F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69367228"/>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C5CF6-2048-DD84-4470-9B1B1BD43673}"/>
              </a:ext>
            </a:extLst>
          </p:cNvPr>
          <p:cNvSpPr>
            <a:spLocks noGrp="1"/>
          </p:cNvSpPr>
          <p:nvPr>
            <p:ph type="title"/>
          </p:nvPr>
        </p:nvSpPr>
        <p:spPr>
          <a:xfrm>
            <a:off x="645130" y="238229"/>
            <a:ext cx="9404723" cy="743904"/>
          </a:xfrm>
        </p:spPr>
        <p:txBody>
          <a:bodyPr/>
          <a:lstStyle/>
          <a:p>
            <a:pPr algn="ctr"/>
            <a:r>
              <a:rPr lang="en-US" b="1" u="sng" dirty="0"/>
              <a:t>MAJOR PLANT MINERALS</a:t>
            </a:r>
            <a:r>
              <a:rPr lang="en-US" u="sng" dirty="0"/>
              <a:t> </a:t>
            </a:r>
          </a:p>
        </p:txBody>
      </p:sp>
      <p:sp>
        <p:nvSpPr>
          <p:cNvPr id="3" name="Content Placeholder 2">
            <a:extLst>
              <a:ext uri="{FF2B5EF4-FFF2-40B4-BE49-F238E27FC236}">
                <a16:creationId xmlns:a16="http://schemas.microsoft.com/office/drawing/2014/main" id="{C86FE99D-FB02-C488-19DD-09F69DB29C23}"/>
              </a:ext>
            </a:extLst>
          </p:cNvPr>
          <p:cNvSpPr>
            <a:spLocks noGrp="1"/>
          </p:cNvSpPr>
          <p:nvPr>
            <p:ph idx="1"/>
          </p:nvPr>
        </p:nvSpPr>
        <p:spPr>
          <a:xfrm>
            <a:off x="982133" y="1377244"/>
            <a:ext cx="10318046" cy="5000977"/>
          </a:xfrm>
        </p:spPr>
        <p:txBody>
          <a:bodyPr>
            <a:normAutofit/>
          </a:bodyPr>
          <a:lstStyle/>
          <a:p>
            <a:pPr algn="just"/>
            <a:r>
              <a:rPr lang="en-US" sz="2800" dirty="0"/>
              <a:t>Several elements are necessary for normal plant growth and development.</a:t>
            </a:r>
          </a:p>
          <a:p>
            <a:pPr algn="just"/>
            <a:r>
              <a:rPr lang="en-US" sz="2800" dirty="0"/>
              <a:t>Elements that are needed in large quantities are called </a:t>
            </a:r>
            <a:r>
              <a:rPr lang="en-US" sz="2800" b="1" u="sng" dirty="0"/>
              <a:t>macro elements.</a:t>
            </a:r>
          </a:p>
          <a:p>
            <a:pPr algn="just"/>
            <a:r>
              <a:rPr lang="en-US" sz="2800" dirty="0"/>
              <a:t>The elements needed in small amounts for normal growth in plants are called </a:t>
            </a:r>
            <a:r>
              <a:rPr lang="en-US" sz="2800" b="1" u="sng" dirty="0"/>
              <a:t>trace elements or </a:t>
            </a:r>
            <a:r>
              <a:rPr lang="en-US" sz="2800" b="1" u="sng" dirty="0" err="1"/>
              <a:t>microelemets</a:t>
            </a:r>
            <a:endParaRPr lang="en-US" sz="2800" b="1" u="sng" dirty="0"/>
          </a:p>
          <a:p>
            <a:pPr algn="just"/>
            <a:r>
              <a:rPr lang="en-US" sz="2800" dirty="0"/>
              <a:t>The elements are absorbed as ions in solution from the soil by plant roots.</a:t>
            </a:r>
          </a:p>
        </p:txBody>
      </p:sp>
    </p:spTree>
    <p:extLst>
      <p:ext uri="{BB962C8B-B14F-4D97-AF65-F5344CB8AC3E}">
        <p14:creationId xmlns:p14="http://schemas.microsoft.com/office/powerpoint/2010/main" val="553145227"/>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00F270-AD7F-3FFB-7045-8AB3323A1290}"/>
              </a:ext>
            </a:extLst>
          </p:cNvPr>
          <p:cNvGraphicFramePr>
            <a:graphicFrameLocks noGrp="1"/>
          </p:cNvGraphicFramePr>
          <p:nvPr>
            <p:ph idx="1"/>
            <p:extLst>
              <p:ext uri="{D42A27DB-BD31-4B8C-83A1-F6EECF244321}">
                <p14:modId xmlns:p14="http://schemas.microsoft.com/office/powerpoint/2010/main" val="2403155906"/>
              </p:ext>
            </p:extLst>
          </p:nvPr>
        </p:nvGraphicFramePr>
        <p:xfrm>
          <a:off x="158045" y="67734"/>
          <a:ext cx="11842044" cy="6676051"/>
        </p:xfrm>
        <a:graphic>
          <a:graphicData uri="http://schemas.openxmlformats.org/drawingml/2006/table">
            <a:tbl>
              <a:tblPr firstRow="1" bandRow="1">
                <a:tableStyleId>{5C22544A-7EE6-4342-B048-85BDC9FD1C3A}</a:tableStyleId>
              </a:tblPr>
              <a:tblGrid>
                <a:gridCol w="2302933">
                  <a:extLst>
                    <a:ext uri="{9D8B030D-6E8A-4147-A177-3AD203B41FA5}">
                      <a16:colId xmlns:a16="http://schemas.microsoft.com/office/drawing/2014/main" val="2959785181"/>
                    </a:ext>
                  </a:extLst>
                </a:gridCol>
                <a:gridCol w="4809066">
                  <a:extLst>
                    <a:ext uri="{9D8B030D-6E8A-4147-A177-3AD203B41FA5}">
                      <a16:colId xmlns:a16="http://schemas.microsoft.com/office/drawing/2014/main" val="2147959452"/>
                    </a:ext>
                  </a:extLst>
                </a:gridCol>
                <a:gridCol w="4730045">
                  <a:extLst>
                    <a:ext uri="{9D8B030D-6E8A-4147-A177-3AD203B41FA5}">
                      <a16:colId xmlns:a16="http://schemas.microsoft.com/office/drawing/2014/main" val="2571382497"/>
                    </a:ext>
                  </a:extLst>
                </a:gridCol>
              </a:tblGrid>
              <a:tr h="386053">
                <a:tc>
                  <a:txBody>
                    <a:bodyPr/>
                    <a:lstStyle/>
                    <a:p>
                      <a:pPr algn="ctr"/>
                      <a:r>
                        <a:rPr lang="en-US" sz="2400" dirty="0"/>
                        <a:t>Macronutrient </a:t>
                      </a:r>
                    </a:p>
                  </a:txBody>
                  <a:tcPr/>
                </a:tc>
                <a:tc>
                  <a:txBody>
                    <a:bodyPr/>
                    <a:lstStyle/>
                    <a:p>
                      <a:pPr algn="ctr"/>
                      <a:r>
                        <a:rPr lang="en-US" sz="2400" dirty="0"/>
                        <a:t>Uses </a:t>
                      </a:r>
                    </a:p>
                  </a:txBody>
                  <a:tcPr/>
                </a:tc>
                <a:tc>
                  <a:txBody>
                    <a:bodyPr/>
                    <a:lstStyle/>
                    <a:p>
                      <a:pPr algn="ctr"/>
                      <a:r>
                        <a:rPr lang="en-US" sz="2400" dirty="0"/>
                        <a:t>Deficiency symptom</a:t>
                      </a:r>
                    </a:p>
                  </a:txBody>
                  <a:tcPr/>
                </a:tc>
                <a:extLst>
                  <a:ext uri="{0D108BD9-81ED-4DB2-BD59-A6C34878D82A}">
                    <a16:rowId xmlns:a16="http://schemas.microsoft.com/office/drawing/2014/main" val="2257515314"/>
                  </a:ext>
                </a:extLst>
              </a:tr>
              <a:tr h="1237486">
                <a:tc>
                  <a:txBody>
                    <a:bodyPr/>
                    <a:lstStyle/>
                    <a:p>
                      <a:pPr algn="just"/>
                      <a:r>
                        <a:rPr lang="en-US" sz="2400" dirty="0"/>
                        <a:t>Nitrogen </a:t>
                      </a:r>
                    </a:p>
                  </a:txBody>
                  <a:tcPr/>
                </a:tc>
                <a:tc>
                  <a:txBody>
                    <a:bodyPr/>
                    <a:lstStyle/>
                    <a:p>
                      <a:pPr algn="just"/>
                      <a:r>
                        <a:rPr lang="en-US" sz="2400" dirty="0"/>
                        <a:t>Formation of amino acids (proteins), chlorophyll and co-enzymes.</a:t>
                      </a:r>
                    </a:p>
                  </a:txBody>
                  <a:tcPr/>
                </a:tc>
                <a:tc>
                  <a:txBody>
                    <a:bodyPr/>
                    <a:lstStyle/>
                    <a:p>
                      <a:pPr algn="just"/>
                      <a:r>
                        <a:rPr lang="en-US" sz="2400" dirty="0"/>
                        <a:t>Yellowing of leaves (chlorosis).</a:t>
                      </a:r>
                    </a:p>
                    <a:p>
                      <a:pPr algn="just"/>
                      <a:r>
                        <a:rPr lang="en-US" sz="2400" dirty="0"/>
                        <a:t>Stunted growth.</a:t>
                      </a:r>
                    </a:p>
                  </a:txBody>
                  <a:tcPr/>
                </a:tc>
                <a:extLst>
                  <a:ext uri="{0D108BD9-81ED-4DB2-BD59-A6C34878D82A}">
                    <a16:rowId xmlns:a16="http://schemas.microsoft.com/office/drawing/2014/main" val="1489644397"/>
                  </a:ext>
                </a:extLst>
              </a:tr>
              <a:tr h="951913">
                <a:tc>
                  <a:txBody>
                    <a:bodyPr/>
                    <a:lstStyle/>
                    <a:p>
                      <a:pPr algn="just"/>
                      <a:r>
                        <a:rPr lang="en-US" sz="2400" dirty="0"/>
                        <a:t>Phosphorus </a:t>
                      </a:r>
                    </a:p>
                  </a:txBody>
                  <a:tcPr/>
                </a:tc>
                <a:tc>
                  <a:txBody>
                    <a:bodyPr/>
                    <a:lstStyle/>
                    <a:p>
                      <a:pPr algn="just"/>
                      <a:r>
                        <a:rPr lang="en-US" sz="2400" dirty="0"/>
                        <a:t>Part of nucleic acids, ATP and some proteins.</a:t>
                      </a:r>
                    </a:p>
                  </a:txBody>
                  <a:tcPr/>
                </a:tc>
                <a:tc>
                  <a:txBody>
                    <a:bodyPr/>
                    <a:lstStyle/>
                    <a:p>
                      <a:pPr algn="just"/>
                      <a:r>
                        <a:rPr lang="en-US" sz="2400" dirty="0"/>
                        <a:t>Small leaves, purple in color, poor root development.</a:t>
                      </a:r>
                    </a:p>
                  </a:txBody>
                  <a:tcPr/>
                </a:tc>
                <a:extLst>
                  <a:ext uri="{0D108BD9-81ED-4DB2-BD59-A6C34878D82A}">
                    <a16:rowId xmlns:a16="http://schemas.microsoft.com/office/drawing/2014/main" val="171799474"/>
                  </a:ext>
                </a:extLst>
              </a:tr>
              <a:tr h="1237486">
                <a:tc>
                  <a:txBody>
                    <a:bodyPr/>
                    <a:lstStyle/>
                    <a:p>
                      <a:pPr algn="just"/>
                      <a:r>
                        <a:rPr lang="en-US" sz="2400" dirty="0"/>
                        <a:t>Sulphur</a:t>
                      </a:r>
                    </a:p>
                  </a:txBody>
                  <a:tcPr/>
                </a:tc>
                <a:tc>
                  <a:txBody>
                    <a:bodyPr/>
                    <a:lstStyle/>
                    <a:p>
                      <a:pPr algn="just"/>
                      <a:r>
                        <a:rPr lang="en-US" sz="2400" dirty="0"/>
                        <a:t>Formation of some proteins</a:t>
                      </a:r>
                    </a:p>
                  </a:txBody>
                  <a:tcPr/>
                </a:tc>
                <a:tc>
                  <a:txBody>
                    <a:bodyPr/>
                    <a:lstStyle/>
                    <a:p>
                      <a:pPr algn="just"/>
                      <a:r>
                        <a:rPr lang="en-US" sz="2400" dirty="0"/>
                        <a:t>- Stunted growth </a:t>
                      </a:r>
                    </a:p>
                    <a:p>
                      <a:pPr algn="just"/>
                      <a:r>
                        <a:rPr lang="en-US" sz="2400" dirty="0"/>
                        <a:t>-  yellow patches on leaves</a:t>
                      </a:r>
                    </a:p>
                    <a:p>
                      <a:pPr algn="just"/>
                      <a:endParaRPr lang="en-US" sz="2400" dirty="0"/>
                    </a:p>
                  </a:txBody>
                  <a:tcPr/>
                </a:tc>
                <a:extLst>
                  <a:ext uri="{0D108BD9-81ED-4DB2-BD59-A6C34878D82A}">
                    <a16:rowId xmlns:a16="http://schemas.microsoft.com/office/drawing/2014/main" val="3798727849"/>
                  </a:ext>
                </a:extLst>
              </a:tr>
              <a:tr h="1237486">
                <a:tc>
                  <a:txBody>
                    <a:bodyPr/>
                    <a:lstStyle/>
                    <a:p>
                      <a:pPr algn="just"/>
                      <a:r>
                        <a:rPr lang="en-US" sz="2400" dirty="0"/>
                        <a:t>Iron </a:t>
                      </a:r>
                    </a:p>
                  </a:txBody>
                  <a:tcPr/>
                </a:tc>
                <a:tc>
                  <a:txBody>
                    <a:bodyPr/>
                    <a:lstStyle/>
                    <a:p>
                      <a:pPr algn="just"/>
                      <a:r>
                        <a:rPr lang="en-US" sz="2400" dirty="0"/>
                        <a:t>In the process of formation of chlorophyll, photosynthesis and respiration</a:t>
                      </a:r>
                    </a:p>
                  </a:txBody>
                  <a:tcPr/>
                </a:tc>
                <a:tc>
                  <a:txBody>
                    <a:bodyPr/>
                    <a:lstStyle/>
                    <a:p>
                      <a:pPr algn="just"/>
                      <a:r>
                        <a:rPr lang="en-US" sz="2400" dirty="0"/>
                        <a:t>Chlorosis, thin weak stems.</a:t>
                      </a:r>
                    </a:p>
                  </a:txBody>
                  <a:tcPr/>
                </a:tc>
                <a:extLst>
                  <a:ext uri="{0D108BD9-81ED-4DB2-BD59-A6C34878D82A}">
                    <a16:rowId xmlns:a16="http://schemas.microsoft.com/office/drawing/2014/main" val="279533753"/>
                  </a:ext>
                </a:extLst>
              </a:tr>
              <a:tr h="1237486">
                <a:tc>
                  <a:txBody>
                    <a:bodyPr/>
                    <a:lstStyle/>
                    <a:p>
                      <a:pPr algn="just"/>
                      <a:r>
                        <a:rPr lang="en-US" sz="2400" dirty="0"/>
                        <a:t>Potassium </a:t>
                      </a:r>
                    </a:p>
                  </a:txBody>
                  <a:tcPr/>
                </a:tc>
                <a:tc>
                  <a:txBody>
                    <a:bodyPr/>
                    <a:lstStyle/>
                    <a:p>
                      <a:pPr algn="just"/>
                      <a:r>
                        <a:rPr lang="en-US" sz="2400" dirty="0"/>
                        <a:t>Manufacture of carbohydrates, protein synthesis and activation of enzymes.</a:t>
                      </a:r>
                    </a:p>
                  </a:txBody>
                  <a:tcPr/>
                </a:tc>
                <a:tc>
                  <a:txBody>
                    <a:bodyPr/>
                    <a:lstStyle/>
                    <a:p>
                      <a:pPr algn="just"/>
                      <a:r>
                        <a:rPr lang="en-US" sz="2400" dirty="0"/>
                        <a:t>Yellowing of leaves (at margins and tips).</a:t>
                      </a:r>
                    </a:p>
                    <a:p>
                      <a:pPr algn="just"/>
                      <a:r>
                        <a:rPr lang="en-US" sz="2400" dirty="0"/>
                        <a:t>Retarded growth.</a:t>
                      </a:r>
                    </a:p>
                  </a:txBody>
                  <a:tcPr/>
                </a:tc>
                <a:extLst>
                  <a:ext uri="{0D108BD9-81ED-4DB2-BD59-A6C34878D82A}">
                    <a16:rowId xmlns:a16="http://schemas.microsoft.com/office/drawing/2014/main" val="2573400533"/>
                  </a:ext>
                </a:extLst>
              </a:tr>
            </a:tbl>
          </a:graphicData>
        </a:graphic>
      </p:graphicFrame>
    </p:spTree>
    <p:extLst>
      <p:ext uri="{BB962C8B-B14F-4D97-AF65-F5344CB8AC3E}">
        <p14:creationId xmlns:p14="http://schemas.microsoft.com/office/powerpoint/2010/main" val="56434436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B9BF604C-30A5-BBE4-1E5C-69014680F3AC}"/>
              </a:ext>
            </a:extLst>
          </p:cNvPr>
          <p:cNvGraphicFramePr>
            <a:graphicFrameLocks noGrp="1"/>
          </p:cNvGraphicFramePr>
          <p:nvPr>
            <p:ph idx="1"/>
            <p:extLst>
              <p:ext uri="{D42A27DB-BD31-4B8C-83A1-F6EECF244321}">
                <p14:modId xmlns:p14="http://schemas.microsoft.com/office/powerpoint/2010/main" val="566182681"/>
              </p:ext>
            </p:extLst>
          </p:nvPr>
        </p:nvGraphicFramePr>
        <p:xfrm>
          <a:off x="355600" y="1411111"/>
          <a:ext cx="11480799" cy="4302998"/>
        </p:xfrm>
        <a:graphic>
          <a:graphicData uri="http://schemas.openxmlformats.org/drawingml/2006/table">
            <a:tbl>
              <a:tblPr firstRow="1" bandRow="1">
                <a:tableStyleId>{F5AB1C69-6EDB-4FF4-983F-18BD219EF322}</a:tableStyleId>
              </a:tblPr>
              <a:tblGrid>
                <a:gridCol w="2539999">
                  <a:extLst>
                    <a:ext uri="{9D8B030D-6E8A-4147-A177-3AD203B41FA5}">
                      <a16:colId xmlns:a16="http://schemas.microsoft.com/office/drawing/2014/main" val="586439523"/>
                    </a:ext>
                  </a:extLst>
                </a:gridCol>
                <a:gridCol w="5113867">
                  <a:extLst>
                    <a:ext uri="{9D8B030D-6E8A-4147-A177-3AD203B41FA5}">
                      <a16:colId xmlns:a16="http://schemas.microsoft.com/office/drawing/2014/main" val="4183806302"/>
                    </a:ext>
                  </a:extLst>
                </a:gridCol>
                <a:gridCol w="3826933">
                  <a:extLst>
                    <a:ext uri="{9D8B030D-6E8A-4147-A177-3AD203B41FA5}">
                      <a16:colId xmlns:a16="http://schemas.microsoft.com/office/drawing/2014/main" val="1054051723"/>
                    </a:ext>
                  </a:extLst>
                </a:gridCol>
              </a:tblGrid>
              <a:tr h="2151499">
                <a:tc>
                  <a:txBody>
                    <a:bodyPr/>
                    <a:lstStyle/>
                    <a:p>
                      <a:r>
                        <a:rPr lang="en-US" sz="2800" b="0" dirty="0"/>
                        <a:t>Calcium </a:t>
                      </a:r>
                    </a:p>
                  </a:txBody>
                  <a:tcPr/>
                </a:tc>
                <a:tc>
                  <a:txBody>
                    <a:bodyPr/>
                    <a:lstStyle/>
                    <a:p>
                      <a:r>
                        <a:rPr lang="en-US" sz="2800" b="0" dirty="0"/>
                        <a:t>Formation of cell wall (middle lamella)</a:t>
                      </a:r>
                    </a:p>
                  </a:txBody>
                  <a:tcPr/>
                </a:tc>
                <a:tc>
                  <a:txBody>
                    <a:bodyPr/>
                    <a:lstStyle/>
                    <a:p>
                      <a:r>
                        <a:rPr lang="en-US" sz="2800" b="0" dirty="0"/>
                        <a:t>Poor development of root and shoot apices.</a:t>
                      </a:r>
                    </a:p>
                  </a:txBody>
                  <a:tcPr/>
                </a:tc>
                <a:extLst>
                  <a:ext uri="{0D108BD9-81ED-4DB2-BD59-A6C34878D82A}">
                    <a16:rowId xmlns:a16="http://schemas.microsoft.com/office/drawing/2014/main" val="440785082"/>
                  </a:ext>
                </a:extLst>
              </a:tr>
              <a:tr h="2151499">
                <a:tc>
                  <a:txBody>
                    <a:bodyPr/>
                    <a:lstStyle/>
                    <a:p>
                      <a:r>
                        <a:rPr lang="en-US" sz="2800" dirty="0"/>
                        <a:t>Magnesium </a:t>
                      </a:r>
                    </a:p>
                  </a:txBody>
                  <a:tcPr/>
                </a:tc>
                <a:tc>
                  <a:txBody>
                    <a:bodyPr/>
                    <a:lstStyle/>
                    <a:p>
                      <a:r>
                        <a:rPr lang="en-US" sz="2800" dirty="0"/>
                        <a:t>Chlorophyll formation and activator of many enzymes</a:t>
                      </a:r>
                    </a:p>
                  </a:txBody>
                  <a:tcPr/>
                </a:tc>
                <a:tc>
                  <a:txBody>
                    <a:bodyPr/>
                    <a:lstStyle/>
                    <a:p>
                      <a:r>
                        <a:rPr lang="en-US" sz="2800" dirty="0"/>
                        <a:t>Chlorosis of older leaves. </a:t>
                      </a:r>
                    </a:p>
                    <a:p>
                      <a:r>
                        <a:rPr lang="en-US" sz="2800" dirty="0"/>
                        <a:t>Stunted growth.</a:t>
                      </a:r>
                    </a:p>
                    <a:p>
                      <a:endParaRPr lang="en-US" sz="2800" dirty="0"/>
                    </a:p>
                  </a:txBody>
                  <a:tcPr/>
                </a:tc>
                <a:extLst>
                  <a:ext uri="{0D108BD9-81ED-4DB2-BD59-A6C34878D82A}">
                    <a16:rowId xmlns:a16="http://schemas.microsoft.com/office/drawing/2014/main" val="3173997604"/>
                  </a:ext>
                </a:extLst>
              </a:tr>
            </a:tbl>
          </a:graphicData>
        </a:graphic>
      </p:graphicFrame>
    </p:spTree>
    <p:extLst>
      <p:ext uri="{BB962C8B-B14F-4D97-AF65-F5344CB8AC3E}">
        <p14:creationId xmlns:p14="http://schemas.microsoft.com/office/powerpoint/2010/main" val="1350975037"/>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7EF2A8EB-136C-4CD3-6EDE-20DF510A2FAC}"/>
              </a:ext>
            </a:extLst>
          </p:cNvPr>
          <p:cNvGraphicFramePr>
            <a:graphicFrameLocks noGrp="1"/>
          </p:cNvGraphicFramePr>
          <p:nvPr>
            <p:ph idx="1"/>
            <p:extLst>
              <p:ext uri="{D42A27DB-BD31-4B8C-83A1-F6EECF244321}">
                <p14:modId xmlns:p14="http://schemas.microsoft.com/office/powerpoint/2010/main" val="2941347589"/>
              </p:ext>
            </p:extLst>
          </p:nvPr>
        </p:nvGraphicFramePr>
        <p:xfrm>
          <a:off x="183321" y="247616"/>
          <a:ext cx="11825357" cy="6362769"/>
        </p:xfrm>
        <a:graphic>
          <a:graphicData uri="http://schemas.openxmlformats.org/drawingml/2006/table">
            <a:tbl>
              <a:tblPr firstRow="1" bandRow="1">
                <a:tableStyleId>{5C22544A-7EE6-4342-B048-85BDC9FD1C3A}</a:tableStyleId>
              </a:tblPr>
              <a:tblGrid>
                <a:gridCol w="2856819">
                  <a:extLst>
                    <a:ext uri="{9D8B030D-6E8A-4147-A177-3AD203B41FA5}">
                      <a16:colId xmlns:a16="http://schemas.microsoft.com/office/drawing/2014/main" val="1463434522"/>
                    </a:ext>
                  </a:extLst>
                </a:gridCol>
                <a:gridCol w="6040142">
                  <a:extLst>
                    <a:ext uri="{9D8B030D-6E8A-4147-A177-3AD203B41FA5}">
                      <a16:colId xmlns:a16="http://schemas.microsoft.com/office/drawing/2014/main" val="1988937697"/>
                    </a:ext>
                  </a:extLst>
                </a:gridCol>
                <a:gridCol w="2928396">
                  <a:extLst>
                    <a:ext uri="{9D8B030D-6E8A-4147-A177-3AD203B41FA5}">
                      <a16:colId xmlns:a16="http://schemas.microsoft.com/office/drawing/2014/main" val="2726059543"/>
                    </a:ext>
                  </a:extLst>
                </a:gridCol>
              </a:tblGrid>
              <a:tr h="685072">
                <a:tc>
                  <a:txBody>
                    <a:bodyPr/>
                    <a:lstStyle/>
                    <a:p>
                      <a:pPr algn="ctr"/>
                      <a:r>
                        <a:rPr lang="en-US" sz="2400" dirty="0"/>
                        <a:t>Micronutrients</a:t>
                      </a:r>
                    </a:p>
                  </a:txBody>
                  <a:tcPr/>
                </a:tc>
                <a:tc>
                  <a:txBody>
                    <a:bodyPr/>
                    <a:lstStyle/>
                    <a:p>
                      <a:pPr algn="ctr"/>
                      <a:r>
                        <a:rPr lang="en-US" sz="2400" dirty="0"/>
                        <a:t>Uses </a:t>
                      </a:r>
                    </a:p>
                  </a:txBody>
                  <a:tcPr/>
                </a:tc>
                <a:tc>
                  <a:txBody>
                    <a:bodyPr/>
                    <a:lstStyle/>
                    <a:p>
                      <a:pPr algn="ctr"/>
                      <a:r>
                        <a:rPr lang="en-US" sz="2400" dirty="0"/>
                        <a:t>Deficiency symptom</a:t>
                      </a:r>
                    </a:p>
                  </a:txBody>
                  <a:tcPr/>
                </a:tc>
                <a:extLst>
                  <a:ext uri="{0D108BD9-81ED-4DB2-BD59-A6C34878D82A}">
                    <a16:rowId xmlns:a16="http://schemas.microsoft.com/office/drawing/2014/main" val="2470486920"/>
                  </a:ext>
                </a:extLst>
              </a:tr>
              <a:tr h="1294025">
                <a:tc>
                  <a:txBody>
                    <a:bodyPr/>
                    <a:lstStyle/>
                    <a:p>
                      <a:r>
                        <a:rPr lang="en-US" sz="2400" dirty="0"/>
                        <a:t>Boron </a:t>
                      </a:r>
                    </a:p>
                  </a:txBody>
                  <a:tcPr/>
                </a:tc>
                <a:tc>
                  <a:txBody>
                    <a:bodyPr/>
                    <a:lstStyle/>
                    <a:p>
                      <a:r>
                        <a:rPr lang="en-US" sz="2400" dirty="0"/>
                        <a:t>Formation of cell walls when combined with calcium</a:t>
                      </a:r>
                    </a:p>
                  </a:txBody>
                  <a:tcPr/>
                </a:tc>
                <a:tc>
                  <a:txBody>
                    <a:bodyPr/>
                    <a:lstStyle/>
                    <a:p>
                      <a:r>
                        <a:rPr lang="en-US" sz="2400" dirty="0"/>
                        <a:t>-poor translocation.</a:t>
                      </a:r>
                    </a:p>
                    <a:p>
                      <a:r>
                        <a:rPr lang="en-US" sz="2400" dirty="0"/>
                        <a:t>-death of roots and stem tips.</a:t>
                      </a:r>
                    </a:p>
                  </a:txBody>
                  <a:tcPr/>
                </a:tc>
                <a:extLst>
                  <a:ext uri="{0D108BD9-81ED-4DB2-BD59-A6C34878D82A}">
                    <a16:rowId xmlns:a16="http://schemas.microsoft.com/office/drawing/2014/main" val="3297174126"/>
                  </a:ext>
                </a:extLst>
              </a:tr>
              <a:tr h="685072">
                <a:tc>
                  <a:txBody>
                    <a:bodyPr/>
                    <a:lstStyle/>
                    <a:p>
                      <a:r>
                        <a:rPr lang="en-US" sz="2400" dirty="0"/>
                        <a:t>Chlorine</a:t>
                      </a:r>
                    </a:p>
                  </a:txBody>
                  <a:tcPr/>
                </a:tc>
                <a:tc>
                  <a:txBody>
                    <a:bodyPr/>
                    <a:lstStyle/>
                    <a:p>
                      <a:r>
                        <a:rPr lang="en-US" sz="2400" dirty="0"/>
                        <a:t>Used for photosynthesis</a:t>
                      </a:r>
                    </a:p>
                  </a:txBody>
                  <a:tcPr/>
                </a:tc>
                <a:tc>
                  <a:txBody>
                    <a:bodyPr/>
                    <a:lstStyle/>
                    <a:p>
                      <a:r>
                        <a:rPr lang="en-US" sz="2400" dirty="0"/>
                        <a:t>Stunted growth, chlorosis</a:t>
                      </a:r>
                    </a:p>
                  </a:txBody>
                  <a:tcPr/>
                </a:tc>
                <a:extLst>
                  <a:ext uri="{0D108BD9-81ED-4DB2-BD59-A6C34878D82A}">
                    <a16:rowId xmlns:a16="http://schemas.microsoft.com/office/drawing/2014/main" val="4167562210"/>
                  </a:ext>
                </a:extLst>
              </a:tr>
              <a:tr h="930667">
                <a:tc>
                  <a:txBody>
                    <a:bodyPr/>
                    <a:lstStyle/>
                    <a:p>
                      <a:r>
                        <a:rPr lang="en-US" sz="2400" dirty="0"/>
                        <a:t>Copper </a:t>
                      </a:r>
                    </a:p>
                  </a:txBody>
                  <a:tcPr/>
                </a:tc>
                <a:tc>
                  <a:txBody>
                    <a:bodyPr/>
                    <a:lstStyle/>
                    <a:p>
                      <a:r>
                        <a:rPr lang="en-US" sz="2400" dirty="0"/>
                        <a:t>Activates enzymes, necessary for photosynthesis and respiration.</a:t>
                      </a:r>
                    </a:p>
                  </a:txBody>
                  <a:tcPr/>
                </a:tc>
                <a:tc>
                  <a:txBody>
                    <a:bodyPr/>
                    <a:lstStyle/>
                    <a:p>
                      <a:r>
                        <a:rPr lang="en-US" sz="2400" dirty="0"/>
                        <a:t>Death of the main shoot.</a:t>
                      </a:r>
                    </a:p>
                  </a:txBody>
                  <a:tcPr/>
                </a:tc>
                <a:extLst>
                  <a:ext uri="{0D108BD9-81ED-4DB2-BD59-A6C34878D82A}">
                    <a16:rowId xmlns:a16="http://schemas.microsoft.com/office/drawing/2014/main" val="46680566"/>
                  </a:ext>
                </a:extLst>
              </a:tr>
              <a:tr h="1266063">
                <a:tc>
                  <a:txBody>
                    <a:bodyPr/>
                    <a:lstStyle/>
                    <a:p>
                      <a:r>
                        <a:rPr lang="en-US" sz="2400" dirty="0"/>
                        <a:t>Manganese </a:t>
                      </a:r>
                    </a:p>
                  </a:txBody>
                  <a:tcPr/>
                </a:tc>
                <a:tc>
                  <a:txBody>
                    <a:bodyPr/>
                    <a:lstStyle/>
                    <a:p>
                      <a:r>
                        <a:rPr lang="en-US" sz="2400" dirty="0"/>
                        <a:t>A catalyst in growth process, formation of oxygen during photosynthesis.</a:t>
                      </a:r>
                    </a:p>
                  </a:txBody>
                  <a:tcPr/>
                </a:tc>
                <a:tc>
                  <a:txBody>
                    <a:bodyPr/>
                    <a:lstStyle/>
                    <a:p>
                      <a:r>
                        <a:rPr lang="en-US" sz="2400" dirty="0"/>
                        <a:t>chlorosis</a:t>
                      </a:r>
                    </a:p>
                  </a:txBody>
                  <a:tcPr/>
                </a:tc>
                <a:extLst>
                  <a:ext uri="{0D108BD9-81ED-4DB2-BD59-A6C34878D82A}">
                    <a16:rowId xmlns:a16="http://schemas.microsoft.com/office/drawing/2014/main" val="3547833891"/>
                  </a:ext>
                </a:extLst>
              </a:tr>
              <a:tr h="965639">
                <a:tc>
                  <a:txBody>
                    <a:bodyPr/>
                    <a:lstStyle/>
                    <a:p>
                      <a:r>
                        <a:rPr lang="en-US" sz="2400" dirty="0"/>
                        <a:t>Zinc </a:t>
                      </a:r>
                    </a:p>
                  </a:txBody>
                  <a:tcPr/>
                </a:tc>
                <a:tc>
                  <a:txBody>
                    <a:bodyPr/>
                    <a:lstStyle/>
                    <a:p>
                      <a:r>
                        <a:rPr lang="en-US" sz="2400" dirty="0"/>
                        <a:t>Chlorophyll formation, respiration and nitrogen metabolism.</a:t>
                      </a:r>
                    </a:p>
                  </a:txBody>
                  <a:tcPr/>
                </a:tc>
                <a:tc>
                  <a:txBody>
                    <a:bodyPr/>
                    <a:lstStyle/>
                    <a:p>
                      <a:r>
                        <a:rPr lang="en-US" sz="2800" dirty="0"/>
                        <a:t>leaves fail to expand.</a:t>
                      </a:r>
                    </a:p>
                  </a:txBody>
                  <a:tcPr/>
                </a:tc>
                <a:extLst>
                  <a:ext uri="{0D108BD9-81ED-4DB2-BD59-A6C34878D82A}">
                    <a16:rowId xmlns:a16="http://schemas.microsoft.com/office/drawing/2014/main" val="2616676744"/>
                  </a:ext>
                </a:extLst>
              </a:tr>
            </a:tbl>
          </a:graphicData>
        </a:graphic>
      </p:graphicFrame>
    </p:spTree>
    <p:extLst>
      <p:ext uri="{BB962C8B-B14F-4D97-AF65-F5344CB8AC3E}">
        <p14:creationId xmlns:p14="http://schemas.microsoft.com/office/powerpoint/2010/main" val="1869958863"/>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8BEAB-2355-70BD-53AA-672C60079FB8}"/>
              </a:ext>
            </a:extLst>
          </p:cNvPr>
          <p:cNvSpPr>
            <a:spLocks noGrp="1"/>
          </p:cNvSpPr>
          <p:nvPr>
            <p:ph type="title"/>
          </p:nvPr>
        </p:nvSpPr>
        <p:spPr>
          <a:xfrm>
            <a:off x="823107" y="599471"/>
            <a:ext cx="9576701" cy="777771"/>
          </a:xfrm>
        </p:spPr>
        <p:txBody>
          <a:bodyPr/>
          <a:lstStyle/>
          <a:p>
            <a:r>
              <a:rPr lang="en-US" b="1" u="sng" dirty="0"/>
              <a:t>Activity of integration</a:t>
            </a:r>
          </a:p>
        </p:txBody>
      </p:sp>
      <p:sp>
        <p:nvSpPr>
          <p:cNvPr id="3" name="Content Placeholder 2">
            <a:extLst>
              <a:ext uri="{FF2B5EF4-FFF2-40B4-BE49-F238E27FC236}">
                <a16:creationId xmlns:a16="http://schemas.microsoft.com/office/drawing/2014/main" id="{782BD3B5-D45B-E2BD-CF96-7F7BB4143AC1}"/>
              </a:ext>
            </a:extLst>
          </p:cNvPr>
          <p:cNvSpPr>
            <a:spLocks noGrp="1"/>
          </p:cNvSpPr>
          <p:nvPr>
            <p:ph idx="1"/>
          </p:nvPr>
        </p:nvSpPr>
        <p:spPr>
          <a:xfrm>
            <a:off x="473152" y="1783647"/>
            <a:ext cx="10691559" cy="4085996"/>
          </a:xfrm>
        </p:spPr>
        <p:txBody>
          <a:bodyPr>
            <a:normAutofit fontScale="92500"/>
          </a:bodyPr>
          <a:lstStyle/>
          <a:p>
            <a:pPr marL="0" indent="0" algn="just">
              <a:buNone/>
            </a:pPr>
            <a:r>
              <a:rPr lang="en-US" sz="2800" dirty="0"/>
              <a:t>Malnutrition is threatening to destroy a generation of children in Uganda. Whether poor or wealthy, children are malnourished for similar reasons. Other groups of people that suffer malnutrition in the country are pregnant women, breast feeding mothers and the elderly.</a:t>
            </a:r>
          </a:p>
          <a:p>
            <a:pPr marL="0" indent="0" algn="just">
              <a:buNone/>
            </a:pPr>
            <a:r>
              <a:rPr lang="en-US" sz="2800" b="1" dirty="0"/>
              <a:t>Task:</a:t>
            </a:r>
          </a:p>
          <a:p>
            <a:pPr marL="0" indent="0" algn="just">
              <a:buNone/>
            </a:pPr>
            <a:r>
              <a:rPr lang="en-US" sz="2800" dirty="0"/>
              <a:t>As a public health officer in the community where malnutrition is a big problem, design a flyer you can distribute to different households about categories of food for healthy diets.</a:t>
            </a:r>
          </a:p>
        </p:txBody>
      </p:sp>
    </p:spTree>
    <p:extLst>
      <p:ext uri="{BB962C8B-B14F-4D97-AF65-F5344CB8AC3E}">
        <p14:creationId xmlns:p14="http://schemas.microsoft.com/office/powerpoint/2010/main" val="290011482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D247B-479F-47C8-0036-4BDAD0D81028}"/>
              </a:ext>
            </a:extLst>
          </p:cNvPr>
          <p:cNvSpPr>
            <a:spLocks noGrp="1"/>
          </p:cNvSpPr>
          <p:nvPr>
            <p:ph type="title"/>
          </p:nvPr>
        </p:nvSpPr>
        <p:spPr>
          <a:xfrm>
            <a:off x="671150" y="40112"/>
            <a:ext cx="9353383" cy="716244"/>
          </a:xfrm>
        </p:spPr>
        <p:txBody>
          <a:bodyPr/>
          <a:lstStyle/>
          <a:p>
            <a:pPr algn="ctr"/>
            <a:r>
              <a:rPr lang="en-US" b="1" u="sng" dirty="0"/>
              <a:t>NUTRITION IN GREEN PLANTS</a:t>
            </a:r>
          </a:p>
        </p:txBody>
      </p:sp>
      <p:pic>
        <p:nvPicPr>
          <p:cNvPr id="1026" name="Picture 2" descr="What are autotrophic nutrition? Definition, Types and Importance - biology  | AESL">
            <a:extLst>
              <a:ext uri="{FF2B5EF4-FFF2-40B4-BE49-F238E27FC236}">
                <a16:creationId xmlns:a16="http://schemas.microsoft.com/office/drawing/2014/main" id="{46302CFD-D3CE-08CE-DA30-09C34ED9406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57868" y="756356"/>
            <a:ext cx="8224078" cy="60728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232097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7106F0-6A01-A4B0-9482-6502E044D04E}"/>
              </a:ext>
            </a:extLst>
          </p:cNvPr>
          <p:cNvSpPr>
            <a:spLocks noGrp="1"/>
          </p:cNvSpPr>
          <p:nvPr>
            <p:ph idx="1"/>
          </p:nvPr>
        </p:nvSpPr>
        <p:spPr>
          <a:xfrm>
            <a:off x="462844" y="417690"/>
            <a:ext cx="11305822" cy="5791199"/>
          </a:xfrm>
        </p:spPr>
        <p:txBody>
          <a:bodyPr>
            <a:noAutofit/>
          </a:bodyPr>
          <a:lstStyle/>
          <a:p>
            <a:pPr marL="0" indent="0" algn="just">
              <a:buNone/>
            </a:pPr>
            <a:r>
              <a:rPr lang="en-US" sz="2800" b="1" u="sng" dirty="0"/>
              <a:t>Activity</a:t>
            </a:r>
            <a:r>
              <a:rPr lang="en-US" sz="2800" dirty="0"/>
              <a:t> </a:t>
            </a:r>
          </a:p>
          <a:p>
            <a:pPr marL="0" indent="0" algn="just">
              <a:buNone/>
            </a:pPr>
            <a:r>
              <a:rPr lang="en-US" sz="2800" dirty="0"/>
              <a:t>In groups, use any reference material to research about:</a:t>
            </a:r>
          </a:p>
          <a:p>
            <a:pPr marL="0" indent="0" algn="just">
              <a:buNone/>
            </a:pPr>
            <a:r>
              <a:rPr lang="en-US" sz="2800" dirty="0"/>
              <a:t>1. The meaning of </a:t>
            </a:r>
          </a:p>
          <a:p>
            <a:pPr marL="514350" indent="-514350" algn="just">
              <a:buFont typeface="+mj-lt"/>
              <a:buAutoNum type="romanLcPeriod"/>
            </a:pPr>
            <a:r>
              <a:rPr lang="en-US" sz="2800" dirty="0"/>
              <a:t>Autotrophic nutrition</a:t>
            </a:r>
          </a:p>
          <a:p>
            <a:pPr marL="514350" indent="-514350" algn="just">
              <a:buFont typeface="+mj-lt"/>
              <a:buAutoNum type="romanLcPeriod"/>
            </a:pPr>
            <a:r>
              <a:rPr lang="en-US" sz="2800" dirty="0"/>
              <a:t>Heterotrophic nutrition</a:t>
            </a:r>
          </a:p>
          <a:p>
            <a:pPr marL="0" indent="0" algn="just">
              <a:buNone/>
            </a:pPr>
            <a:r>
              <a:rPr lang="en-US" sz="2800" dirty="0"/>
              <a:t>2. Why autotrophs referred to as providers of all food (producers) in the environment.</a:t>
            </a:r>
          </a:p>
          <a:p>
            <a:pPr marL="0" indent="0" algn="just">
              <a:buNone/>
            </a:pPr>
            <a:r>
              <a:rPr lang="en-US" sz="2800" dirty="0"/>
              <a:t>3. Meaning of Photosynthesis</a:t>
            </a:r>
          </a:p>
          <a:p>
            <a:pPr marL="0" indent="0" algn="just">
              <a:buNone/>
            </a:pPr>
            <a:r>
              <a:rPr lang="en-US" sz="2800" dirty="0"/>
              <a:t>4. Equation for photosynthesis. </a:t>
            </a:r>
          </a:p>
          <a:p>
            <a:pPr marL="0" indent="0" algn="just">
              <a:buNone/>
            </a:pPr>
            <a:r>
              <a:rPr lang="en-US" sz="2800" dirty="0"/>
              <a:t>5. Use the equation above to explain raw materials, conditions and products of photosynthesis.</a:t>
            </a:r>
          </a:p>
        </p:txBody>
      </p:sp>
    </p:spTree>
    <p:extLst>
      <p:ext uri="{BB962C8B-B14F-4D97-AF65-F5344CB8AC3E}">
        <p14:creationId xmlns:p14="http://schemas.microsoft.com/office/powerpoint/2010/main" val="2070290580"/>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4DA0F-F433-3756-D9A8-D67B516A7DC4}"/>
              </a:ext>
            </a:extLst>
          </p:cNvPr>
          <p:cNvSpPr>
            <a:spLocks noGrp="1"/>
          </p:cNvSpPr>
          <p:nvPr>
            <p:ph type="title"/>
          </p:nvPr>
        </p:nvSpPr>
        <p:spPr>
          <a:xfrm>
            <a:off x="646111" y="181782"/>
            <a:ext cx="9404723" cy="732618"/>
          </a:xfrm>
        </p:spPr>
        <p:txBody>
          <a:bodyPr/>
          <a:lstStyle/>
          <a:p>
            <a:pPr algn="ctr"/>
            <a:r>
              <a:rPr lang="en-US" b="1" u="sng" dirty="0"/>
              <a:t>Photosynthesis </a:t>
            </a:r>
          </a:p>
        </p:txBody>
      </p:sp>
      <p:sp>
        <p:nvSpPr>
          <p:cNvPr id="3" name="Content Placeholder 2">
            <a:extLst>
              <a:ext uri="{FF2B5EF4-FFF2-40B4-BE49-F238E27FC236}">
                <a16:creationId xmlns:a16="http://schemas.microsoft.com/office/drawing/2014/main" id="{C16D362F-0659-EDC8-5BFF-259BF806D9BC}"/>
              </a:ext>
            </a:extLst>
          </p:cNvPr>
          <p:cNvSpPr>
            <a:spLocks noGrp="1"/>
          </p:cNvSpPr>
          <p:nvPr>
            <p:ph idx="1"/>
          </p:nvPr>
        </p:nvSpPr>
        <p:spPr>
          <a:xfrm>
            <a:off x="1117599" y="974900"/>
            <a:ext cx="9798758" cy="5166256"/>
          </a:xfrm>
        </p:spPr>
        <p:txBody>
          <a:bodyPr>
            <a:normAutofit/>
          </a:bodyPr>
          <a:lstStyle/>
          <a:p>
            <a:pPr marL="0" indent="0" algn="just">
              <a:buNone/>
            </a:pPr>
            <a:r>
              <a:rPr lang="en-US" sz="2800" dirty="0"/>
              <a:t>Photo = light, synthesis = to make</a:t>
            </a:r>
          </a:p>
          <a:p>
            <a:pPr algn="just"/>
            <a:r>
              <a:rPr lang="en-US" sz="2800" dirty="0"/>
              <a:t>Photosynthesis is the process by which green plants, some bacteria and algae manufacture organic food (glucose) from carbon dioxide and water using sunlight energy trapped by chlorophyll.</a:t>
            </a:r>
          </a:p>
          <a:p>
            <a:pPr algn="just"/>
            <a:r>
              <a:rPr lang="en-US" sz="2800" dirty="0"/>
              <a:t>During photosynthesis, carbon dioxide and water combine to form glucose. Oxygen is given off as by-product.</a:t>
            </a:r>
          </a:p>
          <a:p>
            <a:pPr algn="just"/>
            <a:r>
              <a:rPr lang="en-US" sz="2800" dirty="0"/>
              <a:t>The process takes place in the chloroplast.</a:t>
            </a:r>
          </a:p>
          <a:p>
            <a:pPr marL="0" indent="0" algn="just">
              <a:buNone/>
            </a:pPr>
            <a:r>
              <a:rPr lang="en-US" sz="2800" dirty="0"/>
              <a:t>Equation:</a:t>
            </a:r>
          </a:p>
        </p:txBody>
      </p:sp>
    </p:spTree>
    <p:extLst>
      <p:ext uri="{BB962C8B-B14F-4D97-AF65-F5344CB8AC3E}">
        <p14:creationId xmlns:p14="http://schemas.microsoft.com/office/powerpoint/2010/main" val="164138894"/>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421860-03BE-BB64-B101-F9D08260EC62}"/>
              </a:ext>
            </a:extLst>
          </p:cNvPr>
          <p:cNvSpPr>
            <a:spLocks noGrp="1"/>
          </p:cNvSpPr>
          <p:nvPr>
            <p:ph idx="1"/>
          </p:nvPr>
        </p:nvSpPr>
        <p:spPr>
          <a:xfrm>
            <a:off x="361244" y="925688"/>
            <a:ext cx="10916356" cy="5322711"/>
          </a:xfrm>
        </p:spPr>
        <p:txBody>
          <a:bodyPr>
            <a:normAutofit/>
          </a:bodyPr>
          <a:lstStyle/>
          <a:p>
            <a:r>
              <a:rPr lang="en-US" sz="2800" dirty="0"/>
              <a:t>Equation:</a:t>
            </a:r>
          </a:p>
          <a:p>
            <a:endParaRPr lang="en-US" sz="2800" dirty="0"/>
          </a:p>
          <a:p>
            <a:endParaRPr lang="en-US" sz="2800" dirty="0"/>
          </a:p>
          <a:p>
            <a:endParaRPr lang="en-US" sz="2800" dirty="0"/>
          </a:p>
          <a:p>
            <a:pPr marL="0" indent="0">
              <a:buNone/>
            </a:pPr>
            <a:endParaRPr lang="en-US" sz="2800" dirty="0"/>
          </a:p>
          <a:p>
            <a:pPr algn="just"/>
            <a:r>
              <a:rPr lang="en-US" sz="2800" dirty="0"/>
              <a:t>Raw materials: carbon dioxide and water </a:t>
            </a:r>
          </a:p>
          <a:p>
            <a:pPr algn="just"/>
            <a:r>
              <a:rPr lang="en-US" sz="2800" dirty="0"/>
              <a:t>Conditions: sunlight and chlorophyll.</a:t>
            </a:r>
          </a:p>
          <a:p>
            <a:pPr algn="just"/>
            <a:r>
              <a:rPr lang="en-US" sz="2800" dirty="0"/>
              <a:t>The products: glucose and oxygen gas.</a:t>
            </a:r>
          </a:p>
          <a:p>
            <a:endParaRPr lang="en-US" sz="2800" dirty="0"/>
          </a:p>
        </p:txBody>
      </p:sp>
      <p:pic>
        <p:nvPicPr>
          <p:cNvPr id="6" name="Picture 5">
            <a:extLst>
              <a:ext uri="{FF2B5EF4-FFF2-40B4-BE49-F238E27FC236}">
                <a16:creationId xmlns:a16="http://schemas.microsoft.com/office/drawing/2014/main" id="{14C9B49F-3396-A6AF-84E3-D3B442E24DA1}"/>
              </a:ext>
            </a:extLst>
          </p:cNvPr>
          <p:cNvPicPr>
            <a:picLocks noChangeAspect="1"/>
          </p:cNvPicPr>
          <p:nvPr/>
        </p:nvPicPr>
        <p:blipFill>
          <a:blip r:embed="rId2"/>
          <a:stretch>
            <a:fillRect/>
          </a:stretch>
        </p:blipFill>
        <p:spPr>
          <a:xfrm>
            <a:off x="338666" y="1630300"/>
            <a:ext cx="9590455" cy="1767652"/>
          </a:xfrm>
          <a:prstGeom prst="rect">
            <a:avLst/>
          </a:prstGeom>
        </p:spPr>
      </p:pic>
    </p:spTree>
    <p:extLst>
      <p:ext uri="{BB962C8B-B14F-4D97-AF65-F5344CB8AC3E}">
        <p14:creationId xmlns:p14="http://schemas.microsoft.com/office/powerpoint/2010/main" val="63564328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54DDF-E604-0ED9-D384-39E7977B2483}"/>
              </a:ext>
            </a:extLst>
          </p:cNvPr>
          <p:cNvSpPr>
            <a:spLocks noGrp="1"/>
          </p:cNvSpPr>
          <p:nvPr>
            <p:ph type="title"/>
          </p:nvPr>
        </p:nvSpPr>
        <p:spPr/>
        <p:txBody>
          <a:bodyPr/>
          <a:lstStyle/>
          <a:p>
            <a:r>
              <a:rPr lang="en-US" dirty="0"/>
              <a:t>Importance of photosynthesis</a:t>
            </a:r>
            <a:br>
              <a:rPr lang="en-US" dirty="0"/>
            </a:br>
            <a:endParaRPr lang="en-US" dirty="0"/>
          </a:p>
        </p:txBody>
      </p:sp>
      <p:sp>
        <p:nvSpPr>
          <p:cNvPr id="3" name="Content Placeholder 2">
            <a:extLst>
              <a:ext uri="{FF2B5EF4-FFF2-40B4-BE49-F238E27FC236}">
                <a16:creationId xmlns:a16="http://schemas.microsoft.com/office/drawing/2014/main" id="{40AAAD66-ACD5-5890-CF21-425DB51CEC6A}"/>
              </a:ext>
            </a:extLst>
          </p:cNvPr>
          <p:cNvSpPr>
            <a:spLocks noGrp="1"/>
          </p:cNvSpPr>
          <p:nvPr>
            <p:ph idx="1"/>
          </p:nvPr>
        </p:nvSpPr>
        <p:spPr/>
        <p:txBody>
          <a:bodyPr/>
          <a:lstStyle/>
          <a:p>
            <a:pPr algn="just"/>
            <a:r>
              <a:rPr lang="en-US" sz="2800" dirty="0"/>
              <a:t>It produces oxygen used by aerobic organisms.</a:t>
            </a:r>
          </a:p>
          <a:p>
            <a:pPr algn="just"/>
            <a:r>
              <a:rPr lang="en-US" sz="2800" dirty="0"/>
              <a:t>Purifies the air by reducing level of carbon dioxide in the atmosphere (to reduce global warming)</a:t>
            </a:r>
          </a:p>
          <a:p>
            <a:pPr algn="just"/>
            <a:r>
              <a:rPr lang="en-US" sz="2800" dirty="0"/>
              <a:t>It is a source of food for heterotrophic organisms.</a:t>
            </a:r>
          </a:p>
          <a:p>
            <a:endParaRPr lang="en-US" dirty="0"/>
          </a:p>
        </p:txBody>
      </p:sp>
    </p:spTree>
    <p:extLst>
      <p:ext uri="{BB962C8B-B14F-4D97-AF65-F5344CB8AC3E}">
        <p14:creationId xmlns:p14="http://schemas.microsoft.com/office/powerpoint/2010/main" val="3652027242"/>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591F7-D9D9-1DD1-7D51-0313B356CBC9}"/>
              </a:ext>
            </a:extLst>
          </p:cNvPr>
          <p:cNvSpPr>
            <a:spLocks noGrp="1"/>
          </p:cNvSpPr>
          <p:nvPr>
            <p:ph type="title"/>
          </p:nvPr>
        </p:nvSpPr>
        <p:spPr/>
        <p:txBody>
          <a:bodyPr/>
          <a:lstStyle/>
          <a:p>
            <a:r>
              <a:rPr lang="en-US" b="1" u="sng" dirty="0"/>
              <a:t>Uses of products of photosynthesis</a:t>
            </a:r>
            <a:r>
              <a:rPr lang="en-US" dirty="0"/>
              <a:t/>
            </a:r>
            <a:br>
              <a:rPr lang="en-US" dirty="0"/>
            </a:br>
            <a:endParaRPr lang="en-US" dirty="0"/>
          </a:p>
        </p:txBody>
      </p:sp>
      <p:sp>
        <p:nvSpPr>
          <p:cNvPr id="3" name="Content Placeholder 2">
            <a:extLst>
              <a:ext uri="{FF2B5EF4-FFF2-40B4-BE49-F238E27FC236}">
                <a16:creationId xmlns:a16="http://schemas.microsoft.com/office/drawing/2014/main" id="{E80D9239-7269-031A-57BA-A9594D5299EC}"/>
              </a:ext>
            </a:extLst>
          </p:cNvPr>
          <p:cNvSpPr>
            <a:spLocks noGrp="1"/>
          </p:cNvSpPr>
          <p:nvPr>
            <p:ph idx="1"/>
          </p:nvPr>
        </p:nvSpPr>
        <p:spPr>
          <a:xfrm>
            <a:off x="496711" y="1309512"/>
            <a:ext cx="10679289" cy="4938888"/>
          </a:xfrm>
        </p:spPr>
        <p:txBody>
          <a:bodyPr/>
          <a:lstStyle/>
          <a:p>
            <a:pPr>
              <a:buFont typeface="Wingdings" panose="05000000000000000000" pitchFamily="2" charset="2"/>
              <a:buChar char="Ø"/>
            </a:pPr>
            <a:r>
              <a:rPr lang="en-US" sz="2800" dirty="0"/>
              <a:t>Glucose is converted to cellulose to build cell walls.</a:t>
            </a:r>
          </a:p>
          <a:p>
            <a:pPr>
              <a:buFont typeface="Wingdings" panose="05000000000000000000" pitchFamily="2" charset="2"/>
              <a:buChar char="Ø"/>
            </a:pPr>
            <a:r>
              <a:rPr lang="en-US" sz="2800" dirty="0"/>
              <a:t>Glucose is a source of energy when respired.</a:t>
            </a:r>
          </a:p>
          <a:p>
            <a:pPr>
              <a:buFont typeface="Wingdings" panose="05000000000000000000" pitchFamily="2" charset="2"/>
              <a:buChar char="Ø"/>
            </a:pPr>
            <a:r>
              <a:rPr lang="en-US" sz="2800" dirty="0"/>
              <a:t>Oxygen is used for respiration.</a:t>
            </a:r>
          </a:p>
          <a:p>
            <a:pPr>
              <a:buFont typeface="Wingdings" panose="05000000000000000000" pitchFamily="2" charset="2"/>
              <a:buChar char="Ø"/>
            </a:pPr>
            <a:r>
              <a:rPr lang="en-US" sz="2800" dirty="0"/>
              <a:t>Excess glucose can be converted to fats and oils and starch, then stored.</a:t>
            </a:r>
          </a:p>
          <a:p>
            <a:pPr marL="0" indent="0">
              <a:buNone/>
            </a:pPr>
            <a:r>
              <a:rPr lang="en-US" sz="2800" dirty="0"/>
              <a:t> </a:t>
            </a:r>
          </a:p>
          <a:p>
            <a:pPr marL="0" indent="0">
              <a:buNone/>
            </a:pPr>
            <a:r>
              <a:rPr lang="en-US" sz="2800" b="1" i="1" dirty="0"/>
              <a:t>Important note: Presence of starch in a leaf is shows that photosynthesis took place in the leaf.</a:t>
            </a:r>
          </a:p>
          <a:p>
            <a:pPr marL="0" indent="0">
              <a:buNone/>
            </a:pPr>
            <a:endParaRPr lang="en-US" dirty="0"/>
          </a:p>
        </p:txBody>
      </p:sp>
    </p:spTree>
    <p:extLst>
      <p:ext uri="{BB962C8B-B14F-4D97-AF65-F5344CB8AC3E}">
        <p14:creationId xmlns:p14="http://schemas.microsoft.com/office/powerpoint/2010/main" val="2314841103"/>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A9B5C-4E65-5DC1-A42B-CFC445761DD0}"/>
              </a:ext>
            </a:extLst>
          </p:cNvPr>
          <p:cNvSpPr>
            <a:spLocks noGrp="1"/>
          </p:cNvSpPr>
          <p:nvPr>
            <p:ph type="title"/>
          </p:nvPr>
        </p:nvSpPr>
        <p:spPr>
          <a:xfrm>
            <a:off x="675861" y="108164"/>
            <a:ext cx="9374973" cy="832743"/>
          </a:xfrm>
        </p:spPr>
        <p:txBody>
          <a:bodyPr/>
          <a:lstStyle/>
          <a:p>
            <a:pPr algn="ctr"/>
            <a:r>
              <a:rPr lang="en-US" b="1" u="sng" dirty="0"/>
              <a:t>Testing a leaf for starch</a:t>
            </a:r>
          </a:p>
        </p:txBody>
      </p:sp>
      <p:sp>
        <p:nvSpPr>
          <p:cNvPr id="3" name="Content Placeholder 2">
            <a:extLst>
              <a:ext uri="{FF2B5EF4-FFF2-40B4-BE49-F238E27FC236}">
                <a16:creationId xmlns:a16="http://schemas.microsoft.com/office/drawing/2014/main" id="{EBDF8B4E-3148-5510-E265-7656940860A7}"/>
              </a:ext>
            </a:extLst>
          </p:cNvPr>
          <p:cNvSpPr>
            <a:spLocks noGrp="1"/>
          </p:cNvSpPr>
          <p:nvPr>
            <p:ph idx="1"/>
          </p:nvPr>
        </p:nvSpPr>
        <p:spPr>
          <a:xfrm>
            <a:off x="1232452" y="940907"/>
            <a:ext cx="9281227" cy="5307492"/>
          </a:xfrm>
        </p:spPr>
        <p:txBody>
          <a:bodyPr>
            <a:normAutofit/>
          </a:bodyPr>
          <a:lstStyle/>
          <a:p>
            <a:pPr marL="0" indent="0" algn="just">
              <a:buNone/>
            </a:pPr>
            <a:r>
              <a:rPr lang="en-US" sz="2800" b="1" u="sng" dirty="0"/>
              <a:t>Materials:</a:t>
            </a:r>
          </a:p>
          <a:p>
            <a:pPr algn="just"/>
            <a:r>
              <a:rPr lang="en-US" sz="2800" dirty="0"/>
              <a:t>Beaker</a:t>
            </a:r>
          </a:p>
          <a:p>
            <a:pPr algn="just"/>
            <a:r>
              <a:rPr lang="en-US" sz="2800" dirty="0"/>
              <a:t>Tripod stand fitted with wire gauze</a:t>
            </a:r>
          </a:p>
          <a:p>
            <a:pPr algn="just"/>
            <a:r>
              <a:rPr lang="en-US" sz="2800" dirty="0"/>
              <a:t>Test tubes</a:t>
            </a:r>
          </a:p>
          <a:p>
            <a:pPr algn="just"/>
            <a:r>
              <a:rPr lang="en-US" sz="2800" dirty="0"/>
              <a:t>Droppers</a:t>
            </a:r>
          </a:p>
          <a:p>
            <a:pPr algn="just"/>
            <a:r>
              <a:rPr lang="en-US" sz="2800" dirty="0"/>
              <a:t>White tiles</a:t>
            </a:r>
          </a:p>
          <a:p>
            <a:pPr algn="just"/>
            <a:r>
              <a:rPr lang="en-US" sz="2800" dirty="0"/>
              <a:t>Razor</a:t>
            </a:r>
          </a:p>
          <a:p>
            <a:pPr algn="just"/>
            <a:r>
              <a:rPr lang="en-US" sz="2800" dirty="0"/>
              <a:t>Ethanol</a:t>
            </a:r>
          </a:p>
          <a:p>
            <a:pPr algn="just"/>
            <a:r>
              <a:rPr lang="en-US" sz="2800" dirty="0"/>
              <a:t>Iodine solution, heat source and green leaf</a:t>
            </a:r>
          </a:p>
          <a:p>
            <a:endParaRPr lang="en-US" dirty="0"/>
          </a:p>
        </p:txBody>
      </p:sp>
    </p:spTree>
    <p:extLst>
      <p:ext uri="{BB962C8B-B14F-4D97-AF65-F5344CB8AC3E}">
        <p14:creationId xmlns:p14="http://schemas.microsoft.com/office/powerpoint/2010/main" val="2410106120"/>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8C8FF0-C13C-ECB2-045A-2668A027B3BF}"/>
              </a:ext>
            </a:extLst>
          </p:cNvPr>
          <p:cNvSpPr>
            <a:spLocks noGrp="1"/>
          </p:cNvSpPr>
          <p:nvPr>
            <p:ph idx="1"/>
          </p:nvPr>
        </p:nvSpPr>
        <p:spPr>
          <a:xfrm>
            <a:off x="344558" y="907774"/>
            <a:ext cx="11317355" cy="5950226"/>
          </a:xfrm>
        </p:spPr>
        <p:txBody>
          <a:bodyPr>
            <a:normAutofit/>
          </a:bodyPr>
          <a:lstStyle/>
          <a:p>
            <a:pPr marL="0" indent="0" algn="just">
              <a:buNone/>
            </a:pPr>
            <a:r>
              <a:rPr lang="en-US" sz="2800" b="1" u="sng" dirty="0"/>
              <a:t>Procedure</a:t>
            </a:r>
          </a:p>
          <a:p>
            <a:pPr algn="just"/>
            <a:r>
              <a:rPr lang="en-US" sz="2800" dirty="0"/>
              <a:t>Detach/remove a leaf from a plant which has been exposed to sunlight for at least 4hours. </a:t>
            </a:r>
          </a:p>
          <a:p>
            <a:pPr algn="just"/>
            <a:r>
              <a:rPr lang="en-US" sz="2800" dirty="0"/>
              <a:t>Dip the leaf in boiling water for 5 minutes. </a:t>
            </a:r>
          </a:p>
          <a:p>
            <a:pPr algn="just"/>
            <a:r>
              <a:rPr lang="en-US" sz="2800" dirty="0"/>
              <a:t>Transfer the leaf to a test tube containing alcohol and boil in water bath until the green </a:t>
            </a:r>
            <a:r>
              <a:rPr lang="en-US" sz="2800" dirty="0" err="1"/>
              <a:t>colour</a:t>
            </a:r>
            <a:r>
              <a:rPr lang="en-US" sz="2800" dirty="0"/>
              <a:t> disappears. </a:t>
            </a:r>
          </a:p>
          <a:p>
            <a:pPr algn="just"/>
            <a:r>
              <a:rPr lang="en-US" sz="2800" dirty="0"/>
              <a:t>Wash the leaf with hot water and place it on a white tile/surface. </a:t>
            </a:r>
          </a:p>
          <a:p>
            <a:pPr algn="just"/>
            <a:r>
              <a:rPr lang="en-US" sz="2800" dirty="0"/>
              <a:t>Apply two drops of iodine solution on the leaf.</a:t>
            </a:r>
          </a:p>
          <a:p>
            <a:pPr algn="just"/>
            <a:endParaRPr lang="en-US" sz="2800" dirty="0"/>
          </a:p>
        </p:txBody>
      </p:sp>
    </p:spTree>
    <p:extLst>
      <p:ext uri="{BB962C8B-B14F-4D97-AF65-F5344CB8AC3E}">
        <p14:creationId xmlns:p14="http://schemas.microsoft.com/office/powerpoint/2010/main" val="170721728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DACE1F4-41C7-FF6E-3C08-840699D2CF45}"/>
              </a:ext>
            </a:extLst>
          </p:cNvPr>
          <p:cNvPicPr>
            <a:picLocks noGrp="1" noChangeAspect="1"/>
          </p:cNvPicPr>
          <p:nvPr>
            <p:ph idx="1"/>
          </p:nvPr>
        </p:nvPicPr>
        <p:blipFill>
          <a:blip r:embed="rId2"/>
          <a:stretch>
            <a:fillRect/>
          </a:stretch>
        </p:blipFill>
        <p:spPr>
          <a:xfrm>
            <a:off x="106017" y="331304"/>
            <a:ext cx="11993218" cy="6268279"/>
          </a:xfrm>
        </p:spPr>
      </p:pic>
    </p:spTree>
    <p:extLst>
      <p:ext uri="{BB962C8B-B14F-4D97-AF65-F5344CB8AC3E}">
        <p14:creationId xmlns:p14="http://schemas.microsoft.com/office/powerpoint/2010/main" val="3633559302"/>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C88B0-BE91-BB6C-45F7-F3F4F9B4E71C}"/>
              </a:ext>
            </a:extLst>
          </p:cNvPr>
          <p:cNvSpPr>
            <a:spLocks noGrp="1"/>
          </p:cNvSpPr>
          <p:nvPr>
            <p:ph type="title"/>
          </p:nvPr>
        </p:nvSpPr>
        <p:spPr>
          <a:xfrm>
            <a:off x="767645" y="-144702"/>
            <a:ext cx="9308712" cy="819491"/>
          </a:xfrm>
        </p:spPr>
        <p:txBody>
          <a:bodyPr/>
          <a:lstStyle/>
          <a:p>
            <a:pPr algn="ctr"/>
            <a:r>
              <a:rPr lang="en-US" b="1" u="sng" dirty="0"/>
              <a:t>Set up of apparatus</a:t>
            </a:r>
          </a:p>
        </p:txBody>
      </p:sp>
      <p:pic>
        <p:nvPicPr>
          <p:cNvPr id="1026" name="Picture 13">
            <a:extLst>
              <a:ext uri="{FF2B5EF4-FFF2-40B4-BE49-F238E27FC236}">
                <a16:creationId xmlns:a16="http://schemas.microsoft.com/office/drawing/2014/main" id="{456050C7-6D26-E254-E18E-F60537D320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3190" y="566019"/>
            <a:ext cx="5737622" cy="6291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31428792"/>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DB6AA8-7E82-CCA9-28A6-52CB024AC82A}"/>
              </a:ext>
            </a:extLst>
          </p:cNvPr>
          <p:cNvSpPr>
            <a:spLocks noGrp="1"/>
          </p:cNvSpPr>
          <p:nvPr>
            <p:ph idx="1"/>
          </p:nvPr>
        </p:nvSpPr>
        <p:spPr>
          <a:xfrm>
            <a:off x="914400" y="1245704"/>
            <a:ext cx="9886122" cy="5002695"/>
          </a:xfrm>
        </p:spPr>
        <p:txBody>
          <a:bodyPr/>
          <a:lstStyle/>
          <a:p>
            <a:pPr marL="0" indent="0">
              <a:buNone/>
            </a:pPr>
            <a:r>
              <a:rPr lang="en-US" sz="2800" b="1" u="sng" dirty="0"/>
              <a:t>Observation</a:t>
            </a:r>
          </a:p>
          <a:p>
            <a:r>
              <a:rPr lang="en-US" sz="2800" dirty="0"/>
              <a:t>On applying drop of iodine solution, it turns blue-black.</a:t>
            </a:r>
          </a:p>
          <a:p>
            <a:pPr marL="0" indent="0">
              <a:buNone/>
            </a:pPr>
            <a:r>
              <a:rPr lang="en-US" sz="2800" b="1" u="sng" dirty="0"/>
              <a:t>Conclusion</a:t>
            </a:r>
          </a:p>
          <a:p>
            <a:r>
              <a:rPr lang="en-US" sz="2800" dirty="0"/>
              <a:t>The leaf contains starch.</a:t>
            </a:r>
          </a:p>
          <a:p>
            <a:endParaRPr lang="en-US" dirty="0"/>
          </a:p>
        </p:txBody>
      </p:sp>
    </p:spTree>
    <p:extLst>
      <p:ext uri="{BB962C8B-B14F-4D97-AF65-F5344CB8AC3E}">
        <p14:creationId xmlns:p14="http://schemas.microsoft.com/office/powerpoint/2010/main" val="3833196395"/>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2DD5F8-C0AE-EF09-26FD-DA60947EA3A1}"/>
              </a:ext>
            </a:extLst>
          </p:cNvPr>
          <p:cNvSpPr>
            <a:spLocks noGrp="1"/>
          </p:cNvSpPr>
          <p:nvPr>
            <p:ph idx="1"/>
          </p:nvPr>
        </p:nvSpPr>
        <p:spPr>
          <a:xfrm>
            <a:off x="172278" y="675861"/>
            <a:ext cx="11582400" cy="5645425"/>
          </a:xfrm>
        </p:spPr>
        <p:txBody>
          <a:bodyPr>
            <a:normAutofit/>
          </a:bodyPr>
          <a:lstStyle/>
          <a:p>
            <a:pPr marL="0" indent="0" algn="just">
              <a:buNone/>
            </a:pPr>
            <a:r>
              <a:rPr lang="en-US" sz="2800" b="1" u="sng" dirty="0"/>
              <a:t>Explanation</a:t>
            </a:r>
          </a:p>
          <a:p>
            <a:pPr algn="just"/>
            <a:r>
              <a:rPr lang="en-US" sz="2800" dirty="0"/>
              <a:t>Boiling in water denatures enzymes to prevent further chemical changes and also makes the leaf cells more permeable to iodine.</a:t>
            </a:r>
          </a:p>
          <a:p>
            <a:pPr algn="just"/>
            <a:r>
              <a:rPr lang="en-US" sz="2800" dirty="0"/>
              <a:t>Ethanol decolorizes the leaf by dissolving out chlorophyll, making </a:t>
            </a:r>
            <a:r>
              <a:rPr lang="en-US" sz="2800" dirty="0" err="1"/>
              <a:t>colour</a:t>
            </a:r>
            <a:r>
              <a:rPr lang="en-US" sz="2800" dirty="0"/>
              <a:t> changes caused by interaction of starch and iodine much easy to observe. The ethanol makes the leaf brittle. </a:t>
            </a:r>
          </a:p>
          <a:p>
            <a:pPr algn="just"/>
            <a:r>
              <a:rPr lang="en-US" sz="2800" dirty="0"/>
              <a:t>Washing it in hot water softens the leaf. </a:t>
            </a:r>
          </a:p>
          <a:p>
            <a:pPr algn="just"/>
            <a:r>
              <a:rPr lang="en-US" sz="2800" dirty="0"/>
              <a:t>The blue-black </a:t>
            </a:r>
            <a:r>
              <a:rPr lang="en-US" sz="2800" dirty="0" err="1"/>
              <a:t>colour</a:t>
            </a:r>
            <a:r>
              <a:rPr lang="en-US" sz="2800" dirty="0"/>
              <a:t> confirms presence of starch in the leaf. </a:t>
            </a:r>
          </a:p>
          <a:p>
            <a:pPr algn="just"/>
            <a:endParaRPr lang="en-US" sz="2800" dirty="0"/>
          </a:p>
        </p:txBody>
      </p:sp>
    </p:spTree>
    <p:extLst>
      <p:ext uri="{BB962C8B-B14F-4D97-AF65-F5344CB8AC3E}">
        <p14:creationId xmlns:p14="http://schemas.microsoft.com/office/powerpoint/2010/main" val="1744727773"/>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77CA9-E665-6CF0-6E6F-95BA12C3B79F}"/>
              </a:ext>
            </a:extLst>
          </p:cNvPr>
          <p:cNvSpPr>
            <a:spLocks noGrp="1"/>
          </p:cNvSpPr>
          <p:nvPr>
            <p:ph type="title"/>
          </p:nvPr>
        </p:nvSpPr>
        <p:spPr/>
        <p:txBody>
          <a:bodyPr/>
          <a:lstStyle/>
          <a:p>
            <a:pPr algn="ctr"/>
            <a:r>
              <a:rPr lang="en-US" b="1" u="sng" dirty="0"/>
              <a:t>Rate of photosynthesis</a:t>
            </a:r>
          </a:p>
        </p:txBody>
      </p:sp>
      <p:sp>
        <p:nvSpPr>
          <p:cNvPr id="3" name="Content Placeholder 2">
            <a:extLst>
              <a:ext uri="{FF2B5EF4-FFF2-40B4-BE49-F238E27FC236}">
                <a16:creationId xmlns:a16="http://schemas.microsoft.com/office/drawing/2014/main" id="{6C81A922-B236-1251-EE3B-973275B0B5D0}"/>
              </a:ext>
            </a:extLst>
          </p:cNvPr>
          <p:cNvSpPr>
            <a:spLocks noGrp="1"/>
          </p:cNvSpPr>
          <p:nvPr>
            <p:ph idx="1"/>
          </p:nvPr>
        </p:nvSpPr>
        <p:spPr>
          <a:xfrm>
            <a:off x="869243" y="1828794"/>
            <a:ext cx="9717085" cy="3843866"/>
          </a:xfrm>
        </p:spPr>
        <p:txBody>
          <a:bodyPr/>
          <a:lstStyle/>
          <a:p>
            <a:pPr algn="just"/>
            <a:r>
              <a:rPr lang="en-US" sz="2800" dirty="0"/>
              <a:t>Is the measure of how much glucose is manufactured by plants per unit time.</a:t>
            </a:r>
          </a:p>
          <a:p>
            <a:pPr algn="just"/>
            <a:r>
              <a:rPr lang="en-US" sz="2800" dirty="0"/>
              <a:t>It is measured by following the amount of carbon dioxide used or oxygen produced per unit time by a plant.</a:t>
            </a:r>
          </a:p>
          <a:p>
            <a:endParaRPr lang="en-US" dirty="0"/>
          </a:p>
        </p:txBody>
      </p:sp>
    </p:spTree>
    <p:extLst>
      <p:ext uri="{BB962C8B-B14F-4D97-AF65-F5344CB8AC3E}">
        <p14:creationId xmlns:p14="http://schemas.microsoft.com/office/powerpoint/2010/main" val="670628552"/>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216C-39B4-0426-43E3-174761D8B3A7}"/>
              </a:ext>
            </a:extLst>
          </p:cNvPr>
          <p:cNvSpPr>
            <a:spLocks noGrp="1"/>
          </p:cNvSpPr>
          <p:nvPr>
            <p:ph type="title"/>
          </p:nvPr>
        </p:nvSpPr>
        <p:spPr>
          <a:xfrm>
            <a:off x="132522" y="-97497"/>
            <a:ext cx="11966713" cy="720349"/>
          </a:xfrm>
        </p:spPr>
        <p:txBody>
          <a:bodyPr/>
          <a:lstStyle/>
          <a:p>
            <a:r>
              <a:rPr lang="en-US" b="1" u="sng" dirty="0"/>
              <a:t>Factors that affect the rate of photosynthesis</a:t>
            </a:r>
          </a:p>
        </p:txBody>
      </p:sp>
      <p:sp>
        <p:nvSpPr>
          <p:cNvPr id="3" name="Content Placeholder 2">
            <a:extLst>
              <a:ext uri="{FF2B5EF4-FFF2-40B4-BE49-F238E27FC236}">
                <a16:creationId xmlns:a16="http://schemas.microsoft.com/office/drawing/2014/main" id="{A0FBE417-3657-9B44-36F6-F6CB9E2F4E33}"/>
              </a:ext>
            </a:extLst>
          </p:cNvPr>
          <p:cNvSpPr>
            <a:spLocks noGrp="1"/>
          </p:cNvSpPr>
          <p:nvPr>
            <p:ph idx="1"/>
          </p:nvPr>
        </p:nvSpPr>
        <p:spPr>
          <a:xfrm>
            <a:off x="278295" y="622852"/>
            <a:ext cx="11781183" cy="4508044"/>
          </a:xfrm>
        </p:spPr>
        <p:txBody>
          <a:bodyPr>
            <a:normAutofit/>
          </a:bodyPr>
          <a:lstStyle/>
          <a:p>
            <a:pPr marL="514350" indent="-514350" algn="just">
              <a:buFont typeface="+mj-lt"/>
              <a:buAutoNum type="arabicPeriod"/>
            </a:pPr>
            <a:r>
              <a:rPr lang="en-US" sz="2800" b="1" i="1" u="sng" dirty="0"/>
              <a:t>Light intensity</a:t>
            </a:r>
          </a:p>
          <a:p>
            <a:pPr algn="just">
              <a:buFontTx/>
              <a:buChar char="-"/>
            </a:pPr>
            <a:r>
              <a:rPr lang="en-US" sz="2800" dirty="0"/>
              <a:t>Light provides energy that drives the process of photosynthesis.</a:t>
            </a:r>
          </a:p>
          <a:p>
            <a:pPr marL="0" indent="0" algn="just">
              <a:buNone/>
            </a:pPr>
            <a:r>
              <a:rPr lang="en-US" sz="2800" b="1" u="sng" dirty="0"/>
              <a:t>A graph showing the effect of light intensity on rate of photosynthesis</a:t>
            </a:r>
          </a:p>
        </p:txBody>
      </p:sp>
      <p:pic>
        <p:nvPicPr>
          <p:cNvPr id="2050" name="Picture 8">
            <a:extLst>
              <a:ext uri="{FF2B5EF4-FFF2-40B4-BE49-F238E27FC236}">
                <a16:creationId xmlns:a16="http://schemas.microsoft.com/office/drawing/2014/main" id="{8102ABDD-59FC-86DF-C54D-8E2402B970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0036" y="2196342"/>
            <a:ext cx="5587240" cy="4642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29381747"/>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2F8D2E-8F15-DE0E-F342-CD8E23CEF181}"/>
              </a:ext>
            </a:extLst>
          </p:cNvPr>
          <p:cNvSpPr>
            <a:spLocks noGrp="1"/>
          </p:cNvSpPr>
          <p:nvPr>
            <p:ph idx="1"/>
          </p:nvPr>
        </p:nvSpPr>
        <p:spPr>
          <a:xfrm>
            <a:off x="205409" y="-17200"/>
            <a:ext cx="11668540" cy="6535379"/>
          </a:xfrm>
        </p:spPr>
        <p:txBody>
          <a:bodyPr>
            <a:noAutofit/>
          </a:bodyPr>
          <a:lstStyle/>
          <a:p>
            <a:pPr marL="0" indent="0" algn="just">
              <a:buNone/>
            </a:pPr>
            <a:r>
              <a:rPr lang="en-US" sz="2800" b="1" u="sng" dirty="0"/>
              <a:t>Description</a:t>
            </a:r>
            <a:r>
              <a:rPr lang="en-US" sz="2800" dirty="0"/>
              <a:t> </a:t>
            </a:r>
          </a:p>
          <a:p>
            <a:pPr algn="just"/>
            <a:r>
              <a:rPr lang="en-US" sz="2800" dirty="0"/>
              <a:t>At the beginning, increase in light intensity leads to a rapid increase in rate of photosynthesis.</a:t>
            </a:r>
          </a:p>
          <a:p>
            <a:pPr algn="just"/>
            <a:r>
              <a:rPr lang="en-US" sz="2800" dirty="0"/>
              <a:t> Later, the rate of photosynthesis becomes constant with further increase in light intensity.	</a:t>
            </a:r>
          </a:p>
          <a:p>
            <a:pPr marL="0" indent="0" algn="just">
              <a:buNone/>
            </a:pPr>
            <a:r>
              <a:rPr lang="en-US" sz="2800" b="1" u="sng" dirty="0"/>
              <a:t>Explanation</a:t>
            </a:r>
          </a:p>
          <a:p>
            <a:pPr algn="just"/>
            <a:r>
              <a:rPr lang="en-US" sz="2800" dirty="0"/>
              <a:t>At the beginning, increase in light intensity leads to rapid increase in rate of photosynthesis because more light provides more energy which is absorbed by chlorophyll for the process of photosynthesis </a:t>
            </a:r>
          </a:p>
          <a:p>
            <a:pPr algn="just"/>
            <a:r>
              <a:rPr lang="en-US" sz="2800" dirty="0"/>
              <a:t>Later, the rate of photosynthesis becomes constant because all the available chlorophyll is fully saturated with light and photosynthesis is at this time limited by some other factor such as availability of carbon dioxide, or amount of chlorophyll.</a:t>
            </a:r>
          </a:p>
          <a:p>
            <a:endParaRPr lang="en-US" sz="2800" dirty="0"/>
          </a:p>
        </p:txBody>
      </p:sp>
    </p:spTree>
    <p:extLst>
      <p:ext uri="{BB962C8B-B14F-4D97-AF65-F5344CB8AC3E}">
        <p14:creationId xmlns:p14="http://schemas.microsoft.com/office/powerpoint/2010/main" val="3785391317"/>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BE7B1-6A4F-AA75-DDCB-0C0B8D81CA22}"/>
              </a:ext>
            </a:extLst>
          </p:cNvPr>
          <p:cNvSpPr>
            <a:spLocks noGrp="1"/>
          </p:cNvSpPr>
          <p:nvPr>
            <p:ph type="title"/>
          </p:nvPr>
        </p:nvSpPr>
        <p:spPr>
          <a:xfrm>
            <a:off x="1103312" y="-132522"/>
            <a:ext cx="8947522" cy="1265328"/>
          </a:xfrm>
        </p:spPr>
        <p:txBody>
          <a:bodyPr/>
          <a:lstStyle/>
          <a:p>
            <a:r>
              <a:rPr lang="en-US" b="1" u="sng" dirty="0"/>
              <a:t>Finding out the effect of light intensity on rate of photosynthesis</a:t>
            </a:r>
          </a:p>
        </p:txBody>
      </p:sp>
      <p:sp>
        <p:nvSpPr>
          <p:cNvPr id="3" name="Content Placeholder 2">
            <a:extLst>
              <a:ext uri="{FF2B5EF4-FFF2-40B4-BE49-F238E27FC236}">
                <a16:creationId xmlns:a16="http://schemas.microsoft.com/office/drawing/2014/main" id="{E94276D8-2007-9C9C-0C81-F2B6BCE084E6}"/>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63E9AC5D-BC92-1E49-154E-A1326279D045}"/>
              </a:ext>
            </a:extLst>
          </p:cNvPr>
          <p:cNvPicPr>
            <a:picLocks noChangeAspect="1"/>
          </p:cNvPicPr>
          <p:nvPr/>
        </p:nvPicPr>
        <p:blipFill>
          <a:blip r:embed="rId2"/>
          <a:stretch>
            <a:fillRect/>
          </a:stretch>
        </p:blipFill>
        <p:spPr>
          <a:xfrm>
            <a:off x="901149" y="1225570"/>
            <a:ext cx="10187539" cy="5577414"/>
          </a:xfrm>
          <a:prstGeom prst="rect">
            <a:avLst/>
          </a:prstGeom>
        </p:spPr>
      </p:pic>
    </p:spTree>
    <p:extLst>
      <p:ext uri="{BB962C8B-B14F-4D97-AF65-F5344CB8AC3E}">
        <p14:creationId xmlns:p14="http://schemas.microsoft.com/office/powerpoint/2010/main" val="2490408151"/>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47CC7-779F-830D-DD2D-5543E4AF476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8908001-D7A8-169B-029D-E9666E8E319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621A1C0-8AA4-56F4-9AEB-F394D778BE20}"/>
              </a:ext>
            </a:extLst>
          </p:cNvPr>
          <p:cNvPicPr>
            <a:picLocks noChangeAspect="1"/>
          </p:cNvPicPr>
          <p:nvPr/>
        </p:nvPicPr>
        <p:blipFill>
          <a:blip r:embed="rId2"/>
          <a:stretch>
            <a:fillRect/>
          </a:stretch>
        </p:blipFill>
        <p:spPr>
          <a:xfrm>
            <a:off x="417443" y="211609"/>
            <a:ext cx="11357113" cy="6434782"/>
          </a:xfrm>
          <a:prstGeom prst="rect">
            <a:avLst/>
          </a:prstGeom>
        </p:spPr>
      </p:pic>
    </p:spTree>
    <p:extLst>
      <p:ext uri="{BB962C8B-B14F-4D97-AF65-F5344CB8AC3E}">
        <p14:creationId xmlns:p14="http://schemas.microsoft.com/office/powerpoint/2010/main" val="681992873"/>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E50FE-9258-6377-8BCB-F7B8029BB06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4D523FE-C487-5840-C43A-5D6EBDED076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F622C6B-01BA-65DD-DD01-BA90A7ABC3A8}"/>
              </a:ext>
            </a:extLst>
          </p:cNvPr>
          <p:cNvPicPr>
            <a:picLocks noChangeAspect="1"/>
          </p:cNvPicPr>
          <p:nvPr/>
        </p:nvPicPr>
        <p:blipFill>
          <a:blip r:embed="rId2"/>
          <a:stretch>
            <a:fillRect/>
          </a:stretch>
        </p:blipFill>
        <p:spPr>
          <a:xfrm>
            <a:off x="696684" y="171717"/>
            <a:ext cx="10609943" cy="6514565"/>
          </a:xfrm>
          <a:prstGeom prst="rect">
            <a:avLst/>
          </a:prstGeom>
        </p:spPr>
      </p:pic>
    </p:spTree>
    <p:extLst>
      <p:ext uri="{BB962C8B-B14F-4D97-AF65-F5344CB8AC3E}">
        <p14:creationId xmlns:p14="http://schemas.microsoft.com/office/powerpoint/2010/main" val="1723020429"/>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A83D1F-5069-50A8-6257-9CE6FC5B6382}"/>
              </a:ext>
            </a:extLst>
          </p:cNvPr>
          <p:cNvSpPr>
            <a:spLocks noGrp="1"/>
          </p:cNvSpPr>
          <p:nvPr>
            <p:ph idx="1"/>
          </p:nvPr>
        </p:nvSpPr>
        <p:spPr>
          <a:xfrm>
            <a:off x="437322" y="1099930"/>
            <a:ext cx="11012556" cy="5088835"/>
          </a:xfrm>
        </p:spPr>
        <p:txBody>
          <a:bodyPr>
            <a:normAutofit/>
          </a:bodyPr>
          <a:lstStyle/>
          <a:p>
            <a:pPr marL="0" indent="0" algn="just">
              <a:buNone/>
            </a:pPr>
            <a:r>
              <a:rPr lang="en-US" sz="2800" b="1" u="sng" dirty="0"/>
              <a:t>Procedure </a:t>
            </a:r>
          </a:p>
          <a:p>
            <a:pPr algn="just"/>
            <a:r>
              <a:rPr lang="en-US" sz="2800" dirty="0"/>
              <a:t>Place a shoot of pondweed in a boiling tube containing water in which sodium hydrogen carbonate has been dissolved.</a:t>
            </a:r>
          </a:p>
          <a:p>
            <a:pPr algn="just"/>
            <a:r>
              <a:rPr lang="en-US" sz="2800" dirty="0"/>
              <a:t>Place the lamp 10 cm from the pondweed.</a:t>
            </a:r>
          </a:p>
          <a:p>
            <a:pPr algn="just"/>
            <a:r>
              <a:rPr lang="en-US" sz="2800" dirty="0"/>
              <a:t>Turn the lamp on and count and record the number of bubbles produced in one minute.</a:t>
            </a:r>
          </a:p>
          <a:p>
            <a:pPr algn="just"/>
            <a:r>
              <a:rPr lang="en-US" sz="2800" dirty="0"/>
              <a:t>Repeat with the lamp at different distances from the pond weed.</a:t>
            </a:r>
          </a:p>
        </p:txBody>
      </p:sp>
    </p:spTree>
    <p:extLst>
      <p:ext uri="{BB962C8B-B14F-4D97-AF65-F5344CB8AC3E}">
        <p14:creationId xmlns:p14="http://schemas.microsoft.com/office/powerpoint/2010/main" val="3261204018"/>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AED009-1B6B-97F9-8E68-887EDDCD9985}"/>
              </a:ext>
            </a:extLst>
          </p:cNvPr>
          <p:cNvSpPr>
            <a:spLocks noGrp="1"/>
          </p:cNvSpPr>
          <p:nvPr>
            <p:ph idx="1"/>
          </p:nvPr>
        </p:nvSpPr>
        <p:spPr>
          <a:xfrm>
            <a:off x="599729" y="980660"/>
            <a:ext cx="11128445" cy="4651513"/>
          </a:xfrm>
        </p:spPr>
        <p:txBody>
          <a:bodyPr>
            <a:noAutofit/>
          </a:bodyPr>
          <a:lstStyle/>
          <a:p>
            <a:pPr marL="0" indent="0" algn="just">
              <a:buNone/>
            </a:pPr>
            <a:r>
              <a:rPr lang="en-US" sz="2800" b="1" u="sng" dirty="0"/>
              <a:t>Observation </a:t>
            </a:r>
          </a:p>
          <a:p>
            <a:pPr marL="0" indent="0" algn="just">
              <a:buNone/>
            </a:pPr>
            <a:r>
              <a:rPr lang="en-US" sz="2800" dirty="0"/>
              <a:t>Number of bubbles produced decreases when distance of the lamp to the pondweed increases.</a:t>
            </a:r>
          </a:p>
          <a:p>
            <a:pPr marL="0" indent="0" algn="just">
              <a:buNone/>
            </a:pPr>
            <a:r>
              <a:rPr lang="en-US" sz="2800" dirty="0"/>
              <a:t>Or </a:t>
            </a:r>
          </a:p>
          <a:p>
            <a:pPr marL="0" indent="0" algn="just">
              <a:buNone/>
            </a:pPr>
            <a:r>
              <a:rPr lang="en-US" sz="2800" dirty="0"/>
              <a:t>Number of bubbles produced increases when distance of the lamp to the pondweed decreases.</a:t>
            </a:r>
          </a:p>
          <a:p>
            <a:pPr marL="0" indent="0" algn="just">
              <a:buNone/>
            </a:pPr>
            <a:r>
              <a:rPr lang="en-US" sz="2800" b="1" u="sng" dirty="0"/>
              <a:t>conclusion</a:t>
            </a:r>
          </a:p>
          <a:p>
            <a:pPr marL="0" indent="0" algn="just">
              <a:buNone/>
            </a:pPr>
            <a:r>
              <a:rPr lang="en-US" sz="2800" dirty="0"/>
              <a:t>Increase in light intensity increases the rate of photosynthesis.</a:t>
            </a:r>
          </a:p>
        </p:txBody>
      </p:sp>
    </p:spTree>
    <p:extLst>
      <p:ext uri="{BB962C8B-B14F-4D97-AF65-F5344CB8AC3E}">
        <p14:creationId xmlns:p14="http://schemas.microsoft.com/office/powerpoint/2010/main" val="3731156332"/>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91956F-3886-0A25-E10B-3CABBA98FA51}"/>
              </a:ext>
            </a:extLst>
          </p:cNvPr>
          <p:cNvSpPr>
            <a:spLocks noGrp="1"/>
          </p:cNvSpPr>
          <p:nvPr>
            <p:ph idx="1"/>
          </p:nvPr>
        </p:nvSpPr>
        <p:spPr>
          <a:xfrm>
            <a:off x="225287" y="1192696"/>
            <a:ext cx="11476383" cy="4717775"/>
          </a:xfrm>
        </p:spPr>
        <p:txBody>
          <a:bodyPr>
            <a:normAutofit/>
          </a:bodyPr>
          <a:lstStyle/>
          <a:p>
            <a:pPr marL="0" indent="0" algn="just">
              <a:buNone/>
            </a:pPr>
            <a:r>
              <a:rPr lang="en-US" sz="2800" b="1" u="sng" dirty="0"/>
              <a:t>Explanation </a:t>
            </a:r>
          </a:p>
          <a:p>
            <a:pPr marL="0" indent="0" algn="just">
              <a:buNone/>
            </a:pPr>
            <a:r>
              <a:rPr lang="en-US" sz="2800" dirty="0"/>
              <a:t>Increase in distance of the lamp from the pondweed leads to decrease in light intensity, hence the pondweed receives less energy for photosynthesis, leading to production of less oxygen as bi-product.</a:t>
            </a:r>
          </a:p>
        </p:txBody>
      </p:sp>
    </p:spTree>
    <p:extLst>
      <p:ext uri="{BB962C8B-B14F-4D97-AF65-F5344CB8AC3E}">
        <p14:creationId xmlns:p14="http://schemas.microsoft.com/office/powerpoint/2010/main" val="2931350911"/>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1A470A-DE24-85EE-68CB-592FE9FC7C23}"/>
              </a:ext>
            </a:extLst>
          </p:cNvPr>
          <p:cNvSpPr>
            <a:spLocks noGrp="1"/>
          </p:cNvSpPr>
          <p:nvPr>
            <p:ph idx="1"/>
          </p:nvPr>
        </p:nvSpPr>
        <p:spPr>
          <a:xfrm>
            <a:off x="424070" y="1164132"/>
            <a:ext cx="11463130" cy="4395151"/>
          </a:xfrm>
        </p:spPr>
        <p:txBody>
          <a:bodyPr>
            <a:noAutofit/>
          </a:bodyPr>
          <a:lstStyle/>
          <a:p>
            <a:pPr marL="0" indent="0" algn="just">
              <a:buNone/>
            </a:pPr>
            <a:r>
              <a:rPr lang="en-US" sz="2800" dirty="0"/>
              <a:t>Note: </a:t>
            </a:r>
          </a:p>
          <a:p>
            <a:pPr algn="just"/>
            <a:r>
              <a:rPr lang="en-US" sz="2800" dirty="0"/>
              <a:t>Temperature needs to be kept constant by placing the boiling tube in water bath maintained at an appropriate temperature.</a:t>
            </a:r>
          </a:p>
          <a:p>
            <a:pPr algn="just"/>
            <a:r>
              <a:rPr lang="en-US" sz="2800" dirty="0"/>
              <a:t>Some oxygen dissolve in the water, some used by the plant for respiration.</a:t>
            </a:r>
          </a:p>
          <a:p>
            <a:pPr algn="just"/>
            <a:r>
              <a:rPr lang="en-US" sz="2800" dirty="0"/>
              <a:t>Inaccurate counting of the number of bubbles can be corrected by counting the bubbles many times and getting the average number of bubbles at a given distance</a:t>
            </a:r>
          </a:p>
        </p:txBody>
      </p:sp>
    </p:spTree>
    <p:extLst>
      <p:ext uri="{BB962C8B-B14F-4D97-AF65-F5344CB8AC3E}">
        <p14:creationId xmlns:p14="http://schemas.microsoft.com/office/powerpoint/2010/main" val="316963874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3035D8BF-BAFA-8C99-448B-084B980FB52A}"/>
              </a:ext>
            </a:extLst>
          </p:cNvPr>
          <p:cNvGraphicFramePr>
            <a:graphicFrameLocks noGrp="1"/>
          </p:cNvGraphicFramePr>
          <p:nvPr>
            <p:ph idx="1"/>
            <p:extLst>
              <p:ext uri="{D42A27DB-BD31-4B8C-83A1-F6EECF244321}">
                <p14:modId xmlns:p14="http://schemas.microsoft.com/office/powerpoint/2010/main" val="1635889785"/>
              </p:ext>
            </p:extLst>
          </p:nvPr>
        </p:nvGraphicFramePr>
        <p:xfrm>
          <a:off x="596348" y="1073421"/>
          <a:ext cx="10694504" cy="5393637"/>
        </p:xfrm>
        <a:graphic>
          <a:graphicData uri="http://schemas.openxmlformats.org/drawingml/2006/table">
            <a:tbl>
              <a:tblPr firstRow="1" bandRow="1">
                <a:tableStyleId>{5C22544A-7EE6-4342-B048-85BDC9FD1C3A}</a:tableStyleId>
              </a:tblPr>
              <a:tblGrid>
                <a:gridCol w="5347252">
                  <a:extLst>
                    <a:ext uri="{9D8B030D-6E8A-4147-A177-3AD203B41FA5}">
                      <a16:colId xmlns:a16="http://schemas.microsoft.com/office/drawing/2014/main" val="2980389296"/>
                    </a:ext>
                  </a:extLst>
                </a:gridCol>
                <a:gridCol w="5347252">
                  <a:extLst>
                    <a:ext uri="{9D8B030D-6E8A-4147-A177-3AD203B41FA5}">
                      <a16:colId xmlns:a16="http://schemas.microsoft.com/office/drawing/2014/main" val="11086587"/>
                    </a:ext>
                  </a:extLst>
                </a:gridCol>
              </a:tblGrid>
              <a:tr h="1441402">
                <a:tc>
                  <a:txBody>
                    <a:bodyPr/>
                    <a:lstStyle/>
                    <a:p>
                      <a:r>
                        <a:rPr lang="en-US" sz="2800" dirty="0"/>
                        <a:t>Distance of lamp from pondweed</a:t>
                      </a:r>
                    </a:p>
                  </a:txBody>
                  <a:tcPr/>
                </a:tc>
                <a:tc>
                  <a:txBody>
                    <a:bodyPr/>
                    <a:lstStyle/>
                    <a:p>
                      <a:r>
                        <a:rPr lang="en-US" sz="2800" dirty="0"/>
                        <a:t>Number of bubbles produced per minute</a:t>
                      </a:r>
                    </a:p>
                  </a:txBody>
                  <a:tcPr/>
                </a:tc>
                <a:extLst>
                  <a:ext uri="{0D108BD9-81ED-4DB2-BD59-A6C34878D82A}">
                    <a16:rowId xmlns:a16="http://schemas.microsoft.com/office/drawing/2014/main" val="1585834617"/>
                  </a:ext>
                </a:extLst>
              </a:tr>
              <a:tr h="790447">
                <a:tc>
                  <a:txBody>
                    <a:bodyPr/>
                    <a:lstStyle/>
                    <a:p>
                      <a:r>
                        <a:rPr lang="en-US" sz="2800" dirty="0"/>
                        <a:t>10</a:t>
                      </a:r>
                    </a:p>
                  </a:txBody>
                  <a:tcPr/>
                </a:tc>
                <a:tc>
                  <a:txBody>
                    <a:bodyPr/>
                    <a:lstStyle/>
                    <a:p>
                      <a:r>
                        <a:rPr lang="en-US" sz="2800" dirty="0"/>
                        <a:t>67</a:t>
                      </a:r>
                    </a:p>
                  </a:txBody>
                  <a:tcPr/>
                </a:tc>
                <a:extLst>
                  <a:ext uri="{0D108BD9-81ED-4DB2-BD59-A6C34878D82A}">
                    <a16:rowId xmlns:a16="http://schemas.microsoft.com/office/drawing/2014/main" val="3018650305"/>
                  </a:ext>
                </a:extLst>
              </a:tr>
              <a:tr h="790447">
                <a:tc>
                  <a:txBody>
                    <a:bodyPr/>
                    <a:lstStyle/>
                    <a:p>
                      <a:r>
                        <a:rPr lang="en-US" sz="2800"/>
                        <a:t>20</a:t>
                      </a:r>
                      <a:endParaRPr lang="en-US" sz="2800" dirty="0"/>
                    </a:p>
                  </a:txBody>
                  <a:tcPr/>
                </a:tc>
                <a:tc>
                  <a:txBody>
                    <a:bodyPr/>
                    <a:lstStyle/>
                    <a:p>
                      <a:r>
                        <a:rPr lang="en-US" sz="2800"/>
                        <a:t>62</a:t>
                      </a:r>
                      <a:endParaRPr lang="en-US" sz="2800" dirty="0"/>
                    </a:p>
                  </a:txBody>
                  <a:tcPr/>
                </a:tc>
                <a:extLst>
                  <a:ext uri="{0D108BD9-81ED-4DB2-BD59-A6C34878D82A}">
                    <a16:rowId xmlns:a16="http://schemas.microsoft.com/office/drawing/2014/main" val="1712947970"/>
                  </a:ext>
                </a:extLst>
              </a:tr>
              <a:tr h="790447">
                <a:tc>
                  <a:txBody>
                    <a:bodyPr/>
                    <a:lstStyle/>
                    <a:p>
                      <a:r>
                        <a:rPr lang="en-US" sz="2800"/>
                        <a:t>30</a:t>
                      </a:r>
                      <a:endParaRPr lang="en-US" sz="2800" dirty="0"/>
                    </a:p>
                  </a:txBody>
                  <a:tcPr/>
                </a:tc>
                <a:tc>
                  <a:txBody>
                    <a:bodyPr/>
                    <a:lstStyle/>
                    <a:p>
                      <a:r>
                        <a:rPr lang="en-US" sz="2800"/>
                        <a:t>52</a:t>
                      </a:r>
                      <a:endParaRPr lang="en-US" sz="2800" dirty="0"/>
                    </a:p>
                  </a:txBody>
                  <a:tcPr/>
                </a:tc>
                <a:extLst>
                  <a:ext uri="{0D108BD9-81ED-4DB2-BD59-A6C34878D82A}">
                    <a16:rowId xmlns:a16="http://schemas.microsoft.com/office/drawing/2014/main" val="2935816076"/>
                  </a:ext>
                </a:extLst>
              </a:tr>
              <a:tr h="790447">
                <a:tc>
                  <a:txBody>
                    <a:bodyPr/>
                    <a:lstStyle/>
                    <a:p>
                      <a:r>
                        <a:rPr lang="en-US" sz="2800"/>
                        <a:t>40</a:t>
                      </a:r>
                      <a:endParaRPr lang="en-US" sz="2800" dirty="0"/>
                    </a:p>
                  </a:txBody>
                  <a:tcPr/>
                </a:tc>
                <a:tc>
                  <a:txBody>
                    <a:bodyPr/>
                    <a:lstStyle/>
                    <a:p>
                      <a:r>
                        <a:rPr lang="en-US" sz="2800"/>
                        <a:t>31</a:t>
                      </a:r>
                      <a:endParaRPr lang="en-US" sz="2800" dirty="0"/>
                    </a:p>
                  </a:txBody>
                  <a:tcPr/>
                </a:tc>
                <a:extLst>
                  <a:ext uri="{0D108BD9-81ED-4DB2-BD59-A6C34878D82A}">
                    <a16:rowId xmlns:a16="http://schemas.microsoft.com/office/drawing/2014/main" val="1968615665"/>
                  </a:ext>
                </a:extLst>
              </a:tr>
              <a:tr h="790447">
                <a:tc>
                  <a:txBody>
                    <a:bodyPr/>
                    <a:lstStyle/>
                    <a:p>
                      <a:r>
                        <a:rPr lang="en-US" sz="2800"/>
                        <a:t>50</a:t>
                      </a:r>
                      <a:endParaRPr lang="en-US" sz="2800" dirty="0"/>
                    </a:p>
                  </a:txBody>
                  <a:tcPr/>
                </a:tc>
                <a:tc>
                  <a:txBody>
                    <a:bodyPr/>
                    <a:lstStyle/>
                    <a:p>
                      <a:r>
                        <a:rPr lang="en-US" sz="2800" dirty="0"/>
                        <a:t>14</a:t>
                      </a:r>
                    </a:p>
                  </a:txBody>
                  <a:tcPr/>
                </a:tc>
                <a:extLst>
                  <a:ext uri="{0D108BD9-81ED-4DB2-BD59-A6C34878D82A}">
                    <a16:rowId xmlns:a16="http://schemas.microsoft.com/office/drawing/2014/main" val="1971953862"/>
                  </a:ext>
                </a:extLst>
              </a:tr>
            </a:tbl>
          </a:graphicData>
        </a:graphic>
      </p:graphicFrame>
      <p:sp>
        <p:nvSpPr>
          <p:cNvPr id="2" name="TextBox 1">
            <a:extLst>
              <a:ext uri="{FF2B5EF4-FFF2-40B4-BE49-F238E27FC236}">
                <a16:creationId xmlns:a16="http://schemas.microsoft.com/office/drawing/2014/main" id="{85965DB5-9D82-EF17-871E-DD3D7CACA1F4}"/>
              </a:ext>
            </a:extLst>
          </p:cNvPr>
          <p:cNvSpPr txBox="1"/>
          <p:nvPr/>
        </p:nvSpPr>
        <p:spPr>
          <a:xfrm>
            <a:off x="781878" y="371061"/>
            <a:ext cx="9448800" cy="707886"/>
          </a:xfrm>
          <a:prstGeom prst="rect">
            <a:avLst/>
          </a:prstGeom>
          <a:noFill/>
        </p:spPr>
        <p:txBody>
          <a:bodyPr wrap="square" rtlCol="0">
            <a:spAutoFit/>
          </a:bodyPr>
          <a:lstStyle/>
          <a:p>
            <a:r>
              <a:rPr lang="en-US" sz="4000" dirty="0"/>
              <a:t>Sample results:</a:t>
            </a:r>
          </a:p>
        </p:txBody>
      </p:sp>
    </p:spTree>
    <p:extLst>
      <p:ext uri="{BB962C8B-B14F-4D97-AF65-F5344CB8AC3E}">
        <p14:creationId xmlns:p14="http://schemas.microsoft.com/office/powerpoint/2010/main" val="1441959989"/>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075279-5BB9-DE17-CE98-327A42C6802C}"/>
              </a:ext>
            </a:extLst>
          </p:cNvPr>
          <p:cNvSpPr>
            <a:spLocks noGrp="1"/>
          </p:cNvSpPr>
          <p:nvPr>
            <p:ph idx="1"/>
          </p:nvPr>
        </p:nvSpPr>
        <p:spPr/>
        <p:txBody>
          <a:bodyPr/>
          <a:lstStyle/>
          <a:p>
            <a:pPr algn="just"/>
            <a:r>
              <a:rPr lang="en-US" sz="2800" dirty="0"/>
              <a:t>Plot a graph to show how the number of bubbles produced per minute by the pond weed varies with distance of the lamp from the pond weed</a:t>
            </a:r>
          </a:p>
          <a:p>
            <a:endParaRPr lang="en-US" dirty="0"/>
          </a:p>
        </p:txBody>
      </p:sp>
    </p:spTree>
    <p:extLst>
      <p:ext uri="{BB962C8B-B14F-4D97-AF65-F5344CB8AC3E}">
        <p14:creationId xmlns:p14="http://schemas.microsoft.com/office/powerpoint/2010/main" val="73363486"/>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C9B24-E560-A0B2-54F3-6C44C9F0E3B3}"/>
              </a:ext>
            </a:extLst>
          </p:cNvPr>
          <p:cNvSpPr>
            <a:spLocks noGrp="1"/>
          </p:cNvSpPr>
          <p:nvPr>
            <p:ph type="title"/>
          </p:nvPr>
        </p:nvSpPr>
        <p:spPr>
          <a:xfrm>
            <a:off x="212035" y="-64116"/>
            <a:ext cx="11847443" cy="1400530"/>
          </a:xfrm>
        </p:spPr>
        <p:txBody>
          <a:bodyPr/>
          <a:lstStyle/>
          <a:p>
            <a:r>
              <a:rPr lang="en-US" u="sng" dirty="0"/>
              <a:t>Demonstrating  that light is necessary for photosynthesis</a:t>
            </a:r>
          </a:p>
        </p:txBody>
      </p:sp>
      <p:sp>
        <p:nvSpPr>
          <p:cNvPr id="3" name="Content Placeholder 2">
            <a:extLst>
              <a:ext uri="{FF2B5EF4-FFF2-40B4-BE49-F238E27FC236}">
                <a16:creationId xmlns:a16="http://schemas.microsoft.com/office/drawing/2014/main" id="{72C9F675-13AA-4DD2-DA45-9EA32C44065D}"/>
              </a:ext>
            </a:extLst>
          </p:cNvPr>
          <p:cNvSpPr>
            <a:spLocks noGrp="1"/>
          </p:cNvSpPr>
          <p:nvPr>
            <p:ph idx="1"/>
          </p:nvPr>
        </p:nvSpPr>
        <p:spPr>
          <a:xfrm>
            <a:off x="1103312" y="1231284"/>
            <a:ext cx="8946541" cy="4195481"/>
          </a:xfrm>
        </p:spPr>
        <p:txBody>
          <a:bodyPr>
            <a:noAutofit/>
          </a:bodyPr>
          <a:lstStyle/>
          <a:p>
            <a:pPr marL="0" indent="0">
              <a:buNone/>
            </a:pPr>
            <a:r>
              <a:rPr lang="en-US" sz="2800" dirty="0"/>
              <a:t>Materials</a:t>
            </a:r>
          </a:p>
          <a:p>
            <a:r>
              <a:rPr lang="en-US" sz="2800" dirty="0"/>
              <a:t>Potted plant with leaves</a:t>
            </a:r>
          </a:p>
          <a:p>
            <a:r>
              <a:rPr lang="en-US" sz="2800" dirty="0"/>
              <a:t>Iodine solution</a:t>
            </a:r>
          </a:p>
          <a:p>
            <a:r>
              <a:rPr lang="en-US" sz="2800" dirty="0"/>
              <a:t>Razor blade</a:t>
            </a:r>
          </a:p>
          <a:p>
            <a:r>
              <a:rPr lang="en-US" sz="2800" dirty="0"/>
              <a:t>Aluminum foil/ black polythene</a:t>
            </a:r>
          </a:p>
          <a:p>
            <a:r>
              <a:rPr lang="en-US" sz="2800" dirty="0"/>
              <a:t>Ethanol </a:t>
            </a:r>
          </a:p>
          <a:p>
            <a:r>
              <a:rPr lang="en-US" sz="2800" dirty="0"/>
              <a:t>Dropper</a:t>
            </a:r>
          </a:p>
          <a:p>
            <a:r>
              <a:rPr lang="en-US" sz="2800" dirty="0"/>
              <a:t>Source of heat</a:t>
            </a:r>
          </a:p>
          <a:p>
            <a:r>
              <a:rPr lang="en-US" sz="2800" dirty="0"/>
              <a:t>Boiling tube</a:t>
            </a:r>
          </a:p>
          <a:p>
            <a:r>
              <a:rPr lang="en-US" sz="2800" dirty="0"/>
              <a:t>Water bath, white surface</a:t>
            </a:r>
          </a:p>
        </p:txBody>
      </p:sp>
    </p:spTree>
    <p:extLst>
      <p:ext uri="{BB962C8B-B14F-4D97-AF65-F5344CB8AC3E}">
        <p14:creationId xmlns:p14="http://schemas.microsoft.com/office/powerpoint/2010/main" val="4130938582"/>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E5CEA4-E84C-EAC6-4FA4-93D9F0E91200}"/>
              </a:ext>
            </a:extLst>
          </p:cNvPr>
          <p:cNvSpPr>
            <a:spLocks noGrp="1"/>
          </p:cNvSpPr>
          <p:nvPr>
            <p:ph idx="1"/>
          </p:nvPr>
        </p:nvSpPr>
        <p:spPr>
          <a:xfrm>
            <a:off x="318052" y="2027583"/>
            <a:ext cx="11516139" cy="4220816"/>
          </a:xfrm>
        </p:spPr>
        <p:txBody>
          <a:bodyPr>
            <a:normAutofit/>
          </a:bodyPr>
          <a:lstStyle/>
          <a:p>
            <a:pPr marL="0" indent="0" algn="just">
              <a:buNone/>
            </a:pPr>
            <a:r>
              <a:rPr lang="en-US" sz="2800" b="1" dirty="0"/>
              <a:t>Procedure</a:t>
            </a:r>
          </a:p>
          <a:p>
            <a:pPr algn="just"/>
            <a:r>
              <a:rPr lang="en-US" sz="2800" dirty="0"/>
              <a:t>De-starch the potted plant by keeping in darkness for 48 hours. </a:t>
            </a:r>
          </a:p>
          <a:p>
            <a:pPr algn="just"/>
            <a:r>
              <a:rPr lang="en-US" sz="2800" dirty="0"/>
              <a:t>Attach a piece of aluminum foil one leaf. </a:t>
            </a:r>
          </a:p>
          <a:p>
            <a:pPr algn="just"/>
            <a:r>
              <a:rPr lang="en-US" sz="2800" dirty="0"/>
              <a:t>Place the plant in sun for at least 4 hours.</a:t>
            </a:r>
          </a:p>
          <a:p>
            <a:pPr algn="just"/>
            <a:r>
              <a:rPr lang="en-US" sz="2800" dirty="0"/>
              <a:t>Test the leaf for starch immediately after this duration.</a:t>
            </a:r>
          </a:p>
          <a:p>
            <a:pPr algn="just"/>
            <a:endParaRPr lang="en-US" sz="2800" dirty="0"/>
          </a:p>
        </p:txBody>
      </p:sp>
    </p:spTree>
    <p:extLst>
      <p:ext uri="{BB962C8B-B14F-4D97-AF65-F5344CB8AC3E}">
        <p14:creationId xmlns:p14="http://schemas.microsoft.com/office/powerpoint/2010/main" val="4165753040"/>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8E9AA5-4887-0483-82BF-998CE7C044D1}"/>
              </a:ext>
            </a:extLst>
          </p:cNvPr>
          <p:cNvSpPr>
            <a:spLocks noGrp="1"/>
          </p:cNvSpPr>
          <p:nvPr>
            <p:ph idx="1"/>
          </p:nvPr>
        </p:nvSpPr>
        <p:spPr>
          <a:xfrm>
            <a:off x="291548" y="251792"/>
            <a:ext cx="11608904" cy="6440556"/>
          </a:xfrm>
        </p:spPr>
        <p:txBody>
          <a:bodyPr>
            <a:normAutofit/>
          </a:bodyPr>
          <a:lstStyle/>
          <a:p>
            <a:pPr marL="0" indent="0">
              <a:buNone/>
            </a:pPr>
            <a:r>
              <a:rPr lang="en-US" sz="2800" b="1" u="sng" dirty="0"/>
              <a:t>Set up of apparatus</a:t>
            </a:r>
          </a:p>
        </p:txBody>
      </p:sp>
      <p:pic>
        <p:nvPicPr>
          <p:cNvPr id="1026" name="Picture 2">
            <a:extLst>
              <a:ext uri="{FF2B5EF4-FFF2-40B4-BE49-F238E27FC236}">
                <a16:creationId xmlns:a16="http://schemas.microsoft.com/office/drawing/2014/main" id="{B305A5EF-622C-5E40-55AD-42C8418A8D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6572" y="773388"/>
            <a:ext cx="7244176" cy="597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92488163"/>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9596BC-427C-7F85-1072-CFE160ECB31E}"/>
              </a:ext>
            </a:extLst>
          </p:cNvPr>
          <p:cNvSpPr>
            <a:spLocks noGrp="1"/>
          </p:cNvSpPr>
          <p:nvPr>
            <p:ph idx="1"/>
          </p:nvPr>
        </p:nvSpPr>
        <p:spPr>
          <a:xfrm>
            <a:off x="185530" y="397565"/>
            <a:ext cx="11463131" cy="5811078"/>
          </a:xfrm>
        </p:spPr>
        <p:txBody>
          <a:bodyPr>
            <a:normAutofit/>
          </a:bodyPr>
          <a:lstStyle/>
          <a:p>
            <a:pPr marL="0" indent="0">
              <a:buNone/>
            </a:pPr>
            <a:r>
              <a:rPr lang="en-US" sz="2800" b="1" u="sng" dirty="0"/>
              <a:t>Observation</a:t>
            </a:r>
          </a:p>
          <a:p>
            <a:r>
              <a:rPr lang="en-US" sz="2800" dirty="0"/>
              <a:t>The part which was covered with aluminum foil turns brown while the uncovered part turns blue-black</a:t>
            </a:r>
          </a:p>
          <a:p>
            <a:endParaRPr lang="en-US" sz="2800" dirty="0"/>
          </a:p>
        </p:txBody>
      </p:sp>
      <p:pic>
        <p:nvPicPr>
          <p:cNvPr id="2050" name="Picture 2">
            <a:extLst>
              <a:ext uri="{FF2B5EF4-FFF2-40B4-BE49-F238E27FC236}">
                <a16:creationId xmlns:a16="http://schemas.microsoft.com/office/drawing/2014/main" id="{F7E242E5-9C11-BB74-8EBC-3C392F7B23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956" y="2220035"/>
            <a:ext cx="10840278" cy="4028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47905"/>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D9F046-F410-1119-4742-A928D424A5ED}"/>
              </a:ext>
            </a:extLst>
          </p:cNvPr>
          <p:cNvSpPr>
            <a:spLocks noGrp="1"/>
          </p:cNvSpPr>
          <p:nvPr>
            <p:ph idx="1"/>
          </p:nvPr>
        </p:nvSpPr>
        <p:spPr>
          <a:xfrm>
            <a:off x="116114" y="145142"/>
            <a:ext cx="11945257" cy="6589487"/>
          </a:xfrm>
        </p:spPr>
        <p:txBody>
          <a:bodyPr>
            <a:normAutofit/>
          </a:bodyPr>
          <a:lstStyle/>
          <a:p>
            <a:pPr marL="0" indent="0" algn="just">
              <a:buNone/>
            </a:pPr>
            <a:r>
              <a:rPr lang="en-US" sz="2800" b="1" u="sng" dirty="0"/>
              <a:t>Conclusion </a:t>
            </a:r>
          </a:p>
          <a:p>
            <a:pPr algn="just"/>
            <a:r>
              <a:rPr lang="en-US" sz="2800" dirty="0"/>
              <a:t>Light is necessary for photosynthesis</a:t>
            </a:r>
          </a:p>
          <a:p>
            <a:pPr marL="0" indent="0" algn="just">
              <a:buNone/>
            </a:pPr>
            <a:r>
              <a:rPr lang="en-US" sz="2800" b="1" u="sng" dirty="0"/>
              <a:t>NOTE: </a:t>
            </a:r>
          </a:p>
          <a:p>
            <a:pPr algn="just"/>
            <a:r>
              <a:rPr lang="en-US" sz="2800" dirty="0"/>
              <a:t>Covered area did not have starch because light was prevented from reaching it by aluminum foil.</a:t>
            </a:r>
          </a:p>
          <a:p>
            <a:pPr algn="just"/>
            <a:r>
              <a:rPr lang="en-US" sz="2800" dirty="0"/>
              <a:t> Before investigating the conditions necessary for photosynthesis to take place, the leaf must be de-starched first.</a:t>
            </a:r>
          </a:p>
          <a:p>
            <a:pPr algn="just"/>
            <a:r>
              <a:rPr lang="en-US" sz="2800" dirty="0"/>
              <a:t>De-starching is the process of removing starch from plant leaves by keeping it in darkness for at least 2 days. </a:t>
            </a:r>
          </a:p>
          <a:p>
            <a:pPr algn="just"/>
            <a:r>
              <a:rPr lang="en-US" sz="2800" dirty="0"/>
              <a:t>During de-starching, starch is converted to glucose and respired by the plant or converted to sucrose translocated to other parts of the plant.</a:t>
            </a:r>
          </a:p>
          <a:p>
            <a:pPr algn="just"/>
            <a:endParaRPr lang="en-US" sz="2800" dirty="0"/>
          </a:p>
          <a:p>
            <a:pPr algn="just"/>
            <a:endParaRPr lang="en-US" sz="2800" dirty="0"/>
          </a:p>
        </p:txBody>
      </p:sp>
    </p:spTree>
    <p:extLst>
      <p:ext uri="{BB962C8B-B14F-4D97-AF65-F5344CB8AC3E}">
        <p14:creationId xmlns:p14="http://schemas.microsoft.com/office/powerpoint/2010/main" val="2541629559"/>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21223-DA6E-657F-46B3-B36F343A34C5}"/>
              </a:ext>
            </a:extLst>
          </p:cNvPr>
          <p:cNvSpPr>
            <a:spLocks noGrp="1"/>
          </p:cNvSpPr>
          <p:nvPr>
            <p:ph type="title"/>
          </p:nvPr>
        </p:nvSpPr>
        <p:spPr>
          <a:xfrm>
            <a:off x="645130" y="0"/>
            <a:ext cx="10821156" cy="783771"/>
          </a:xfrm>
        </p:spPr>
        <p:txBody>
          <a:bodyPr/>
          <a:lstStyle/>
          <a:p>
            <a:r>
              <a:rPr lang="en-US" b="1" i="1" u="sng" dirty="0"/>
              <a:t>2. Carbon dioxide concentration</a:t>
            </a:r>
          </a:p>
        </p:txBody>
      </p:sp>
      <p:sp>
        <p:nvSpPr>
          <p:cNvPr id="3" name="Content Placeholder 2">
            <a:extLst>
              <a:ext uri="{FF2B5EF4-FFF2-40B4-BE49-F238E27FC236}">
                <a16:creationId xmlns:a16="http://schemas.microsoft.com/office/drawing/2014/main" id="{078CA3AA-D1D9-B56F-8E6F-76C25B56ACD8}"/>
              </a:ext>
            </a:extLst>
          </p:cNvPr>
          <p:cNvSpPr>
            <a:spLocks noGrp="1"/>
          </p:cNvSpPr>
          <p:nvPr>
            <p:ph idx="1"/>
          </p:nvPr>
        </p:nvSpPr>
        <p:spPr>
          <a:xfrm>
            <a:off x="348570" y="667656"/>
            <a:ext cx="10217831" cy="5696856"/>
          </a:xfrm>
        </p:spPr>
        <p:txBody>
          <a:bodyPr>
            <a:normAutofit/>
          </a:bodyPr>
          <a:lstStyle/>
          <a:p>
            <a:r>
              <a:rPr lang="en-US" sz="2800" dirty="0"/>
              <a:t>Carbon dioxide is a raw material for photosynthesis.</a:t>
            </a:r>
          </a:p>
          <a:p>
            <a:pPr marL="0" indent="0" algn="just">
              <a:buNone/>
            </a:pPr>
            <a:r>
              <a:rPr lang="en-US" sz="2800" u="sng" dirty="0"/>
              <a:t>A graph showing the effect of carbon dioxide on rate of photosynthesis</a:t>
            </a:r>
          </a:p>
        </p:txBody>
      </p:sp>
      <p:pic>
        <p:nvPicPr>
          <p:cNvPr id="3074" name="Picture 2">
            <a:extLst>
              <a:ext uri="{FF2B5EF4-FFF2-40B4-BE49-F238E27FC236}">
                <a16:creationId xmlns:a16="http://schemas.microsoft.com/office/drawing/2014/main" id="{F6452780-FF56-5242-6FBB-42196870E6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1543" y="1875183"/>
            <a:ext cx="6180704" cy="4982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7189552"/>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21139F-B6B8-6654-975F-5EE2FFA0BE1C}"/>
              </a:ext>
            </a:extLst>
          </p:cNvPr>
          <p:cNvSpPr>
            <a:spLocks noGrp="1"/>
          </p:cNvSpPr>
          <p:nvPr>
            <p:ph idx="1"/>
          </p:nvPr>
        </p:nvSpPr>
        <p:spPr>
          <a:xfrm>
            <a:off x="130630" y="551539"/>
            <a:ext cx="11959770" cy="6132285"/>
          </a:xfrm>
        </p:spPr>
        <p:txBody>
          <a:bodyPr>
            <a:normAutofit lnSpcReduction="10000"/>
          </a:bodyPr>
          <a:lstStyle/>
          <a:p>
            <a:pPr marL="0" indent="0" algn="just">
              <a:buNone/>
            </a:pPr>
            <a:r>
              <a:rPr lang="en-US" sz="2800" b="1" u="sng" dirty="0"/>
              <a:t>Description </a:t>
            </a:r>
          </a:p>
          <a:p>
            <a:pPr algn="just"/>
            <a:r>
              <a:rPr lang="en-US" sz="2800" dirty="0"/>
              <a:t>	At the beginning, the rate of photosynthesis increases rapidly as carbon dioxide concentration increases.</a:t>
            </a:r>
          </a:p>
          <a:p>
            <a:pPr algn="just"/>
            <a:r>
              <a:rPr lang="en-US" sz="2800" dirty="0"/>
              <a:t>Later, the rate of photosynthesis remains constant as carbon dioxide concentration increases.</a:t>
            </a:r>
          </a:p>
          <a:p>
            <a:pPr marL="0" indent="0" algn="just">
              <a:buNone/>
            </a:pPr>
            <a:r>
              <a:rPr lang="en-US" sz="2800" b="1" u="sng" dirty="0"/>
              <a:t>Explanation</a:t>
            </a:r>
          </a:p>
          <a:p>
            <a:pPr algn="just"/>
            <a:r>
              <a:rPr lang="en-US" sz="2800" dirty="0"/>
              <a:t>At the beginning, the rate of photosynthesis increases with increase in carbon dioxide concentration because increase in carbon dioxide concentration provides more raw material for photosynthesis</a:t>
            </a:r>
          </a:p>
          <a:p>
            <a:pPr algn="just"/>
            <a:r>
              <a:rPr lang="en-US" sz="2800" dirty="0"/>
              <a:t>Later, the rate of photosynthesis becomes constant because all the cells that are photosynthesizing are fully saturated with carbon dioxide.</a:t>
            </a:r>
          </a:p>
          <a:p>
            <a:pPr algn="just"/>
            <a:endParaRPr lang="en-US" sz="2800" dirty="0"/>
          </a:p>
        </p:txBody>
      </p:sp>
    </p:spTree>
    <p:extLst>
      <p:ext uri="{BB962C8B-B14F-4D97-AF65-F5344CB8AC3E}">
        <p14:creationId xmlns:p14="http://schemas.microsoft.com/office/powerpoint/2010/main" val="2081666222"/>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77657-6F84-64A5-2D8F-D3230657499C}"/>
              </a:ext>
            </a:extLst>
          </p:cNvPr>
          <p:cNvSpPr>
            <a:spLocks noGrp="1"/>
          </p:cNvSpPr>
          <p:nvPr>
            <p:ph type="title"/>
          </p:nvPr>
        </p:nvSpPr>
        <p:spPr>
          <a:xfrm>
            <a:off x="1" y="31806"/>
            <a:ext cx="12192000" cy="1400530"/>
          </a:xfrm>
        </p:spPr>
        <p:txBody>
          <a:bodyPr/>
          <a:lstStyle/>
          <a:p>
            <a:pPr algn="just"/>
            <a:r>
              <a:rPr lang="en-US" b="1" u="sng" dirty="0"/>
              <a:t>Finding out the effect of changing carbon dioxide concentration on rate of photosynthesis</a:t>
            </a:r>
          </a:p>
        </p:txBody>
      </p:sp>
      <p:sp>
        <p:nvSpPr>
          <p:cNvPr id="3" name="Content Placeholder 2">
            <a:extLst>
              <a:ext uri="{FF2B5EF4-FFF2-40B4-BE49-F238E27FC236}">
                <a16:creationId xmlns:a16="http://schemas.microsoft.com/office/drawing/2014/main" id="{6EF6E64E-3EB6-677D-82EE-402A73D063D0}"/>
              </a:ext>
            </a:extLst>
          </p:cNvPr>
          <p:cNvSpPr>
            <a:spLocks noGrp="1"/>
          </p:cNvSpPr>
          <p:nvPr>
            <p:ph idx="1"/>
          </p:nvPr>
        </p:nvSpPr>
        <p:spPr/>
        <p:txBody>
          <a:bodyPr/>
          <a:lstStyle/>
          <a:p>
            <a:endParaRPr lang="en-US" dirty="0"/>
          </a:p>
        </p:txBody>
      </p:sp>
      <p:pic>
        <p:nvPicPr>
          <p:cNvPr id="4098" name="Picture 20">
            <a:extLst>
              <a:ext uri="{FF2B5EF4-FFF2-40B4-BE49-F238E27FC236}">
                <a16:creationId xmlns:a16="http://schemas.microsoft.com/office/drawing/2014/main" id="{12AB6D18-CBE2-4679-D492-C0AB61A0D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12685" r="-90"/>
          <a:stretch/>
        </p:blipFill>
        <p:spPr bwMode="auto">
          <a:xfrm>
            <a:off x="254112" y="2052918"/>
            <a:ext cx="11683775" cy="4713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4124185"/>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253A6-C97C-A141-9F91-2EC1EC79B4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2A4A419-AF46-DFB2-DB28-05D7AC980317}"/>
              </a:ext>
            </a:extLst>
          </p:cNvPr>
          <p:cNvSpPr>
            <a:spLocks noGrp="1"/>
          </p:cNvSpPr>
          <p:nvPr>
            <p:ph idx="1"/>
          </p:nvPr>
        </p:nvSpPr>
        <p:spPr/>
        <p:txBody>
          <a:bodyPr/>
          <a:lstStyle/>
          <a:p>
            <a:endParaRPr lang="en-US"/>
          </a:p>
        </p:txBody>
      </p:sp>
      <p:pic>
        <p:nvPicPr>
          <p:cNvPr id="2050" name="Picture 2" descr="1.2 Respiration takes place in the cell. Its purpose is to release... Use a  word from the list to complete the sentence. amino a">
            <a:extLst>
              <a:ext uri="{FF2B5EF4-FFF2-40B4-BE49-F238E27FC236}">
                <a16:creationId xmlns:a16="http://schemas.microsoft.com/office/drawing/2014/main" id="{9431A52F-8B55-9E19-B38B-4A2C228F4A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867" y="452718"/>
            <a:ext cx="11835999" cy="5952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3790135"/>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F5E87-75D3-905A-F23B-6CB704BB1F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3C49ECF-B477-309F-81AF-295EEE1876A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EC933D0-EBF2-A14F-0905-774C1598C6E0}"/>
              </a:ext>
            </a:extLst>
          </p:cNvPr>
          <p:cNvPicPr>
            <a:picLocks noChangeAspect="1"/>
          </p:cNvPicPr>
          <p:nvPr/>
        </p:nvPicPr>
        <p:blipFill>
          <a:blip r:embed="rId2"/>
          <a:stretch>
            <a:fillRect/>
          </a:stretch>
        </p:blipFill>
        <p:spPr>
          <a:xfrm>
            <a:off x="444709" y="531159"/>
            <a:ext cx="11101180" cy="5795681"/>
          </a:xfrm>
          <a:prstGeom prst="rect">
            <a:avLst/>
          </a:prstGeom>
        </p:spPr>
      </p:pic>
    </p:spTree>
    <p:extLst>
      <p:ext uri="{BB962C8B-B14F-4D97-AF65-F5344CB8AC3E}">
        <p14:creationId xmlns:p14="http://schemas.microsoft.com/office/powerpoint/2010/main" val="1187910281"/>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CE293C-55A0-40C6-CD8F-3909FE43F3C7}"/>
              </a:ext>
            </a:extLst>
          </p:cNvPr>
          <p:cNvSpPr>
            <a:spLocks noGrp="1"/>
          </p:cNvSpPr>
          <p:nvPr>
            <p:ph idx="1"/>
          </p:nvPr>
        </p:nvSpPr>
        <p:spPr>
          <a:xfrm>
            <a:off x="198784" y="1099931"/>
            <a:ext cx="11847442" cy="5022574"/>
          </a:xfrm>
        </p:spPr>
        <p:txBody>
          <a:bodyPr>
            <a:normAutofit/>
          </a:bodyPr>
          <a:lstStyle/>
          <a:p>
            <a:pPr marL="0" indent="0" algn="just">
              <a:buNone/>
            </a:pPr>
            <a:r>
              <a:rPr lang="en-US" sz="2800" b="1" dirty="0"/>
              <a:t>Procedure</a:t>
            </a:r>
            <a:r>
              <a:rPr lang="en-US" sz="2800" dirty="0"/>
              <a:t> </a:t>
            </a:r>
          </a:p>
          <a:p>
            <a:pPr algn="just"/>
            <a:r>
              <a:rPr lang="en-US" sz="2800" dirty="0"/>
              <a:t>Assemble three sets of apparatus as shown above.</a:t>
            </a:r>
          </a:p>
          <a:p>
            <a:pPr algn="just"/>
            <a:r>
              <a:rPr lang="en-US" sz="2800" dirty="0"/>
              <a:t>Maintain all the setups at the same constant temperature.</a:t>
            </a:r>
          </a:p>
          <a:p>
            <a:pPr algn="just"/>
            <a:r>
              <a:rPr lang="en-US" sz="2800" dirty="0"/>
              <a:t>Add 0.1% sodium hydrogen carbonate in set up 1, 0.3% sodium hydrogen carbonate to set up 2 and 0.5% sodium hydrogen carbonate to test set up 3.</a:t>
            </a:r>
          </a:p>
          <a:p>
            <a:pPr algn="just"/>
            <a:r>
              <a:rPr lang="en-US" sz="2800" dirty="0"/>
              <a:t>Observe and record the number of bubbles produced per minute at each concentration of sodium hydrogen carbonate.</a:t>
            </a:r>
          </a:p>
          <a:p>
            <a:endParaRPr lang="en-US" dirty="0"/>
          </a:p>
        </p:txBody>
      </p:sp>
    </p:spTree>
    <p:extLst>
      <p:ext uri="{BB962C8B-B14F-4D97-AF65-F5344CB8AC3E}">
        <p14:creationId xmlns:p14="http://schemas.microsoft.com/office/powerpoint/2010/main" val="1923941022"/>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F9D0E9-5B9E-4709-4B52-3ADCFFA57ABD}"/>
              </a:ext>
            </a:extLst>
          </p:cNvPr>
          <p:cNvSpPr>
            <a:spLocks noGrp="1"/>
          </p:cNvSpPr>
          <p:nvPr>
            <p:ph idx="1"/>
          </p:nvPr>
        </p:nvSpPr>
        <p:spPr>
          <a:xfrm>
            <a:off x="543339" y="1378228"/>
            <a:ext cx="11383617" cy="5744816"/>
          </a:xfrm>
        </p:spPr>
        <p:txBody>
          <a:bodyPr>
            <a:normAutofit/>
          </a:bodyPr>
          <a:lstStyle/>
          <a:p>
            <a:pPr marL="0" indent="0" algn="just">
              <a:buNone/>
            </a:pPr>
            <a:r>
              <a:rPr lang="en-US" sz="3200" b="1" dirty="0"/>
              <a:t>Observation</a:t>
            </a:r>
          </a:p>
          <a:p>
            <a:pPr marL="0" indent="0" algn="just">
              <a:buNone/>
            </a:pPr>
            <a:r>
              <a:rPr lang="en-US" sz="3200" dirty="0"/>
              <a:t>Increase in carbon dioxide concentration leads to increase in number of bubbles produced by the pond weed.</a:t>
            </a:r>
          </a:p>
          <a:p>
            <a:pPr marL="0" indent="0" algn="just">
              <a:buNone/>
            </a:pPr>
            <a:r>
              <a:rPr lang="en-US" sz="3200" b="1" dirty="0"/>
              <a:t>Conclusion</a:t>
            </a:r>
          </a:p>
          <a:p>
            <a:pPr marL="0" indent="0" algn="just">
              <a:buNone/>
            </a:pPr>
            <a:r>
              <a:rPr lang="en-US" sz="3200" dirty="0"/>
              <a:t>Increase in carbon dioxide concentration leads to increase in rate of photosynthesis.</a:t>
            </a:r>
          </a:p>
        </p:txBody>
      </p:sp>
    </p:spTree>
    <p:extLst>
      <p:ext uri="{BB962C8B-B14F-4D97-AF65-F5344CB8AC3E}">
        <p14:creationId xmlns:p14="http://schemas.microsoft.com/office/powerpoint/2010/main" val="2255035416"/>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62A58-46FD-AB8D-5D40-47AC42D055EA}"/>
              </a:ext>
            </a:extLst>
          </p:cNvPr>
          <p:cNvSpPr>
            <a:spLocks noGrp="1"/>
          </p:cNvSpPr>
          <p:nvPr>
            <p:ph type="title"/>
          </p:nvPr>
        </p:nvSpPr>
        <p:spPr>
          <a:xfrm>
            <a:off x="203200" y="31807"/>
            <a:ext cx="11829143" cy="1434139"/>
          </a:xfrm>
        </p:spPr>
        <p:txBody>
          <a:bodyPr/>
          <a:lstStyle/>
          <a:p>
            <a:pPr algn="just"/>
            <a:r>
              <a:rPr lang="en-US" b="1" u="sng" dirty="0"/>
              <a:t>To demonstrate that carbon dioxide is necessary for photosynthesis</a:t>
            </a:r>
          </a:p>
        </p:txBody>
      </p:sp>
      <p:sp>
        <p:nvSpPr>
          <p:cNvPr id="3" name="Content Placeholder 2">
            <a:extLst>
              <a:ext uri="{FF2B5EF4-FFF2-40B4-BE49-F238E27FC236}">
                <a16:creationId xmlns:a16="http://schemas.microsoft.com/office/drawing/2014/main" id="{2D984814-E9D0-074D-EC72-7A35A6CB1138}"/>
              </a:ext>
            </a:extLst>
          </p:cNvPr>
          <p:cNvSpPr>
            <a:spLocks noGrp="1"/>
          </p:cNvSpPr>
          <p:nvPr>
            <p:ph idx="1"/>
          </p:nvPr>
        </p:nvSpPr>
        <p:spPr>
          <a:xfrm>
            <a:off x="739079" y="1810503"/>
            <a:ext cx="10757383" cy="4195481"/>
          </a:xfrm>
        </p:spPr>
        <p:txBody>
          <a:bodyPr numCol="2">
            <a:noAutofit/>
          </a:bodyPr>
          <a:lstStyle/>
          <a:p>
            <a:pPr marL="0" indent="0">
              <a:buNone/>
            </a:pPr>
            <a:r>
              <a:rPr lang="en-US" sz="2800" b="1" u="sng" dirty="0"/>
              <a:t>Materials</a:t>
            </a:r>
          </a:p>
          <a:p>
            <a:r>
              <a:rPr lang="en-US" sz="2800" dirty="0"/>
              <a:t>Conical flasks</a:t>
            </a:r>
          </a:p>
          <a:p>
            <a:r>
              <a:rPr lang="en-US" sz="2800" dirty="0"/>
              <a:t>Clamp</a:t>
            </a:r>
          </a:p>
          <a:p>
            <a:r>
              <a:rPr lang="en-US" sz="2800" dirty="0"/>
              <a:t>Potted plant</a:t>
            </a:r>
          </a:p>
          <a:p>
            <a:r>
              <a:rPr lang="en-US" sz="2800" dirty="0"/>
              <a:t>Soda lime (potassium hydroxide)</a:t>
            </a:r>
          </a:p>
          <a:p>
            <a:r>
              <a:rPr lang="en-US" sz="2800" dirty="0"/>
              <a:t>Sodium bicarbonate</a:t>
            </a:r>
          </a:p>
          <a:p>
            <a:r>
              <a:rPr lang="en-US" sz="2800" dirty="0"/>
              <a:t>Corks</a:t>
            </a:r>
          </a:p>
          <a:p>
            <a:r>
              <a:rPr lang="en-US" sz="2800" dirty="0"/>
              <a:t>Vaseline,</a:t>
            </a:r>
          </a:p>
          <a:p>
            <a:r>
              <a:rPr lang="en-US" sz="2800" dirty="0"/>
              <a:t>Test tube</a:t>
            </a:r>
          </a:p>
          <a:p>
            <a:r>
              <a:rPr lang="en-US" sz="2800" dirty="0"/>
              <a:t>Beaker</a:t>
            </a:r>
          </a:p>
          <a:p>
            <a:r>
              <a:rPr lang="en-US" sz="2800" dirty="0"/>
              <a:t>Iodine solution</a:t>
            </a:r>
          </a:p>
          <a:p>
            <a:r>
              <a:rPr lang="en-US" sz="2800" dirty="0"/>
              <a:t>Water bath</a:t>
            </a:r>
          </a:p>
          <a:p>
            <a:r>
              <a:rPr lang="en-US" sz="2800" dirty="0"/>
              <a:t>White tile</a:t>
            </a:r>
          </a:p>
          <a:p>
            <a:r>
              <a:rPr lang="en-US" sz="2800" dirty="0"/>
              <a:t>Beaker</a:t>
            </a:r>
          </a:p>
          <a:p>
            <a:r>
              <a:rPr lang="en-US" sz="2800" dirty="0"/>
              <a:t>Bunsen burner.</a:t>
            </a:r>
          </a:p>
        </p:txBody>
      </p:sp>
    </p:spTree>
    <p:extLst>
      <p:ext uri="{BB962C8B-B14F-4D97-AF65-F5344CB8AC3E}">
        <p14:creationId xmlns:p14="http://schemas.microsoft.com/office/powerpoint/2010/main" val="2589339280"/>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2DA0C5-452B-549E-896C-295F29DEE83B}"/>
              </a:ext>
            </a:extLst>
          </p:cNvPr>
          <p:cNvSpPr>
            <a:spLocks noGrp="1"/>
          </p:cNvSpPr>
          <p:nvPr>
            <p:ph idx="1"/>
          </p:nvPr>
        </p:nvSpPr>
        <p:spPr>
          <a:xfrm>
            <a:off x="662609" y="834887"/>
            <a:ext cx="10668000" cy="5367130"/>
          </a:xfrm>
        </p:spPr>
        <p:txBody>
          <a:bodyPr>
            <a:noAutofit/>
          </a:bodyPr>
          <a:lstStyle/>
          <a:p>
            <a:pPr marL="0" indent="0" algn="just">
              <a:buNone/>
            </a:pPr>
            <a:r>
              <a:rPr lang="en-US" sz="2800" b="1" u="sng" dirty="0"/>
              <a:t>Procedure </a:t>
            </a:r>
          </a:p>
          <a:p>
            <a:pPr algn="just"/>
            <a:r>
              <a:rPr lang="en-US" sz="2800" dirty="0"/>
              <a:t>De-starch a well-watered potted plant by keeping it in a dark place for at least 24hours.</a:t>
            </a:r>
          </a:p>
          <a:p>
            <a:pPr algn="just"/>
            <a:r>
              <a:rPr lang="en-US" sz="2800" dirty="0"/>
              <a:t>Using a cork, enclose one leaf in a conical flask containing soda lime, label it A. </a:t>
            </a:r>
          </a:p>
          <a:p>
            <a:pPr algn="just"/>
            <a:r>
              <a:rPr lang="en-US" sz="2800" dirty="0"/>
              <a:t>Enclose another leaf in another conical flask but with sodium bicarbonate, and label it B. </a:t>
            </a:r>
          </a:p>
          <a:p>
            <a:pPr algn="just"/>
            <a:r>
              <a:rPr lang="en-US" sz="2800" dirty="0"/>
              <a:t>In both cases apply Vaseline at the neck of the flask to avoid passage of air to the flasks. </a:t>
            </a:r>
          </a:p>
          <a:p>
            <a:pPr algn="just"/>
            <a:r>
              <a:rPr lang="en-US" sz="2800" dirty="0"/>
              <a:t>Leave the set up in sunlight for at least 4 hours and test the leaves for starch. </a:t>
            </a:r>
          </a:p>
          <a:p>
            <a:endParaRPr lang="en-US" sz="2800" dirty="0"/>
          </a:p>
        </p:txBody>
      </p:sp>
    </p:spTree>
    <p:extLst>
      <p:ext uri="{BB962C8B-B14F-4D97-AF65-F5344CB8AC3E}">
        <p14:creationId xmlns:p14="http://schemas.microsoft.com/office/powerpoint/2010/main" val="3103106773"/>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DB8B4-B179-1E64-FBD5-F2F917BCA65D}"/>
              </a:ext>
            </a:extLst>
          </p:cNvPr>
          <p:cNvSpPr>
            <a:spLocks noGrp="1"/>
          </p:cNvSpPr>
          <p:nvPr>
            <p:ph type="title"/>
          </p:nvPr>
        </p:nvSpPr>
        <p:spPr>
          <a:xfrm>
            <a:off x="346717" y="0"/>
            <a:ext cx="9404723" cy="1400530"/>
          </a:xfrm>
        </p:spPr>
        <p:txBody>
          <a:bodyPr/>
          <a:lstStyle/>
          <a:p>
            <a:r>
              <a:rPr lang="en-US" dirty="0"/>
              <a:t>Set up of apparatus</a:t>
            </a:r>
          </a:p>
        </p:txBody>
      </p:sp>
      <p:pic>
        <p:nvPicPr>
          <p:cNvPr id="1027" name="Picture 19">
            <a:extLst>
              <a:ext uri="{FF2B5EF4-FFF2-40B4-BE49-F238E27FC236}">
                <a16:creationId xmlns:a16="http://schemas.microsoft.com/office/drawing/2014/main" id="{808BCA79-8A1E-5DCD-67E4-C0B63F8AB2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2889" y="980661"/>
            <a:ext cx="7922640" cy="5502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398953"/>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158DD3-4551-1F73-2B1F-2B59E6F6BF35}"/>
              </a:ext>
            </a:extLst>
          </p:cNvPr>
          <p:cNvSpPr>
            <a:spLocks noGrp="1"/>
          </p:cNvSpPr>
          <p:nvPr>
            <p:ph idx="1"/>
          </p:nvPr>
        </p:nvSpPr>
        <p:spPr>
          <a:xfrm>
            <a:off x="516835" y="689113"/>
            <a:ext cx="10933043" cy="5479773"/>
          </a:xfrm>
        </p:spPr>
        <p:txBody>
          <a:bodyPr>
            <a:normAutofit fontScale="85000" lnSpcReduction="20000"/>
          </a:bodyPr>
          <a:lstStyle/>
          <a:p>
            <a:pPr marL="0" indent="0" algn="just">
              <a:lnSpc>
                <a:spcPct val="120000"/>
              </a:lnSpc>
              <a:buNone/>
            </a:pPr>
            <a:r>
              <a:rPr lang="en-US" sz="3200" b="1" dirty="0"/>
              <a:t>Observation</a:t>
            </a:r>
          </a:p>
          <a:p>
            <a:pPr algn="just">
              <a:lnSpc>
                <a:spcPct val="120000"/>
              </a:lnSpc>
            </a:pPr>
            <a:r>
              <a:rPr lang="en-US" sz="3200" dirty="0"/>
              <a:t>On addition of iodine solution to leaf from conical flask B, it turned blue-black while that from A turns brown. </a:t>
            </a:r>
          </a:p>
          <a:p>
            <a:pPr marL="0" indent="0" algn="just">
              <a:lnSpc>
                <a:spcPct val="120000"/>
              </a:lnSpc>
              <a:buNone/>
            </a:pPr>
            <a:r>
              <a:rPr lang="en-US" sz="3200" b="1" dirty="0"/>
              <a:t>Conclusion</a:t>
            </a:r>
          </a:p>
          <a:p>
            <a:pPr algn="just">
              <a:lnSpc>
                <a:spcPct val="120000"/>
              </a:lnSpc>
            </a:pPr>
            <a:r>
              <a:rPr lang="en-US" sz="3200" dirty="0"/>
              <a:t>Carbon dioxide is necessary for photosynthesis.</a:t>
            </a:r>
          </a:p>
          <a:p>
            <a:pPr marL="0" indent="0" algn="just">
              <a:lnSpc>
                <a:spcPct val="120000"/>
              </a:lnSpc>
              <a:buNone/>
            </a:pPr>
            <a:r>
              <a:rPr lang="en-US" sz="3200" b="1" u="sng" dirty="0"/>
              <a:t>Explanation</a:t>
            </a:r>
          </a:p>
          <a:p>
            <a:pPr marL="0" indent="0" algn="just">
              <a:lnSpc>
                <a:spcPct val="120000"/>
              </a:lnSpc>
              <a:buNone/>
            </a:pPr>
            <a:r>
              <a:rPr lang="en-US" sz="3200" dirty="0"/>
              <a:t>-In conical flask A, soda lime absorbs all carbon dioxide within the conical flask hence there was no photosynthesis due to lack of carbon dioxide. </a:t>
            </a:r>
          </a:p>
          <a:p>
            <a:pPr marL="0" indent="0" algn="just">
              <a:lnSpc>
                <a:spcPct val="120000"/>
              </a:lnSpc>
              <a:buNone/>
            </a:pPr>
            <a:r>
              <a:rPr lang="en-US" sz="3200" dirty="0"/>
              <a:t>-In B carbon dioxide was available from the decomposition of sodium hydrogen carbonate which led to photosynthesis.</a:t>
            </a:r>
          </a:p>
          <a:p>
            <a:pPr marL="0" indent="0">
              <a:buNone/>
            </a:pPr>
            <a:endParaRPr lang="en-US" dirty="0"/>
          </a:p>
          <a:p>
            <a:endParaRPr lang="en-US" dirty="0"/>
          </a:p>
        </p:txBody>
      </p:sp>
    </p:spTree>
    <p:extLst>
      <p:ext uri="{BB962C8B-B14F-4D97-AF65-F5344CB8AC3E}">
        <p14:creationId xmlns:p14="http://schemas.microsoft.com/office/powerpoint/2010/main" val="4228948282"/>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AB14D-B367-264B-9D33-72786B701583}"/>
              </a:ext>
            </a:extLst>
          </p:cNvPr>
          <p:cNvSpPr>
            <a:spLocks noGrp="1"/>
          </p:cNvSpPr>
          <p:nvPr>
            <p:ph type="title"/>
          </p:nvPr>
        </p:nvSpPr>
        <p:spPr/>
        <p:txBody>
          <a:bodyPr/>
          <a:lstStyle/>
          <a:p>
            <a:r>
              <a:rPr lang="en-US" dirty="0"/>
              <a:t>3. Chlorophyll concentration</a:t>
            </a:r>
            <a:br>
              <a:rPr lang="en-US" dirty="0"/>
            </a:br>
            <a:endParaRPr lang="en-US" dirty="0"/>
          </a:p>
        </p:txBody>
      </p:sp>
      <p:sp>
        <p:nvSpPr>
          <p:cNvPr id="3" name="Content Placeholder 2">
            <a:extLst>
              <a:ext uri="{FF2B5EF4-FFF2-40B4-BE49-F238E27FC236}">
                <a16:creationId xmlns:a16="http://schemas.microsoft.com/office/drawing/2014/main" id="{3EBDE974-61E8-E62B-E4DF-34146398238F}"/>
              </a:ext>
            </a:extLst>
          </p:cNvPr>
          <p:cNvSpPr>
            <a:spLocks noGrp="1"/>
          </p:cNvSpPr>
          <p:nvPr>
            <p:ph idx="1"/>
          </p:nvPr>
        </p:nvSpPr>
        <p:spPr>
          <a:xfrm>
            <a:off x="291548" y="1853249"/>
            <a:ext cx="11052313" cy="3010300"/>
          </a:xfrm>
        </p:spPr>
        <p:txBody>
          <a:bodyPr>
            <a:normAutofit/>
          </a:bodyPr>
          <a:lstStyle/>
          <a:p>
            <a:pPr algn="just"/>
            <a:r>
              <a:rPr lang="en-US" sz="3200" dirty="0"/>
              <a:t>High chlorophyll concentration traps more light energy leading to increased rate of photosynthesis. </a:t>
            </a:r>
          </a:p>
          <a:p>
            <a:pPr algn="just"/>
            <a:r>
              <a:rPr lang="en-US" sz="3200" dirty="0"/>
              <a:t>Low chlorophyll concentration traps less light energy leading to decreased rate of photosynthesis </a:t>
            </a:r>
          </a:p>
          <a:p>
            <a:endParaRPr lang="en-US" dirty="0"/>
          </a:p>
        </p:txBody>
      </p:sp>
    </p:spTree>
    <p:extLst>
      <p:ext uri="{BB962C8B-B14F-4D97-AF65-F5344CB8AC3E}">
        <p14:creationId xmlns:p14="http://schemas.microsoft.com/office/powerpoint/2010/main" val="3438106229"/>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FD097-7A0C-67EA-821C-8F55DBFD3068}"/>
              </a:ext>
            </a:extLst>
          </p:cNvPr>
          <p:cNvSpPr>
            <a:spLocks noGrp="1"/>
          </p:cNvSpPr>
          <p:nvPr>
            <p:ph type="title"/>
          </p:nvPr>
        </p:nvSpPr>
        <p:spPr>
          <a:xfrm>
            <a:off x="101601" y="-25400"/>
            <a:ext cx="12090400" cy="749300"/>
          </a:xfrm>
        </p:spPr>
        <p:txBody>
          <a:bodyPr/>
          <a:lstStyle/>
          <a:p>
            <a:pPr algn="ctr"/>
            <a:r>
              <a:rPr lang="en-US" dirty="0"/>
              <a:t>Demonstrating that chlorophyll is necessary for photosynthesis</a:t>
            </a:r>
          </a:p>
        </p:txBody>
      </p:sp>
      <p:sp>
        <p:nvSpPr>
          <p:cNvPr id="3" name="Content Placeholder 2">
            <a:extLst>
              <a:ext uri="{FF2B5EF4-FFF2-40B4-BE49-F238E27FC236}">
                <a16:creationId xmlns:a16="http://schemas.microsoft.com/office/drawing/2014/main" id="{2E9F83F8-21D3-8276-AB23-8356552B1366}"/>
              </a:ext>
            </a:extLst>
          </p:cNvPr>
          <p:cNvSpPr>
            <a:spLocks noGrp="1"/>
          </p:cNvSpPr>
          <p:nvPr>
            <p:ph idx="1"/>
          </p:nvPr>
        </p:nvSpPr>
        <p:spPr>
          <a:xfrm>
            <a:off x="836612" y="508000"/>
            <a:ext cx="10910888" cy="6172200"/>
          </a:xfrm>
        </p:spPr>
        <p:txBody>
          <a:bodyPr>
            <a:noAutofit/>
          </a:bodyPr>
          <a:lstStyle/>
          <a:p>
            <a:pPr marL="0" indent="0">
              <a:buNone/>
            </a:pPr>
            <a:r>
              <a:rPr lang="en-US" sz="3200" dirty="0"/>
              <a:t>	</a:t>
            </a:r>
          </a:p>
          <a:p>
            <a:pPr marL="0" indent="0" algn="just">
              <a:buNone/>
            </a:pPr>
            <a:r>
              <a:rPr lang="en-US" sz="3200" b="1" dirty="0"/>
              <a:t>Materials</a:t>
            </a:r>
          </a:p>
          <a:p>
            <a:pPr algn="just"/>
            <a:r>
              <a:rPr lang="en-US" sz="3200" dirty="0"/>
              <a:t>Beaker</a:t>
            </a:r>
          </a:p>
          <a:p>
            <a:pPr algn="just"/>
            <a:r>
              <a:rPr lang="en-US" sz="3200" dirty="0"/>
              <a:t>Tripod stand, </a:t>
            </a:r>
          </a:p>
          <a:p>
            <a:pPr algn="just"/>
            <a:r>
              <a:rPr lang="en-US" sz="3200" dirty="0"/>
              <a:t>wire gauze,</a:t>
            </a:r>
          </a:p>
          <a:p>
            <a:pPr algn="just"/>
            <a:r>
              <a:rPr lang="en-US" sz="3200" dirty="0"/>
              <a:t> Bunsen burner, </a:t>
            </a:r>
          </a:p>
          <a:p>
            <a:pPr algn="just"/>
            <a:r>
              <a:rPr lang="en-US" sz="3200" dirty="0"/>
              <a:t>test tube,</a:t>
            </a:r>
          </a:p>
          <a:p>
            <a:pPr algn="just"/>
            <a:r>
              <a:rPr lang="en-US" sz="3200" dirty="0"/>
              <a:t> dropper,</a:t>
            </a:r>
          </a:p>
          <a:p>
            <a:pPr algn="just"/>
            <a:r>
              <a:rPr lang="en-US" sz="3200" dirty="0"/>
              <a:t> a plant with variegated leaf, </a:t>
            </a:r>
          </a:p>
          <a:p>
            <a:pPr algn="just"/>
            <a:r>
              <a:rPr lang="en-US" sz="3200" dirty="0"/>
              <a:t>Iodine solution, white tile.</a:t>
            </a:r>
          </a:p>
          <a:p>
            <a:endParaRPr lang="en-US" sz="3200" dirty="0"/>
          </a:p>
        </p:txBody>
      </p:sp>
    </p:spTree>
    <p:extLst>
      <p:ext uri="{BB962C8B-B14F-4D97-AF65-F5344CB8AC3E}">
        <p14:creationId xmlns:p14="http://schemas.microsoft.com/office/powerpoint/2010/main" val="3394624072"/>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7591AE-6F33-7F89-4D50-9ED903B43F15}"/>
              </a:ext>
            </a:extLst>
          </p:cNvPr>
          <p:cNvSpPr>
            <a:spLocks noGrp="1"/>
          </p:cNvSpPr>
          <p:nvPr>
            <p:ph idx="1"/>
          </p:nvPr>
        </p:nvSpPr>
        <p:spPr>
          <a:xfrm>
            <a:off x="127000" y="622300"/>
            <a:ext cx="11252200" cy="5473701"/>
          </a:xfrm>
        </p:spPr>
        <p:txBody>
          <a:bodyPr>
            <a:normAutofit/>
          </a:bodyPr>
          <a:lstStyle/>
          <a:p>
            <a:pPr marL="0" indent="0" algn="just">
              <a:buNone/>
            </a:pPr>
            <a:r>
              <a:rPr lang="en-US" sz="2800" b="1" u="sng" dirty="0"/>
              <a:t>Procedure </a:t>
            </a:r>
          </a:p>
          <a:p>
            <a:pPr algn="just"/>
            <a:r>
              <a:rPr lang="en-US" sz="3200" dirty="0"/>
              <a:t>De-starch a plant which bears variegated leaves by keeping it in a dark cupboard for three days.</a:t>
            </a:r>
          </a:p>
          <a:p>
            <a:pPr algn="just"/>
            <a:r>
              <a:rPr lang="en-US" sz="3200" dirty="0"/>
              <a:t>Expose the plant to sunlight for at least 4 hours.</a:t>
            </a:r>
          </a:p>
          <a:p>
            <a:pPr algn="just"/>
            <a:r>
              <a:rPr lang="en-US" sz="3200" dirty="0"/>
              <a:t>Pick a variegated leaf from the plant and trace the outline for green and non-green parts on a paper carefully. </a:t>
            </a:r>
          </a:p>
          <a:p>
            <a:pPr algn="just"/>
            <a:r>
              <a:rPr lang="en-US" sz="3200" dirty="0"/>
              <a:t>Test the leaf for starch and compare the green and non-green parts with the result.</a:t>
            </a:r>
          </a:p>
          <a:p>
            <a:endParaRPr lang="en-US" dirty="0"/>
          </a:p>
        </p:txBody>
      </p:sp>
    </p:spTree>
    <p:extLst>
      <p:ext uri="{BB962C8B-B14F-4D97-AF65-F5344CB8AC3E}">
        <p14:creationId xmlns:p14="http://schemas.microsoft.com/office/powerpoint/2010/main" val="3632282834"/>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33">
            <a:extLst>
              <a:ext uri="{FF2B5EF4-FFF2-40B4-BE49-F238E27FC236}">
                <a16:creationId xmlns:a16="http://schemas.microsoft.com/office/drawing/2014/main" id="{00085983-0714-C2E2-AFCB-9B381421CF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7762" y="0"/>
            <a:ext cx="6916737" cy="6506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0577082"/>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2">
            <a:extLst>
              <a:ext uri="{FF2B5EF4-FFF2-40B4-BE49-F238E27FC236}">
                <a16:creationId xmlns:a16="http://schemas.microsoft.com/office/drawing/2014/main" id="{84520E8C-C4EB-95DE-716E-F17B21E99AC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6081" t="6614"/>
          <a:stretch/>
        </p:blipFill>
        <p:spPr bwMode="auto">
          <a:xfrm>
            <a:off x="466248" y="165099"/>
            <a:ext cx="11027252" cy="6538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5575611"/>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BD9848-88C0-F440-472A-8E956C4CE2DD}"/>
              </a:ext>
            </a:extLst>
          </p:cNvPr>
          <p:cNvSpPr>
            <a:spLocks noGrp="1"/>
          </p:cNvSpPr>
          <p:nvPr>
            <p:ph idx="1"/>
          </p:nvPr>
        </p:nvSpPr>
        <p:spPr>
          <a:xfrm>
            <a:off x="711200" y="558800"/>
            <a:ext cx="10439400" cy="5689599"/>
          </a:xfrm>
        </p:spPr>
        <p:txBody>
          <a:bodyPr/>
          <a:lstStyle/>
          <a:p>
            <a:pPr marL="0" indent="0">
              <a:buNone/>
            </a:pPr>
            <a:r>
              <a:rPr lang="en-US" sz="2400" b="1" u="sng" dirty="0"/>
              <a:t>Observation </a:t>
            </a:r>
          </a:p>
          <a:p>
            <a:pPr algn="just"/>
            <a:r>
              <a:rPr lang="en-US" sz="2400" dirty="0"/>
              <a:t>Originally </a:t>
            </a:r>
            <a:r>
              <a:rPr lang="en-US" sz="2800" dirty="0"/>
              <a:t>green parts turned to blue-black, while in the non-green parts turned brown.</a:t>
            </a:r>
          </a:p>
          <a:p>
            <a:endParaRPr lang="en-US" dirty="0"/>
          </a:p>
        </p:txBody>
      </p:sp>
      <p:pic>
        <p:nvPicPr>
          <p:cNvPr id="3074" name="Picture 31">
            <a:extLst>
              <a:ext uri="{FF2B5EF4-FFF2-40B4-BE49-F238E27FC236}">
                <a16:creationId xmlns:a16="http://schemas.microsoft.com/office/drawing/2014/main" id="{4A95BEDE-89DA-41EB-138B-A8A6AAB0D41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352" t="4099" r="1530" b="13643"/>
          <a:stretch/>
        </p:blipFill>
        <p:spPr bwMode="auto">
          <a:xfrm>
            <a:off x="1612900" y="1919696"/>
            <a:ext cx="8648700" cy="4725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09750613"/>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A2472E-5A88-F93D-D564-93E5140A8E4F}"/>
              </a:ext>
            </a:extLst>
          </p:cNvPr>
          <p:cNvSpPr>
            <a:spLocks noGrp="1"/>
          </p:cNvSpPr>
          <p:nvPr>
            <p:ph idx="1"/>
          </p:nvPr>
        </p:nvSpPr>
        <p:spPr>
          <a:xfrm>
            <a:off x="688622" y="801512"/>
            <a:ext cx="9361231" cy="5446888"/>
          </a:xfrm>
        </p:spPr>
        <p:txBody>
          <a:bodyPr>
            <a:normAutofit lnSpcReduction="10000"/>
          </a:bodyPr>
          <a:lstStyle/>
          <a:p>
            <a:pPr marL="0" indent="0" algn="just">
              <a:buNone/>
            </a:pPr>
            <a:r>
              <a:rPr lang="en-US" sz="3200" b="1" dirty="0"/>
              <a:t>Conclusion</a:t>
            </a:r>
          </a:p>
          <a:p>
            <a:pPr algn="just"/>
            <a:r>
              <a:rPr lang="en-US" sz="3200" dirty="0"/>
              <a:t>Chlorophyll is necessary for photosynthesis.</a:t>
            </a:r>
          </a:p>
          <a:p>
            <a:pPr marL="0" indent="0" algn="just">
              <a:buNone/>
            </a:pPr>
            <a:r>
              <a:rPr lang="en-US" sz="3200" b="1" dirty="0"/>
              <a:t>Explanation</a:t>
            </a:r>
          </a:p>
          <a:p>
            <a:pPr algn="just"/>
            <a:r>
              <a:rPr lang="en-US" sz="3200" dirty="0"/>
              <a:t>The parts that turned blue-black produced starch because it contained chlorophyll and was originally green in </a:t>
            </a:r>
            <a:r>
              <a:rPr lang="en-US" sz="3200" dirty="0" err="1"/>
              <a:t>colour</a:t>
            </a:r>
            <a:r>
              <a:rPr lang="en-US" sz="3200" dirty="0"/>
              <a:t>. </a:t>
            </a:r>
          </a:p>
          <a:p>
            <a:pPr algn="just"/>
            <a:r>
              <a:rPr lang="en-US" sz="3200" dirty="0"/>
              <a:t>In non-green parts no photosynthesis took place because it never contained chlorophyll, thus in those parts iodine retained its brown </a:t>
            </a:r>
            <a:r>
              <a:rPr lang="en-US" sz="3200" dirty="0" err="1"/>
              <a:t>colour</a:t>
            </a:r>
            <a:r>
              <a:rPr lang="en-US" sz="3200" dirty="0"/>
              <a:t>.</a:t>
            </a:r>
          </a:p>
          <a:p>
            <a:pPr marL="0" indent="0">
              <a:buNone/>
            </a:pPr>
            <a:endParaRPr lang="en-US" dirty="0"/>
          </a:p>
        </p:txBody>
      </p:sp>
    </p:spTree>
    <p:extLst>
      <p:ext uri="{BB962C8B-B14F-4D97-AF65-F5344CB8AC3E}">
        <p14:creationId xmlns:p14="http://schemas.microsoft.com/office/powerpoint/2010/main" val="3544259179"/>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8A4E0-9C45-C041-B1F4-C5855648A1B6}"/>
              </a:ext>
            </a:extLst>
          </p:cNvPr>
          <p:cNvSpPr>
            <a:spLocks noGrp="1"/>
          </p:cNvSpPr>
          <p:nvPr>
            <p:ph type="title"/>
          </p:nvPr>
        </p:nvSpPr>
        <p:spPr/>
        <p:txBody>
          <a:bodyPr/>
          <a:lstStyle/>
          <a:p>
            <a:r>
              <a:rPr lang="en-US" dirty="0"/>
              <a:t>4. Temperature </a:t>
            </a:r>
          </a:p>
        </p:txBody>
      </p:sp>
      <p:sp>
        <p:nvSpPr>
          <p:cNvPr id="3" name="Content Placeholder 2">
            <a:extLst>
              <a:ext uri="{FF2B5EF4-FFF2-40B4-BE49-F238E27FC236}">
                <a16:creationId xmlns:a16="http://schemas.microsoft.com/office/drawing/2014/main" id="{08018417-0787-D216-48F9-311D473DDF7E}"/>
              </a:ext>
            </a:extLst>
          </p:cNvPr>
          <p:cNvSpPr>
            <a:spLocks noGrp="1"/>
          </p:cNvSpPr>
          <p:nvPr>
            <p:ph idx="1"/>
          </p:nvPr>
        </p:nvSpPr>
        <p:spPr>
          <a:xfrm>
            <a:off x="646111" y="1946901"/>
            <a:ext cx="10611610" cy="4195481"/>
          </a:xfrm>
        </p:spPr>
        <p:txBody>
          <a:bodyPr/>
          <a:lstStyle/>
          <a:p>
            <a:pPr algn="just"/>
            <a:r>
              <a:rPr lang="en-US" sz="3200" dirty="0"/>
              <a:t>Photosynthesis is an enzyme-controlled process.</a:t>
            </a:r>
          </a:p>
          <a:p>
            <a:pPr algn="just"/>
            <a:r>
              <a:rPr lang="en-US" sz="3200" dirty="0"/>
              <a:t>Temperature influences the activities of the enzymes responsible for photosynthesis.</a:t>
            </a:r>
          </a:p>
          <a:p>
            <a:endParaRPr lang="en-US" dirty="0"/>
          </a:p>
        </p:txBody>
      </p:sp>
    </p:spTree>
    <p:extLst>
      <p:ext uri="{BB962C8B-B14F-4D97-AF65-F5344CB8AC3E}">
        <p14:creationId xmlns:p14="http://schemas.microsoft.com/office/powerpoint/2010/main" val="1226789485"/>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B6A60-DAFA-8D51-2B20-B01F532A09DD}"/>
              </a:ext>
            </a:extLst>
          </p:cNvPr>
          <p:cNvSpPr>
            <a:spLocks noGrp="1"/>
          </p:cNvSpPr>
          <p:nvPr>
            <p:ph type="title"/>
          </p:nvPr>
        </p:nvSpPr>
        <p:spPr>
          <a:xfrm>
            <a:off x="588099" y="-14942"/>
            <a:ext cx="11174828" cy="832743"/>
          </a:xfrm>
        </p:spPr>
        <p:txBody>
          <a:bodyPr/>
          <a:lstStyle/>
          <a:p>
            <a:r>
              <a:rPr lang="en-US" dirty="0"/>
              <a:t>Graph showing effect of temperature on rate of photosynthesis</a:t>
            </a:r>
          </a:p>
        </p:txBody>
      </p:sp>
      <p:pic>
        <p:nvPicPr>
          <p:cNvPr id="1027" name="Picture 3">
            <a:extLst>
              <a:ext uri="{FF2B5EF4-FFF2-40B4-BE49-F238E27FC236}">
                <a16:creationId xmlns:a16="http://schemas.microsoft.com/office/drawing/2014/main" id="{FF8A378C-C275-343A-D18E-D9ED8B6284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4623" y="1290223"/>
            <a:ext cx="6117741" cy="5564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52722841"/>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6990EC-CE84-2234-0B1B-EF7CBF7DEC00}"/>
              </a:ext>
            </a:extLst>
          </p:cNvPr>
          <p:cNvSpPr>
            <a:spLocks noGrp="1"/>
          </p:cNvSpPr>
          <p:nvPr>
            <p:ph idx="1"/>
          </p:nvPr>
        </p:nvSpPr>
        <p:spPr>
          <a:xfrm>
            <a:off x="159026" y="622853"/>
            <a:ext cx="12032974" cy="5314122"/>
          </a:xfrm>
        </p:spPr>
        <p:txBody>
          <a:bodyPr>
            <a:normAutofit/>
          </a:bodyPr>
          <a:lstStyle/>
          <a:p>
            <a:pPr marL="0" marR="0" indent="0" algn="just">
              <a:lnSpc>
                <a:spcPct val="115000"/>
              </a:lnSpc>
              <a:spcBef>
                <a:spcPts val="0"/>
              </a:spcBef>
              <a:spcAft>
                <a:spcPts val="1000"/>
              </a:spcAft>
              <a:buNone/>
            </a:pPr>
            <a:r>
              <a:rPr lang="en-US" sz="3200" b="1" u="sng" dirty="0">
                <a:effectLst/>
                <a:latin typeface="+mn-lt"/>
                <a:ea typeface="Calibri" panose="020F0502020204030204" pitchFamily="34" charset="0"/>
                <a:cs typeface="Times New Roman" panose="02020603050405020304" pitchFamily="18" charset="0"/>
              </a:rPr>
              <a:t>Trend/description of the graph</a:t>
            </a:r>
            <a:endParaRPr lang="en-US" sz="3200" dirty="0">
              <a:effectLst/>
              <a:latin typeface="+mn-lt"/>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mn-lt"/>
                <a:ea typeface="Calibri" panose="020F0502020204030204" pitchFamily="34" charset="0"/>
                <a:cs typeface="Times New Roman" panose="02020603050405020304" pitchFamily="18" charset="0"/>
              </a:rPr>
              <a:t>From 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to 10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the rate of photosynthesis increases gradually.</a:t>
            </a: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mn-lt"/>
                <a:ea typeface="Calibri" panose="020F0502020204030204" pitchFamily="34" charset="0"/>
                <a:cs typeface="Times New Roman" panose="02020603050405020304" pitchFamily="18" charset="0"/>
              </a:rPr>
              <a:t>From 10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to 40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the rate of photosynthesis increases rapidly to a maximum.</a:t>
            </a: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mn-lt"/>
                <a:ea typeface="Calibri" panose="020F0502020204030204" pitchFamily="34" charset="0"/>
                <a:cs typeface="Times New Roman" panose="02020603050405020304" pitchFamily="18" charset="0"/>
              </a:rPr>
              <a:t>From 40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to 60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the rate of photosynthesis decreases rapidly.</a:t>
            </a:r>
          </a:p>
          <a:p>
            <a:endParaRPr lang="en-US" dirty="0"/>
          </a:p>
        </p:txBody>
      </p:sp>
    </p:spTree>
    <p:extLst>
      <p:ext uri="{BB962C8B-B14F-4D97-AF65-F5344CB8AC3E}">
        <p14:creationId xmlns:p14="http://schemas.microsoft.com/office/powerpoint/2010/main" val="3581798552"/>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0C290F-F2C6-8FB1-23CC-11257F0F0DF2}"/>
              </a:ext>
            </a:extLst>
          </p:cNvPr>
          <p:cNvSpPr>
            <a:spLocks noGrp="1"/>
          </p:cNvSpPr>
          <p:nvPr>
            <p:ph idx="1"/>
          </p:nvPr>
        </p:nvSpPr>
        <p:spPr>
          <a:xfrm>
            <a:off x="251792" y="503583"/>
            <a:ext cx="11648660" cy="6109251"/>
          </a:xfrm>
        </p:spPr>
        <p:txBody>
          <a:bodyPr>
            <a:normAutofit/>
          </a:bodyPr>
          <a:lstStyle/>
          <a:p>
            <a:pPr marL="0" marR="0" indent="0" algn="just">
              <a:lnSpc>
                <a:spcPct val="115000"/>
              </a:lnSpc>
              <a:spcBef>
                <a:spcPts val="0"/>
              </a:spcBef>
              <a:spcAft>
                <a:spcPts val="1000"/>
              </a:spcAft>
              <a:buNone/>
            </a:pPr>
            <a:r>
              <a:rPr lang="en-US" sz="3200" b="1" u="sng" dirty="0">
                <a:effectLst/>
                <a:latin typeface="+mn-lt"/>
                <a:ea typeface="Calibri" panose="020F0502020204030204" pitchFamily="34" charset="0"/>
                <a:cs typeface="Times New Roman" panose="02020603050405020304" pitchFamily="18" charset="0"/>
              </a:rPr>
              <a:t>Explanation of the graph</a:t>
            </a:r>
            <a:endParaRPr lang="en-US" sz="3200" dirty="0">
              <a:effectLst/>
              <a:latin typeface="+mn-lt"/>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mn-lt"/>
                <a:ea typeface="Calibri" panose="020F0502020204030204" pitchFamily="34" charset="0"/>
                <a:cs typeface="Times New Roman" panose="02020603050405020304" pitchFamily="18" charset="0"/>
              </a:rPr>
              <a:t>From 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to 10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the rate of photosynthesis increases slowly because </a:t>
            </a:r>
            <a:r>
              <a:rPr lang="en-US" sz="3200" u="sng" dirty="0">
                <a:effectLst/>
                <a:latin typeface="+mn-lt"/>
                <a:ea typeface="Calibri" panose="020F0502020204030204" pitchFamily="34" charset="0"/>
                <a:cs typeface="Times New Roman" panose="02020603050405020304" pitchFamily="18" charset="0"/>
              </a:rPr>
              <a:t>low temperature</a:t>
            </a:r>
            <a:r>
              <a:rPr lang="en-US" sz="3200" dirty="0">
                <a:effectLst/>
                <a:latin typeface="+mn-lt"/>
                <a:ea typeface="Calibri" panose="020F0502020204030204" pitchFamily="34" charset="0"/>
                <a:cs typeface="Times New Roman" panose="02020603050405020304" pitchFamily="18" charset="0"/>
              </a:rPr>
              <a:t> </a:t>
            </a:r>
            <a:r>
              <a:rPr lang="en-US" sz="3200" u="sng" dirty="0">
                <a:effectLst/>
                <a:latin typeface="+mn-lt"/>
                <a:ea typeface="Calibri" panose="020F0502020204030204" pitchFamily="34" charset="0"/>
                <a:cs typeface="Times New Roman" panose="02020603050405020304" pitchFamily="18" charset="0"/>
              </a:rPr>
              <a:t>inactivates</a:t>
            </a:r>
            <a:r>
              <a:rPr lang="en-US" sz="3200" dirty="0">
                <a:effectLst/>
                <a:latin typeface="+mn-lt"/>
                <a:ea typeface="Calibri" panose="020F0502020204030204" pitchFamily="34" charset="0"/>
                <a:cs typeface="Times New Roman" panose="02020603050405020304" pitchFamily="18" charset="0"/>
              </a:rPr>
              <a:t> the enzyme (The enzyme is inactive at low temperature).</a:t>
            </a: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mn-lt"/>
                <a:ea typeface="Calibri" panose="020F0502020204030204" pitchFamily="34" charset="0"/>
                <a:cs typeface="Times New Roman" panose="02020603050405020304" pitchFamily="18" charset="0"/>
              </a:rPr>
              <a:t>From 10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to 40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the rate of photosynthesis increases rapidly/fast to a maximum, because the enzyme is </a:t>
            </a:r>
            <a:r>
              <a:rPr lang="en-US" sz="3200" u="sng" dirty="0">
                <a:solidFill>
                  <a:srgbClr val="FF0000"/>
                </a:solidFill>
                <a:effectLst/>
                <a:latin typeface="+mn-lt"/>
                <a:ea typeface="Calibri" panose="020F0502020204030204" pitchFamily="34" charset="0"/>
                <a:cs typeface="Times New Roman" panose="02020603050405020304" pitchFamily="18" charset="0"/>
              </a:rPr>
              <a:t>activated</a:t>
            </a:r>
            <a:r>
              <a:rPr lang="en-US" sz="3200" dirty="0">
                <a:effectLst/>
                <a:latin typeface="+mn-lt"/>
                <a:ea typeface="Calibri" panose="020F0502020204030204" pitchFamily="34" charset="0"/>
                <a:cs typeface="Times New Roman" panose="02020603050405020304" pitchFamily="18" charset="0"/>
              </a:rPr>
              <a:t>.</a:t>
            </a: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mn-lt"/>
                <a:ea typeface="Calibri" panose="020F0502020204030204" pitchFamily="34" charset="0"/>
                <a:cs typeface="Times New Roman" panose="02020603050405020304" pitchFamily="18" charset="0"/>
              </a:rPr>
              <a:t>From 40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to 60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the rate of photosynthesis decreases rapidly/fast, because the enzyme is </a:t>
            </a:r>
            <a:r>
              <a:rPr lang="en-US" sz="3200" u="sng" dirty="0">
                <a:solidFill>
                  <a:srgbClr val="FF0000"/>
                </a:solidFill>
                <a:effectLst/>
                <a:latin typeface="+mn-lt"/>
                <a:ea typeface="Calibri" panose="020F0502020204030204" pitchFamily="34" charset="0"/>
                <a:cs typeface="Times New Roman" panose="02020603050405020304" pitchFamily="18" charset="0"/>
              </a:rPr>
              <a:t>denatured </a:t>
            </a:r>
            <a:r>
              <a:rPr lang="en-US" sz="3200" dirty="0">
                <a:solidFill>
                  <a:srgbClr val="FF0000"/>
                </a:solidFill>
                <a:effectLst/>
                <a:latin typeface="+mn-lt"/>
                <a:ea typeface="Calibri" panose="020F0502020204030204" pitchFamily="34" charset="0"/>
                <a:cs typeface="Times New Roman" panose="02020603050405020304" pitchFamily="18" charset="0"/>
              </a:rPr>
              <a:t>due to </a:t>
            </a:r>
            <a:r>
              <a:rPr lang="en-US" sz="3200" u="sng" dirty="0">
                <a:solidFill>
                  <a:srgbClr val="FF0000"/>
                </a:solidFill>
                <a:effectLst/>
                <a:latin typeface="+mn-lt"/>
                <a:ea typeface="Calibri" panose="020F0502020204030204" pitchFamily="34" charset="0"/>
                <a:cs typeface="Times New Roman" panose="02020603050405020304" pitchFamily="18" charset="0"/>
              </a:rPr>
              <a:t>very high temperature.</a:t>
            </a:r>
            <a:endParaRPr lang="en-US" sz="3200" dirty="0">
              <a:effectLst/>
              <a:latin typeface="+mn-lt"/>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595973313"/>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790C4-D7E8-6B14-859B-EFFF5FFF599E}"/>
              </a:ext>
            </a:extLst>
          </p:cNvPr>
          <p:cNvSpPr>
            <a:spLocks noGrp="1"/>
          </p:cNvSpPr>
          <p:nvPr>
            <p:ph type="title"/>
          </p:nvPr>
        </p:nvSpPr>
        <p:spPr>
          <a:xfrm>
            <a:off x="460581" y="1936961"/>
            <a:ext cx="10896532" cy="2409752"/>
          </a:xfrm>
        </p:spPr>
        <p:txBody>
          <a:bodyPr/>
          <a:lstStyle/>
          <a:p>
            <a:pPr algn="just"/>
            <a:r>
              <a:rPr lang="en-US" b="1" dirty="0"/>
              <a:t>Activity: </a:t>
            </a:r>
            <a:r>
              <a:rPr lang="en-US" dirty="0"/>
              <a:t>design an experiment to demonstrate the effect of change in temperature on rate of photosynthesis </a:t>
            </a:r>
          </a:p>
        </p:txBody>
      </p:sp>
    </p:spTree>
    <p:extLst>
      <p:ext uri="{BB962C8B-B14F-4D97-AF65-F5344CB8AC3E}">
        <p14:creationId xmlns:p14="http://schemas.microsoft.com/office/powerpoint/2010/main" val="115466437"/>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743D1F-BE8F-C8D5-11BF-8DE7C617C8E8}"/>
              </a:ext>
            </a:extLst>
          </p:cNvPr>
          <p:cNvSpPr>
            <a:spLocks noGrp="1"/>
          </p:cNvSpPr>
          <p:nvPr>
            <p:ph idx="1"/>
          </p:nvPr>
        </p:nvSpPr>
        <p:spPr>
          <a:xfrm>
            <a:off x="549965" y="92766"/>
            <a:ext cx="11092069" cy="5241234"/>
          </a:xfrm>
        </p:spPr>
        <p:txBody>
          <a:bodyPr/>
          <a:lstStyle/>
          <a:p>
            <a:pPr algn="just"/>
            <a:r>
              <a:rPr lang="en-US" sz="3200" dirty="0"/>
              <a:t>Set three sets of apparatus shown below</a:t>
            </a:r>
          </a:p>
          <a:p>
            <a:pPr algn="just"/>
            <a:r>
              <a:rPr lang="en-US" sz="3200" dirty="0"/>
              <a:t>Maintain the water baths at different temperatures of</a:t>
            </a:r>
            <a:r>
              <a:rPr lang="en-US" sz="3200" dirty="0">
                <a:effectLst/>
                <a:latin typeface="+mn-lt"/>
                <a:ea typeface="Calibri" panose="020F0502020204030204" pitchFamily="34" charset="0"/>
                <a:cs typeface="Times New Roman" panose="02020603050405020304" pitchFamily="18" charset="0"/>
              </a:rPr>
              <a:t> 10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a:t>
            </a:r>
            <a:r>
              <a:rPr lang="en-US" sz="3200" dirty="0"/>
              <a:t> </a:t>
            </a:r>
            <a:r>
              <a:rPr lang="en-US" sz="3200" dirty="0">
                <a:latin typeface="+mn-lt"/>
                <a:cs typeface="Times New Roman" panose="02020603050405020304" pitchFamily="18" charset="0"/>
              </a:rPr>
              <a:t>3</a:t>
            </a:r>
            <a:r>
              <a:rPr lang="en-US" sz="3200" dirty="0">
                <a:effectLst/>
                <a:latin typeface="+mn-lt"/>
                <a:ea typeface="Calibri" panose="020F0502020204030204" pitchFamily="34" charset="0"/>
                <a:cs typeface="Times New Roman" panose="02020603050405020304" pitchFamily="18" charset="0"/>
              </a:rPr>
              <a:t>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a:t>
            </a:r>
            <a:r>
              <a:rPr lang="en-US" sz="3200" dirty="0"/>
              <a:t> and </a:t>
            </a:r>
            <a:r>
              <a:rPr lang="en-US" sz="3200" dirty="0">
                <a:effectLst/>
                <a:latin typeface="+mn-lt"/>
                <a:ea typeface="Calibri" panose="020F0502020204030204" pitchFamily="34" charset="0"/>
                <a:cs typeface="Times New Roman" panose="02020603050405020304" pitchFamily="18" charset="0"/>
              </a:rPr>
              <a:t>60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respectively.</a:t>
            </a:r>
          </a:p>
          <a:p>
            <a:pPr algn="just"/>
            <a:r>
              <a:rPr lang="en-US" sz="3200" dirty="0">
                <a:latin typeface="+mn-lt"/>
                <a:cs typeface="Times New Roman" panose="02020603050405020304" pitchFamily="18" charset="0"/>
              </a:rPr>
              <a:t>Observe and record the number of bubbles produced per minute over five minutes.</a:t>
            </a:r>
          </a:p>
          <a:p>
            <a:pPr marL="0" indent="0">
              <a:buNone/>
            </a:pPr>
            <a:r>
              <a:rPr lang="en-US" dirty="0">
                <a:latin typeface="+mn-lt"/>
                <a:cs typeface="Times New Roman" panose="02020603050405020304" pitchFamily="18" charset="0"/>
              </a:rPr>
              <a:t> </a:t>
            </a:r>
            <a:endParaRPr lang="en-US" dirty="0"/>
          </a:p>
        </p:txBody>
      </p:sp>
      <p:pic>
        <p:nvPicPr>
          <p:cNvPr id="7" name="Picture 2" descr="1.2 Respiration takes place in the cell. Its purpose is to release... Use a  word from the list to complete the sentence. amino a">
            <a:extLst>
              <a:ext uri="{FF2B5EF4-FFF2-40B4-BE49-F238E27FC236}">
                <a16:creationId xmlns:a16="http://schemas.microsoft.com/office/drawing/2014/main" id="{D7CCA1B4-F5A8-EC2B-FA89-E88ADF7BA2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6" r="29049"/>
          <a:stretch/>
        </p:blipFill>
        <p:spPr bwMode="auto">
          <a:xfrm>
            <a:off x="2959310" y="2911343"/>
            <a:ext cx="5548586" cy="3934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9761121"/>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464B7D-F259-96C2-4F4B-D5F53C9E2A2D}"/>
              </a:ext>
            </a:extLst>
          </p:cNvPr>
          <p:cNvSpPr>
            <a:spLocks noGrp="1"/>
          </p:cNvSpPr>
          <p:nvPr>
            <p:ph idx="1"/>
          </p:nvPr>
        </p:nvSpPr>
        <p:spPr>
          <a:xfrm>
            <a:off x="357809" y="503584"/>
            <a:ext cx="11476381" cy="5744816"/>
          </a:xfrm>
        </p:spPr>
        <p:txBody>
          <a:bodyPr>
            <a:normAutofit fontScale="92500" lnSpcReduction="10000"/>
          </a:bodyPr>
          <a:lstStyle/>
          <a:p>
            <a:pPr algn="just"/>
            <a:r>
              <a:rPr lang="en-US" sz="3200" dirty="0"/>
              <a:t>Conclusion</a:t>
            </a:r>
          </a:p>
          <a:p>
            <a:pPr marL="0" indent="0" algn="just">
              <a:buNone/>
            </a:pPr>
            <a:r>
              <a:rPr lang="en-US" sz="3200" dirty="0"/>
              <a:t>Increase in temperature up to </a:t>
            </a:r>
            <a:r>
              <a:rPr lang="en-US" sz="3200" dirty="0">
                <a:latin typeface="+mn-lt"/>
                <a:cs typeface="Times New Roman" panose="02020603050405020304" pitchFamily="18" charset="0"/>
              </a:rPr>
              <a:t>3</a:t>
            </a:r>
            <a:r>
              <a:rPr lang="en-US" sz="3200" dirty="0">
                <a:effectLst/>
                <a:latin typeface="+mn-lt"/>
                <a:ea typeface="Calibri" panose="020F0502020204030204" pitchFamily="34" charset="0"/>
                <a:cs typeface="Times New Roman" panose="02020603050405020304" pitchFamily="18" charset="0"/>
              </a:rPr>
              <a:t>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leads to an increase in number of bubbles produced. Increase in temperature to 60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leads to a decrease in the number of bubbles produced. </a:t>
            </a:r>
            <a:endParaRPr lang="en-US" sz="3200" dirty="0"/>
          </a:p>
          <a:p>
            <a:pPr algn="just"/>
            <a:r>
              <a:rPr lang="en-US" sz="3200" dirty="0"/>
              <a:t>Explanation</a:t>
            </a:r>
          </a:p>
          <a:p>
            <a:pPr algn="just"/>
            <a:r>
              <a:rPr lang="en-US" sz="3200" dirty="0"/>
              <a:t>At 10oC the temperature is low, making </a:t>
            </a:r>
            <a:r>
              <a:rPr lang="en-US" sz="3200"/>
              <a:t>the </a:t>
            </a:r>
            <a:r>
              <a:rPr lang="en-US" sz="3200" smtClean="0"/>
              <a:t>enzymes </a:t>
            </a:r>
            <a:r>
              <a:rPr lang="en-US" sz="3200" dirty="0"/>
              <a:t>responsible for photosynthesis inactive, hence there is a low rate of photosynthesis, producing few bubbles.</a:t>
            </a:r>
          </a:p>
          <a:p>
            <a:pPr algn="just"/>
            <a:r>
              <a:rPr lang="en-US" sz="3200" dirty="0"/>
              <a:t>At 30oC, enzymes responsible for photosynthesis are activated, photosynthesis occurs at a high rate, producing many bubbles. </a:t>
            </a:r>
          </a:p>
        </p:txBody>
      </p:sp>
    </p:spTree>
    <p:extLst>
      <p:ext uri="{BB962C8B-B14F-4D97-AF65-F5344CB8AC3E}">
        <p14:creationId xmlns:p14="http://schemas.microsoft.com/office/powerpoint/2010/main" val="2876747028"/>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0C1DB-6916-6630-C97E-DA25830B01A6}"/>
              </a:ext>
            </a:extLst>
          </p:cNvPr>
          <p:cNvSpPr>
            <a:spLocks noGrp="1"/>
          </p:cNvSpPr>
          <p:nvPr>
            <p:ph type="title"/>
          </p:nvPr>
        </p:nvSpPr>
        <p:spPr/>
        <p:txBody>
          <a:bodyPr/>
          <a:lstStyle/>
          <a:p>
            <a:r>
              <a:rPr lang="en-US" dirty="0"/>
              <a:t>5.Availability of water</a:t>
            </a:r>
          </a:p>
        </p:txBody>
      </p:sp>
      <p:sp>
        <p:nvSpPr>
          <p:cNvPr id="3" name="Content Placeholder 2">
            <a:extLst>
              <a:ext uri="{FF2B5EF4-FFF2-40B4-BE49-F238E27FC236}">
                <a16:creationId xmlns:a16="http://schemas.microsoft.com/office/drawing/2014/main" id="{D3905447-AB98-111C-482E-3B4652F44A3C}"/>
              </a:ext>
            </a:extLst>
          </p:cNvPr>
          <p:cNvSpPr>
            <a:spLocks noGrp="1"/>
          </p:cNvSpPr>
          <p:nvPr>
            <p:ph idx="1"/>
          </p:nvPr>
        </p:nvSpPr>
        <p:spPr>
          <a:xfrm>
            <a:off x="875201" y="1668605"/>
            <a:ext cx="10958990" cy="4195481"/>
          </a:xfrm>
        </p:spPr>
        <p:txBody>
          <a:bodyPr>
            <a:normAutofit/>
          </a:bodyPr>
          <a:lstStyle/>
          <a:p>
            <a:pPr algn="just"/>
            <a:r>
              <a:rPr lang="en-US" sz="3200" dirty="0"/>
              <a:t>Water is a raw material for photosynthesis, therefore more water in the soil increases rate of photosynthesis.</a:t>
            </a:r>
          </a:p>
        </p:txBody>
      </p:sp>
    </p:spTree>
    <p:extLst>
      <p:ext uri="{BB962C8B-B14F-4D97-AF65-F5344CB8AC3E}">
        <p14:creationId xmlns:p14="http://schemas.microsoft.com/office/powerpoint/2010/main" val="2915024573"/>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1F88B-E857-A116-09BE-A4D5BFBBB8C7}"/>
              </a:ext>
            </a:extLst>
          </p:cNvPr>
          <p:cNvSpPr>
            <a:spLocks noGrp="1"/>
          </p:cNvSpPr>
          <p:nvPr>
            <p:ph type="title"/>
          </p:nvPr>
        </p:nvSpPr>
        <p:spPr>
          <a:xfrm>
            <a:off x="593102" y="0"/>
            <a:ext cx="9404723" cy="1400530"/>
          </a:xfrm>
        </p:spPr>
        <p:txBody>
          <a:bodyPr/>
          <a:lstStyle/>
          <a:p>
            <a:r>
              <a:rPr lang="en-US" b="1" u="sng" dirty="0"/>
              <a:t>Limiting factors in photosynthesis </a:t>
            </a:r>
            <a:r>
              <a:rPr lang="en-US" dirty="0"/>
              <a:t/>
            </a:r>
            <a:br>
              <a:rPr lang="en-US" dirty="0"/>
            </a:br>
            <a:endParaRPr lang="en-US" dirty="0"/>
          </a:p>
        </p:txBody>
      </p:sp>
      <p:sp>
        <p:nvSpPr>
          <p:cNvPr id="3" name="Content Placeholder 2">
            <a:extLst>
              <a:ext uri="{FF2B5EF4-FFF2-40B4-BE49-F238E27FC236}">
                <a16:creationId xmlns:a16="http://schemas.microsoft.com/office/drawing/2014/main" id="{53D46B87-85D6-E9DA-5943-CA8CE45F8F41}"/>
              </a:ext>
            </a:extLst>
          </p:cNvPr>
          <p:cNvSpPr>
            <a:spLocks noGrp="1"/>
          </p:cNvSpPr>
          <p:nvPr>
            <p:ph idx="1"/>
          </p:nvPr>
        </p:nvSpPr>
        <p:spPr>
          <a:xfrm>
            <a:off x="215961" y="1687935"/>
            <a:ext cx="11502887" cy="4949686"/>
          </a:xfrm>
        </p:spPr>
        <p:txBody>
          <a:bodyPr>
            <a:normAutofit fontScale="92500" lnSpcReduction="20000"/>
          </a:bodyPr>
          <a:lstStyle/>
          <a:p>
            <a:pPr algn="just"/>
            <a:r>
              <a:rPr lang="en-US" sz="3200" dirty="0"/>
              <a:t>A limiting factor is an environmental factor whose absence or limited/short supply restricts/slows down the rate of a life process.</a:t>
            </a:r>
          </a:p>
          <a:p>
            <a:pPr marL="0" indent="0" algn="just">
              <a:buNone/>
            </a:pPr>
            <a:r>
              <a:rPr lang="en-US" sz="3200" b="1" u="sng" dirty="0"/>
              <a:t>Example:</a:t>
            </a:r>
          </a:p>
          <a:p>
            <a:pPr marL="0" indent="0" algn="just">
              <a:buNone/>
            </a:pPr>
            <a:r>
              <a:rPr lang="en-US" sz="3200" dirty="0"/>
              <a:t>In darkness (at night), light intensity is the limiting factor in photosynthesis, if the other factors are available. </a:t>
            </a:r>
          </a:p>
          <a:p>
            <a:pPr algn="just"/>
            <a:r>
              <a:rPr lang="en-US" sz="3200" dirty="0"/>
              <a:t>If the light intensity is increased, the rate of photosynthesis increases.</a:t>
            </a:r>
          </a:p>
          <a:p>
            <a:pPr algn="just"/>
            <a:r>
              <a:rPr lang="en-US" sz="3200" dirty="0"/>
              <a:t>The point at which a factor stops to limit photosynthesis is called </a:t>
            </a:r>
            <a:r>
              <a:rPr lang="en-US" sz="3200" b="1" u="sng" dirty="0"/>
              <a:t>saturation point</a:t>
            </a:r>
            <a:r>
              <a:rPr lang="en-US" sz="3200" dirty="0"/>
              <a:t>.</a:t>
            </a:r>
          </a:p>
          <a:p>
            <a:pPr marL="0" indent="0">
              <a:buNone/>
            </a:pPr>
            <a:r>
              <a:rPr lang="en-US" dirty="0"/>
              <a:t/>
            </a:r>
            <a:br>
              <a:rPr lang="en-US" dirty="0"/>
            </a:br>
            <a:endParaRPr lang="en-US" dirty="0"/>
          </a:p>
        </p:txBody>
      </p:sp>
    </p:spTree>
    <p:extLst>
      <p:ext uri="{BB962C8B-B14F-4D97-AF65-F5344CB8AC3E}">
        <p14:creationId xmlns:p14="http://schemas.microsoft.com/office/powerpoint/2010/main" val="3750535233"/>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D43381-ADE3-77A8-8A46-F7311BC80E9C}"/>
              </a:ext>
            </a:extLst>
          </p:cNvPr>
          <p:cNvSpPr>
            <a:spLocks noGrp="1"/>
          </p:cNvSpPr>
          <p:nvPr>
            <p:ph idx="1"/>
          </p:nvPr>
        </p:nvSpPr>
        <p:spPr>
          <a:xfrm>
            <a:off x="237067" y="2662519"/>
            <a:ext cx="11503377" cy="4195481"/>
          </a:xfrm>
        </p:spPr>
        <p:txBody>
          <a:bodyPr>
            <a:normAutofit fontScale="70000" lnSpcReduction="20000"/>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sz="3800" dirty="0">
                <a:latin typeface="+mn-lt"/>
              </a:rPr>
              <a:t>A to B:light intensity is the only limiting factor.</a:t>
            </a:r>
          </a:p>
          <a:p>
            <a:r>
              <a:rPr lang="en-US" sz="3800" dirty="0">
                <a:latin typeface="+mn-lt"/>
              </a:rPr>
              <a:t>B to C: light intensity and other factors are limiting factors.</a:t>
            </a:r>
          </a:p>
          <a:p>
            <a:r>
              <a:rPr lang="en-US" sz="3800" dirty="0">
                <a:latin typeface="+mn-lt"/>
              </a:rPr>
              <a:t>C to D: light intensity is not a limiting factor, other factors are.</a:t>
            </a:r>
          </a:p>
          <a:p>
            <a:r>
              <a:rPr lang="en-US" sz="3800" dirty="0">
                <a:latin typeface="+mn-lt"/>
              </a:rPr>
              <a:t>Point C: saturation point .</a:t>
            </a:r>
          </a:p>
        </p:txBody>
      </p:sp>
      <p:pic>
        <p:nvPicPr>
          <p:cNvPr id="5" name="Picture 4">
            <a:extLst>
              <a:ext uri="{FF2B5EF4-FFF2-40B4-BE49-F238E27FC236}">
                <a16:creationId xmlns:a16="http://schemas.microsoft.com/office/drawing/2014/main" id="{7A40D443-DAED-D719-ECF7-99453C1A543F}"/>
              </a:ext>
            </a:extLst>
          </p:cNvPr>
          <p:cNvPicPr>
            <a:picLocks noChangeAspect="1"/>
          </p:cNvPicPr>
          <p:nvPr/>
        </p:nvPicPr>
        <p:blipFill>
          <a:blip r:embed="rId2"/>
          <a:stretch>
            <a:fillRect/>
          </a:stretch>
        </p:blipFill>
        <p:spPr>
          <a:xfrm>
            <a:off x="2261129" y="0"/>
            <a:ext cx="6205538" cy="5001112"/>
          </a:xfrm>
          <a:prstGeom prst="rect">
            <a:avLst/>
          </a:prstGeom>
        </p:spPr>
      </p:pic>
    </p:spTree>
    <p:extLst>
      <p:ext uri="{BB962C8B-B14F-4D97-AF65-F5344CB8AC3E}">
        <p14:creationId xmlns:p14="http://schemas.microsoft.com/office/powerpoint/2010/main" val="3405728597"/>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0D20D-D183-07B2-1F2A-DC1D18AC8EE5}"/>
              </a:ext>
            </a:extLst>
          </p:cNvPr>
          <p:cNvSpPr>
            <a:spLocks noGrp="1"/>
          </p:cNvSpPr>
          <p:nvPr>
            <p:ph type="title"/>
          </p:nvPr>
        </p:nvSpPr>
        <p:spPr>
          <a:xfrm>
            <a:off x="390788" y="0"/>
            <a:ext cx="11552855" cy="1004711"/>
          </a:xfrm>
        </p:spPr>
        <p:txBody>
          <a:bodyPr/>
          <a:lstStyle/>
          <a:p>
            <a:pPr algn="just"/>
            <a:r>
              <a:rPr lang="en-US" sz="2800" u="sng" spc="25" dirty="0">
                <a:effectLst/>
                <a:latin typeface="+mn-lt"/>
                <a:ea typeface="Times New Roman" panose="02020603050405020304" pitchFamily="18" charset="0"/>
                <a:cs typeface="Times New Roman" panose="02020603050405020304" pitchFamily="18" charset="0"/>
              </a:rPr>
              <a:t>Graph showing effect of increasing light intensity on rate of photosynthesis at two different temperatures of 15</a:t>
            </a:r>
            <a:r>
              <a:rPr lang="en-US" sz="2800" u="sng" spc="25" baseline="30000" dirty="0">
                <a:effectLst/>
                <a:latin typeface="+mn-lt"/>
                <a:ea typeface="Times New Roman" panose="02020603050405020304" pitchFamily="18" charset="0"/>
                <a:cs typeface="Times New Roman" panose="02020603050405020304" pitchFamily="18" charset="0"/>
              </a:rPr>
              <a:t>o</a:t>
            </a:r>
            <a:r>
              <a:rPr lang="en-US" sz="2800" u="sng" spc="25" dirty="0">
                <a:effectLst/>
                <a:latin typeface="+mn-lt"/>
                <a:ea typeface="Times New Roman" panose="02020603050405020304" pitchFamily="18" charset="0"/>
                <a:cs typeface="Times New Roman" panose="02020603050405020304" pitchFamily="18" charset="0"/>
              </a:rPr>
              <a:t>C and 25</a:t>
            </a:r>
            <a:r>
              <a:rPr lang="en-US" sz="2800" u="sng" spc="25" baseline="30000" dirty="0">
                <a:effectLst/>
                <a:latin typeface="+mn-lt"/>
                <a:ea typeface="Times New Roman" panose="02020603050405020304" pitchFamily="18" charset="0"/>
                <a:cs typeface="Times New Roman" panose="02020603050405020304" pitchFamily="18" charset="0"/>
              </a:rPr>
              <a:t>o</a:t>
            </a:r>
            <a:r>
              <a:rPr lang="en-US" sz="2800" u="sng" spc="25" dirty="0">
                <a:effectLst/>
                <a:latin typeface="+mn-lt"/>
                <a:ea typeface="Times New Roman" panose="02020603050405020304" pitchFamily="18" charset="0"/>
                <a:cs typeface="Times New Roman" panose="02020603050405020304" pitchFamily="18" charset="0"/>
              </a:rPr>
              <a:t>C</a:t>
            </a:r>
            <a:r>
              <a:rPr lang="en-US" sz="2800" dirty="0">
                <a:effectLst/>
                <a:latin typeface="+mn-lt"/>
                <a:ea typeface="Calibri" panose="020F0502020204030204" pitchFamily="34" charset="0"/>
                <a:cs typeface="Times New Roman" panose="02020603050405020304" pitchFamily="18" charset="0"/>
              </a:rPr>
              <a:t/>
            </a:r>
            <a:br>
              <a:rPr lang="en-US" sz="2800" dirty="0">
                <a:effectLst/>
                <a:latin typeface="+mn-lt"/>
                <a:ea typeface="Calibri" panose="020F0502020204030204" pitchFamily="34" charset="0"/>
                <a:cs typeface="Times New Roman" panose="02020603050405020304" pitchFamily="18" charset="0"/>
              </a:rPr>
            </a:br>
            <a:endParaRPr lang="en-US" sz="2800" dirty="0">
              <a:latin typeface="+mn-lt"/>
            </a:endParaRPr>
          </a:p>
        </p:txBody>
      </p:sp>
      <p:sp>
        <p:nvSpPr>
          <p:cNvPr id="3" name="Content Placeholder 2">
            <a:extLst>
              <a:ext uri="{FF2B5EF4-FFF2-40B4-BE49-F238E27FC236}">
                <a16:creationId xmlns:a16="http://schemas.microsoft.com/office/drawing/2014/main" id="{49C6C0AC-02C0-9ABB-F316-7208BCBFCB42}"/>
              </a:ext>
            </a:extLst>
          </p:cNvPr>
          <p:cNvSpPr>
            <a:spLocks noGrp="1"/>
          </p:cNvSpPr>
          <p:nvPr>
            <p:ph idx="1"/>
          </p:nvPr>
        </p:nvSpPr>
        <p:spPr>
          <a:xfrm>
            <a:off x="1103312" y="2052918"/>
            <a:ext cx="10185577" cy="4438193"/>
          </a:xfrm>
        </p:spPr>
        <p:txBody>
          <a:bodyPr>
            <a:normAutofit fontScale="92500" lnSpcReduction="20000"/>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marR="0" indent="0" algn="just">
              <a:lnSpc>
                <a:spcPct val="110000"/>
              </a:lnSpc>
              <a:spcBef>
                <a:spcPts val="315"/>
              </a:spcBef>
              <a:spcAft>
                <a:spcPts val="0"/>
              </a:spcAft>
              <a:buNone/>
            </a:pPr>
            <a:r>
              <a:rPr lang="en-US" sz="2800" dirty="0">
                <a:effectLst/>
                <a:ea typeface="Calibri" panose="020F0502020204030204" pitchFamily="34" charset="0"/>
                <a:cs typeface="Times New Roman" panose="02020603050405020304" pitchFamily="18" charset="0"/>
              </a:rPr>
              <a:t>Limiting factor: Temperature</a:t>
            </a:r>
          </a:p>
          <a:p>
            <a:pPr marL="0" marR="0" indent="0" algn="just">
              <a:lnSpc>
                <a:spcPct val="110000"/>
              </a:lnSpc>
              <a:spcBef>
                <a:spcPts val="315"/>
              </a:spcBef>
              <a:spcAft>
                <a:spcPts val="0"/>
              </a:spcAft>
              <a:buNone/>
            </a:pPr>
            <a:r>
              <a:rPr lang="en-US" sz="2800" dirty="0">
                <a:effectLst/>
                <a:ea typeface="Calibri" panose="020F0502020204030204" pitchFamily="34" charset="0"/>
                <a:cs typeface="Times New Roman" panose="02020603050405020304" pitchFamily="18" charset="0"/>
              </a:rPr>
              <a:t>Reason: increasing temperature from 15</a:t>
            </a:r>
            <a:r>
              <a:rPr lang="en-US" sz="2800" baseline="30000" dirty="0">
                <a:effectLst/>
                <a:ea typeface="Calibri" panose="020F0502020204030204" pitchFamily="34" charset="0"/>
                <a:cs typeface="Times New Roman" panose="02020603050405020304" pitchFamily="18" charset="0"/>
              </a:rPr>
              <a:t>o</a:t>
            </a:r>
            <a:r>
              <a:rPr lang="en-US" sz="2800" dirty="0">
                <a:effectLst/>
                <a:ea typeface="Calibri" panose="020F0502020204030204" pitchFamily="34" charset="0"/>
                <a:cs typeface="Times New Roman" panose="02020603050405020304" pitchFamily="18" charset="0"/>
              </a:rPr>
              <a:t>C to 25</a:t>
            </a:r>
            <a:r>
              <a:rPr lang="en-US" sz="2800" baseline="30000" dirty="0">
                <a:effectLst/>
                <a:ea typeface="Calibri" panose="020F0502020204030204" pitchFamily="34" charset="0"/>
                <a:cs typeface="Times New Roman" panose="02020603050405020304" pitchFamily="18" charset="0"/>
              </a:rPr>
              <a:t>o</a:t>
            </a:r>
            <a:r>
              <a:rPr lang="en-US" sz="2800" dirty="0">
                <a:effectLst/>
                <a:ea typeface="Calibri" panose="020F0502020204030204" pitchFamily="34" charset="0"/>
                <a:cs typeface="Times New Roman" panose="02020603050405020304" pitchFamily="18" charset="0"/>
              </a:rPr>
              <a:t>C leads to increase in rate of photosynthesis.</a:t>
            </a:r>
          </a:p>
          <a:p>
            <a:pPr marL="0" indent="0">
              <a:buNone/>
            </a:pPr>
            <a:endParaRPr lang="en-US" dirty="0"/>
          </a:p>
        </p:txBody>
      </p:sp>
      <p:pic>
        <p:nvPicPr>
          <p:cNvPr id="5" name="Picture 4">
            <a:extLst>
              <a:ext uri="{FF2B5EF4-FFF2-40B4-BE49-F238E27FC236}">
                <a16:creationId xmlns:a16="http://schemas.microsoft.com/office/drawing/2014/main" id="{1B7E9629-B91B-C452-8489-107C69970F94}"/>
              </a:ext>
            </a:extLst>
          </p:cNvPr>
          <p:cNvPicPr>
            <a:picLocks noChangeAspect="1"/>
          </p:cNvPicPr>
          <p:nvPr/>
        </p:nvPicPr>
        <p:blipFill>
          <a:blip r:embed="rId2"/>
          <a:stretch>
            <a:fillRect/>
          </a:stretch>
        </p:blipFill>
        <p:spPr>
          <a:xfrm>
            <a:off x="2740643" y="893092"/>
            <a:ext cx="6710713" cy="4380479"/>
          </a:xfrm>
          <a:prstGeom prst="rect">
            <a:avLst/>
          </a:prstGeom>
        </p:spPr>
      </p:pic>
    </p:spTree>
    <p:extLst>
      <p:ext uri="{BB962C8B-B14F-4D97-AF65-F5344CB8AC3E}">
        <p14:creationId xmlns:p14="http://schemas.microsoft.com/office/powerpoint/2010/main" val="1967385669"/>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E1345-74D7-2547-F5FE-7E2E4994F023}"/>
              </a:ext>
            </a:extLst>
          </p:cNvPr>
          <p:cNvSpPr>
            <a:spLocks noGrp="1"/>
          </p:cNvSpPr>
          <p:nvPr>
            <p:ph type="title"/>
          </p:nvPr>
        </p:nvSpPr>
        <p:spPr>
          <a:xfrm>
            <a:off x="1368600" y="80185"/>
            <a:ext cx="9084911" cy="1400530"/>
          </a:xfrm>
        </p:spPr>
        <p:txBody>
          <a:bodyPr/>
          <a:lstStyle/>
          <a:p>
            <a:pPr algn="just"/>
            <a:r>
              <a:rPr lang="en-US" sz="2800" b="1" spc="25" dirty="0">
                <a:effectLst/>
                <a:latin typeface="+mn-lt"/>
                <a:ea typeface="Times New Roman" panose="02020603050405020304" pitchFamily="18" charset="0"/>
                <a:cs typeface="Times New Roman" panose="02020603050405020304" pitchFamily="18" charset="0"/>
              </a:rPr>
              <a:t>Graph showing effect of increasing light intensity on rate of photosynthesis at two different concentrations of carbon dioxide of 1% and 0.04%</a:t>
            </a:r>
            <a:r>
              <a:rPr lang="en-US" sz="1800" dirty="0">
                <a:effectLst/>
                <a:latin typeface="Calibri" panose="020F0502020204030204" pitchFamily="34" charset="0"/>
                <a:ea typeface="Calibri" panose="020F0502020204030204" pitchFamily="34" charset="0"/>
                <a:cs typeface="Times New Roman" panose="02020603050405020304" pitchFamily="18" charset="0"/>
              </a:rPr>
              <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pic>
        <p:nvPicPr>
          <p:cNvPr id="3074" name="Picture 10">
            <a:extLst>
              <a:ext uri="{FF2B5EF4-FFF2-40B4-BE49-F238E27FC236}">
                <a16:creationId xmlns:a16="http://schemas.microsoft.com/office/drawing/2014/main" id="{38D9CD93-1048-F5BE-DA5C-B1515D45B5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6534" y="1388356"/>
            <a:ext cx="7744178" cy="520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7231523"/>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6D05E-2BF6-C09F-4133-941C4F916A06}"/>
              </a:ext>
            </a:extLst>
          </p:cNvPr>
          <p:cNvSpPr>
            <a:spLocks noGrp="1"/>
          </p:cNvSpPr>
          <p:nvPr>
            <p:ph type="title"/>
          </p:nvPr>
        </p:nvSpPr>
        <p:spPr>
          <a:xfrm>
            <a:off x="645130" y="0"/>
            <a:ext cx="9404723" cy="1400530"/>
          </a:xfrm>
        </p:spPr>
        <p:txBody>
          <a:bodyPr/>
          <a:lstStyle/>
          <a:p>
            <a:pPr algn="ctr"/>
            <a:r>
              <a:rPr lang="en-US" sz="3200" b="1" u="sng" dirty="0"/>
              <a:t>The leaf as an organ for photosynthesis</a:t>
            </a:r>
            <a:br>
              <a:rPr lang="en-US" sz="3200" b="1" u="sng" dirty="0"/>
            </a:br>
            <a:r>
              <a:rPr lang="en-US" sz="3200" u="sng" dirty="0"/>
              <a:t>A drawing of the vertical section  through a leaf</a:t>
            </a:r>
          </a:p>
        </p:txBody>
      </p:sp>
      <p:sp>
        <p:nvSpPr>
          <p:cNvPr id="3" name="Content Placeholder 2">
            <a:extLst>
              <a:ext uri="{FF2B5EF4-FFF2-40B4-BE49-F238E27FC236}">
                <a16:creationId xmlns:a16="http://schemas.microsoft.com/office/drawing/2014/main" id="{235B583E-CF63-05F2-C0CF-5FFC14278676}"/>
              </a:ext>
            </a:extLst>
          </p:cNvPr>
          <p:cNvSpPr>
            <a:spLocks noGrp="1"/>
          </p:cNvSpPr>
          <p:nvPr>
            <p:ph idx="1"/>
          </p:nvPr>
        </p:nvSpPr>
        <p:spPr/>
        <p:txBody>
          <a:bodyPr/>
          <a:lstStyle/>
          <a:p>
            <a:endParaRPr lang="en-US" dirty="0"/>
          </a:p>
        </p:txBody>
      </p:sp>
      <p:pic>
        <p:nvPicPr>
          <p:cNvPr id="4098" name="Picture 4" descr="Image result for drawing of internal structure of a leaf">
            <a:extLst>
              <a:ext uri="{FF2B5EF4-FFF2-40B4-BE49-F238E27FC236}">
                <a16:creationId xmlns:a16="http://schemas.microsoft.com/office/drawing/2014/main" id="{55328C8D-E223-66A8-DBFE-06FC6E7492A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25" t="17033" r="3254" b="5705"/>
          <a:stretch/>
        </p:blipFill>
        <p:spPr bwMode="auto">
          <a:xfrm>
            <a:off x="1103312" y="1540179"/>
            <a:ext cx="9404722" cy="5220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765407"/>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17478-B6D5-B2CD-7088-4EBCFD97294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A1997EE-99EE-67C2-5890-BB3AA7AC19C4}"/>
              </a:ext>
            </a:extLst>
          </p:cNvPr>
          <p:cNvSpPr>
            <a:spLocks noGrp="1"/>
          </p:cNvSpPr>
          <p:nvPr>
            <p:ph idx="1"/>
          </p:nvPr>
        </p:nvSpPr>
        <p:spPr/>
        <p:txBody>
          <a:bodyPr/>
          <a:lstStyle/>
          <a:p>
            <a:endParaRPr lang="en-US"/>
          </a:p>
        </p:txBody>
      </p:sp>
      <p:pic>
        <p:nvPicPr>
          <p:cNvPr id="5122" name="Picture 1">
            <a:extLst>
              <a:ext uri="{FF2B5EF4-FFF2-40B4-BE49-F238E27FC236}">
                <a16:creationId xmlns:a16="http://schemas.microsoft.com/office/drawing/2014/main" id="{E4376F44-4D6B-D653-08F6-A9716358A7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084" y="198783"/>
            <a:ext cx="11737831" cy="6533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7712195"/>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90CFA-61B7-C8FF-23CA-EFA896C05F32}"/>
              </a:ext>
            </a:extLst>
          </p:cNvPr>
          <p:cNvSpPr>
            <a:spLocks noGrp="1"/>
          </p:cNvSpPr>
          <p:nvPr>
            <p:ph type="title"/>
          </p:nvPr>
        </p:nvSpPr>
        <p:spPr>
          <a:xfrm>
            <a:off x="541716" y="0"/>
            <a:ext cx="11108567" cy="728870"/>
          </a:xfrm>
        </p:spPr>
        <p:txBody>
          <a:bodyPr/>
          <a:lstStyle/>
          <a:p>
            <a:pPr algn="ctr"/>
            <a:r>
              <a:rPr lang="en-US" b="1" dirty="0"/>
              <a:t>Adaptations of leaves for photosynthesis</a:t>
            </a:r>
          </a:p>
        </p:txBody>
      </p:sp>
      <p:sp>
        <p:nvSpPr>
          <p:cNvPr id="3" name="Content Placeholder 2">
            <a:extLst>
              <a:ext uri="{FF2B5EF4-FFF2-40B4-BE49-F238E27FC236}">
                <a16:creationId xmlns:a16="http://schemas.microsoft.com/office/drawing/2014/main" id="{78C7DB52-D520-367F-888F-D5D9C02A7ED9}"/>
              </a:ext>
            </a:extLst>
          </p:cNvPr>
          <p:cNvSpPr>
            <a:spLocks noGrp="1"/>
          </p:cNvSpPr>
          <p:nvPr>
            <p:ph idx="1"/>
          </p:nvPr>
        </p:nvSpPr>
        <p:spPr>
          <a:xfrm>
            <a:off x="159026" y="1311966"/>
            <a:ext cx="11873948" cy="5042452"/>
          </a:xfrm>
        </p:spPr>
        <p:txBody>
          <a:bodyPr>
            <a:noAutofit/>
          </a:bodyPr>
          <a:lstStyle/>
          <a:p>
            <a:pPr algn="just"/>
            <a:r>
              <a:rPr lang="en-US" sz="3200" dirty="0">
                <a:latin typeface="+mn-lt"/>
              </a:rPr>
              <a:t>Leaves are thin to reduce distance of diffusion of carbon dioxide and light to photosynthesizing cells. </a:t>
            </a:r>
          </a:p>
          <a:p>
            <a:pPr algn="just"/>
            <a:r>
              <a:rPr lang="en-US" sz="3200" dirty="0">
                <a:latin typeface="+mn-lt"/>
              </a:rPr>
              <a:t>Leaves are broad and flat to increase surface area for trapping sunlight and absorbing carbon dioxide. </a:t>
            </a:r>
          </a:p>
          <a:p>
            <a:pPr algn="just"/>
            <a:r>
              <a:rPr lang="en-US" sz="3200" dirty="0">
                <a:latin typeface="+mn-lt"/>
              </a:rPr>
              <a:t>Leaves are arranged into a mosaic to avoid overlapping and trap maximum sunlight.</a:t>
            </a:r>
          </a:p>
          <a:p>
            <a:pPr algn="just"/>
            <a:r>
              <a:rPr lang="en-US" sz="3200" dirty="0">
                <a:latin typeface="+mn-lt"/>
              </a:rPr>
              <a:t>Leaves are numerous to increase surface area for photosynthesis.</a:t>
            </a:r>
          </a:p>
          <a:p>
            <a:pPr algn="just"/>
            <a:endParaRPr lang="en-US" sz="3200" dirty="0">
              <a:latin typeface="+mn-lt"/>
            </a:endParaRPr>
          </a:p>
        </p:txBody>
      </p:sp>
    </p:spTree>
    <p:extLst>
      <p:ext uri="{BB962C8B-B14F-4D97-AF65-F5344CB8AC3E}">
        <p14:creationId xmlns:p14="http://schemas.microsoft.com/office/powerpoint/2010/main" val="1156460456"/>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14E2AD-6DCC-77C6-0456-29C44D73A4EC}"/>
              </a:ext>
            </a:extLst>
          </p:cNvPr>
          <p:cNvSpPr>
            <a:spLocks noGrp="1"/>
          </p:cNvSpPr>
          <p:nvPr>
            <p:ph idx="1"/>
          </p:nvPr>
        </p:nvSpPr>
        <p:spPr>
          <a:xfrm>
            <a:off x="311426" y="1060175"/>
            <a:ext cx="11569147" cy="5652051"/>
          </a:xfrm>
        </p:spPr>
        <p:txBody>
          <a:bodyPr>
            <a:normAutofit/>
          </a:bodyPr>
          <a:lstStyle/>
          <a:p>
            <a:pPr algn="just"/>
            <a:r>
              <a:rPr lang="en-US" sz="3200" dirty="0">
                <a:latin typeface="+mn-lt"/>
              </a:rPr>
              <a:t>Have veins, with xylem for transporting water and mineral salts, and phloem for transporting manufactured food.</a:t>
            </a:r>
          </a:p>
          <a:p>
            <a:pPr algn="just"/>
            <a:r>
              <a:rPr lang="en-US" sz="3200" dirty="0">
                <a:latin typeface="+mn-lt"/>
              </a:rPr>
              <a:t>Leaves have numerous stomata for efficient exchange of gases.</a:t>
            </a:r>
          </a:p>
          <a:p>
            <a:pPr algn="just"/>
            <a:r>
              <a:rPr lang="en-US" sz="3200" dirty="0">
                <a:latin typeface="+mn-lt"/>
              </a:rPr>
              <a:t>The palisade mesophyll cells contain numerous chloroplasts, containing chlorophyll which traps sunlight.</a:t>
            </a:r>
          </a:p>
          <a:p>
            <a:pPr algn="just"/>
            <a:r>
              <a:rPr lang="en-US" sz="3200" dirty="0">
                <a:latin typeface="+mn-lt"/>
              </a:rPr>
              <a:t>Have water proof cuticle to prevent them from desiccation/drying up during photosynthesis.</a:t>
            </a:r>
          </a:p>
          <a:p>
            <a:endParaRPr lang="en-US" dirty="0"/>
          </a:p>
        </p:txBody>
      </p:sp>
    </p:spTree>
    <p:extLst>
      <p:ext uri="{BB962C8B-B14F-4D97-AF65-F5344CB8AC3E}">
        <p14:creationId xmlns:p14="http://schemas.microsoft.com/office/powerpoint/2010/main" val="3328891981"/>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B08523-D406-C83A-0822-72F14F3F294A}"/>
              </a:ext>
            </a:extLst>
          </p:cNvPr>
          <p:cNvSpPr>
            <a:spLocks noGrp="1"/>
          </p:cNvSpPr>
          <p:nvPr>
            <p:ph idx="1"/>
          </p:nvPr>
        </p:nvSpPr>
        <p:spPr>
          <a:xfrm>
            <a:off x="612981" y="2001078"/>
            <a:ext cx="10505592" cy="4101547"/>
          </a:xfrm>
        </p:spPr>
        <p:txBody>
          <a:bodyPr>
            <a:normAutofit/>
          </a:bodyPr>
          <a:lstStyle/>
          <a:p>
            <a:pPr algn="just"/>
            <a:r>
              <a:rPr lang="en-US" sz="3200" dirty="0">
                <a:latin typeface="+mn-lt"/>
              </a:rPr>
              <a:t>Spongy mesophyll has plenty of air spaces for free circulation of air.</a:t>
            </a:r>
          </a:p>
          <a:p>
            <a:pPr algn="just"/>
            <a:r>
              <a:rPr lang="en-US" sz="3200" dirty="0">
                <a:latin typeface="+mn-lt"/>
              </a:rPr>
              <a:t>Upper epidermis has thin and transparent cuticle to allow penetration of light.</a:t>
            </a:r>
          </a:p>
          <a:p>
            <a:pPr algn="just"/>
            <a:endParaRPr lang="en-US" sz="3200" dirty="0">
              <a:latin typeface="+mn-lt"/>
            </a:endParaRPr>
          </a:p>
        </p:txBody>
      </p:sp>
    </p:spTree>
    <p:extLst>
      <p:ext uri="{BB962C8B-B14F-4D97-AF65-F5344CB8AC3E}">
        <p14:creationId xmlns:p14="http://schemas.microsoft.com/office/powerpoint/2010/main" val="3369154380"/>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FA4D65-59C9-8670-9E07-2CECF425DEF9}"/>
              </a:ext>
            </a:extLst>
          </p:cNvPr>
          <p:cNvSpPr>
            <a:spLocks noGrp="1"/>
          </p:cNvSpPr>
          <p:nvPr>
            <p:ph idx="1"/>
          </p:nvPr>
        </p:nvSpPr>
        <p:spPr>
          <a:xfrm>
            <a:off x="198783" y="1815548"/>
            <a:ext cx="11701669" cy="4432851"/>
          </a:xfrm>
        </p:spPr>
        <p:txBody>
          <a:bodyPr>
            <a:normAutofit/>
          </a:bodyPr>
          <a:lstStyle/>
          <a:p>
            <a:pPr marL="0" indent="0" algn="just">
              <a:buNone/>
            </a:pPr>
            <a:r>
              <a:rPr lang="en-US" sz="3200" dirty="0"/>
              <a:t>Task </a:t>
            </a:r>
          </a:p>
          <a:p>
            <a:pPr marL="0" indent="0" algn="just">
              <a:buNone/>
            </a:pPr>
            <a:r>
              <a:rPr lang="en-US" sz="3200" dirty="0"/>
              <a:t>a)	Relate the external structures of the leaf to their function</a:t>
            </a:r>
          </a:p>
          <a:p>
            <a:pPr marL="0" indent="0" algn="just">
              <a:buNone/>
            </a:pPr>
            <a:r>
              <a:rPr lang="en-US" sz="3200" dirty="0"/>
              <a:t>b)	Relate the internal structures of the leaf to their function</a:t>
            </a:r>
          </a:p>
          <a:p>
            <a:pPr algn="just"/>
            <a:endParaRPr lang="en-US" sz="3200" dirty="0"/>
          </a:p>
        </p:txBody>
      </p:sp>
    </p:spTree>
    <p:extLst>
      <p:ext uri="{BB962C8B-B14F-4D97-AF65-F5344CB8AC3E}">
        <p14:creationId xmlns:p14="http://schemas.microsoft.com/office/powerpoint/2010/main" val="1272005579"/>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1656A-87AB-D047-371E-ACBE96736D52}"/>
              </a:ext>
            </a:extLst>
          </p:cNvPr>
          <p:cNvSpPr>
            <a:spLocks noGrp="1"/>
          </p:cNvSpPr>
          <p:nvPr>
            <p:ph type="title"/>
          </p:nvPr>
        </p:nvSpPr>
        <p:spPr>
          <a:xfrm>
            <a:off x="540094" y="0"/>
            <a:ext cx="9404723" cy="861391"/>
          </a:xfrm>
        </p:spPr>
        <p:txBody>
          <a:bodyPr/>
          <a:lstStyle/>
          <a:p>
            <a:r>
              <a:rPr lang="en-US" b="1" u="sng" dirty="0">
                <a:effectLst>
                  <a:outerShdw blurRad="38100" dist="38100" dir="2700000" algn="tl">
                    <a:srgbClr val="000000">
                      <a:alpha val="43137"/>
                    </a:srgbClr>
                  </a:outerShdw>
                </a:effectLst>
              </a:rPr>
              <a:t>Activity of integration</a:t>
            </a:r>
          </a:p>
        </p:txBody>
      </p:sp>
      <p:sp>
        <p:nvSpPr>
          <p:cNvPr id="3" name="Content Placeholder 2">
            <a:extLst>
              <a:ext uri="{FF2B5EF4-FFF2-40B4-BE49-F238E27FC236}">
                <a16:creationId xmlns:a16="http://schemas.microsoft.com/office/drawing/2014/main" id="{E0E4856E-FF2C-8A5A-772B-DE2E024D3694}"/>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440729401"/>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C7F9A-54EA-D963-280F-A8820158DA13}"/>
              </a:ext>
            </a:extLst>
          </p:cNvPr>
          <p:cNvSpPr>
            <a:spLocks noGrp="1"/>
          </p:cNvSpPr>
          <p:nvPr>
            <p:ph type="title"/>
          </p:nvPr>
        </p:nvSpPr>
        <p:spPr>
          <a:xfrm>
            <a:off x="645131" y="0"/>
            <a:ext cx="9267496" cy="781878"/>
          </a:xfrm>
        </p:spPr>
        <p:txBody>
          <a:bodyPr/>
          <a:lstStyle/>
          <a:p>
            <a:pPr algn="ctr"/>
            <a:r>
              <a:rPr lang="en-US" b="1" u="sng" dirty="0"/>
              <a:t>NUTRITION IN MAMMALS</a:t>
            </a:r>
          </a:p>
        </p:txBody>
      </p:sp>
      <p:sp>
        <p:nvSpPr>
          <p:cNvPr id="3" name="Content Placeholder 2">
            <a:extLst>
              <a:ext uri="{FF2B5EF4-FFF2-40B4-BE49-F238E27FC236}">
                <a16:creationId xmlns:a16="http://schemas.microsoft.com/office/drawing/2014/main" id="{6A89547F-0556-A038-2395-5E53B064753A}"/>
              </a:ext>
            </a:extLst>
          </p:cNvPr>
          <p:cNvSpPr>
            <a:spLocks noGrp="1"/>
          </p:cNvSpPr>
          <p:nvPr>
            <p:ph idx="1"/>
          </p:nvPr>
        </p:nvSpPr>
        <p:spPr>
          <a:xfrm>
            <a:off x="357809" y="887896"/>
            <a:ext cx="11529391" cy="5353878"/>
          </a:xfrm>
        </p:spPr>
        <p:txBody>
          <a:bodyPr>
            <a:normAutofit fontScale="92500" lnSpcReduction="10000"/>
          </a:bodyPr>
          <a:lstStyle/>
          <a:p>
            <a:pPr algn="just"/>
            <a:r>
              <a:rPr lang="en-US" sz="3200" dirty="0">
                <a:latin typeface="+mn-lt"/>
              </a:rPr>
              <a:t>Animals are heterotrophic.</a:t>
            </a:r>
          </a:p>
          <a:p>
            <a:pPr algn="just"/>
            <a:r>
              <a:rPr lang="en-US" sz="3200" dirty="0">
                <a:latin typeface="+mn-lt"/>
              </a:rPr>
              <a:t>They ingest and digest food.</a:t>
            </a:r>
          </a:p>
          <a:p>
            <a:pPr algn="just"/>
            <a:r>
              <a:rPr lang="en-US" sz="3200" dirty="0">
                <a:latin typeface="+mn-lt"/>
              </a:rPr>
              <a:t>Digestion is speeded by enzymes.</a:t>
            </a:r>
          </a:p>
          <a:p>
            <a:pPr marL="0" indent="0" algn="just">
              <a:buNone/>
            </a:pPr>
            <a:endParaRPr lang="en-US" sz="3200" dirty="0">
              <a:latin typeface="+mn-lt"/>
            </a:endParaRPr>
          </a:p>
          <a:p>
            <a:pPr marL="0" indent="0" algn="just">
              <a:buNone/>
            </a:pPr>
            <a:r>
              <a:rPr lang="en-US" sz="3200" b="1" u="sng" dirty="0">
                <a:latin typeface="+mn-lt"/>
              </a:rPr>
              <a:t>Activity </a:t>
            </a:r>
          </a:p>
          <a:p>
            <a:pPr marL="514350" indent="-514350" algn="just">
              <a:buFont typeface="+mj-lt"/>
              <a:buAutoNum type="alphaLcParenR"/>
            </a:pPr>
            <a:r>
              <a:rPr lang="en-US" sz="3200" dirty="0">
                <a:latin typeface="+mn-lt"/>
              </a:rPr>
              <a:t>What is an enzyme?</a:t>
            </a:r>
          </a:p>
          <a:p>
            <a:pPr marL="514350" indent="-514350" algn="just">
              <a:buFont typeface="+mj-lt"/>
              <a:buAutoNum type="alphaLcParenR"/>
            </a:pPr>
            <a:r>
              <a:rPr lang="en-US" sz="3200" dirty="0">
                <a:latin typeface="+mn-lt"/>
              </a:rPr>
              <a:t>How are enzymes named?</a:t>
            </a:r>
          </a:p>
          <a:p>
            <a:pPr marL="514350" indent="-514350" algn="just">
              <a:buFont typeface="+mj-lt"/>
              <a:buAutoNum type="alphaLcParenR"/>
            </a:pPr>
            <a:r>
              <a:rPr lang="en-US" sz="3200" dirty="0">
                <a:latin typeface="+mn-lt"/>
              </a:rPr>
              <a:t>Name some enzymes in the human digestive system and state the function of each.</a:t>
            </a:r>
          </a:p>
          <a:p>
            <a:pPr marL="514350" indent="-514350" algn="just">
              <a:buFont typeface="+mj-lt"/>
              <a:buAutoNum type="alphaLcParenR"/>
            </a:pPr>
            <a:r>
              <a:rPr lang="en-US" sz="3200" dirty="0">
                <a:latin typeface="+mn-lt"/>
              </a:rPr>
              <a:t>What are the properties/characteristics of enzymes?</a:t>
            </a:r>
          </a:p>
        </p:txBody>
      </p:sp>
    </p:spTree>
    <p:extLst>
      <p:ext uri="{BB962C8B-B14F-4D97-AF65-F5344CB8AC3E}">
        <p14:creationId xmlns:p14="http://schemas.microsoft.com/office/powerpoint/2010/main" val="3971766942"/>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8FBF8-9BC0-C0AF-080D-67D083B07951}"/>
              </a:ext>
            </a:extLst>
          </p:cNvPr>
          <p:cNvSpPr>
            <a:spLocks noGrp="1"/>
          </p:cNvSpPr>
          <p:nvPr>
            <p:ph type="title"/>
          </p:nvPr>
        </p:nvSpPr>
        <p:spPr>
          <a:xfrm>
            <a:off x="645130" y="166725"/>
            <a:ext cx="9404723" cy="885752"/>
          </a:xfrm>
        </p:spPr>
        <p:txBody>
          <a:bodyPr/>
          <a:lstStyle/>
          <a:p>
            <a:pPr algn="ctr"/>
            <a:r>
              <a:rPr lang="en-US" b="1" u="sng" dirty="0"/>
              <a:t>ENZYMES </a:t>
            </a:r>
          </a:p>
        </p:txBody>
      </p:sp>
      <p:sp>
        <p:nvSpPr>
          <p:cNvPr id="3" name="Content Placeholder 2">
            <a:extLst>
              <a:ext uri="{FF2B5EF4-FFF2-40B4-BE49-F238E27FC236}">
                <a16:creationId xmlns:a16="http://schemas.microsoft.com/office/drawing/2014/main" id="{1C2AD322-3DA3-483F-56D5-C9D48605330F}"/>
              </a:ext>
            </a:extLst>
          </p:cNvPr>
          <p:cNvSpPr>
            <a:spLocks noGrp="1"/>
          </p:cNvSpPr>
          <p:nvPr>
            <p:ph idx="1"/>
          </p:nvPr>
        </p:nvSpPr>
        <p:spPr>
          <a:xfrm>
            <a:off x="145774" y="1052477"/>
            <a:ext cx="11860696" cy="5215801"/>
          </a:xfrm>
        </p:spPr>
        <p:txBody>
          <a:bodyPr>
            <a:normAutofit fontScale="92500"/>
          </a:bodyPr>
          <a:lstStyle/>
          <a:p>
            <a:pPr algn="just"/>
            <a:r>
              <a:rPr lang="en-US" sz="3200" dirty="0">
                <a:latin typeface="+mn-lt"/>
              </a:rPr>
              <a:t>An enzyme is a biological catalyst produced by body cells to speed up the rate of chemical reactions in the body.</a:t>
            </a:r>
          </a:p>
          <a:p>
            <a:pPr algn="just"/>
            <a:r>
              <a:rPr lang="en-US" sz="3200" dirty="0">
                <a:latin typeface="+mn-lt"/>
              </a:rPr>
              <a:t>Enzymes catalyze reactions of substances called substrates.</a:t>
            </a:r>
          </a:p>
          <a:p>
            <a:pPr marL="0" indent="0" algn="just">
              <a:buNone/>
            </a:pPr>
            <a:r>
              <a:rPr lang="en-US" sz="3200" b="1" u="sng" dirty="0">
                <a:latin typeface="+mn-lt"/>
              </a:rPr>
              <a:t>Types of enzymes</a:t>
            </a:r>
          </a:p>
          <a:p>
            <a:pPr algn="just"/>
            <a:r>
              <a:rPr lang="en-US" sz="3200" b="1" dirty="0">
                <a:latin typeface="+mn-lt"/>
              </a:rPr>
              <a:t>Intracellular enzymes: </a:t>
            </a:r>
            <a:r>
              <a:rPr lang="en-US" sz="3200" dirty="0">
                <a:latin typeface="+mn-lt"/>
              </a:rPr>
              <a:t>are enzymes which work inside cells where they are produced. E.g., catalase and respiratory enzymes.</a:t>
            </a:r>
          </a:p>
          <a:p>
            <a:pPr algn="just"/>
            <a:r>
              <a:rPr lang="en-US" sz="3200" b="1" dirty="0">
                <a:latin typeface="+mn-lt"/>
              </a:rPr>
              <a:t>Extracellular enzymes: </a:t>
            </a:r>
            <a:r>
              <a:rPr lang="en-US" sz="3200" dirty="0">
                <a:latin typeface="+mn-lt"/>
              </a:rPr>
              <a:t>are enzymes that work outside the cells that produce them. Examples include; most digestive enzymes such as amylase, pepsin and lipase.</a:t>
            </a:r>
          </a:p>
          <a:p>
            <a:endParaRPr lang="en-US" dirty="0"/>
          </a:p>
        </p:txBody>
      </p:sp>
    </p:spTree>
    <p:extLst>
      <p:ext uri="{BB962C8B-B14F-4D97-AF65-F5344CB8AC3E}">
        <p14:creationId xmlns:p14="http://schemas.microsoft.com/office/powerpoint/2010/main" val="3388736531"/>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62A91-EE82-B85B-CD56-55588626775F}"/>
              </a:ext>
            </a:extLst>
          </p:cNvPr>
          <p:cNvSpPr>
            <a:spLocks noGrp="1"/>
          </p:cNvSpPr>
          <p:nvPr>
            <p:ph type="title"/>
          </p:nvPr>
        </p:nvSpPr>
        <p:spPr>
          <a:xfrm>
            <a:off x="618626" y="-172279"/>
            <a:ext cx="9404723" cy="808383"/>
          </a:xfrm>
        </p:spPr>
        <p:txBody>
          <a:bodyPr/>
          <a:lstStyle/>
          <a:p>
            <a:r>
              <a:rPr lang="en-US" b="1" u="sng" dirty="0"/>
              <a:t>Naming enzymes</a:t>
            </a:r>
          </a:p>
        </p:txBody>
      </p:sp>
      <p:sp>
        <p:nvSpPr>
          <p:cNvPr id="3" name="Content Placeholder 2">
            <a:extLst>
              <a:ext uri="{FF2B5EF4-FFF2-40B4-BE49-F238E27FC236}">
                <a16:creationId xmlns:a16="http://schemas.microsoft.com/office/drawing/2014/main" id="{22809259-8641-2FDB-8DFD-6DA1C48A7685}"/>
              </a:ext>
            </a:extLst>
          </p:cNvPr>
          <p:cNvSpPr>
            <a:spLocks noGrp="1"/>
          </p:cNvSpPr>
          <p:nvPr>
            <p:ph idx="1"/>
          </p:nvPr>
        </p:nvSpPr>
        <p:spPr>
          <a:xfrm>
            <a:off x="119270" y="503582"/>
            <a:ext cx="11688417" cy="4419599"/>
          </a:xfrm>
        </p:spPr>
        <p:txBody>
          <a:bodyPr>
            <a:normAutofit/>
          </a:bodyPr>
          <a:lstStyle/>
          <a:p>
            <a:r>
              <a:rPr lang="en-US" sz="2800" b="0" i="0" u="none" strike="noStrike" baseline="0" dirty="0">
                <a:latin typeface="+mn-lt"/>
              </a:rPr>
              <a:t>Enzymes are named by adding the suffix ‘</a:t>
            </a:r>
            <a:r>
              <a:rPr lang="en-US" sz="2800" b="0" i="0" u="none" strike="noStrike" baseline="0" dirty="0" err="1">
                <a:latin typeface="+mn-lt"/>
              </a:rPr>
              <a:t>ase</a:t>
            </a:r>
            <a:r>
              <a:rPr lang="en-US" sz="2800" b="0" i="0" u="none" strike="noStrike" baseline="0" dirty="0">
                <a:latin typeface="+mn-lt"/>
              </a:rPr>
              <a:t>’ at the end of the name of the substrate acted upon. Examples;</a:t>
            </a:r>
            <a:endParaRPr lang="en-US" sz="2800" dirty="0">
              <a:latin typeface="+mn-lt"/>
            </a:endParaRPr>
          </a:p>
        </p:txBody>
      </p:sp>
      <p:graphicFrame>
        <p:nvGraphicFramePr>
          <p:cNvPr id="4" name="Table 4">
            <a:extLst>
              <a:ext uri="{FF2B5EF4-FFF2-40B4-BE49-F238E27FC236}">
                <a16:creationId xmlns:a16="http://schemas.microsoft.com/office/drawing/2014/main" id="{EDA951DF-5C83-8BCC-0E7B-9E2C14DC346E}"/>
              </a:ext>
            </a:extLst>
          </p:cNvPr>
          <p:cNvGraphicFramePr>
            <a:graphicFrameLocks noGrp="1"/>
          </p:cNvGraphicFramePr>
          <p:nvPr>
            <p:extLst>
              <p:ext uri="{D42A27DB-BD31-4B8C-83A1-F6EECF244321}">
                <p14:modId xmlns:p14="http://schemas.microsoft.com/office/powerpoint/2010/main" val="3325442784"/>
              </p:ext>
            </p:extLst>
          </p:nvPr>
        </p:nvGraphicFramePr>
        <p:xfrm>
          <a:off x="92764" y="1444487"/>
          <a:ext cx="11979966" cy="5278790"/>
        </p:xfrm>
        <a:graphic>
          <a:graphicData uri="http://schemas.openxmlformats.org/drawingml/2006/table">
            <a:tbl>
              <a:tblPr firstRow="1" bandRow="1">
                <a:tableStyleId>{5C22544A-7EE6-4342-B048-85BDC9FD1C3A}</a:tableStyleId>
              </a:tblPr>
              <a:tblGrid>
                <a:gridCol w="4028662">
                  <a:extLst>
                    <a:ext uri="{9D8B030D-6E8A-4147-A177-3AD203B41FA5}">
                      <a16:colId xmlns:a16="http://schemas.microsoft.com/office/drawing/2014/main" val="2299330797"/>
                    </a:ext>
                  </a:extLst>
                </a:gridCol>
                <a:gridCol w="7951304">
                  <a:extLst>
                    <a:ext uri="{9D8B030D-6E8A-4147-A177-3AD203B41FA5}">
                      <a16:colId xmlns:a16="http://schemas.microsoft.com/office/drawing/2014/main" val="755229543"/>
                    </a:ext>
                  </a:extLst>
                </a:gridCol>
              </a:tblGrid>
              <a:tr h="968299">
                <a:tc>
                  <a:txBody>
                    <a:bodyPr/>
                    <a:lstStyle/>
                    <a:p>
                      <a:r>
                        <a:rPr lang="en-US" sz="2800" b="0" dirty="0"/>
                        <a:t>Enzyme </a:t>
                      </a:r>
                    </a:p>
                  </a:txBody>
                  <a:tcPr/>
                </a:tc>
                <a:tc>
                  <a:txBody>
                    <a:bodyPr/>
                    <a:lstStyle/>
                    <a:p>
                      <a:r>
                        <a:rPr lang="en-US" sz="2800" b="0" dirty="0"/>
                        <a:t>Substrate broken down</a:t>
                      </a:r>
                    </a:p>
                  </a:txBody>
                  <a:tcPr/>
                </a:tc>
                <a:extLst>
                  <a:ext uri="{0D108BD9-81ED-4DB2-BD59-A6C34878D82A}">
                    <a16:rowId xmlns:a16="http://schemas.microsoft.com/office/drawing/2014/main" val="1693709119"/>
                  </a:ext>
                </a:extLst>
              </a:tr>
              <a:tr h="968299">
                <a:tc>
                  <a:txBody>
                    <a:bodyPr/>
                    <a:lstStyle/>
                    <a:p>
                      <a:r>
                        <a:rPr lang="en-US" sz="2800" b="0" i="0" u="none" strike="noStrike" kern="1200" baseline="0" dirty="0">
                          <a:solidFill>
                            <a:schemeClr val="dk1"/>
                          </a:solidFill>
                          <a:latin typeface="+mn-lt"/>
                          <a:ea typeface="+mn-ea"/>
                          <a:cs typeface="+mn-cs"/>
                        </a:rPr>
                        <a:t>Lipase. </a:t>
                      </a:r>
                    </a:p>
                    <a:p>
                      <a:r>
                        <a:rPr lang="en-US" sz="2800" b="0" i="0" u="none" strike="noStrike" kern="1200" baseline="0" dirty="0">
                          <a:solidFill>
                            <a:schemeClr val="dk1"/>
                          </a:solidFill>
                          <a:latin typeface="+mn-lt"/>
                          <a:ea typeface="+mn-ea"/>
                          <a:cs typeface="+mn-cs"/>
                        </a:rPr>
                        <a:t> </a:t>
                      </a:r>
                      <a:endParaRPr lang="en-US" sz="2800" b="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b="0" i="0" u="none" strike="noStrike" kern="1200" baseline="0" dirty="0">
                          <a:solidFill>
                            <a:schemeClr val="dk1"/>
                          </a:solidFill>
                          <a:latin typeface="+mn-lt"/>
                          <a:ea typeface="+mn-ea"/>
                          <a:cs typeface="+mn-cs"/>
                        </a:rPr>
                        <a:t>Lipids. </a:t>
                      </a:r>
                    </a:p>
                    <a:p>
                      <a:endParaRPr lang="en-US" sz="2800" b="0" dirty="0"/>
                    </a:p>
                  </a:txBody>
                  <a:tcPr/>
                </a:tc>
                <a:extLst>
                  <a:ext uri="{0D108BD9-81ED-4DB2-BD59-A6C34878D82A}">
                    <a16:rowId xmlns:a16="http://schemas.microsoft.com/office/drawing/2014/main" val="4177760729"/>
                  </a:ext>
                </a:extLst>
              </a:tr>
              <a:tr h="1405594">
                <a:tc>
                  <a:txBody>
                    <a:bodyPr/>
                    <a:lstStyle/>
                    <a:p>
                      <a:r>
                        <a:rPr lang="en-US" sz="2800" b="0" i="0" u="none" strike="noStrike" kern="1200" baseline="0" dirty="0">
                          <a:solidFill>
                            <a:schemeClr val="dk1"/>
                          </a:solidFill>
                          <a:latin typeface="+mn-lt"/>
                          <a:ea typeface="+mn-ea"/>
                          <a:cs typeface="+mn-cs"/>
                        </a:rPr>
                        <a:t>Proteases</a:t>
                      </a:r>
                      <a:endParaRPr lang="en-US" sz="2800" b="0" dirty="0"/>
                    </a:p>
                  </a:txBody>
                  <a:tcPr/>
                </a:tc>
                <a:tc>
                  <a:txBody>
                    <a:bodyPr/>
                    <a:lstStyle/>
                    <a:p>
                      <a:r>
                        <a:rPr lang="en-US" sz="2800" b="0" i="0" u="none" strike="noStrike" kern="1200" baseline="0" dirty="0">
                          <a:solidFill>
                            <a:schemeClr val="dk1"/>
                          </a:solidFill>
                          <a:latin typeface="+mn-lt"/>
                          <a:ea typeface="+mn-ea"/>
                          <a:cs typeface="+mn-cs"/>
                        </a:rPr>
                        <a:t>Proteins. Examples: pepsin, trypsin, etc. are proteases</a:t>
                      </a:r>
                      <a:endParaRPr lang="en-US" sz="2800" b="0" dirty="0"/>
                    </a:p>
                  </a:txBody>
                  <a:tcPr/>
                </a:tc>
                <a:extLst>
                  <a:ext uri="{0D108BD9-81ED-4DB2-BD59-A6C34878D82A}">
                    <a16:rowId xmlns:a16="http://schemas.microsoft.com/office/drawing/2014/main" val="3131525112"/>
                  </a:ext>
                </a:extLst>
              </a:tr>
              <a:tr h="96829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b="0" i="0" u="none" strike="noStrike" kern="1200" baseline="0" dirty="0">
                          <a:solidFill>
                            <a:schemeClr val="dk1"/>
                          </a:solidFill>
                          <a:latin typeface="+mn-lt"/>
                          <a:ea typeface="+mn-ea"/>
                          <a:cs typeface="+mn-cs"/>
                        </a:rPr>
                        <a:t>•Maltase</a:t>
                      </a:r>
                    </a:p>
                    <a:p>
                      <a:endParaRPr lang="en-US" sz="2800" b="0" dirty="0"/>
                    </a:p>
                  </a:txBody>
                  <a:tcPr/>
                </a:tc>
                <a:tc>
                  <a:txBody>
                    <a:bodyPr/>
                    <a:lstStyle/>
                    <a:p>
                      <a:r>
                        <a:rPr lang="en-US" sz="2800" b="0" i="0" u="none" strike="noStrike" kern="1200" baseline="0" dirty="0">
                          <a:solidFill>
                            <a:schemeClr val="dk1"/>
                          </a:solidFill>
                          <a:latin typeface="+mn-lt"/>
                          <a:ea typeface="+mn-ea"/>
                          <a:cs typeface="+mn-cs"/>
                        </a:rPr>
                        <a:t>maltose. </a:t>
                      </a:r>
                      <a:endParaRPr lang="en-US" sz="2800" b="0" dirty="0"/>
                    </a:p>
                  </a:txBody>
                  <a:tcPr/>
                </a:tc>
                <a:extLst>
                  <a:ext uri="{0D108BD9-81ED-4DB2-BD59-A6C34878D82A}">
                    <a16:rowId xmlns:a16="http://schemas.microsoft.com/office/drawing/2014/main" val="2427542948"/>
                  </a:ext>
                </a:extLst>
              </a:tr>
              <a:tr h="968299">
                <a:tc>
                  <a:txBody>
                    <a:bodyPr/>
                    <a:lstStyle/>
                    <a:p>
                      <a:r>
                        <a:rPr lang="en-US" sz="2800" b="0" i="0" u="none" strike="noStrike" kern="1200" baseline="0" dirty="0">
                          <a:solidFill>
                            <a:schemeClr val="dk1"/>
                          </a:solidFill>
                          <a:latin typeface="+mn-lt"/>
                          <a:ea typeface="+mn-ea"/>
                          <a:cs typeface="+mn-cs"/>
                        </a:rPr>
                        <a:t>Sucrase.</a:t>
                      </a:r>
                      <a:endParaRPr lang="en-US" sz="2800" b="0" dirty="0"/>
                    </a:p>
                  </a:txBody>
                  <a:tcPr/>
                </a:tc>
                <a:tc>
                  <a:txBody>
                    <a:bodyPr/>
                    <a:lstStyle/>
                    <a:p>
                      <a:r>
                        <a:rPr lang="en-US" sz="2800" b="0" i="0" u="none" strike="noStrike" kern="1200" baseline="0" dirty="0">
                          <a:solidFill>
                            <a:schemeClr val="dk1"/>
                          </a:solidFill>
                          <a:latin typeface="+mn-lt"/>
                          <a:ea typeface="+mn-ea"/>
                          <a:cs typeface="+mn-cs"/>
                        </a:rPr>
                        <a:t>sucrose</a:t>
                      </a:r>
                      <a:endParaRPr lang="en-US" sz="2800" b="0" dirty="0"/>
                    </a:p>
                  </a:txBody>
                  <a:tcPr/>
                </a:tc>
                <a:extLst>
                  <a:ext uri="{0D108BD9-81ED-4DB2-BD59-A6C34878D82A}">
                    <a16:rowId xmlns:a16="http://schemas.microsoft.com/office/drawing/2014/main" val="3093848055"/>
                  </a:ext>
                </a:extLst>
              </a:tr>
            </a:tbl>
          </a:graphicData>
        </a:graphic>
      </p:graphicFrame>
    </p:spTree>
    <p:extLst>
      <p:ext uri="{BB962C8B-B14F-4D97-AF65-F5344CB8AC3E}">
        <p14:creationId xmlns:p14="http://schemas.microsoft.com/office/powerpoint/2010/main" val="3692672054"/>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95B4CAA-500A-4E56-6917-2690B54618FB}"/>
              </a:ext>
            </a:extLst>
          </p:cNvPr>
          <p:cNvGraphicFramePr>
            <a:graphicFrameLocks noGrp="1"/>
          </p:cNvGraphicFramePr>
          <p:nvPr>
            <p:ph idx="1"/>
            <p:extLst>
              <p:ext uri="{D42A27DB-BD31-4B8C-83A1-F6EECF244321}">
                <p14:modId xmlns:p14="http://schemas.microsoft.com/office/powerpoint/2010/main" val="211352847"/>
              </p:ext>
            </p:extLst>
          </p:nvPr>
        </p:nvGraphicFramePr>
        <p:xfrm>
          <a:off x="106017" y="2148346"/>
          <a:ext cx="11979966" cy="2561308"/>
        </p:xfrm>
        <a:graphic>
          <a:graphicData uri="http://schemas.openxmlformats.org/drawingml/2006/table">
            <a:tbl>
              <a:tblPr firstRow="1" bandRow="1">
                <a:tableStyleId>{5C22544A-7EE6-4342-B048-85BDC9FD1C3A}</a:tableStyleId>
              </a:tblPr>
              <a:tblGrid>
                <a:gridCol w="5989983">
                  <a:extLst>
                    <a:ext uri="{9D8B030D-6E8A-4147-A177-3AD203B41FA5}">
                      <a16:colId xmlns:a16="http://schemas.microsoft.com/office/drawing/2014/main" val="3993770468"/>
                    </a:ext>
                  </a:extLst>
                </a:gridCol>
                <a:gridCol w="5989983">
                  <a:extLst>
                    <a:ext uri="{9D8B030D-6E8A-4147-A177-3AD203B41FA5}">
                      <a16:colId xmlns:a16="http://schemas.microsoft.com/office/drawing/2014/main" val="437594803"/>
                    </a:ext>
                  </a:extLst>
                </a:gridCol>
              </a:tblGrid>
              <a:tr h="96829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b="0" i="0" u="none" strike="noStrike" kern="1200" baseline="0" dirty="0">
                          <a:solidFill>
                            <a:schemeClr val="tx1"/>
                          </a:solidFill>
                          <a:latin typeface="+mn-lt"/>
                          <a:ea typeface="+mn-ea"/>
                          <a:cs typeface="+mn-cs"/>
                        </a:rPr>
                        <a:t>Lactase</a:t>
                      </a:r>
                      <a:endParaRPr lang="en-US" sz="2800" b="0" dirty="0">
                        <a:solidFill>
                          <a:schemeClr val="tx1"/>
                        </a:solidFill>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b="0" i="0" u="none" strike="noStrike" kern="1200" baseline="0" dirty="0">
                          <a:solidFill>
                            <a:schemeClr val="tx1"/>
                          </a:solidFill>
                          <a:latin typeface="+mn-lt"/>
                          <a:ea typeface="+mn-ea"/>
                          <a:cs typeface="+mn-cs"/>
                        </a:rPr>
                        <a:t>lactose. </a:t>
                      </a:r>
                    </a:p>
                    <a:p>
                      <a:endParaRPr lang="en-US" sz="2800" b="0" dirty="0">
                        <a:solidFill>
                          <a:schemeClr val="tx1"/>
                        </a:solidFill>
                      </a:endParaRPr>
                    </a:p>
                  </a:txBody>
                  <a:tcPr/>
                </a:tc>
                <a:extLst>
                  <a:ext uri="{0D108BD9-81ED-4DB2-BD59-A6C34878D82A}">
                    <a16:rowId xmlns:a16="http://schemas.microsoft.com/office/drawing/2014/main" val="2061096093"/>
                  </a:ext>
                </a:extLst>
              </a:tr>
              <a:tr h="531003">
                <a:tc>
                  <a:txBody>
                    <a:bodyPr/>
                    <a:lstStyle/>
                    <a:p>
                      <a:r>
                        <a:rPr lang="en-US" sz="2800" b="0" i="0" u="none" strike="noStrike" kern="1200" baseline="0" dirty="0">
                          <a:solidFill>
                            <a:schemeClr val="dk1"/>
                          </a:solidFill>
                          <a:latin typeface="+mn-lt"/>
                          <a:ea typeface="+mn-ea"/>
                          <a:cs typeface="+mn-cs"/>
                        </a:rPr>
                        <a:t>Peptidase</a:t>
                      </a:r>
                      <a:endParaRPr lang="en-US" sz="2800" b="0" dirty="0"/>
                    </a:p>
                  </a:txBody>
                  <a:tcPr/>
                </a:tc>
                <a:tc>
                  <a:txBody>
                    <a:bodyPr/>
                    <a:lstStyle/>
                    <a:p>
                      <a:r>
                        <a:rPr lang="en-US" sz="2800" b="0" i="0" u="none" strike="noStrike" kern="1200" baseline="0" dirty="0">
                          <a:solidFill>
                            <a:schemeClr val="dk1"/>
                          </a:solidFill>
                          <a:latin typeface="+mn-lt"/>
                          <a:ea typeface="+mn-ea"/>
                          <a:cs typeface="+mn-cs"/>
                        </a:rPr>
                        <a:t>peptides</a:t>
                      </a:r>
                      <a:endParaRPr lang="en-US" sz="2800" b="0" dirty="0"/>
                    </a:p>
                  </a:txBody>
                  <a:tcPr/>
                </a:tc>
                <a:extLst>
                  <a:ext uri="{0D108BD9-81ED-4DB2-BD59-A6C34878D82A}">
                    <a16:rowId xmlns:a16="http://schemas.microsoft.com/office/drawing/2014/main" val="3254868189"/>
                  </a:ext>
                </a:extLst>
              </a:tr>
              <a:tr h="531003">
                <a:tc>
                  <a:txBody>
                    <a:bodyPr/>
                    <a:lstStyle/>
                    <a:p>
                      <a:r>
                        <a:rPr lang="en-US" sz="2800" b="0" i="0" u="none" strike="noStrike" kern="1200" baseline="0" dirty="0">
                          <a:solidFill>
                            <a:schemeClr val="dk1"/>
                          </a:solidFill>
                          <a:latin typeface="+mn-lt"/>
                          <a:ea typeface="+mn-ea"/>
                          <a:cs typeface="+mn-cs"/>
                        </a:rPr>
                        <a:t>Cellulase</a:t>
                      </a:r>
                    </a:p>
                  </a:txBody>
                  <a:tcPr/>
                </a:tc>
                <a:tc>
                  <a:txBody>
                    <a:bodyPr/>
                    <a:lstStyle/>
                    <a:p>
                      <a:r>
                        <a:rPr lang="en-US" sz="2800" b="0" i="0" u="none" strike="noStrike" kern="1200" baseline="0" dirty="0">
                          <a:solidFill>
                            <a:schemeClr val="dk1"/>
                          </a:solidFill>
                          <a:latin typeface="+mn-lt"/>
                          <a:ea typeface="+mn-ea"/>
                          <a:cs typeface="+mn-cs"/>
                        </a:rPr>
                        <a:t>cellulose. </a:t>
                      </a:r>
                      <a:endParaRPr lang="en-US" sz="2800" b="0" dirty="0"/>
                    </a:p>
                  </a:txBody>
                  <a:tcPr/>
                </a:tc>
                <a:extLst>
                  <a:ext uri="{0D108BD9-81ED-4DB2-BD59-A6C34878D82A}">
                    <a16:rowId xmlns:a16="http://schemas.microsoft.com/office/drawing/2014/main" val="2505198505"/>
                  </a:ext>
                </a:extLst>
              </a:tr>
              <a:tr h="53100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b="0" i="0" u="none" strike="noStrike" kern="1200" baseline="0" dirty="0">
                          <a:solidFill>
                            <a:schemeClr val="dk1"/>
                          </a:solidFill>
                          <a:latin typeface="+mn-lt"/>
                          <a:ea typeface="+mn-ea"/>
                          <a:cs typeface="+mn-cs"/>
                        </a:rPr>
                        <a:t> Amylase</a:t>
                      </a:r>
                      <a:endParaRPr lang="en-US" sz="2800" b="0" dirty="0"/>
                    </a:p>
                  </a:txBody>
                  <a:tcPr/>
                </a:tc>
                <a:tc>
                  <a:txBody>
                    <a:bodyPr/>
                    <a:lstStyle/>
                    <a:p>
                      <a:r>
                        <a:rPr lang="en-US" sz="2800" b="0" i="0" u="none" strike="noStrike" kern="1200" baseline="0" dirty="0">
                          <a:solidFill>
                            <a:schemeClr val="dk1"/>
                          </a:solidFill>
                          <a:latin typeface="+mn-lt"/>
                          <a:ea typeface="+mn-ea"/>
                          <a:cs typeface="+mn-cs"/>
                        </a:rPr>
                        <a:t>Starch (amylose)</a:t>
                      </a:r>
                      <a:endParaRPr lang="en-US" sz="2800" b="0" dirty="0"/>
                    </a:p>
                  </a:txBody>
                  <a:tcPr/>
                </a:tc>
                <a:extLst>
                  <a:ext uri="{0D108BD9-81ED-4DB2-BD59-A6C34878D82A}">
                    <a16:rowId xmlns:a16="http://schemas.microsoft.com/office/drawing/2014/main" val="1838040335"/>
                  </a:ext>
                </a:extLst>
              </a:tr>
            </a:tbl>
          </a:graphicData>
        </a:graphic>
      </p:graphicFrame>
    </p:spTree>
    <p:extLst>
      <p:ext uri="{BB962C8B-B14F-4D97-AF65-F5344CB8AC3E}">
        <p14:creationId xmlns:p14="http://schemas.microsoft.com/office/powerpoint/2010/main" val="1839338064"/>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A6084674-1615-4838-357E-7F17CA826012}"/>
              </a:ext>
            </a:extLst>
          </p:cNvPr>
          <p:cNvGraphicFramePr>
            <a:graphicFrameLocks noGrp="1"/>
          </p:cNvGraphicFramePr>
          <p:nvPr>
            <p:ph idx="1"/>
            <p:extLst>
              <p:ext uri="{D42A27DB-BD31-4B8C-83A1-F6EECF244321}">
                <p14:modId xmlns:p14="http://schemas.microsoft.com/office/powerpoint/2010/main" val="1412384774"/>
              </p:ext>
            </p:extLst>
          </p:nvPr>
        </p:nvGraphicFramePr>
        <p:xfrm>
          <a:off x="159027" y="437319"/>
          <a:ext cx="11926956" cy="5821680"/>
        </p:xfrm>
        <a:graphic>
          <a:graphicData uri="http://schemas.openxmlformats.org/drawingml/2006/table">
            <a:tbl>
              <a:tblPr firstRow="1" bandRow="1">
                <a:tableStyleId>{5940675A-B579-460E-94D1-54222C63F5DA}</a:tableStyleId>
              </a:tblPr>
              <a:tblGrid>
                <a:gridCol w="3975652">
                  <a:extLst>
                    <a:ext uri="{9D8B030D-6E8A-4147-A177-3AD203B41FA5}">
                      <a16:colId xmlns:a16="http://schemas.microsoft.com/office/drawing/2014/main" val="3112355336"/>
                    </a:ext>
                  </a:extLst>
                </a:gridCol>
                <a:gridCol w="3975652">
                  <a:extLst>
                    <a:ext uri="{9D8B030D-6E8A-4147-A177-3AD203B41FA5}">
                      <a16:colId xmlns:a16="http://schemas.microsoft.com/office/drawing/2014/main" val="2919262123"/>
                    </a:ext>
                  </a:extLst>
                </a:gridCol>
                <a:gridCol w="3975652">
                  <a:extLst>
                    <a:ext uri="{9D8B030D-6E8A-4147-A177-3AD203B41FA5}">
                      <a16:colId xmlns:a16="http://schemas.microsoft.com/office/drawing/2014/main" val="157972648"/>
                    </a:ext>
                  </a:extLst>
                </a:gridCol>
              </a:tblGrid>
              <a:tr h="561527">
                <a:tc>
                  <a:txBody>
                    <a:bodyPr/>
                    <a:lstStyle/>
                    <a:p>
                      <a:r>
                        <a:rPr lang="en-US" sz="3200" b="1" dirty="0"/>
                        <a:t>Enzyme </a:t>
                      </a:r>
                      <a:endParaRPr lang="en-US" sz="3200" b="1" dirty="0">
                        <a:latin typeface="+mn-lt"/>
                      </a:endParaRPr>
                    </a:p>
                  </a:txBody>
                  <a:tcPr/>
                </a:tc>
                <a:tc>
                  <a:txBody>
                    <a:bodyPr/>
                    <a:lstStyle/>
                    <a:p>
                      <a:r>
                        <a:rPr lang="en-US" sz="3200" b="1" dirty="0"/>
                        <a:t>Location/secretion</a:t>
                      </a:r>
                      <a:endParaRPr lang="en-US" sz="3200" b="1" dirty="0">
                        <a:latin typeface="+mn-lt"/>
                      </a:endParaRPr>
                    </a:p>
                  </a:txBody>
                  <a:tcPr/>
                </a:tc>
                <a:tc>
                  <a:txBody>
                    <a:bodyPr/>
                    <a:lstStyle/>
                    <a:p>
                      <a:r>
                        <a:rPr lang="en-US" sz="3200" b="1" dirty="0"/>
                        <a:t>Reaction catalyzed</a:t>
                      </a:r>
                      <a:endParaRPr lang="en-US" sz="3200" b="1" dirty="0">
                        <a:latin typeface="+mn-lt"/>
                      </a:endParaRPr>
                    </a:p>
                  </a:txBody>
                  <a:tcPr/>
                </a:tc>
                <a:extLst>
                  <a:ext uri="{0D108BD9-81ED-4DB2-BD59-A6C34878D82A}">
                    <a16:rowId xmlns:a16="http://schemas.microsoft.com/office/drawing/2014/main" val="275383138"/>
                  </a:ext>
                </a:extLst>
              </a:tr>
              <a:tr h="561527">
                <a:tc>
                  <a:txBody>
                    <a:bodyPr/>
                    <a:lstStyle/>
                    <a:p>
                      <a:r>
                        <a:rPr lang="en-US" sz="3200" dirty="0"/>
                        <a:t>Ptyalin/salivary amylase</a:t>
                      </a:r>
                      <a:endParaRPr lang="en-US" sz="3200" dirty="0">
                        <a:latin typeface="+mn-lt"/>
                      </a:endParaRPr>
                    </a:p>
                  </a:txBody>
                  <a:tcPr/>
                </a:tc>
                <a:tc>
                  <a:txBody>
                    <a:bodyPr/>
                    <a:lstStyle/>
                    <a:p>
                      <a:r>
                        <a:rPr lang="en-US" sz="3200" dirty="0"/>
                        <a:t>Saliva from salivary glands in the mouth</a:t>
                      </a:r>
                      <a:endParaRPr lang="en-US" sz="3200" dirty="0">
                        <a:latin typeface="+mn-lt"/>
                      </a:endParaRPr>
                    </a:p>
                  </a:txBody>
                  <a:tcPr/>
                </a:tc>
                <a:tc>
                  <a:txBody>
                    <a:bodyPr/>
                    <a:lstStyle/>
                    <a:p>
                      <a:r>
                        <a:rPr lang="en-US" sz="3200" dirty="0"/>
                        <a:t>Starch to maltose</a:t>
                      </a:r>
                      <a:endParaRPr lang="en-US" sz="3200" dirty="0">
                        <a:latin typeface="+mn-lt"/>
                      </a:endParaRPr>
                    </a:p>
                  </a:txBody>
                  <a:tcPr/>
                </a:tc>
                <a:extLst>
                  <a:ext uri="{0D108BD9-81ED-4DB2-BD59-A6C34878D82A}">
                    <a16:rowId xmlns:a16="http://schemas.microsoft.com/office/drawing/2014/main" val="2666985219"/>
                  </a:ext>
                </a:extLst>
              </a:tr>
              <a:tr h="561527">
                <a:tc>
                  <a:txBody>
                    <a:bodyPr/>
                    <a:lstStyle/>
                    <a:p>
                      <a:r>
                        <a:rPr lang="en-US" sz="3200" dirty="0"/>
                        <a:t>Renin </a:t>
                      </a:r>
                      <a:endParaRPr lang="en-US" sz="3200" dirty="0">
                        <a:latin typeface="+mn-lt"/>
                      </a:endParaRPr>
                    </a:p>
                  </a:txBody>
                  <a:tcPr/>
                </a:tc>
                <a:tc rowSpan="3">
                  <a:txBody>
                    <a:bodyPr/>
                    <a:lstStyle/>
                    <a:p>
                      <a:r>
                        <a:rPr lang="en-US" sz="3200" dirty="0"/>
                        <a:t>Gastric juice from gastric glands of the stomach</a:t>
                      </a:r>
                      <a:endParaRPr lang="en-US" sz="3200" dirty="0">
                        <a:latin typeface="+mn-lt"/>
                      </a:endParaRPr>
                    </a:p>
                  </a:txBody>
                  <a:tcPr/>
                </a:tc>
                <a:tc>
                  <a:txBody>
                    <a:bodyPr/>
                    <a:lstStyle/>
                    <a:p>
                      <a:r>
                        <a:rPr lang="en-US" sz="3200" dirty="0"/>
                        <a:t>Coagulates casein to caseinogen</a:t>
                      </a:r>
                      <a:endParaRPr lang="en-US" sz="3200" dirty="0">
                        <a:latin typeface="+mn-lt"/>
                      </a:endParaRPr>
                    </a:p>
                  </a:txBody>
                  <a:tcPr/>
                </a:tc>
                <a:extLst>
                  <a:ext uri="{0D108BD9-81ED-4DB2-BD59-A6C34878D82A}">
                    <a16:rowId xmlns:a16="http://schemas.microsoft.com/office/drawing/2014/main" val="3357818114"/>
                  </a:ext>
                </a:extLst>
              </a:tr>
              <a:tr h="561527">
                <a:tc>
                  <a:txBody>
                    <a:bodyPr/>
                    <a:lstStyle/>
                    <a:p>
                      <a:r>
                        <a:rPr lang="en-US" sz="3200" dirty="0"/>
                        <a:t>Pepsin </a:t>
                      </a:r>
                      <a:endParaRPr lang="en-US" sz="3200" dirty="0">
                        <a:latin typeface="+mn-lt"/>
                      </a:endParaRPr>
                    </a:p>
                  </a:txBody>
                  <a:tcPr/>
                </a:tc>
                <a:tc vMerge="1">
                  <a:txBody>
                    <a:bodyPr/>
                    <a:lstStyle/>
                    <a:p>
                      <a:endParaRPr lang="en-US" dirty="0"/>
                    </a:p>
                  </a:txBody>
                  <a:tcPr/>
                </a:tc>
                <a:tc>
                  <a:txBody>
                    <a:bodyPr/>
                    <a:lstStyle/>
                    <a:p>
                      <a:r>
                        <a:rPr lang="en-US" sz="3200" dirty="0"/>
                        <a:t>Proteins to peptides</a:t>
                      </a:r>
                      <a:endParaRPr lang="en-US" sz="3200" dirty="0">
                        <a:latin typeface="+mn-lt"/>
                      </a:endParaRPr>
                    </a:p>
                  </a:txBody>
                  <a:tcPr/>
                </a:tc>
                <a:extLst>
                  <a:ext uri="{0D108BD9-81ED-4DB2-BD59-A6C34878D82A}">
                    <a16:rowId xmlns:a16="http://schemas.microsoft.com/office/drawing/2014/main" val="567681644"/>
                  </a:ext>
                </a:extLst>
              </a:tr>
              <a:tr h="561527">
                <a:tc>
                  <a:txBody>
                    <a:bodyPr/>
                    <a:lstStyle/>
                    <a:p>
                      <a:r>
                        <a:rPr lang="en-US" sz="3200" dirty="0"/>
                        <a:t>Trypsin </a:t>
                      </a:r>
                      <a:endParaRPr lang="en-US" sz="3200" dirty="0">
                        <a:latin typeface="+mn-lt"/>
                      </a:endParaRPr>
                    </a:p>
                  </a:txBody>
                  <a:tcPr/>
                </a:tc>
                <a:tc vMerge="1">
                  <a:txBody>
                    <a:bodyPr/>
                    <a:lstStyle/>
                    <a:p>
                      <a:endParaRPr lang="en-US" dirty="0"/>
                    </a:p>
                  </a:txBody>
                  <a:tcPr/>
                </a:tc>
                <a:tc>
                  <a:txBody>
                    <a:bodyPr/>
                    <a:lstStyle/>
                    <a:p>
                      <a:r>
                        <a:rPr lang="en-US" sz="3200" dirty="0"/>
                        <a:t>Peptides to amino acids</a:t>
                      </a:r>
                      <a:endParaRPr lang="en-US" sz="3200" dirty="0">
                        <a:latin typeface="+mn-lt"/>
                      </a:endParaRPr>
                    </a:p>
                  </a:txBody>
                  <a:tcPr/>
                </a:tc>
                <a:extLst>
                  <a:ext uri="{0D108BD9-81ED-4DB2-BD59-A6C34878D82A}">
                    <a16:rowId xmlns:a16="http://schemas.microsoft.com/office/drawing/2014/main" val="3102528533"/>
                  </a:ext>
                </a:extLst>
              </a:tr>
            </a:tbl>
          </a:graphicData>
        </a:graphic>
      </p:graphicFrame>
    </p:spTree>
    <p:extLst>
      <p:ext uri="{BB962C8B-B14F-4D97-AF65-F5344CB8AC3E}">
        <p14:creationId xmlns:p14="http://schemas.microsoft.com/office/powerpoint/2010/main" val="4225093172"/>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CC8E5B7-3965-88FA-67A2-A109B64274D6}"/>
              </a:ext>
            </a:extLst>
          </p:cNvPr>
          <p:cNvGraphicFramePr>
            <a:graphicFrameLocks noGrp="1"/>
          </p:cNvGraphicFramePr>
          <p:nvPr>
            <p:ph idx="1"/>
            <p:extLst>
              <p:ext uri="{D42A27DB-BD31-4B8C-83A1-F6EECF244321}">
                <p14:modId xmlns:p14="http://schemas.microsoft.com/office/powerpoint/2010/main" val="4164083921"/>
              </p:ext>
            </p:extLst>
          </p:nvPr>
        </p:nvGraphicFramePr>
        <p:xfrm>
          <a:off x="132522" y="472440"/>
          <a:ext cx="11926956" cy="5913120"/>
        </p:xfrm>
        <a:graphic>
          <a:graphicData uri="http://schemas.openxmlformats.org/drawingml/2006/table">
            <a:tbl>
              <a:tblPr firstRow="1" bandRow="1">
                <a:tableStyleId>{5940675A-B579-460E-94D1-54222C63F5DA}</a:tableStyleId>
              </a:tblPr>
              <a:tblGrid>
                <a:gridCol w="3975652">
                  <a:extLst>
                    <a:ext uri="{9D8B030D-6E8A-4147-A177-3AD203B41FA5}">
                      <a16:colId xmlns:a16="http://schemas.microsoft.com/office/drawing/2014/main" val="3789664088"/>
                    </a:ext>
                  </a:extLst>
                </a:gridCol>
                <a:gridCol w="3975652">
                  <a:extLst>
                    <a:ext uri="{9D8B030D-6E8A-4147-A177-3AD203B41FA5}">
                      <a16:colId xmlns:a16="http://schemas.microsoft.com/office/drawing/2014/main" val="2770682922"/>
                    </a:ext>
                  </a:extLst>
                </a:gridCol>
                <a:gridCol w="3975652">
                  <a:extLst>
                    <a:ext uri="{9D8B030D-6E8A-4147-A177-3AD203B41FA5}">
                      <a16:colId xmlns:a16="http://schemas.microsoft.com/office/drawing/2014/main" val="1536125203"/>
                    </a:ext>
                  </a:extLst>
                </a:gridCol>
              </a:tblGrid>
              <a:tr h="561527">
                <a:tc>
                  <a:txBody>
                    <a:bodyPr/>
                    <a:lstStyle/>
                    <a:p>
                      <a:r>
                        <a:rPr lang="en-US" sz="3200" dirty="0"/>
                        <a:t>Pancreatic amylase</a:t>
                      </a:r>
                      <a:endParaRPr lang="en-US" sz="3200" dirty="0">
                        <a:latin typeface="+mn-lt"/>
                      </a:endParaRPr>
                    </a:p>
                  </a:txBody>
                  <a:tcPr/>
                </a:tc>
                <a:tc rowSpan="2">
                  <a:txBody>
                    <a:bodyPr/>
                    <a:lstStyle/>
                    <a:p>
                      <a:r>
                        <a:rPr lang="en-US" sz="3200" dirty="0"/>
                        <a:t>Pancreatic juice from the pancreas, into the duodenum</a:t>
                      </a:r>
                      <a:endParaRPr lang="en-US" sz="3200" dirty="0">
                        <a:latin typeface="+mn-lt"/>
                      </a:endParaRPr>
                    </a:p>
                  </a:txBody>
                  <a:tcPr/>
                </a:tc>
                <a:tc>
                  <a:txBody>
                    <a:bodyPr/>
                    <a:lstStyle/>
                    <a:p>
                      <a:r>
                        <a:rPr lang="en-US" sz="3200" dirty="0"/>
                        <a:t>Starch to maltose</a:t>
                      </a:r>
                      <a:endParaRPr lang="en-US" sz="3200" dirty="0">
                        <a:latin typeface="+mn-lt"/>
                      </a:endParaRPr>
                    </a:p>
                  </a:txBody>
                  <a:tcPr/>
                </a:tc>
                <a:extLst>
                  <a:ext uri="{0D108BD9-81ED-4DB2-BD59-A6C34878D82A}">
                    <a16:rowId xmlns:a16="http://schemas.microsoft.com/office/drawing/2014/main" val="63822160"/>
                  </a:ext>
                </a:extLst>
              </a:tr>
              <a:tr h="561527">
                <a:tc>
                  <a:txBody>
                    <a:bodyPr/>
                    <a:lstStyle/>
                    <a:p>
                      <a:r>
                        <a:rPr lang="en-US" sz="3200" dirty="0"/>
                        <a:t>Pancreatic lipase</a:t>
                      </a:r>
                      <a:endParaRPr lang="en-US" sz="3200" dirty="0">
                        <a:latin typeface="+mn-lt"/>
                      </a:endParaRPr>
                    </a:p>
                  </a:txBody>
                  <a:tcPr/>
                </a:tc>
                <a:tc vMerge="1">
                  <a:txBody>
                    <a:bodyPr/>
                    <a:lstStyle/>
                    <a:p>
                      <a:endParaRPr lang="en-US" dirty="0"/>
                    </a:p>
                  </a:txBody>
                  <a:tcPr/>
                </a:tc>
                <a:tc>
                  <a:txBody>
                    <a:bodyPr/>
                    <a:lstStyle/>
                    <a:p>
                      <a:r>
                        <a:rPr lang="en-US" sz="3200" dirty="0"/>
                        <a:t>Lipids to fatty acids and glycerol</a:t>
                      </a:r>
                      <a:endParaRPr lang="en-US" sz="3200" dirty="0">
                        <a:latin typeface="+mn-lt"/>
                      </a:endParaRPr>
                    </a:p>
                  </a:txBody>
                  <a:tcPr/>
                </a:tc>
                <a:extLst>
                  <a:ext uri="{0D108BD9-81ED-4DB2-BD59-A6C34878D82A}">
                    <a16:rowId xmlns:a16="http://schemas.microsoft.com/office/drawing/2014/main" val="507259209"/>
                  </a:ext>
                </a:extLst>
              </a:tr>
              <a:tr h="561527">
                <a:tc>
                  <a:txBody>
                    <a:bodyPr/>
                    <a:lstStyle/>
                    <a:p>
                      <a:r>
                        <a:rPr lang="en-US" sz="3200" dirty="0"/>
                        <a:t>Maltase </a:t>
                      </a:r>
                      <a:endParaRPr lang="en-US" sz="3200" dirty="0">
                        <a:latin typeface="+mn-lt"/>
                      </a:endParaRPr>
                    </a:p>
                  </a:txBody>
                  <a:tcPr/>
                </a:tc>
                <a:tc rowSpan="4">
                  <a:txBody>
                    <a:bodyPr/>
                    <a:lstStyle/>
                    <a:p>
                      <a:r>
                        <a:rPr lang="en-US" sz="3200" dirty="0"/>
                        <a:t>Intestinal juice (succus entericus) from ileum walls</a:t>
                      </a:r>
                      <a:endParaRPr lang="en-US" sz="3200" dirty="0">
                        <a:latin typeface="+mn-lt"/>
                      </a:endParaRPr>
                    </a:p>
                  </a:txBody>
                  <a:tcPr/>
                </a:tc>
                <a:tc>
                  <a:txBody>
                    <a:bodyPr/>
                    <a:lstStyle/>
                    <a:p>
                      <a:r>
                        <a:rPr lang="en-US" sz="3200" dirty="0"/>
                        <a:t>Maltose to glucose</a:t>
                      </a:r>
                      <a:endParaRPr lang="en-US" sz="3200" dirty="0">
                        <a:latin typeface="+mn-lt"/>
                      </a:endParaRPr>
                    </a:p>
                  </a:txBody>
                  <a:tcPr/>
                </a:tc>
                <a:extLst>
                  <a:ext uri="{0D108BD9-81ED-4DB2-BD59-A6C34878D82A}">
                    <a16:rowId xmlns:a16="http://schemas.microsoft.com/office/drawing/2014/main" val="1239078301"/>
                  </a:ext>
                </a:extLst>
              </a:tr>
              <a:tr h="561527">
                <a:tc>
                  <a:txBody>
                    <a:bodyPr/>
                    <a:lstStyle/>
                    <a:p>
                      <a:r>
                        <a:rPr lang="en-US" sz="3200" dirty="0"/>
                        <a:t>Sucrase </a:t>
                      </a:r>
                      <a:endParaRPr lang="en-US" sz="3200" dirty="0">
                        <a:latin typeface="+mn-lt"/>
                      </a:endParaRPr>
                    </a:p>
                  </a:txBody>
                  <a:tcPr/>
                </a:tc>
                <a:tc vMerge="1">
                  <a:txBody>
                    <a:bodyPr/>
                    <a:lstStyle/>
                    <a:p>
                      <a:endParaRPr lang="en-US" dirty="0"/>
                    </a:p>
                  </a:txBody>
                  <a:tcPr/>
                </a:tc>
                <a:tc>
                  <a:txBody>
                    <a:bodyPr/>
                    <a:lstStyle/>
                    <a:p>
                      <a:r>
                        <a:rPr lang="en-US" sz="3200" dirty="0"/>
                        <a:t>Sucrose to glucose and fructose</a:t>
                      </a:r>
                      <a:endParaRPr lang="en-US" sz="3200" dirty="0">
                        <a:latin typeface="+mn-lt"/>
                      </a:endParaRPr>
                    </a:p>
                  </a:txBody>
                  <a:tcPr/>
                </a:tc>
                <a:extLst>
                  <a:ext uri="{0D108BD9-81ED-4DB2-BD59-A6C34878D82A}">
                    <a16:rowId xmlns:a16="http://schemas.microsoft.com/office/drawing/2014/main" val="2672921821"/>
                  </a:ext>
                </a:extLst>
              </a:tr>
              <a:tr h="561527">
                <a:tc>
                  <a:txBody>
                    <a:bodyPr/>
                    <a:lstStyle/>
                    <a:p>
                      <a:r>
                        <a:rPr lang="en-US" sz="3200" dirty="0"/>
                        <a:t>Lactase </a:t>
                      </a:r>
                      <a:endParaRPr lang="en-US" sz="3200" dirty="0">
                        <a:latin typeface="+mn-lt"/>
                      </a:endParaRPr>
                    </a:p>
                  </a:txBody>
                  <a:tcPr/>
                </a:tc>
                <a:tc vMerge="1">
                  <a:txBody>
                    <a:bodyPr/>
                    <a:lstStyle/>
                    <a:p>
                      <a:endParaRPr lang="en-US" dirty="0"/>
                    </a:p>
                  </a:txBody>
                  <a:tcPr/>
                </a:tc>
                <a:tc>
                  <a:txBody>
                    <a:bodyPr/>
                    <a:lstStyle/>
                    <a:p>
                      <a:r>
                        <a:rPr lang="en-US" sz="3200" dirty="0"/>
                        <a:t>Lactose to glucose and galactose</a:t>
                      </a:r>
                      <a:endParaRPr lang="en-US" sz="3200" dirty="0">
                        <a:latin typeface="+mn-lt"/>
                      </a:endParaRPr>
                    </a:p>
                  </a:txBody>
                  <a:tcPr/>
                </a:tc>
                <a:extLst>
                  <a:ext uri="{0D108BD9-81ED-4DB2-BD59-A6C34878D82A}">
                    <a16:rowId xmlns:a16="http://schemas.microsoft.com/office/drawing/2014/main" val="3238267059"/>
                  </a:ext>
                </a:extLst>
              </a:tr>
              <a:tr h="561527">
                <a:tc>
                  <a:txBody>
                    <a:bodyPr/>
                    <a:lstStyle/>
                    <a:p>
                      <a:r>
                        <a:rPr lang="en-US" sz="3200" dirty="0">
                          <a:latin typeface="+mn-lt"/>
                        </a:rPr>
                        <a:t>Peptidase (</a:t>
                      </a:r>
                      <a:r>
                        <a:rPr lang="en-US" sz="3200" dirty="0" err="1">
                          <a:latin typeface="+mn-lt"/>
                        </a:rPr>
                        <a:t>erepsin</a:t>
                      </a:r>
                      <a:r>
                        <a:rPr lang="en-US" sz="3200" dirty="0">
                          <a:latin typeface="+mn-lt"/>
                        </a:rPr>
                        <a:t>)</a:t>
                      </a:r>
                    </a:p>
                  </a:txBody>
                  <a:tcPr/>
                </a:tc>
                <a:tc vMerge="1">
                  <a:txBody>
                    <a:bodyPr/>
                    <a:lstStyle/>
                    <a:p>
                      <a:endParaRPr lang="en-US" sz="3200" dirty="0">
                        <a:latin typeface="+mn-lt"/>
                      </a:endParaRPr>
                    </a:p>
                  </a:txBody>
                  <a:tcPr/>
                </a:tc>
                <a:tc>
                  <a:txBody>
                    <a:bodyPr/>
                    <a:lstStyle/>
                    <a:p>
                      <a:r>
                        <a:rPr lang="en-US" sz="3200" dirty="0">
                          <a:latin typeface="+mn-lt"/>
                        </a:rPr>
                        <a:t>Peptides to amino acids</a:t>
                      </a:r>
                    </a:p>
                  </a:txBody>
                  <a:tcPr/>
                </a:tc>
                <a:extLst>
                  <a:ext uri="{0D108BD9-81ED-4DB2-BD59-A6C34878D82A}">
                    <a16:rowId xmlns:a16="http://schemas.microsoft.com/office/drawing/2014/main" val="2258578211"/>
                  </a:ext>
                </a:extLst>
              </a:tr>
            </a:tbl>
          </a:graphicData>
        </a:graphic>
      </p:graphicFrame>
    </p:spTree>
    <p:extLst>
      <p:ext uri="{BB962C8B-B14F-4D97-AF65-F5344CB8AC3E}">
        <p14:creationId xmlns:p14="http://schemas.microsoft.com/office/powerpoint/2010/main" val="2741350554"/>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74947-897A-4CCB-29A4-1BE4ED507AF3}"/>
              </a:ext>
            </a:extLst>
          </p:cNvPr>
          <p:cNvSpPr>
            <a:spLocks noGrp="1"/>
          </p:cNvSpPr>
          <p:nvPr>
            <p:ph type="title"/>
          </p:nvPr>
        </p:nvSpPr>
        <p:spPr>
          <a:xfrm>
            <a:off x="646112" y="118894"/>
            <a:ext cx="10181546" cy="737449"/>
          </a:xfrm>
        </p:spPr>
        <p:txBody>
          <a:bodyPr/>
          <a:lstStyle/>
          <a:p>
            <a:pPr algn="ctr"/>
            <a:r>
              <a:rPr lang="en-US" b="1" u="sng" dirty="0"/>
              <a:t>Properties/characteristic of enzymes</a:t>
            </a:r>
          </a:p>
        </p:txBody>
      </p:sp>
      <p:sp>
        <p:nvSpPr>
          <p:cNvPr id="3" name="Content Placeholder 2">
            <a:extLst>
              <a:ext uri="{FF2B5EF4-FFF2-40B4-BE49-F238E27FC236}">
                <a16:creationId xmlns:a16="http://schemas.microsoft.com/office/drawing/2014/main" id="{70875C38-9BE4-EB38-AD42-961189CF1003}"/>
              </a:ext>
            </a:extLst>
          </p:cNvPr>
          <p:cNvSpPr>
            <a:spLocks noGrp="1"/>
          </p:cNvSpPr>
          <p:nvPr>
            <p:ph idx="1"/>
          </p:nvPr>
        </p:nvSpPr>
        <p:spPr>
          <a:xfrm>
            <a:off x="646112" y="1016000"/>
            <a:ext cx="10471831" cy="5232399"/>
          </a:xfrm>
        </p:spPr>
        <p:txBody>
          <a:bodyPr/>
          <a:lstStyle/>
          <a:p>
            <a:pPr algn="just"/>
            <a:r>
              <a:rPr lang="en-US" sz="3200" dirty="0"/>
              <a:t>They are proteins in nature.</a:t>
            </a:r>
          </a:p>
          <a:p>
            <a:pPr algn="just"/>
            <a:r>
              <a:rPr lang="en-US" sz="3200" dirty="0"/>
              <a:t>They speed up rates of chemical reactions as they are catalysts.</a:t>
            </a:r>
          </a:p>
          <a:p>
            <a:pPr algn="just"/>
            <a:r>
              <a:rPr lang="en-US" sz="3200" dirty="0"/>
              <a:t>They are specific in action i.e. each enzyme acts only on a particular substrate. For example, amylase works on starch only and no other substrate.</a:t>
            </a:r>
          </a:p>
          <a:p>
            <a:endParaRPr lang="en-US" dirty="0"/>
          </a:p>
        </p:txBody>
      </p:sp>
    </p:spTree>
    <p:extLst>
      <p:ext uri="{BB962C8B-B14F-4D97-AF65-F5344CB8AC3E}">
        <p14:creationId xmlns:p14="http://schemas.microsoft.com/office/powerpoint/2010/main" val="3117678270"/>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EBB19B-8099-C837-7041-1AB36B963ED9}"/>
              </a:ext>
            </a:extLst>
          </p:cNvPr>
          <p:cNvSpPr>
            <a:spLocks noGrp="1"/>
          </p:cNvSpPr>
          <p:nvPr>
            <p:ph idx="1"/>
          </p:nvPr>
        </p:nvSpPr>
        <p:spPr>
          <a:xfrm>
            <a:off x="188686" y="1436914"/>
            <a:ext cx="11582400" cy="4811486"/>
          </a:xfrm>
        </p:spPr>
        <p:txBody>
          <a:bodyPr>
            <a:normAutofit/>
          </a:bodyPr>
          <a:lstStyle/>
          <a:p>
            <a:pPr algn="just"/>
            <a:r>
              <a:rPr lang="en-US" sz="3200" dirty="0"/>
              <a:t>Enzymes work best under a narrow range of pH of the medium.</a:t>
            </a:r>
          </a:p>
          <a:p>
            <a:pPr algn="just"/>
            <a:r>
              <a:rPr lang="en-US" sz="3200" dirty="0"/>
              <a:t>Enzymes remain unchanged at the end of a reaction, </a:t>
            </a:r>
            <a:r>
              <a:rPr lang="en-US" sz="3200" dirty="0" err="1"/>
              <a:t>ie</a:t>
            </a:r>
            <a:r>
              <a:rPr lang="en-US" sz="3200" dirty="0"/>
              <a:t> they can be used over and over again.</a:t>
            </a:r>
          </a:p>
          <a:p>
            <a:pPr algn="just"/>
            <a:r>
              <a:rPr lang="en-US" sz="3200" dirty="0"/>
              <a:t>They work effectively in small quantities.</a:t>
            </a:r>
          </a:p>
          <a:p>
            <a:pPr algn="just"/>
            <a:endParaRPr lang="en-US" sz="3200" dirty="0"/>
          </a:p>
        </p:txBody>
      </p:sp>
    </p:spTree>
    <p:extLst>
      <p:ext uri="{BB962C8B-B14F-4D97-AF65-F5344CB8AC3E}">
        <p14:creationId xmlns:p14="http://schemas.microsoft.com/office/powerpoint/2010/main" val="3116976191"/>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DE7871-FDA5-6832-872B-D111DCECF714}"/>
              </a:ext>
            </a:extLst>
          </p:cNvPr>
          <p:cNvSpPr>
            <a:spLocks noGrp="1"/>
          </p:cNvSpPr>
          <p:nvPr>
            <p:ph idx="1"/>
          </p:nvPr>
        </p:nvSpPr>
        <p:spPr>
          <a:xfrm>
            <a:off x="232230" y="1436917"/>
            <a:ext cx="11393714" cy="4201886"/>
          </a:xfrm>
        </p:spPr>
        <p:txBody>
          <a:bodyPr>
            <a:normAutofit/>
          </a:bodyPr>
          <a:lstStyle/>
          <a:p>
            <a:pPr algn="just"/>
            <a:r>
              <a:rPr lang="en-US" sz="3200" dirty="0"/>
              <a:t>They are soluble enabling them to speed up reactions in fluid medium</a:t>
            </a:r>
          </a:p>
          <a:p>
            <a:pPr algn="just"/>
            <a:r>
              <a:rPr lang="en-US" sz="3200" dirty="0"/>
              <a:t>They are activated by activators and inhibited by such e.g. cyanide</a:t>
            </a:r>
          </a:p>
          <a:p>
            <a:pPr algn="just"/>
            <a:r>
              <a:rPr lang="en-US" sz="3200" dirty="0"/>
              <a:t>They are denatured at high temperatures.</a:t>
            </a:r>
          </a:p>
          <a:p>
            <a:pPr algn="just"/>
            <a:r>
              <a:rPr lang="en-US" sz="3200" dirty="0"/>
              <a:t>They catalyze reversible reactions.</a:t>
            </a:r>
          </a:p>
          <a:p>
            <a:pPr algn="just"/>
            <a:endParaRPr lang="en-US" sz="3200" dirty="0"/>
          </a:p>
        </p:txBody>
      </p:sp>
    </p:spTree>
    <p:extLst>
      <p:ext uri="{BB962C8B-B14F-4D97-AF65-F5344CB8AC3E}">
        <p14:creationId xmlns:p14="http://schemas.microsoft.com/office/powerpoint/2010/main" val="2236808732"/>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CE7FA2-180F-BF42-23E2-CE2BBBD8E0DC}"/>
              </a:ext>
            </a:extLst>
          </p:cNvPr>
          <p:cNvSpPr>
            <a:spLocks noGrp="1"/>
          </p:cNvSpPr>
          <p:nvPr>
            <p:ph idx="1"/>
          </p:nvPr>
        </p:nvSpPr>
        <p:spPr/>
        <p:txBody>
          <a:bodyPr>
            <a:normAutofit/>
          </a:bodyPr>
          <a:lstStyle/>
          <a:p>
            <a:r>
              <a:rPr lang="en-US" sz="3600" dirty="0"/>
              <a:t>How do enzymes work?</a:t>
            </a:r>
          </a:p>
        </p:txBody>
      </p:sp>
    </p:spTree>
    <p:extLst>
      <p:ext uri="{BB962C8B-B14F-4D97-AF65-F5344CB8AC3E}">
        <p14:creationId xmlns:p14="http://schemas.microsoft.com/office/powerpoint/2010/main" val="611746707"/>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8FD94E-35C0-3137-D853-FA7565AD1307}"/>
              </a:ext>
            </a:extLst>
          </p:cNvPr>
          <p:cNvSpPr>
            <a:spLocks noGrp="1"/>
          </p:cNvSpPr>
          <p:nvPr>
            <p:ph idx="1"/>
          </p:nvPr>
        </p:nvSpPr>
        <p:spPr>
          <a:xfrm>
            <a:off x="318052" y="13252"/>
            <a:ext cx="11675165" cy="6115878"/>
          </a:xfrm>
        </p:spPr>
        <p:txBody>
          <a:bodyPr/>
          <a:lstStyle/>
          <a:p>
            <a:r>
              <a:rPr lang="en-US" sz="3200" dirty="0"/>
              <a:t>Each  substrate and enzyme have a definite shape.</a:t>
            </a:r>
          </a:p>
          <a:p>
            <a:r>
              <a:rPr lang="en-US" sz="3200" dirty="0"/>
              <a:t>Only substate with the right shape can fit into the active site of an enzyme.</a:t>
            </a:r>
          </a:p>
          <a:p>
            <a:r>
              <a:rPr lang="en-US" sz="3200" dirty="0"/>
              <a:t>If the right substrate fits in the enzyme active site, the product is formed.</a:t>
            </a:r>
          </a:p>
          <a:p>
            <a:r>
              <a:rPr lang="en-US" sz="3200" dirty="0"/>
              <a:t>The enzyme remains unchanged after the reaction.</a:t>
            </a:r>
            <a:endParaRPr lang="en-US" dirty="0"/>
          </a:p>
          <a:p>
            <a:endParaRPr lang="en-US" dirty="0"/>
          </a:p>
        </p:txBody>
      </p:sp>
      <p:pic>
        <p:nvPicPr>
          <p:cNvPr id="1026" name="Picture 2">
            <a:extLst>
              <a:ext uri="{FF2B5EF4-FFF2-40B4-BE49-F238E27FC236}">
                <a16:creationId xmlns:a16="http://schemas.microsoft.com/office/drawing/2014/main" id="{C60162A0-F0F0-C881-4EC0-1B4F2845B2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7166" y="3429000"/>
            <a:ext cx="9859616" cy="3339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4717128"/>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C247D-D12B-0389-CC54-FC4555D8B5A2}"/>
              </a:ext>
            </a:extLst>
          </p:cNvPr>
          <p:cNvSpPr>
            <a:spLocks noGrp="1"/>
          </p:cNvSpPr>
          <p:nvPr>
            <p:ph type="title"/>
          </p:nvPr>
        </p:nvSpPr>
        <p:spPr>
          <a:xfrm>
            <a:off x="569843" y="373205"/>
            <a:ext cx="9480991" cy="792986"/>
          </a:xfrm>
        </p:spPr>
        <p:txBody>
          <a:bodyPr/>
          <a:lstStyle/>
          <a:p>
            <a:r>
              <a:rPr lang="en-US" b="1" u="sng" dirty="0"/>
              <a:t>Factors that affect enzyme activity</a:t>
            </a:r>
          </a:p>
        </p:txBody>
      </p:sp>
      <p:sp>
        <p:nvSpPr>
          <p:cNvPr id="3" name="Content Placeholder 2">
            <a:extLst>
              <a:ext uri="{FF2B5EF4-FFF2-40B4-BE49-F238E27FC236}">
                <a16:creationId xmlns:a16="http://schemas.microsoft.com/office/drawing/2014/main" id="{80D96F91-AB77-8EFB-6EB0-0CDC9AAFAF21}"/>
              </a:ext>
            </a:extLst>
          </p:cNvPr>
          <p:cNvSpPr>
            <a:spLocks noGrp="1"/>
          </p:cNvSpPr>
          <p:nvPr>
            <p:ph idx="1"/>
          </p:nvPr>
        </p:nvSpPr>
        <p:spPr>
          <a:xfrm>
            <a:off x="357810" y="1311965"/>
            <a:ext cx="11131826" cy="4936435"/>
          </a:xfrm>
        </p:spPr>
        <p:txBody>
          <a:bodyPr/>
          <a:lstStyle/>
          <a:p>
            <a:pPr marL="514350" indent="-514350">
              <a:buAutoNum type="alphaLcParenR"/>
            </a:pPr>
            <a:r>
              <a:rPr lang="en-US" sz="3200" b="1" dirty="0">
                <a:effectLst/>
                <a:latin typeface="+mn-lt"/>
                <a:ea typeface="Calibri" panose="020F0502020204030204" pitchFamily="34" charset="0"/>
                <a:cs typeface="Times New Roman" panose="02020603050405020304" pitchFamily="18" charset="0"/>
              </a:rPr>
              <a:t>pH of the medium</a:t>
            </a:r>
          </a:p>
          <a:p>
            <a:pPr algn="just"/>
            <a:r>
              <a:rPr lang="en-US" sz="3200" dirty="0">
                <a:effectLst/>
                <a:latin typeface="+mn-lt"/>
                <a:ea typeface="Calibri" panose="020F0502020204030204" pitchFamily="34" charset="0"/>
                <a:cs typeface="Times New Roman" panose="02020603050405020304" pitchFamily="18" charset="0"/>
              </a:rPr>
              <a:t>Each enzyme works best within a narrow range of </a:t>
            </a:r>
            <a:r>
              <a:rPr lang="en-US" sz="3200" dirty="0" err="1">
                <a:effectLst/>
                <a:latin typeface="+mn-lt"/>
                <a:ea typeface="Calibri" panose="020F0502020204030204" pitchFamily="34" charset="0"/>
                <a:cs typeface="Times New Roman" panose="02020603050405020304" pitchFamily="18" charset="0"/>
              </a:rPr>
              <a:t>pH.</a:t>
            </a:r>
            <a:endParaRPr lang="en-US" sz="3200" dirty="0">
              <a:effectLst/>
              <a:latin typeface="+mn-lt"/>
              <a:ea typeface="Calibri" panose="020F0502020204030204" pitchFamily="34" charset="0"/>
              <a:cs typeface="Times New Roman" panose="02020603050405020304" pitchFamily="18" charset="0"/>
            </a:endParaRPr>
          </a:p>
          <a:p>
            <a:pPr algn="just"/>
            <a:r>
              <a:rPr lang="en-US" sz="3200" dirty="0">
                <a:latin typeface="+mn-lt"/>
                <a:ea typeface="Calibri" panose="020F0502020204030204" pitchFamily="34" charset="0"/>
                <a:cs typeface="Times New Roman" panose="02020603050405020304" pitchFamily="18" charset="0"/>
              </a:rPr>
              <a:t>Enzyme activity is reduced or stopped completely if placed in a medium whose </a:t>
            </a:r>
            <a:r>
              <a:rPr lang="en-US" sz="3200" dirty="0">
                <a:effectLst/>
                <a:latin typeface="+mn-lt"/>
                <a:ea typeface="Calibri" panose="020F0502020204030204" pitchFamily="34" charset="0"/>
                <a:cs typeface="Times New Roman" panose="02020603050405020304" pitchFamily="18" charset="0"/>
              </a:rPr>
              <a:t>pH is below or beyond its optimum </a:t>
            </a:r>
            <a:r>
              <a:rPr lang="en-US" sz="3200" dirty="0" err="1">
                <a:effectLst/>
                <a:latin typeface="+mn-lt"/>
                <a:ea typeface="Calibri" panose="020F0502020204030204" pitchFamily="34" charset="0"/>
                <a:cs typeface="Times New Roman" panose="02020603050405020304" pitchFamily="18" charset="0"/>
              </a:rPr>
              <a:t>pH.</a:t>
            </a:r>
            <a:endParaRPr lang="en-US" sz="3200" dirty="0">
              <a:effectLst/>
              <a:latin typeface="+mn-lt"/>
              <a:ea typeface="Calibri" panose="020F0502020204030204" pitchFamily="34" charset="0"/>
              <a:cs typeface="Times New Roman" panose="02020603050405020304" pitchFamily="18" charset="0"/>
            </a:endParaRPr>
          </a:p>
          <a:p>
            <a:pPr algn="just"/>
            <a:r>
              <a:rPr lang="en-US" sz="3200" dirty="0">
                <a:effectLst/>
                <a:latin typeface="+mn-lt"/>
                <a:ea typeface="Calibri" panose="020F0502020204030204" pitchFamily="34" charset="0"/>
                <a:cs typeface="Times New Roman" panose="02020603050405020304" pitchFamily="18" charset="0"/>
              </a:rPr>
              <a:t>This is because the enzyme becomes denatured (shape of the enzyme active site is altered) by breaking of hydrogen bonds at the active site.</a:t>
            </a:r>
          </a:p>
          <a:p>
            <a:pPr marL="0" indent="0">
              <a:buNone/>
            </a:pPr>
            <a:endParaRPr lang="en-US" dirty="0"/>
          </a:p>
        </p:txBody>
      </p:sp>
    </p:spTree>
    <p:extLst>
      <p:ext uri="{BB962C8B-B14F-4D97-AF65-F5344CB8AC3E}">
        <p14:creationId xmlns:p14="http://schemas.microsoft.com/office/powerpoint/2010/main" val="525395947"/>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D10AC-2032-898F-FEE9-FCAD3DE460F7}"/>
              </a:ext>
            </a:extLst>
          </p:cNvPr>
          <p:cNvSpPr>
            <a:spLocks noGrp="1"/>
          </p:cNvSpPr>
          <p:nvPr>
            <p:ph type="title"/>
          </p:nvPr>
        </p:nvSpPr>
        <p:spPr>
          <a:xfrm>
            <a:off x="541716" y="0"/>
            <a:ext cx="11108567" cy="1349578"/>
          </a:xfrm>
        </p:spPr>
        <p:txBody>
          <a:bodyPr/>
          <a:lstStyle/>
          <a:p>
            <a:r>
              <a:rPr lang="en-US" b="1" u="sng" dirty="0"/>
              <a:t>Graph showing the effect of pH on the rate of enzyme activity</a:t>
            </a:r>
          </a:p>
        </p:txBody>
      </p:sp>
      <p:pic>
        <p:nvPicPr>
          <p:cNvPr id="1026" name="Picture 28">
            <a:extLst>
              <a:ext uri="{FF2B5EF4-FFF2-40B4-BE49-F238E27FC236}">
                <a16:creationId xmlns:a16="http://schemas.microsoft.com/office/drawing/2014/main" id="{C516E920-6172-A9A6-BE03-9973762DAD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6815" y="1349578"/>
            <a:ext cx="7694750" cy="5457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78736558"/>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77E6B-123D-3B31-9A94-E7C837DEFE37}"/>
              </a:ext>
            </a:extLst>
          </p:cNvPr>
          <p:cNvSpPr>
            <a:spLocks noGrp="1"/>
          </p:cNvSpPr>
          <p:nvPr>
            <p:ph type="title"/>
          </p:nvPr>
        </p:nvSpPr>
        <p:spPr>
          <a:xfrm>
            <a:off x="0" y="0"/>
            <a:ext cx="12192000" cy="927652"/>
          </a:xfrm>
        </p:spPr>
        <p:txBody>
          <a:bodyPr/>
          <a:lstStyle/>
          <a:p>
            <a:pPr algn="ctr"/>
            <a:r>
              <a:rPr lang="en-US" b="1" u="sng" dirty="0"/>
              <a:t>Demonstrating that Ph affects enzyme activity</a:t>
            </a:r>
          </a:p>
        </p:txBody>
      </p:sp>
      <p:sp>
        <p:nvSpPr>
          <p:cNvPr id="3" name="Content Placeholder 2">
            <a:extLst>
              <a:ext uri="{FF2B5EF4-FFF2-40B4-BE49-F238E27FC236}">
                <a16:creationId xmlns:a16="http://schemas.microsoft.com/office/drawing/2014/main" id="{33CA152C-6FBD-0782-D792-D82F21E94C59}"/>
              </a:ext>
            </a:extLst>
          </p:cNvPr>
          <p:cNvSpPr>
            <a:spLocks noGrp="1"/>
          </p:cNvSpPr>
          <p:nvPr>
            <p:ph idx="1"/>
          </p:nvPr>
        </p:nvSpPr>
        <p:spPr>
          <a:xfrm>
            <a:off x="1103312" y="927652"/>
            <a:ext cx="9697210" cy="5320747"/>
          </a:xfrm>
        </p:spPr>
        <p:txBody>
          <a:bodyPr>
            <a:noAutofit/>
          </a:bodyPr>
          <a:lstStyle/>
          <a:p>
            <a:r>
              <a:rPr lang="en-US" sz="3200" b="1" u="sng" dirty="0">
                <a:latin typeface="+mn-lt"/>
              </a:rPr>
              <a:t>Requirements:</a:t>
            </a:r>
          </a:p>
          <a:p>
            <a:pPr>
              <a:buFont typeface="Arial" panose="020B0604020202020204" pitchFamily="34" charset="0"/>
              <a:buChar char="•"/>
            </a:pPr>
            <a:r>
              <a:rPr lang="en-US" sz="3200" dirty="0">
                <a:latin typeface="+mn-lt"/>
              </a:rPr>
              <a:t>Hydrogen peroxide solution</a:t>
            </a:r>
          </a:p>
          <a:p>
            <a:pPr>
              <a:buFont typeface="Arial" panose="020B0604020202020204" pitchFamily="34" charset="0"/>
              <a:buChar char="•"/>
            </a:pPr>
            <a:r>
              <a:rPr lang="en-US" sz="3200" dirty="0">
                <a:latin typeface="+mn-lt"/>
              </a:rPr>
              <a:t>1M sodium hydroxide solution</a:t>
            </a:r>
          </a:p>
          <a:p>
            <a:pPr>
              <a:buFont typeface="Arial" panose="020B0604020202020204" pitchFamily="34" charset="0"/>
              <a:buChar char="•"/>
            </a:pPr>
            <a:r>
              <a:rPr lang="en-US" sz="3200" dirty="0">
                <a:latin typeface="+mn-lt"/>
              </a:rPr>
              <a:t>1M hydrochloric acid</a:t>
            </a:r>
          </a:p>
          <a:p>
            <a:pPr>
              <a:buFont typeface="Arial" panose="020B0604020202020204" pitchFamily="34" charset="0"/>
              <a:buChar char="•"/>
            </a:pPr>
            <a:r>
              <a:rPr lang="en-US" sz="3200" dirty="0">
                <a:latin typeface="+mn-lt"/>
              </a:rPr>
              <a:t>Water</a:t>
            </a:r>
          </a:p>
          <a:p>
            <a:pPr>
              <a:buFont typeface="Arial" panose="020B0604020202020204" pitchFamily="34" charset="0"/>
              <a:buChar char="•"/>
            </a:pPr>
            <a:r>
              <a:rPr lang="en-US" sz="3200" dirty="0">
                <a:latin typeface="+mn-lt"/>
              </a:rPr>
              <a:t>Knife</a:t>
            </a:r>
          </a:p>
          <a:p>
            <a:pPr>
              <a:buFont typeface="Arial" panose="020B0604020202020204" pitchFamily="34" charset="0"/>
              <a:buChar char="•"/>
            </a:pPr>
            <a:r>
              <a:rPr lang="en-US" sz="3200" dirty="0">
                <a:latin typeface="+mn-lt"/>
              </a:rPr>
              <a:t>3 test tubes</a:t>
            </a:r>
          </a:p>
          <a:p>
            <a:pPr>
              <a:buFont typeface="Arial" panose="020B0604020202020204" pitchFamily="34" charset="0"/>
              <a:buChar char="•"/>
            </a:pPr>
            <a:r>
              <a:rPr lang="en-US" sz="3200" dirty="0">
                <a:latin typeface="+mn-lt"/>
              </a:rPr>
              <a:t>Ruler </a:t>
            </a:r>
          </a:p>
        </p:txBody>
      </p:sp>
    </p:spTree>
    <p:extLst>
      <p:ext uri="{BB962C8B-B14F-4D97-AF65-F5344CB8AC3E}">
        <p14:creationId xmlns:p14="http://schemas.microsoft.com/office/powerpoint/2010/main" val="1478907752"/>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300435-FBF8-54AE-A632-685CCB5CBE19}"/>
              </a:ext>
            </a:extLst>
          </p:cNvPr>
          <p:cNvSpPr>
            <a:spLocks noGrp="1"/>
          </p:cNvSpPr>
          <p:nvPr>
            <p:ph idx="1"/>
          </p:nvPr>
        </p:nvSpPr>
        <p:spPr>
          <a:xfrm>
            <a:off x="311427" y="636105"/>
            <a:ext cx="11569146" cy="6102625"/>
          </a:xfrm>
        </p:spPr>
        <p:txBody>
          <a:bodyPr>
            <a:noAutofit/>
          </a:bodyPr>
          <a:lstStyle/>
          <a:p>
            <a:pPr algn="just"/>
            <a:r>
              <a:rPr lang="en-US" sz="3200" dirty="0"/>
              <a:t>Procedure </a:t>
            </a:r>
          </a:p>
          <a:p>
            <a:pPr algn="just">
              <a:buFont typeface="Arial" panose="020B0604020202020204" pitchFamily="34" charset="0"/>
              <a:buChar char="•"/>
            </a:pPr>
            <a:r>
              <a:rPr lang="en-US" sz="3200" dirty="0"/>
              <a:t>Peel the fresh </a:t>
            </a:r>
            <a:r>
              <a:rPr lang="en-US" sz="3200" dirty="0" err="1"/>
              <a:t>irish</a:t>
            </a:r>
            <a:r>
              <a:rPr lang="en-US" sz="3200" dirty="0"/>
              <a:t> potato and cut out three cubes of equal sizes, each measuring 1cm x 1cm x 1cm.</a:t>
            </a:r>
          </a:p>
          <a:p>
            <a:pPr algn="just">
              <a:buFont typeface="Arial" panose="020B0604020202020204" pitchFamily="34" charset="0"/>
              <a:buChar char="•"/>
            </a:pPr>
            <a:r>
              <a:rPr lang="en-US" sz="3200" dirty="0"/>
              <a:t>Label three test tubes A, B and C and to each, add 2cm</a:t>
            </a:r>
            <a:r>
              <a:rPr lang="en-US" sz="3200" baseline="30000" dirty="0"/>
              <a:t>3</a:t>
            </a:r>
            <a:r>
              <a:rPr lang="en-US" sz="3200" dirty="0"/>
              <a:t> of hydrogen peroxide solution</a:t>
            </a:r>
          </a:p>
          <a:p>
            <a:pPr algn="just">
              <a:buFont typeface="Arial" panose="020B0604020202020204" pitchFamily="34" charset="0"/>
              <a:buChar char="•"/>
            </a:pPr>
            <a:r>
              <a:rPr lang="en-US" sz="3200" dirty="0"/>
              <a:t>Add 1cm</a:t>
            </a:r>
            <a:r>
              <a:rPr lang="en-US" sz="3200" baseline="30000" dirty="0"/>
              <a:t>3</a:t>
            </a:r>
            <a:r>
              <a:rPr lang="en-US" sz="3200" dirty="0"/>
              <a:t> of sodium hydroxide solution to test tube A, 1cm</a:t>
            </a:r>
            <a:r>
              <a:rPr lang="en-US" sz="3200" baseline="30000" dirty="0"/>
              <a:t>3</a:t>
            </a:r>
            <a:r>
              <a:rPr lang="en-US" sz="3200" dirty="0"/>
              <a:t> of hydrochloric acid solution to test tube B and 1cm</a:t>
            </a:r>
            <a:r>
              <a:rPr lang="en-US" sz="3200" baseline="30000" dirty="0"/>
              <a:t>3</a:t>
            </a:r>
            <a:r>
              <a:rPr lang="en-US" sz="3200" dirty="0"/>
              <a:t> of water to test tube C.</a:t>
            </a:r>
          </a:p>
          <a:p>
            <a:pPr algn="just">
              <a:buFont typeface="Arial" panose="020B0604020202020204" pitchFamily="34" charset="0"/>
              <a:buChar char="•"/>
            </a:pPr>
            <a:r>
              <a:rPr lang="en-US" sz="3200" dirty="0"/>
              <a:t>Add one cube of </a:t>
            </a:r>
            <a:r>
              <a:rPr lang="en-US" sz="3200" dirty="0" err="1"/>
              <a:t>irish</a:t>
            </a:r>
            <a:r>
              <a:rPr lang="en-US" sz="3200" dirty="0"/>
              <a:t> potato to each test tube.</a:t>
            </a:r>
          </a:p>
        </p:txBody>
      </p:sp>
    </p:spTree>
    <p:extLst>
      <p:ext uri="{BB962C8B-B14F-4D97-AF65-F5344CB8AC3E}">
        <p14:creationId xmlns:p14="http://schemas.microsoft.com/office/powerpoint/2010/main" val="1810582203"/>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D5005-724A-8634-4A6D-A09B4F73D2CC}"/>
              </a:ext>
            </a:extLst>
          </p:cNvPr>
          <p:cNvSpPr>
            <a:spLocks noGrp="1"/>
          </p:cNvSpPr>
          <p:nvPr>
            <p:ph type="title"/>
          </p:nvPr>
        </p:nvSpPr>
        <p:spPr>
          <a:xfrm>
            <a:off x="646111" y="-101459"/>
            <a:ext cx="9404723" cy="1400530"/>
          </a:xfrm>
        </p:spPr>
        <p:txBody>
          <a:bodyPr/>
          <a:lstStyle/>
          <a:p>
            <a:r>
              <a:rPr lang="en-US" dirty="0"/>
              <a:t>Set up of apparatus</a:t>
            </a:r>
          </a:p>
        </p:txBody>
      </p:sp>
      <p:pic>
        <p:nvPicPr>
          <p:cNvPr id="5" name="Picture 4">
            <a:extLst>
              <a:ext uri="{FF2B5EF4-FFF2-40B4-BE49-F238E27FC236}">
                <a16:creationId xmlns:a16="http://schemas.microsoft.com/office/drawing/2014/main" id="{593C9644-BDBC-278F-79A3-78D3BF177A12}"/>
              </a:ext>
            </a:extLst>
          </p:cNvPr>
          <p:cNvPicPr>
            <a:picLocks noChangeAspect="1"/>
          </p:cNvPicPr>
          <p:nvPr/>
        </p:nvPicPr>
        <p:blipFill>
          <a:blip r:embed="rId2"/>
          <a:stretch>
            <a:fillRect/>
          </a:stretch>
        </p:blipFill>
        <p:spPr>
          <a:xfrm>
            <a:off x="0" y="643467"/>
            <a:ext cx="12192000" cy="6214533"/>
          </a:xfrm>
          <a:prstGeom prst="rect">
            <a:avLst/>
          </a:prstGeom>
        </p:spPr>
      </p:pic>
    </p:spTree>
    <p:extLst>
      <p:ext uri="{BB962C8B-B14F-4D97-AF65-F5344CB8AC3E}">
        <p14:creationId xmlns:p14="http://schemas.microsoft.com/office/powerpoint/2010/main" val="4137941561"/>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015AFB-369D-8541-B3F2-14F3B78C551E}"/>
              </a:ext>
            </a:extLst>
          </p:cNvPr>
          <p:cNvSpPr>
            <a:spLocks noGrp="1"/>
          </p:cNvSpPr>
          <p:nvPr>
            <p:ph idx="1"/>
          </p:nvPr>
        </p:nvSpPr>
        <p:spPr>
          <a:xfrm>
            <a:off x="697430" y="695739"/>
            <a:ext cx="10797140" cy="5466521"/>
          </a:xfrm>
        </p:spPr>
        <p:txBody>
          <a:bodyPr>
            <a:noAutofit/>
          </a:bodyPr>
          <a:lstStyle/>
          <a:p>
            <a:pPr marL="0" indent="0" algn="just">
              <a:buNone/>
            </a:pPr>
            <a:r>
              <a:rPr lang="en-US" sz="3200" b="1" dirty="0"/>
              <a:t>Observation</a:t>
            </a:r>
          </a:p>
          <a:p>
            <a:pPr algn="just"/>
            <a:r>
              <a:rPr lang="en-US" sz="3200" dirty="0"/>
              <a:t>Test tube A: Slow effervescence (production of bubbles)/few bubbles given off.</a:t>
            </a:r>
          </a:p>
          <a:p>
            <a:pPr algn="just"/>
            <a:r>
              <a:rPr lang="en-US" sz="3200" dirty="0"/>
              <a:t>Test tube B: No effervescence (no bubbles given off)</a:t>
            </a:r>
          </a:p>
          <a:p>
            <a:pPr algn="just"/>
            <a:r>
              <a:rPr lang="en-US" sz="3200" dirty="0"/>
              <a:t>Test tube: Rapid effervescence occurred (Many bubbles produced)</a:t>
            </a:r>
          </a:p>
          <a:p>
            <a:pPr marL="0" indent="0" algn="just">
              <a:buNone/>
            </a:pPr>
            <a:r>
              <a:rPr lang="en-US" sz="3200" b="1" dirty="0"/>
              <a:t>Conclusion: </a:t>
            </a:r>
          </a:p>
          <a:p>
            <a:pPr marL="0" indent="0" algn="just">
              <a:buNone/>
            </a:pPr>
            <a:r>
              <a:rPr lang="en-US" sz="3200" dirty="0"/>
              <a:t>The </a:t>
            </a:r>
            <a:r>
              <a:rPr lang="en-US" sz="3200" dirty="0">
                <a:effectLst/>
                <a:latin typeface="+mn-lt"/>
                <a:ea typeface="Calibri" panose="020F0502020204030204" pitchFamily="34" charset="0"/>
                <a:cs typeface="Times New Roman" panose="02020603050405020304" pitchFamily="18" charset="0"/>
              </a:rPr>
              <a:t>pH of the medium affects the activity of an enzyme.</a:t>
            </a:r>
            <a:endParaRPr lang="en-US" sz="3200" dirty="0"/>
          </a:p>
        </p:txBody>
      </p:sp>
    </p:spTree>
    <p:extLst>
      <p:ext uri="{BB962C8B-B14F-4D97-AF65-F5344CB8AC3E}">
        <p14:creationId xmlns:p14="http://schemas.microsoft.com/office/powerpoint/2010/main" val="2963187518"/>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0D0E2-20BE-87DE-5BA1-17A19336DE9C}"/>
              </a:ext>
            </a:extLst>
          </p:cNvPr>
          <p:cNvSpPr>
            <a:spLocks noGrp="1"/>
          </p:cNvSpPr>
          <p:nvPr>
            <p:ph type="title"/>
          </p:nvPr>
        </p:nvSpPr>
        <p:spPr>
          <a:xfrm>
            <a:off x="645129" y="0"/>
            <a:ext cx="9404723" cy="609600"/>
          </a:xfrm>
        </p:spPr>
        <p:txBody>
          <a:bodyPr/>
          <a:lstStyle/>
          <a:p>
            <a:r>
              <a:rPr lang="en-US" dirty="0"/>
              <a:t>Or </a:t>
            </a:r>
          </a:p>
        </p:txBody>
      </p:sp>
      <p:sp>
        <p:nvSpPr>
          <p:cNvPr id="3" name="Content Placeholder 2">
            <a:extLst>
              <a:ext uri="{FF2B5EF4-FFF2-40B4-BE49-F238E27FC236}">
                <a16:creationId xmlns:a16="http://schemas.microsoft.com/office/drawing/2014/main" id="{6567D61C-98A1-0119-601C-294BCA1FA9D5}"/>
              </a:ext>
            </a:extLst>
          </p:cNvPr>
          <p:cNvSpPr>
            <a:spLocks noGrp="1"/>
          </p:cNvSpPr>
          <p:nvPr>
            <p:ph idx="1"/>
          </p:nvPr>
        </p:nvSpPr>
        <p:spPr>
          <a:xfrm>
            <a:off x="645129" y="728869"/>
            <a:ext cx="10234906" cy="6029739"/>
          </a:xfrm>
        </p:spPr>
        <p:txBody>
          <a:bodyPr>
            <a:noAutofit/>
          </a:bodyPr>
          <a:lstStyle/>
          <a:p>
            <a:pPr marL="0" indent="0" algn="just">
              <a:buNone/>
            </a:pPr>
            <a:r>
              <a:rPr lang="en-US" sz="3200" b="1" dirty="0"/>
              <a:t>Apparatus and materials</a:t>
            </a:r>
          </a:p>
          <a:p>
            <a:pPr algn="just">
              <a:buFont typeface="Arial" panose="020B0604020202020204" pitchFamily="34" charset="0"/>
              <a:buChar char="•"/>
            </a:pPr>
            <a:r>
              <a:rPr lang="en-US" sz="3200" dirty="0"/>
              <a:t>3 test tubes</a:t>
            </a:r>
          </a:p>
          <a:p>
            <a:pPr algn="just">
              <a:buFont typeface="Arial" panose="020B0604020202020204" pitchFamily="34" charset="0"/>
              <a:buChar char="•"/>
            </a:pPr>
            <a:r>
              <a:rPr lang="en-US" sz="3200" dirty="0"/>
              <a:t>Measuring cylinder</a:t>
            </a:r>
          </a:p>
          <a:p>
            <a:pPr algn="just">
              <a:buFont typeface="Arial" panose="020B0604020202020204" pitchFamily="34" charset="0"/>
              <a:buChar char="•"/>
            </a:pPr>
            <a:r>
              <a:rPr lang="en-US" sz="3200" dirty="0"/>
              <a:t>Egg albumen suspension</a:t>
            </a:r>
          </a:p>
          <a:p>
            <a:pPr algn="just">
              <a:buFont typeface="Arial" panose="020B0604020202020204" pitchFamily="34" charset="0"/>
              <a:buChar char="•"/>
            </a:pPr>
            <a:r>
              <a:rPr lang="en-US" sz="3200" dirty="0"/>
              <a:t>1% pepsin solution</a:t>
            </a:r>
          </a:p>
          <a:p>
            <a:pPr algn="just">
              <a:buFont typeface="Arial" panose="020B0604020202020204" pitchFamily="34" charset="0"/>
              <a:buChar char="•"/>
            </a:pPr>
            <a:r>
              <a:rPr lang="en-US" sz="3200" dirty="0"/>
              <a:t>2M hydrochloric acid</a:t>
            </a:r>
          </a:p>
          <a:p>
            <a:pPr algn="just">
              <a:buFont typeface="Arial" panose="020B0604020202020204" pitchFamily="34" charset="0"/>
              <a:buChar char="•"/>
            </a:pPr>
            <a:r>
              <a:rPr lang="en-US" sz="3200" dirty="0"/>
              <a:t>2M sodium hydroxide solution</a:t>
            </a:r>
          </a:p>
          <a:p>
            <a:pPr algn="just">
              <a:buFont typeface="Arial" panose="020B0604020202020204" pitchFamily="34" charset="0"/>
              <a:buChar char="•"/>
            </a:pPr>
            <a:r>
              <a:rPr lang="en-US" sz="3200" dirty="0"/>
              <a:t>Water bath</a:t>
            </a:r>
          </a:p>
          <a:p>
            <a:pPr algn="just">
              <a:buFont typeface="Arial" panose="020B0604020202020204" pitchFamily="34" charset="0"/>
              <a:buChar char="•"/>
            </a:pPr>
            <a:r>
              <a:rPr lang="en-US" sz="3200" dirty="0"/>
              <a:t>Thermometer </a:t>
            </a:r>
          </a:p>
          <a:p>
            <a:pPr algn="just">
              <a:buFont typeface="Arial" panose="020B0604020202020204" pitchFamily="34" charset="0"/>
              <a:buChar char="•"/>
            </a:pPr>
            <a:r>
              <a:rPr lang="en-US" sz="3200" dirty="0"/>
              <a:t>Labels </a:t>
            </a:r>
          </a:p>
        </p:txBody>
      </p:sp>
    </p:spTree>
    <p:extLst>
      <p:ext uri="{BB962C8B-B14F-4D97-AF65-F5344CB8AC3E}">
        <p14:creationId xmlns:p14="http://schemas.microsoft.com/office/powerpoint/2010/main" val="1843040449"/>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7B2CED-92DD-F5F9-AEAB-204415730636}"/>
              </a:ext>
            </a:extLst>
          </p:cNvPr>
          <p:cNvSpPr>
            <a:spLocks noGrp="1"/>
          </p:cNvSpPr>
          <p:nvPr>
            <p:ph idx="1"/>
          </p:nvPr>
        </p:nvSpPr>
        <p:spPr>
          <a:xfrm>
            <a:off x="556592" y="675862"/>
            <a:ext cx="10588486" cy="5572538"/>
          </a:xfrm>
        </p:spPr>
        <p:txBody>
          <a:bodyPr>
            <a:normAutofit lnSpcReduction="10000"/>
          </a:bodyPr>
          <a:lstStyle/>
          <a:p>
            <a:pPr marL="0" indent="0" algn="just">
              <a:buNone/>
            </a:pPr>
            <a:r>
              <a:rPr lang="en-US" sz="3200" b="1" dirty="0"/>
              <a:t>Procedure</a:t>
            </a:r>
          </a:p>
          <a:p>
            <a:pPr algn="just"/>
            <a:r>
              <a:rPr lang="en-US" sz="3200" dirty="0"/>
              <a:t>Label three test tubes as 1, 2, and 3.</a:t>
            </a:r>
          </a:p>
          <a:p>
            <a:pPr algn="just"/>
            <a:r>
              <a:rPr lang="en-US" sz="3200" dirty="0"/>
              <a:t>Pour 2cm</a:t>
            </a:r>
            <a:r>
              <a:rPr lang="en-US" sz="3200" baseline="30000" dirty="0"/>
              <a:t>3</a:t>
            </a:r>
            <a:r>
              <a:rPr lang="en-US" sz="3200" dirty="0"/>
              <a:t> of egg albumen suspension into each of the test tubes.</a:t>
            </a:r>
          </a:p>
          <a:p>
            <a:pPr algn="just"/>
            <a:r>
              <a:rPr lang="en-US" sz="3200" dirty="0"/>
              <a:t>Add 1cm</a:t>
            </a:r>
            <a:r>
              <a:rPr lang="en-US" sz="3200" baseline="30000" dirty="0"/>
              <a:t>3</a:t>
            </a:r>
            <a:r>
              <a:rPr lang="en-US" sz="3200" dirty="0"/>
              <a:t> of distilled water to test tube 1, 1cm</a:t>
            </a:r>
            <a:r>
              <a:rPr lang="en-US" sz="3200" baseline="30000" dirty="0"/>
              <a:t>3</a:t>
            </a:r>
            <a:r>
              <a:rPr lang="en-US" sz="3200" dirty="0"/>
              <a:t> of 2M hydrochloric acid to test tube 2, and 1cm</a:t>
            </a:r>
            <a:r>
              <a:rPr lang="en-US" sz="3200" baseline="30000" dirty="0"/>
              <a:t>3</a:t>
            </a:r>
            <a:r>
              <a:rPr lang="en-US" sz="3200" dirty="0"/>
              <a:t> of 2M sodium hydroxide solution to test tube 3.</a:t>
            </a:r>
          </a:p>
          <a:p>
            <a:pPr algn="just"/>
            <a:r>
              <a:rPr lang="en-US" sz="3200" dirty="0"/>
              <a:t>Add 1cm</a:t>
            </a:r>
            <a:r>
              <a:rPr lang="en-US" sz="3200" baseline="30000" dirty="0"/>
              <a:t>3</a:t>
            </a:r>
            <a:r>
              <a:rPr lang="en-US" sz="3200" dirty="0"/>
              <a:t> of pepsin solution into each test tube.</a:t>
            </a:r>
          </a:p>
          <a:p>
            <a:pPr algn="just"/>
            <a:r>
              <a:rPr lang="en-US" sz="3200" dirty="0"/>
              <a:t>Place the test tubes in a water bath maintained at 37</a:t>
            </a:r>
            <a:r>
              <a:rPr lang="en-US" sz="3200" baseline="30000" dirty="0"/>
              <a:t>o</a:t>
            </a:r>
            <a:r>
              <a:rPr lang="en-US" sz="3200" dirty="0"/>
              <a:t>C for 30 </a:t>
            </a:r>
            <a:r>
              <a:rPr lang="en-US" sz="3200" dirty="0" err="1"/>
              <a:t>mintues</a:t>
            </a:r>
            <a:r>
              <a:rPr lang="en-US" sz="3200" dirty="0"/>
              <a:t>.</a:t>
            </a:r>
          </a:p>
          <a:p>
            <a:pPr marL="0" indent="0">
              <a:buNone/>
            </a:pPr>
            <a:endParaRPr lang="en-US" dirty="0"/>
          </a:p>
        </p:txBody>
      </p:sp>
    </p:spTree>
    <p:extLst>
      <p:ext uri="{BB962C8B-B14F-4D97-AF65-F5344CB8AC3E}">
        <p14:creationId xmlns:p14="http://schemas.microsoft.com/office/powerpoint/2010/main" val="1680239539"/>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5B8C3-0B61-A29A-10E8-380A069F171A}"/>
              </a:ext>
            </a:extLst>
          </p:cNvPr>
          <p:cNvSpPr>
            <a:spLocks noGrp="1"/>
          </p:cNvSpPr>
          <p:nvPr>
            <p:ph type="title"/>
          </p:nvPr>
        </p:nvSpPr>
        <p:spPr/>
        <p:txBody>
          <a:bodyPr/>
          <a:lstStyle/>
          <a:p>
            <a:r>
              <a:rPr lang="en-US" b="1" dirty="0"/>
              <a:t>Set up of apparatus</a:t>
            </a:r>
          </a:p>
        </p:txBody>
      </p:sp>
      <p:sp>
        <p:nvSpPr>
          <p:cNvPr id="7" name="Content Placeholder 6">
            <a:extLst>
              <a:ext uri="{FF2B5EF4-FFF2-40B4-BE49-F238E27FC236}">
                <a16:creationId xmlns:a16="http://schemas.microsoft.com/office/drawing/2014/main" id="{548C4827-46A6-2917-207A-356C6EAFAA5E}"/>
              </a:ext>
            </a:extLst>
          </p:cNvPr>
          <p:cNvSpPr>
            <a:spLocks noGrp="1"/>
          </p:cNvSpPr>
          <p:nvPr>
            <p:ph idx="1"/>
          </p:nvPr>
        </p:nvSpPr>
        <p:spPr/>
        <p:txBody>
          <a:bodyPr/>
          <a:lstStyle/>
          <a:p>
            <a:endParaRPr lang="en-US"/>
          </a:p>
        </p:txBody>
      </p:sp>
      <p:pic>
        <p:nvPicPr>
          <p:cNvPr id="9" name="Picture 8">
            <a:extLst>
              <a:ext uri="{FF2B5EF4-FFF2-40B4-BE49-F238E27FC236}">
                <a16:creationId xmlns:a16="http://schemas.microsoft.com/office/drawing/2014/main" id="{73B7E54B-002E-AD70-C2B9-C36700181D96}"/>
              </a:ext>
            </a:extLst>
          </p:cNvPr>
          <p:cNvPicPr>
            <a:picLocks noChangeAspect="1"/>
          </p:cNvPicPr>
          <p:nvPr/>
        </p:nvPicPr>
        <p:blipFill>
          <a:blip r:embed="rId2"/>
          <a:stretch>
            <a:fillRect/>
          </a:stretch>
        </p:blipFill>
        <p:spPr>
          <a:xfrm>
            <a:off x="279072" y="1600590"/>
            <a:ext cx="11767154" cy="4647809"/>
          </a:xfrm>
          <a:prstGeom prst="rect">
            <a:avLst/>
          </a:prstGeom>
        </p:spPr>
      </p:pic>
    </p:spTree>
    <p:extLst>
      <p:ext uri="{BB962C8B-B14F-4D97-AF65-F5344CB8AC3E}">
        <p14:creationId xmlns:p14="http://schemas.microsoft.com/office/powerpoint/2010/main" val="2166765922"/>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972873-0D66-AC43-DF9F-06AA23C91E32}"/>
              </a:ext>
            </a:extLst>
          </p:cNvPr>
          <p:cNvSpPr>
            <a:spLocks noGrp="1"/>
          </p:cNvSpPr>
          <p:nvPr>
            <p:ph idx="1"/>
          </p:nvPr>
        </p:nvSpPr>
        <p:spPr>
          <a:xfrm>
            <a:off x="511899" y="980661"/>
            <a:ext cx="11168201" cy="5638800"/>
          </a:xfrm>
        </p:spPr>
        <p:txBody>
          <a:bodyPr>
            <a:normAutofit/>
          </a:bodyPr>
          <a:lstStyle/>
          <a:p>
            <a:pPr marL="0" indent="0">
              <a:buNone/>
            </a:pPr>
            <a:r>
              <a:rPr lang="en-US" sz="3200" b="1" dirty="0"/>
              <a:t>Observation</a:t>
            </a:r>
          </a:p>
          <a:p>
            <a:pPr marL="0" indent="0">
              <a:buNone/>
            </a:pPr>
            <a:r>
              <a:rPr lang="en-US" sz="3200" dirty="0"/>
              <a:t>Test tube 1: The solution  remains turbid.</a:t>
            </a:r>
          </a:p>
          <a:p>
            <a:pPr marL="0" indent="0">
              <a:buNone/>
            </a:pPr>
            <a:r>
              <a:rPr lang="en-US" sz="3200" dirty="0"/>
              <a:t>Test tube 2: The turbid solution turns to colorless solution.</a:t>
            </a:r>
          </a:p>
          <a:p>
            <a:pPr marL="0" indent="0">
              <a:buNone/>
            </a:pPr>
            <a:r>
              <a:rPr lang="en-US" sz="3200" dirty="0"/>
              <a:t>Test tube 3: The solution  remains turbid.</a:t>
            </a:r>
          </a:p>
          <a:p>
            <a:pPr marL="0" indent="0">
              <a:buNone/>
            </a:pPr>
            <a:r>
              <a:rPr lang="en-US" sz="3200" b="1" dirty="0"/>
              <a:t>Conclusion </a:t>
            </a:r>
          </a:p>
          <a:p>
            <a:pPr marL="0" indent="0">
              <a:buNone/>
            </a:pPr>
            <a:r>
              <a:rPr lang="en-US" sz="3200" dirty="0"/>
              <a:t>The </a:t>
            </a:r>
            <a:r>
              <a:rPr lang="en-US" sz="3200" dirty="0">
                <a:effectLst/>
                <a:latin typeface="+mn-lt"/>
                <a:ea typeface="Calibri" panose="020F0502020204030204" pitchFamily="34" charset="0"/>
                <a:cs typeface="Times New Roman" panose="02020603050405020304" pitchFamily="18" charset="0"/>
              </a:rPr>
              <a:t>pH of the medium affects the activity of an enzyme.</a:t>
            </a:r>
          </a:p>
          <a:p>
            <a:pPr marL="0" indent="0">
              <a:buNone/>
            </a:pPr>
            <a:r>
              <a:rPr lang="en-US" sz="3200" dirty="0">
                <a:latin typeface="+mn-lt"/>
                <a:cs typeface="Times New Roman" panose="02020603050405020304" pitchFamily="18" charset="0"/>
              </a:rPr>
              <a:t>Question: why are the set ups maintained at 37</a:t>
            </a:r>
            <a:r>
              <a:rPr lang="en-US" sz="3200" baseline="30000" dirty="0">
                <a:latin typeface="+mn-lt"/>
                <a:cs typeface="Times New Roman" panose="02020603050405020304" pitchFamily="18" charset="0"/>
              </a:rPr>
              <a:t>o</a:t>
            </a:r>
            <a:r>
              <a:rPr lang="en-US" sz="3200" dirty="0">
                <a:latin typeface="+mn-lt"/>
                <a:cs typeface="Times New Roman" panose="02020603050405020304" pitchFamily="18" charset="0"/>
              </a:rPr>
              <a:t>C?</a:t>
            </a:r>
            <a:endParaRPr lang="en-US" sz="3200" dirty="0"/>
          </a:p>
          <a:p>
            <a:pPr marL="0" indent="0">
              <a:buNone/>
            </a:pPr>
            <a:endParaRPr lang="en-US" sz="3200" b="1" dirty="0"/>
          </a:p>
        </p:txBody>
      </p:sp>
    </p:spTree>
    <p:extLst>
      <p:ext uri="{BB962C8B-B14F-4D97-AF65-F5344CB8AC3E}">
        <p14:creationId xmlns:p14="http://schemas.microsoft.com/office/powerpoint/2010/main" val="3643878617"/>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5DBFC-CB2B-D498-920E-EEC3E0F4BDD0}"/>
              </a:ext>
            </a:extLst>
          </p:cNvPr>
          <p:cNvSpPr>
            <a:spLocks noGrp="1"/>
          </p:cNvSpPr>
          <p:nvPr>
            <p:ph type="title"/>
          </p:nvPr>
        </p:nvSpPr>
        <p:spPr>
          <a:xfrm>
            <a:off x="645130" y="0"/>
            <a:ext cx="9404723" cy="781878"/>
          </a:xfrm>
        </p:spPr>
        <p:txBody>
          <a:bodyPr/>
          <a:lstStyle/>
          <a:p>
            <a:r>
              <a:rPr lang="en-US" dirty="0"/>
              <a:t>b)</a:t>
            </a:r>
            <a:r>
              <a:rPr lang="en-US" b="1" u="sng" dirty="0"/>
              <a:t> Temperature </a:t>
            </a:r>
          </a:p>
        </p:txBody>
      </p:sp>
      <p:sp>
        <p:nvSpPr>
          <p:cNvPr id="3" name="Content Placeholder 2">
            <a:extLst>
              <a:ext uri="{FF2B5EF4-FFF2-40B4-BE49-F238E27FC236}">
                <a16:creationId xmlns:a16="http://schemas.microsoft.com/office/drawing/2014/main" id="{E3AC42C6-7FA8-AC72-1F0D-8DC05F596A2B}"/>
              </a:ext>
            </a:extLst>
          </p:cNvPr>
          <p:cNvSpPr>
            <a:spLocks noGrp="1"/>
          </p:cNvSpPr>
          <p:nvPr>
            <p:ph idx="1"/>
          </p:nvPr>
        </p:nvSpPr>
        <p:spPr>
          <a:xfrm>
            <a:off x="821636" y="781878"/>
            <a:ext cx="10177668" cy="5625547"/>
          </a:xfrm>
        </p:spPr>
        <p:txBody>
          <a:bodyPr>
            <a:normAutofit/>
          </a:bodyPr>
          <a:lstStyle/>
          <a:p>
            <a:pPr marL="0" indent="0">
              <a:buNone/>
            </a:pPr>
            <a:r>
              <a:rPr lang="en-US" sz="3200" u="sng" dirty="0"/>
              <a:t>Graph showing the variation of rate of enzyme activity with temperature</a:t>
            </a:r>
          </a:p>
        </p:txBody>
      </p:sp>
      <p:pic>
        <p:nvPicPr>
          <p:cNvPr id="1026" name="Picture 2">
            <a:extLst>
              <a:ext uri="{FF2B5EF4-FFF2-40B4-BE49-F238E27FC236}">
                <a16:creationId xmlns:a16="http://schemas.microsoft.com/office/drawing/2014/main" id="{DD5A5799-F54E-1474-91A9-7D7C099832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2917" y="1787101"/>
            <a:ext cx="7018891" cy="5070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6868976"/>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82E6D6-C511-7106-F85D-8909528043DF}"/>
              </a:ext>
            </a:extLst>
          </p:cNvPr>
          <p:cNvSpPr>
            <a:spLocks noGrp="1"/>
          </p:cNvSpPr>
          <p:nvPr>
            <p:ph idx="1"/>
          </p:nvPr>
        </p:nvSpPr>
        <p:spPr>
          <a:xfrm>
            <a:off x="1050303" y="1112014"/>
            <a:ext cx="8946541" cy="4195481"/>
          </a:xfrm>
        </p:spPr>
        <p:txBody>
          <a:bodyPr>
            <a:noAutofit/>
          </a:bodyPr>
          <a:lstStyle/>
          <a:p>
            <a:pPr marL="0" marR="0" algn="just">
              <a:lnSpc>
                <a:spcPct val="115000"/>
              </a:lnSpc>
              <a:spcBef>
                <a:spcPts val="0"/>
              </a:spcBef>
              <a:spcAft>
                <a:spcPts val="1000"/>
              </a:spcAft>
            </a:pPr>
            <a:r>
              <a:rPr lang="en-US" sz="3200" b="1" u="sng" dirty="0">
                <a:effectLst/>
                <a:latin typeface="+mn-lt"/>
                <a:ea typeface="Calibri" panose="020F0502020204030204" pitchFamily="34" charset="0"/>
                <a:cs typeface="Times New Roman" panose="02020603050405020304" pitchFamily="18" charset="0"/>
              </a:rPr>
              <a:t>Trend/description of the graph</a:t>
            </a:r>
            <a:endParaRPr lang="en-US" sz="3200" dirty="0">
              <a:effectLst/>
              <a:latin typeface="+mn-lt"/>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mn-lt"/>
                <a:ea typeface="Calibri" panose="020F0502020204030204" pitchFamily="34" charset="0"/>
                <a:cs typeface="Times New Roman" panose="02020603050405020304" pitchFamily="18" charset="0"/>
              </a:rPr>
              <a:t>From 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to 10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the rate of enzyme activity increases gradually.</a:t>
            </a: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mn-lt"/>
                <a:ea typeface="Calibri" panose="020F0502020204030204" pitchFamily="34" charset="0"/>
                <a:cs typeface="Times New Roman" panose="02020603050405020304" pitchFamily="18" charset="0"/>
              </a:rPr>
              <a:t>From 10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to 40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the rate of enzyme increases rapidly to a maximum.</a:t>
            </a: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mn-lt"/>
                <a:ea typeface="Calibri" panose="020F0502020204030204" pitchFamily="34" charset="0"/>
                <a:cs typeface="Times New Roman" panose="02020603050405020304" pitchFamily="18" charset="0"/>
              </a:rPr>
              <a:t>From 40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to 60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the rate of enzyme activity decreases rapidly.</a:t>
            </a:r>
          </a:p>
          <a:p>
            <a:pPr algn="just"/>
            <a:endParaRPr lang="en-US" sz="3200" dirty="0">
              <a:latin typeface="+mn-lt"/>
            </a:endParaRPr>
          </a:p>
        </p:txBody>
      </p:sp>
    </p:spTree>
    <p:extLst>
      <p:ext uri="{BB962C8B-B14F-4D97-AF65-F5344CB8AC3E}">
        <p14:creationId xmlns:p14="http://schemas.microsoft.com/office/powerpoint/2010/main" val="1939421173"/>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86C5F4-616F-1E86-FFF9-B85E459BB91A}"/>
              </a:ext>
            </a:extLst>
          </p:cNvPr>
          <p:cNvSpPr>
            <a:spLocks noGrp="1"/>
          </p:cNvSpPr>
          <p:nvPr>
            <p:ph idx="1"/>
          </p:nvPr>
        </p:nvSpPr>
        <p:spPr>
          <a:xfrm>
            <a:off x="589722" y="410817"/>
            <a:ext cx="11065003" cy="6447183"/>
          </a:xfrm>
        </p:spPr>
        <p:txBody>
          <a:bodyPr>
            <a:noAutofit/>
          </a:bodyPr>
          <a:lstStyle/>
          <a:p>
            <a:pPr marL="0" marR="0" algn="just">
              <a:lnSpc>
                <a:spcPct val="115000"/>
              </a:lnSpc>
              <a:spcBef>
                <a:spcPts val="0"/>
              </a:spcBef>
              <a:spcAft>
                <a:spcPts val="1000"/>
              </a:spcAft>
            </a:pPr>
            <a:r>
              <a:rPr lang="en-US" sz="3200" b="1" u="sng" dirty="0">
                <a:effectLst/>
                <a:latin typeface="+mn-lt"/>
                <a:ea typeface="Calibri" panose="020F0502020204030204" pitchFamily="34" charset="0"/>
                <a:cs typeface="Times New Roman" panose="02020603050405020304" pitchFamily="18" charset="0"/>
              </a:rPr>
              <a:t>Explanation of the graph</a:t>
            </a:r>
            <a:endParaRPr lang="en-US" sz="3200" dirty="0">
              <a:effectLst/>
              <a:latin typeface="+mn-lt"/>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mn-lt"/>
                <a:ea typeface="Calibri" panose="020F0502020204030204" pitchFamily="34" charset="0"/>
                <a:cs typeface="Times New Roman" panose="02020603050405020304" pitchFamily="18" charset="0"/>
              </a:rPr>
              <a:t>From 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to 10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the rate of enzyme activity increases slowly because low temperature </a:t>
            </a:r>
            <a:r>
              <a:rPr lang="en-US" sz="3200" u="sng" dirty="0">
                <a:effectLst/>
                <a:latin typeface="+mn-lt"/>
                <a:ea typeface="Calibri" panose="020F0502020204030204" pitchFamily="34" charset="0"/>
                <a:cs typeface="Times New Roman" panose="02020603050405020304" pitchFamily="18" charset="0"/>
              </a:rPr>
              <a:t>inactivates</a:t>
            </a:r>
            <a:r>
              <a:rPr lang="en-US" sz="3200" dirty="0">
                <a:effectLst/>
                <a:latin typeface="+mn-lt"/>
                <a:ea typeface="Calibri" panose="020F0502020204030204" pitchFamily="34" charset="0"/>
                <a:cs typeface="Times New Roman" panose="02020603050405020304" pitchFamily="18" charset="0"/>
              </a:rPr>
              <a:t> the enzyme (The enzyme is inactive at low temperature).</a:t>
            </a: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mn-lt"/>
                <a:ea typeface="Calibri" panose="020F0502020204030204" pitchFamily="34" charset="0"/>
                <a:cs typeface="Times New Roman" panose="02020603050405020304" pitchFamily="18" charset="0"/>
              </a:rPr>
              <a:t>From 10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to 40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the rate of enzyme activity increases rapidly/fast to a maximum, because the enzyme is </a:t>
            </a:r>
            <a:r>
              <a:rPr lang="en-US" sz="3200" u="sng" dirty="0">
                <a:solidFill>
                  <a:schemeClr val="bg2">
                    <a:lumMod val="20000"/>
                    <a:lumOff val="80000"/>
                  </a:schemeClr>
                </a:solidFill>
                <a:effectLst/>
                <a:latin typeface="+mn-lt"/>
                <a:ea typeface="Calibri" panose="020F0502020204030204" pitchFamily="34" charset="0"/>
                <a:cs typeface="Times New Roman" panose="02020603050405020304" pitchFamily="18" charset="0"/>
              </a:rPr>
              <a:t>activated</a:t>
            </a:r>
            <a:r>
              <a:rPr lang="en-US" sz="3200" dirty="0">
                <a:effectLst/>
                <a:latin typeface="+mn-lt"/>
                <a:ea typeface="Calibri" panose="020F0502020204030204" pitchFamily="34" charset="0"/>
                <a:cs typeface="Times New Roman" panose="02020603050405020304" pitchFamily="18" charset="0"/>
              </a:rPr>
              <a:t>.</a:t>
            </a: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mn-lt"/>
                <a:ea typeface="Calibri" panose="020F0502020204030204" pitchFamily="34" charset="0"/>
                <a:cs typeface="Times New Roman" panose="02020603050405020304" pitchFamily="18" charset="0"/>
              </a:rPr>
              <a:t>From 40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to 60</a:t>
            </a:r>
            <a:r>
              <a:rPr lang="en-US" sz="3200" baseline="30000" dirty="0">
                <a:effectLst/>
                <a:latin typeface="+mn-lt"/>
                <a:ea typeface="Calibri" panose="020F0502020204030204" pitchFamily="34" charset="0"/>
                <a:cs typeface="Times New Roman" panose="02020603050405020304" pitchFamily="18" charset="0"/>
              </a:rPr>
              <a:t>o</a:t>
            </a:r>
            <a:r>
              <a:rPr lang="en-US" sz="3200" dirty="0">
                <a:effectLst/>
                <a:latin typeface="+mn-lt"/>
                <a:ea typeface="Calibri" panose="020F0502020204030204" pitchFamily="34" charset="0"/>
                <a:cs typeface="Times New Roman" panose="02020603050405020304" pitchFamily="18" charset="0"/>
              </a:rPr>
              <a:t>C, the rate of enzyme activity decreases rapidly/fast to zero, because the enzyme is </a:t>
            </a:r>
            <a:r>
              <a:rPr lang="en-US" sz="3200" u="sng" dirty="0">
                <a:solidFill>
                  <a:schemeClr val="bg2">
                    <a:lumMod val="20000"/>
                    <a:lumOff val="80000"/>
                  </a:schemeClr>
                </a:solidFill>
                <a:effectLst/>
                <a:latin typeface="+mn-lt"/>
                <a:ea typeface="Calibri" panose="020F0502020204030204" pitchFamily="34" charset="0"/>
                <a:cs typeface="Times New Roman" panose="02020603050405020304" pitchFamily="18" charset="0"/>
              </a:rPr>
              <a:t>denatured</a:t>
            </a:r>
            <a:endParaRPr lang="en-US" sz="3200" dirty="0">
              <a:solidFill>
                <a:schemeClr val="bg2">
                  <a:lumMod val="20000"/>
                  <a:lumOff val="80000"/>
                </a:schemeClr>
              </a:solidFill>
              <a:effectLst/>
              <a:latin typeface="+mn-lt"/>
              <a:ea typeface="Calibri" panose="020F0502020204030204" pitchFamily="34" charset="0"/>
              <a:cs typeface="Times New Roman" panose="02020603050405020304" pitchFamily="18" charset="0"/>
            </a:endParaRPr>
          </a:p>
          <a:p>
            <a:endParaRPr lang="en-US" sz="3200" dirty="0"/>
          </a:p>
        </p:txBody>
      </p:sp>
    </p:spTree>
    <p:extLst>
      <p:ext uri="{BB962C8B-B14F-4D97-AF65-F5344CB8AC3E}">
        <p14:creationId xmlns:p14="http://schemas.microsoft.com/office/powerpoint/2010/main" val="826123753"/>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85AFA-B90D-1550-63CF-58EFA65A76EE}"/>
              </a:ext>
            </a:extLst>
          </p:cNvPr>
          <p:cNvSpPr>
            <a:spLocks noGrp="1"/>
          </p:cNvSpPr>
          <p:nvPr>
            <p:ph type="title"/>
          </p:nvPr>
        </p:nvSpPr>
        <p:spPr>
          <a:xfrm>
            <a:off x="646111" y="119270"/>
            <a:ext cx="11254341" cy="1046921"/>
          </a:xfrm>
        </p:spPr>
        <p:txBody>
          <a:bodyPr/>
          <a:lstStyle/>
          <a:p>
            <a:r>
              <a:rPr lang="en-US" sz="3200" u="sng" dirty="0"/>
              <a:t>Experiment to show that enzyme activity is affected by temperature</a:t>
            </a:r>
          </a:p>
        </p:txBody>
      </p:sp>
      <p:sp>
        <p:nvSpPr>
          <p:cNvPr id="3" name="Content Placeholder 2">
            <a:extLst>
              <a:ext uri="{FF2B5EF4-FFF2-40B4-BE49-F238E27FC236}">
                <a16:creationId xmlns:a16="http://schemas.microsoft.com/office/drawing/2014/main" id="{83968EDC-D531-0AF5-CF4A-3974E56402EB}"/>
              </a:ext>
            </a:extLst>
          </p:cNvPr>
          <p:cNvSpPr>
            <a:spLocks noGrp="1"/>
          </p:cNvSpPr>
          <p:nvPr>
            <p:ph idx="1"/>
          </p:nvPr>
        </p:nvSpPr>
        <p:spPr>
          <a:xfrm>
            <a:off x="1020418" y="1166192"/>
            <a:ext cx="9029436" cy="5082208"/>
          </a:xfrm>
        </p:spPr>
        <p:txBody>
          <a:bodyPr>
            <a:noAutofit/>
          </a:bodyPr>
          <a:lstStyle/>
          <a:p>
            <a:pPr marL="0" indent="0">
              <a:buNone/>
            </a:pPr>
            <a:r>
              <a:rPr lang="en-US" sz="3200" b="1" dirty="0"/>
              <a:t>Apparatus and materials </a:t>
            </a:r>
          </a:p>
          <a:p>
            <a:r>
              <a:rPr lang="en-US" sz="3200" dirty="0"/>
              <a:t>Three test tubes</a:t>
            </a:r>
          </a:p>
          <a:p>
            <a:r>
              <a:rPr lang="en-US" sz="3200" dirty="0"/>
              <a:t>Three plastic beakers</a:t>
            </a:r>
          </a:p>
          <a:p>
            <a:r>
              <a:rPr lang="en-US" sz="3200" dirty="0"/>
              <a:t>Iodine solution</a:t>
            </a:r>
          </a:p>
          <a:p>
            <a:r>
              <a:rPr lang="en-US" sz="3200" dirty="0"/>
              <a:t>1% Starch solution</a:t>
            </a:r>
          </a:p>
          <a:p>
            <a:r>
              <a:rPr lang="en-US" sz="3200" dirty="0"/>
              <a:t>Amylase enzyme solution </a:t>
            </a:r>
          </a:p>
          <a:p>
            <a:r>
              <a:rPr lang="en-US" sz="3200" dirty="0"/>
              <a:t>Hot water</a:t>
            </a:r>
          </a:p>
          <a:p>
            <a:r>
              <a:rPr lang="en-US" sz="3200" dirty="0"/>
              <a:t>stop clock</a:t>
            </a:r>
          </a:p>
          <a:p>
            <a:r>
              <a:rPr lang="en-US" sz="3200" dirty="0"/>
              <a:t> ice cubes </a:t>
            </a:r>
          </a:p>
          <a:p>
            <a:endParaRPr lang="en-US" sz="3200" dirty="0"/>
          </a:p>
        </p:txBody>
      </p:sp>
    </p:spTree>
    <p:extLst>
      <p:ext uri="{BB962C8B-B14F-4D97-AF65-F5344CB8AC3E}">
        <p14:creationId xmlns:p14="http://schemas.microsoft.com/office/powerpoint/2010/main" val="3124168750"/>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30435E-6081-99C5-61FE-3FD6FD89CC70}"/>
              </a:ext>
            </a:extLst>
          </p:cNvPr>
          <p:cNvSpPr>
            <a:spLocks noGrp="1"/>
          </p:cNvSpPr>
          <p:nvPr>
            <p:ph idx="1"/>
          </p:nvPr>
        </p:nvSpPr>
        <p:spPr>
          <a:xfrm>
            <a:off x="392637" y="201479"/>
            <a:ext cx="10905628" cy="6186070"/>
          </a:xfrm>
        </p:spPr>
        <p:txBody>
          <a:bodyPr>
            <a:noAutofit/>
          </a:bodyPr>
          <a:lstStyle/>
          <a:p>
            <a:pPr marL="0" indent="0" algn="just">
              <a:buNone/>
            </a:pPr>
            <a:r>
              <a:rPr lang="en-US" sz="3200" b="1" u="sng" dirty="0"/>
              <a:t>Procedure </a:t>
            </a:r>
          </a:p>
          <a:p>
            <a:pPr algn="just"/>
            <a:r>
              <a:rPr lang="en-US" sz="3200" dirty="0"/>
              <a:t>Label three test tubes A, B, and C.</a:t>
            </a:r>
          </a:p>
          <a:p>
            <a:pPr algn="just"/>
            <a:r>
              <a:rPr lang="en-US" sz="3200" dirty="0"/>
              <a:t>Add 2cm</a:t>
            </a:r>
            <a:r>
              <a:rPr lang="en-US" sz="3200" baseline="30000" dirty="0"/>
              <a:t>3 </a:t>
            </a:r>
            <a:r>
              <a:rPr lang="en-US" sz="3200" dirty="0"/>
              <a:t> of 1% starch solution to each test tube.</a:t>
            </a:r>
          </a:p>
          <a:p>
            <a:pPr algn="just"/>
            <a:r>
              <a:rPr lang="en-US" sz="3200" dirty="0"/>
              <a:t>Place test tube A in a beaker containing ice cubes/very cold water, test tube B in a water bath maintained at 35</a:t>
            </a:r>
            <a:r>
              <a:rPr lang="en-US" sz="3200" baseline="30000" dirty="0"/>
              <a:t>o</a:t>
            </a:r>
            <a:r>
              <a:rPr lang="en-US" sz="3200" dirty="0"/>
              <a:t>C and test tube C in a water bath maintained at 60</a:t>
            </a:r>
            <a:r>
              <a:rPr lang="en-US" sz="3200" baseline="30000" dirty="0"/>
              <a:t>o</a:t>
            </a:r>
            <a:r>
              <a:rPr lang="en-US" sz="3200" dirty="0"/>
              <a:t>C.</a:t>
            </a:r>
          </a:p>
          <a:p>
            <a:pPr algn="just"/>
            <a:r>
              <a:rPr lang="en-US" sz="3200" dirty="0"/>
              <a:t>Add 1cm3 of amylase solution to each test tube.</a:t>
            </a:r>
          </a:p>
          <a:p>
            <a:pPr algn="just"/>
            <a:r>
              <a:rPr lang="en-US" sz="3200" dirty="0"/>
              <a:t>Leave the set up to stand for 30 minutes and after, test for the presence of starch in the contents of each test tube using iodine.</a:t>
            </a:r>
          </a:p>
        </p:txBody>
      </p:sp>
    </p:spTree>
    <p:extLst>
      <p:ext uri="{BB962C8B-B14F-4D97-AF65-F5344CB8AC3E}">
        <p14:creationId xmlns:p14="http://schemas.microsoft.com/office/powerpoint/2010/main" val="3149175959"/>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01703-F85B-DF85-2FAC-454D34B5D8B9}"/>
              </a:ext>
            </a:extLst>
          </p:cNvPr>
          <p:cNvSpPr>
            <a:spLocks noGrp="1"/>
          </p:cNvSpPr>
          <p:nvPr>
            <p:ph type="title"/>
          </p:nvPr>
        </p:nvSpPr>
        <p:spPr/>
        <p:txBody>
          <a:bodyPr/>
          <a:lstStyle/>
          <a:p>
            <a:r>
              <a:rPr lang="en-US" b="1" u="sng" dirty="0"/>
              <a:t>Set up of apparatus</a:t>
            </a:r>
          </a:p>
        </p:txBody>
      </p:sp>
      <p:pic>
        <p:nvPicPr>
          <p:cNvPr id="13" name="Picture 12">
            <a:extLst>
              <a:ext uri="{FF2B5EF4-FFF2-40B4-BE49-F238E27FC236}">
                <a16:creationId xmlns:a16="http://schemas.microsoft.com/office/drawing/2014/main" id="{48B91E8A-4D1B-021F-0952-0C8D9B48D284}"/>
              </a:ext>
            </a:extLst>
          </p:cNvPr>
          <p:cNvPicPr>
            <a:picLocks noChangeAspect="1"/>
          </p:cNvPicPr>
          <p:nvPr/>
        </p:nvPicPr>
        <p:blipFill>
          <a:blip r:embed="rId2"/>
          <a:stretch>
            <a:fillRect/>
          </a:stretch>
        </p:blipFill>
        <p:spPr>
          <a:xfrm>
            <a:off x="119062" y="1433512"/>
            <a:ext cx="11953875" cy="3990975"/>
          </a:xfrm>
          <a:prstGeom prst="rect">
            <a:avLst/>
          </a:prstGeom>
        </p:spPr>
      </p:pic>
    </p:spTree>
    <p:extLst>
      <p:ext uri="{BB962C8B-B14F-4D97-AF65-F5344CB8AC3E}">
        <p14:creationId xmlns:p14="http://schemas.microsoft.com/office/powerpoint/2010/main" val="1033850972"/>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0DAD90-74E7-2291-8515-56EEF20523E3}"/>
              </a:ext>
            </a:extLst>
          </p:cNvPr>
          <p:cNvSpPr>
            <a:spLocks noGrp="1"/>
          </p:cNvSpPr>
          <p:nvPr>
            <p:ph idx="1"/>
          </p:nvPr>
        </p:nvSpPr>
        <p:spPr>
          <a:xfrm>
            <a:off x="511899" y="621683"/>
            <a:ext cx="11322292" cy="4599674"/>
          </a:xfrm>
        </p:spPr>
        <p:txBody>
          <a:bodyPr>
            <a:normAutofit fontScale="92500" lnSpcReduction="20000"/>
          </a:bodyPr>
          <a:lstStyle/>
          <a:p>
            <a:pPr marL="0" indent="0">
              <a:buNone/>
            </a:pPr>
            <a:r>
              <a:rPr lang="en-US" sz="3200" b="1" u="sng" dirty="0"/>
              <a:t>Observation </a:t>
            </a: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mn-lt"/>
                <a:ea typeface="Calibri" panose="020F0502020204030204" pitchFamily="34" charset="0"/>
                <a:cs typeface="Times New Roman" panose="02020603050405020304" pitchFamily="18" charset="0"/>
              </a:rPr>
              <a:t>Solution in test tube </a:t>
            </a:r>
            <a:r>
              <a:rPr lang="en-US" sz="3200" dirty="0">
                <a:latin typeface="+mn-lt"/>
                <a:ea typeface="Calibri" panose="020F0502020204030204" pitchFamily="34" charset="0"/>
                <a:cs typeface="Times New Roman" panose="02020603050405020304" pitchFamily="18" charset="0"/>
              </a:rPr>
              <a:t>A</a:t>
            </a:r>
            <a:r>
              <a:rPr lang="en-US" sz="3200" dirty="0">
                <a:effectLst/>
                <a:latin typeface="+mn-lt"/>
                <a:ea typeface="Calibri" panose="020F0502020204030204" pitchFamily="34" charset="0"/>
                <a:cs typeface="Times New Roman" panose="02020603050405020304" pitchFamily="18" charset="0"/>
              </a:rPr>
              <a:t>: turns blue-black(because starch is present).</a:t>
            </a: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mn-lt"/>
                <a:ea typeface="Calibri" panose="020F0502020204030204" pitchFamily="34" charset="0"/>
                <a:cs typeface="Times New Roman" panose="02020603050405020304" pitchFamily="18" charset="0"/>
              </a:rPr>
              <a:t>Solution in test tube B: turns brown (because starch is absent).</a:t>
            </a: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mn-lt"/>
                <a:ea typeface="Calibri" panose="020F0502020204030204" pitchFamily="34" charset="0"/>
                <a:cs typeface="Times New Roman" panose="02020603050405020304" pitchFamily="18" charset="0"/>
              </a:rPr>
              <a:t>Solution in test tube C:  turns blue-black (because starch is present).</a:t>
            </a:r>
          </a:p>
          <a:p>
            <a:pPr marL="0" marR="0" indent="0" algn="just">
              <a:lnSpc>
                <a:spcPct val="115000"/>
              </a:lnSpc>
              <a:spcBef>
                <a:spcPts val="0"/>
              </a:spcBef>
              <a:spcAft>
                <a:spcPts val="0"/>
              </a:spcAft>
              <a:buNone/>
            </a:pPr>
            <a:r>
              <a:rPr lang="en-US" sz="3500" b="1" u="sng" dirty="0">
                <a:effectLst/>
                <a:latin typeface="+mn-lt"/>
                <a:ea typeface="Calibri" panose="020F0502020204030204" pitchFamily="34" charset="0"/>
                <a:cs typeface="Times New Roman" panose="02020603050405020304" pitchFamily="18" charset="0"/>
              </a:rPr>
              <a:t>Conclusion</a:t>
            </a:r>
            <a:endParaRPr lang="en-US" sz="3500" dirty="0">
              <a:effectLst/>
              <a:latin typeface="+mn-lt"/>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500" dirty="0">
                <a:effectLst/>
                <a:latin typeface="+mn-lt"/>
                <a:ea typeface="Calibri" panose="020F0502020204030204" pitchFamily="34" charset="0"/>
                <a:cs typeface="Times New Roman" panose="02020603050405020304" pitchFamily="18" charset="0"/>
              </a:rPr>
              <a:t>Enzyme activity is affected by temperature.</a:t>
            </a:r>
          </a:p>
          <a:p>
            <a:pPr marL="0" marR="0" lvl="0" indent="0" algn="just">
              <a:lnSpc>
                <a:spcPct val="115000"/>
              </a:lnSpc>
              <a:spcBef>
                <a:spcPts val="0"/>
              </a:spcBef>
              <a:spcAft>
                <a:spcPts val="1000"/>
              </a:spcAft>
              <a:buNone/>
            </a:pPr>
            <a:endParaRPr lang="en-US" sz="3200" dirty="0">
              <a:effectLst/>
              <a:latin typeface="+mn-lt"/>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258315309"/>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838E0A-B5CC-4D10-1B86-4C0789FFD5BF}"/>
              </a:ext>
            </a:extLst>
          </p:cNvPr>
          <p:cNvSpPr>
            <a:spLocks noGrp="1"/>
          </p:cNvSpPr>
          <p:nvPr>
            <p:ph idx="1"/>
          </p:nvPr>
        </p:nvSpPr>
        <p:spPr>
          <a:xfrm>
            <a:off x="626233" y="993913"/>
            <a:ext cx="10585105" cy="5201477"/>
          </a:xfrm>
        </p:spPr>
        <p:txBody>
          <a:bodyPr>
            <a:noAutofit/>
          </a:bodyPr>
          <a:lstStyle/>
          <a:p>
            <a:pPr marL="0" marR="0" algn="just">
              <a:lnSpc>
                <a:spcPct val="115000"/>
              </a:lnSpc>
              <a:spcBef>
                <a:spcPts val="0"/>
              </a:spcBef>
              <a:spcAft>
                <a:spcPts val="0"/>
              </a:spcAft>
            </a:pPr>
            <a:r>
              <a:rPr lang="en-US" sz="3200" b="1" u="sng" dirty="0">
                <a:effectLst/>
                <a:latin typeface="+mn-lt"/>
                <a:ea typeface="Calibri" panose="020F0502020204030204" pitchFamily="34" charset="0"/>
                <a:cs typeface="Times New Roman" panose="02020603050405020304" pitchFamily="18" charset="0"/>
              </a:rPr>
              <a:t>Explanation</a:t>
            </a:r>
            <a:endParaRPr lang="en-US" sz="3200" dirty="0">
              <a:effectLst/>
              <a:latin typeface="+mn-lt"/>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mn-lt"/>
                <a:ea typeface="Calibri" panose="020F0502020204030204" pitchFamily="34" charset="0"/>
                <a:cs typeface="Times New Roman" panose="02020603050405020304" pitchFamily="18" charset="0"/>
              </a:rPr>
              <a:t>At low temperature of 0°C the enzyme was inactive; starch was not digested/broken down (starch present).</a:t>
            </a:r>
          </a:p>
          <a:p>
            <a:pPr marL="342900" marR="0" lvl="0" indent="-342900" algn="just">
              <a:lnSpc>
                <a:spcPct val="115000"/>
              </a:lnSpc>
              <a:spcBef>
                <a:spcPts val="0"/>
              </a:spcBef>
              <a:spcAft>
                <a:spcPts val="0"/>
              </a:spcAft>
              <a:buFont typeface="Symbol" panose="05050102010706020507" pitchFamily="18" charset="2"/>
              <a:buChar char=""/>
            </a:pPr>
            <a:r>
              <a:rPr lang="en-US" sz="3200" dirty="0">
                <a:effectLst/>
                <a:latin typeface="+mn-lt"/>
                <a:ea typeface="Calibri" panose="020F0502020204030204" pitchFamily="34" charset="0"/>
                <a:cs typeface="Times New Roman" panose="02020603050405020304" pitchFamily="18" charset="0"/>
              </a:rPr>
              <a:t>The enzyme is active at an optimum temperature of 35°C, starch was broken down.</a:t>
            </a:r>
          </a:p>
          <a:p>
            <a:pPr marL="342900" marR="0" lvl="0" indent="-342900" algn="just">
              <a:lnSpc>
                <a:spcPct val="115000"/>
              </a:lnSpc>
              <a:spcBef>
                <a:spcPts val="0"/>
              </a:spcBef>
              <a:spcAft>
                <a:spcPts val="1000"/>
              </a:spcAft>
              <a:buFont typeface="Symbol" panose="05050102010706020507" pitchFamily="18" charset="2"/>
              <a:buChar char=""/>
            </a:pPr>
            <a:r>
              <a:rPr lang="en-US" sz="3200" dirty="0">
                <a:effectLst/>
                <a:latin typeface="+mn-lt"/>
                <a:ea typeface="Calibri" panose="020F0502020204030204" pitchFamily="34" charset="0"/>
                <a:cs typeface="Times New Roman" panose="02020603050405020304" pitchFamily="18" charset="0"/>
              </a:rPr>
              <a:t>And at high temperature the enzyme was denatured hence starch was not digested.</a:t>
            </a:r>
          </a:p>
          <a:p>
            <a:endParaRPr lang="en-US" sz="3200" dirty="0">
              <a:latin typeface="+mn-lt"/>
            </a:endParaRPr>
          </a:p>
        </p:txBody>
      </p:sp>
    </p:spTree>
    <p:extLst>
      <p:ext uri="{BB962C8B-B14F-4D97-AF65-F5344CB8AC3E}">
        <p14:creationId xmlns:p14="http://schemas.microsoft.com/office/powerpoint/2010/main" val="1667387473"/>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880F3-A02E-37C4-2E34-3C723C532681}"/>
              </a:ext>
            </a:extLst>
          </p:cNvPr>
          <p:cNvSpPr>
            <a:spLocks noGrp="1"/>
          </p:cNvSpPr>
          <p:nvPr>
            <p:ph type="title"/>
          </p:nvPr>
        </p:nvSpPr>
        <p:spPr/>
        <p:txBody>
          <a:bodyPr/>
          <a:lstStyle/>
          <a:p>
            <a:r>
              <a:rPr lang="en-US" dirty="0"/>
              <a:t>c) </a:t>
            </a:r>
            <a:r>
              <a:rPr lang="en-US" b="1" u="sng" dirty="0"/>
              <a:t>Enzyme concentration</a:t>
            </a:r>
          </a:p>
        </p:txBody>
      </p:sp>
      <p:sp>
        <p:nvSpPr>
          <p:cNvPr id="3" name="Content Placeholder 2">
            <a:extLst>
              <a:ext uri="{FF2B5EF4-FFF2-40B4-BE49-F238E27FC236}">
                <a16:creationId xmlns:a16="http://schemas.microsoft.com/office/drawing/2014/main" id="{6AB58E50-A1AC-AAB5-A581-A245F7CE8304}"/>
              </a:ext>
            </a:extLst>
          </p:cNvPr>
          <p:cNvSpPr>
            <a:spLocks noGrp="1"/>
          </p:cNvSpPr>
          <p:nvPr>
            <p:ph idx="1"/>
          </p:nvPr>
        </p:nvSpPr>
        <p:spPr>
          <a:xfrm>
            <a:off x="546720" y="1404730"/>
            <a:ext cx="11207957" cy="5000552"/>
          </a:xfrm>
        </p:spPr>
        <p:txBody>
          <a:bodyPr>
            <a:normAutofit fontScale="92500"/>
          </a:bodyPr>
          <a:lstStyle/>
          <a:p>
            <a:pPr algn="just">
              <a:lnSpc>
                <a:spcPct val="150000"/>
              </a:lnSpc>
            </a:pPr>
            <a:r>
              <a:rPr lang="en-US" sz="3200" dirty="0"/>
              <a:t>At a constant concentration of substrate, the rate of an enzyme-controlled reaction increases with increase in concentration of enzyme because increasing the enzyme concentration increase the chance of substrates and enzymes to collide and form enzyme-substrate complex, and then it becomes constant at a point when all substrates are being worked on.</a:t>
            </a:r>
          </a:p>
          <a:p>
            <a:pPr algn="just">
              <a:lnSpc>
                <a:spcPct val="150000"/>
              </a:lnSpc>
            </a:pPr>
            <a:endParaRPr lang="en-US" sz="3200" dirty="0"/>
          </a:p>
        </p:txBody>
      </p:sp>
    </p:spTree>
    <p:extLst>
      <p:ext uri="{BB962C8B-B14F-4D97-AF65-F5344CB8AC3E}">
        <p14:creationId xmlns:p14="http://schemas.microsoft.com/office/powerpoint/2010/main" val="1669843766"/>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839B9-EE94-A570-1720-7273644B3FE3}"/>
              </a:ext>
            </a:extLst>
          </p:cNvPr>
          <p:cNvSpPr>
            <a:spLocks noGrp="1"/>
          </p:cNvSpPr>
          <p:nvPr>
            <p:ph type="title"/>
          </p:nvPr>
        </p:nvSpPr>
        <p:spPr>
          <a:xfrm>
            <a:off x="646112" y="94912"/>
            <a:ext cx="11545888" cy="1400530"/>
          </a:xfrm>
        </p:spPr>
        <p:txBody>
          <a:bodyPr/>
          <a:lstStyle/>
          <a:p>
            <a:r>
              <a:rPr lang="en-US" sz="3600" b="1" u="sng" dirty="0"/>
              <a:t>Graph showing variation of the rate of enzyme catalyzed reaction with enzyme concentration </a:t>
            </a:r>
          </a:p>
        </p:txBody>
      </p:sp>
      <p:sp>
        <p:nvSpPr>
          <p:cNvPr id="3" name="Content Placeholder 2">
            <a:extLst>
              <a:ext uri="{FF2B5EF4-FFF2-40B4-BE49-F238E27FC236}">
                <a16:creationId xmlns:a16="http://schemas.microsoft.com/office/drawing/2014/main" id="{15358C50-6DE0-31C5-4CCD-66AB2274F8D0}"/>
              </a:ext>
            </a:extLst>
          </p:cNvPr>
          <p:cNvSpPr>
            <a:spLocks noGrp="1"/>
          </p:cNvSpPr>
          <p:nvPr>
            <p:ph idx="1"/>
          </p:nvPr>
        </p:nvSpPr>
        <p:spPr/>
        <p:txBody>
          <a:bodyPr/>
          <a:lstStyle/>
          <a:p>
            <a:endParaRPr lang="en-US"/>
          </a:p>
        </p:txBody>
      </p:sp>
      <p:pic>
        <p:nvPicPr>
          <p:cNvPr id="1026" name="Picture 1">
            <a:extLst>
              <a:ext uri="{FF2B5EF4-FFF2-40B4-BE49-F238E27FC236}">
                <a16:creationId xmlns:a16="http://schemas.microsoft.com/office/drawing/2014/main" id="{D2C78A70-BE00-3E55-5101-E359852654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313" y="1334282"/>
            <a:ext cx="11976687" cy="5437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3818382"/>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5993B-5E03-B684-5489-6CEB15BA8D2D}"/>
              </a:ext>
            </a:extLst>
          </p:cNvPr>
          <p:cNvSpPr>
            <a:spLocks noGrp="1"/>
          </p:cNvSpPr>
          <p:nvPr>
            <p:ph type="title"/>
          </p:nvPr>
        </p:nvSpPr>
        <p:spPr/>
        <p:txBody>
          <a:bodyPr/>
          <a:lstStyle/>
          <a:p>
            <a:r>
              <a:rPr lang="en-US" b="1" u="sng" dirty="0"/>
              <a:t>d) Substrate concentration</a:t>
            </a:r>
            <a:br>
              <a:rPr lang="en-US" b="1" u="sng" dirty="0"/>
            </a:br>
            <a:endParaRPr lang="en-US" b="1" u="sng" dirty="0"/>
          </a:p>
        </p:txBody>
      </p:sp>
      <p:sp>
        <p:nvSpPr>
          <p:cNvPr id="3" name="Content Placeholder 2">
            <a:extLst>
              <a:ext uri="{FF2B5EF4-FFF2-40B4-BE49-F238E27FC236}">
                <a16:creationId xmlns:a16="http://schemas.microsoft.com/office/drawing/2014/main" id="{FABAC3E8-C7C3-F768-9C1D-6B60D6B66587}"/>
              </a:ext>
            </a:extLst>
          </p:cNvPr>
          <p:cNvSpPr>
            <a:spLocks noGrp="1"/>
          </p:cNvSpPr>
          <p:nvPr>
            <p:ph idx="1"/>
          </p:nvPr>
        </p:nvSpPr>
        <p:spPr>
          <a:xfrm>
            <a:off x="410817" y="1285462"/>
            <a:ext cx="11198087" cy="4962938"/>
          </a:xfrm>
        </p:spPr>
        <p:txBody>
          <a:bodyPr>
            <a:normAutofit lnSpcReduction="10000"/>
          </a:bodyPr>
          <a:lstStyle/>
          <a:p>
            <a:pPr algn="just">
              <a:lnSpc>
                <a:spcPct val="150000"/>
              </a:lnSpc>
            </a:pPr>
            <a:r>
              <a:rPr lang="en-US" sz="3200" dirty="0"/>
              <a:t>For a constant concentration of enzyme, the rate of enzyme-controlled reaction increases with increasing substrate concentration because increasing the substrate concentration increase the chance of substrates and enzymes to collide and form enzyme-substrate complex, and then becomes constant at a point when all enzyme active sites are occupied.</a:t>
            </a:r>
          </a:p>
          <a:p>
            <a:pPr algn="just"/>
            <a:endParaRPr lang="en-US" sz="3200" dirty="0"/>
          </a:p>
        </p:txBody>
      </p:sp>
    </p:spTree>
    <p:extLst>
      <p:ext uri="{BB962C8B-B14F-4D97-AF65-F5344CB8AC3E}">
        <p14:creationId xmlns:p14="http://schemas.microsoft.com/office/powerpoint/2010/main" val="249920142"/>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7E51-5A18-9186-1E45-B18E9939F758}"/>
              </a:ext>
            </a:extLst>
          </p:cNvPr>
          <p:cNvSpPr>
            <a:spLocks noGrp="1"/>
          </p:cNvSpPr>
          <p:nvPr>
            <p:ph type="title"/>
          </p:nvPr>
        </p:nvSpPr>
        <p:spPr/>
        <p:txBody>
          <a:bodyPr/>
          <a:lstStyle/>
          <a:p>
            <a:r>
              <a:rPr lang="en-US" b="1" u="sng" dirty="0"/>
              <a:t>e) Presence of inhibitors</a:t>
            </a:r>
            <a:br>
              <a:rPr lang="en-US" b="1" u="sng" dirty="0"/>
            </a:br>
            <a:endParaRPr lang="en-US" b="1" u="sng" dirty="0"/>
          </a:p>
        </p:txBody>
      </p:sp>
      <p:sp>
        <p:nvSpPr>
          <p:cNvPr id="3" name="Content Placeholder 2">
            <a:extLst>
              <a:ext uri="{FF2B5EF4-FFF2-40B4-BE49-F238E27FC236}">
                <a16:creationId xmlns:a16="http://schemas.microsoft.com/office/drawing/2014/main" id="{93197C90-FFE7-E7C5-E345-8428CF5BF8D2}"/>
              </a:ext>
            </a:extLst>
          </p:cNvPr>
          <p:cNvSpPr>
            <a:spLocks noGrp="1"/>
          </p:cNvSpPr>
          <p:nvPr>
            <p:ph idx="1"/>
          </p:nvPr>
        </p:nvSpPr>
        <p:spPr>
          <a:xfrm>
            <a:off x="745503" y="1760483"/>
            <a:ext cx="10333314" cy="4395151"/>
          </a:xfrm>
        </p:spPr>
        <p:txBody>
          <a:bodyPr>
            <a:normAutofit/>
          </a:bodyPr>
          <a:lstStyle/>
          <a:p>
            <a:pPr algn="just">
              <a:lnSpc>
                <a:spcPct val="150000"/>
              </a:lnSpc>
            </a:pPr>
            <a:r>
              <a:rPr lang="en-US" sz="3200" dirty="0"/>
              <a:t>Presence of inhibitors, reduce enzyme activity by deforming the enzyme, for instance by blocking the active site hence rendering the enzyme useless e.g. cyanide is respiratory poison.</a:t>
            </a:r>
          </a:p>
          <a:p>
            <a:pPr algn="just">
              <a:lnSpc>
                <a:spcPct val="150000"/>
              </a:lnSpc>
            </a:pPr>
            <a:endParaRPr lang="en-US" sz="3200" dirty="0"/>
          </a:p>
          <a:p>
            <a:pPr algn="just">
              <a:lnSpc>
                <a:spcPct val="150000"/>
              </a:lnSpc>
            </a:pPr>
            <a:endParaRPr lang="en-US" sz="3200" dirty="0"/>
          </a:p>
        </p:txBody>
      </p:sp>
    </p:spTree>
    <p:extLst>
      <p:ext uri="{BB962C8B-B14F-4D97-AF65-F5344CB8AC3E}">
        <p14:creationId xmlns:p14="http://schemas.microsoft.com/office/powerpoint/2010/main" val="4252638779"/>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18434-0531-9F78-C884-B193B9A2B927}"/>
              </a:ext>
            </a:extLst>
          </p:cNvPr>
          <p:cNvSpPr>
            <a:spLocks noGrp="1"/>
          </p:cNvSpPr>
          <p:nvPr>
            <p:ph type="title"/>
          </p:nvPr>
        </p:nvSpPr>
        <p:spPr/>
        <p:txBody>
          <a:bodyPr/>
          <a:lstStyle/>
          <a:p>
            <a:r>
              <a:rPr lang="en-US" dirty="0"/>
              <a:t>f) </a:t>
            </a:r>
            <a:r>
              <a:rPr lang="en-US" b="1" u="sng" dirty="0"/>
              <a:t>Presence of enzyme activators</a:t>
            </a:r>
          </a:p>
        </p:txBody>
      </p:sp>
      <p:sp>
        <p:nvSpPr>
          <p:cNvPr id="3" name="Content Placeholder 2">
            <a:extLst>
              <a:ext uri="{FF2B5EF4-FFF2-40B4-BE49-F238E27FC236}">
                <a16:creationId xmlns:a16="http://schemas.microsoft.com/office/drawing/2014/main" id="{05FE1202-BBB3-69EA-1176-DFE242014DA4}"/>
              </a:ext>
            </a:extLst>
          </p:cNvPr>
          <p:cNvSpPr>
            <a:spLocks noGrp="1"/>
          </p:cNvSpPr>
          <p:nvPr>
            <p:ph idx="1"/>
          </p:nvPr>
        </p:nvSpPr>
        <p:spPr>
          <a:xfrm>
            <a:off x="450574" y="1285462"/>
            <a:ext cx="11095315" cy="4962938"/>
          </a:xfrm>
        </p:spPr>
        <p:txBody>
          <a:bodyPr>
            <a:normAutofit/>
          </a:bodyPr>
          <a:lstStyle/>
          <a:p>
            <a:pPr algn="just"/>
            <a:r>
              <a:rPr lang="en-US" sz="3200" dirty="0"/>
              <a:t>These are co-enzymes and co-factors. They are non-protein substances. </a:t>
            </a:r>
          </a:p>
          <a:p>
            <a:pPr algn="just"/>
            <a:r>
              <a:rPr lang="en-US" sz="3200" dirty="0"/>
              <a:t>Co-enzymes are inorganic in nature while co-factors are organic in nature. </a:t>
            </a:r>
          </a:p>
          <a:p>
            <a:pPr algn="just"/>
            <a:r>
              <a:rPr lang="en-US" sz="3200" dirty="0"/>
              <a:t>The presence of enzyme activators increases the rate of enzyme activity on a substrate.  </a:t>
            </a:r>
          </a:p>
          <a:p>
            <a:endParaRPr lang="en-US" sz="3200" dirty="0"/>
          </a:p>
        </p:txBody>
      </p:sp>
    </p:spTree>
    <p:extLst>
      <p:ext uri="{BB962C8B-B14F-4D97-AF65-F5344CB8AC3E}">
        <p14:creationId xmlns:p14="http://schemas.microsoft.com/office/powerpoint/2010/main" val="1389875693"/>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95FF4-37FE-3C15-A7FE-A785A30CC5E7}"/>
              </a:ext>
            </a:extLst>
          </p:cNvPr>
          <p:cNvSpPr>
            <a:spLocks noGrp="1"/>
          </p:cNvSpPr>
          <p:nvPr>
            <p:ph type="title"/>
          </p:nvPr>
        </p:nvSpPr>
        <p:spPr>
          <a:xfrm>
            <a:off x="874220" y="0"/>
            <a:ext cx="9404723" cy="795130"/>
          </a:xfrm>
        </p:spPr>
        <p:txBody>
          <a:bodyPr/>
          <a:lstStyle/>
          <a:p>
            <a:pPr algn="ctr"/>
            <a:r>
              <a:rPr lang="en-US" b="1" u="sng" dirty="0"/>
              <a:t>The 	mammalian teeth</a:t>
            </a:r>
          </a:p>
        </p:txBody>
      </p:sp>
      <p:sp>
        <p:nvSpPr>
          <p:cNvPr id="3" name="Content Placeholder 2">
            <a:extLst>
              <a:ext uri="{FF2B5EF4-FFF2-40B4-BE49-F238E27FC236}">
                <a16:creationId xmlns:a16="http://schemas.microsoft.com/office/drawing/2014/main" id="{AA2EA621-41BB-3CC7-0BF8-61536D29651F}"/>
              </a:ext>
            </a:extLst>
          </p:cNvPr>
          <p:cNvSpPr>
            <a:spLocks noGrp="1"/>
          </p:cNvSpPr>
          <p:nvPr>
            <p:ph idx="1"/>
          </p:nvPr>
        </p:nvSpPr>
        <p:spPr>
          <a:xfrm>
            <a:off x="344558" y="967409"/>
            <a:ext cx="11516138" cy="5280990"/>
          </a:xfrm>
        </p:spPr>
        <p:txBody>
          <a:bodyPr>
            <a:normAutofit lnSpcReduction="10000"/>
          </a:bodyPr>
          <a:lstStyle/>
          <a:p>
            <a:pPr algn="just"/>
            <a:r>
              <a:rPr lang="en-US" sz="3200" dirty="0"/>
              <a:t>Teeth are bony structures found in the mouth; firmly fixed in the jaws from where they grow.</a:t>
            </a:r>
          </a:p>
          <a:p>
            <a:pPr algn="just"/>
            <a:r>
              <a:rPr lang="en-US" sz="3200" dirty="0"/>
              <a:t>Externally, each tooth consists of a crown, neck and root.</a:t>
            </a:r>
          </a:p>
          <a:p>
            <a:pPr marL="0" indent="0" algn="ctr">
              <a:buNone/>
            </a:pPr>
            <a:r>
              <a:rPr lang="en-US" sz="3200" b="1" u="sng" dirty="0"/>
              <a:t>Types of mammalian teeth</a:t>
            </a:r>
          </a:p>
          <a:p>
            <a:pPr marL="0" indent="0" algn="ctr">
              <a:buNone/>
            </a:pPr>
            <a:endParaRPr lang="en-US" sz="3200" b="1" u="sng" dirty="0"/>
          </a:p>
          <a:p>
            <a:pPr algn="just"/>
            <a:r>
              <a:rPr lang="en-US" sz="3200" dirty="0"/>
              <a:t>What are the different types of mammalian teeth?</a:t>
            </a:r>
          </a:p>
          <a:p>
            <a:pPr algn="just"/>
            <a:r>
              <a:rPr lang="en-US" sz="3200" dirty="0"/>
              <a:t>What are the functions of the various types of the mammalian teeth?</a:t>
            </a:r>
          </a:p>
          <a:p>
            <a:pPr algn="just"/>
            <a:r>
              <a:rPr lang="en-US" sz="3200" dirty="0"/>
              <a:t>How are the teeth adapted to </a:t>
            </a:r>
            <a:r>
              <a:rPr lang="en-US" sz="3200"/>
              <a:t>their functions?</a:t>
            </a:r>
            <a:endParaRPr lang="en-US" sz="3200" dirty="0"/>
          </a:p>
        </p:txBody>
      </p:sp>
    </p:spTree>
    <p:extLst>
      <p:ext uri="{BB962C8B-B14F-4D97-AF65-F5344CB8AC3E}">
        <p14:creationId xmlns:p14="http://schemas.microsoft.com/office/powerpoint/2010/main" val="472824639"/>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Anatomical and Clinical Parts of Teeth (Video)">
            <a:extLst>
              <a:ext uri="{FF2B5EF4-FFF2-40B4-BE49-F238E27FC236}">
                <a16:creationId xmlns:a16="http://schemas.microsoft.com/office/drawing/2014/main" id="{097E4537-F1B7-5881-C6A2-7AFD6E74AC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136"/>
            <a:ext cx="5118285" cy="678172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BA60059-6996-479F-27D1-12BCC7C4788F}"/>
              </a:ext>
            </a:extLst>
          </p:cNvPr>
          <p:cNvPicPr>
            <a:picLocks noChangeAspect="1"/>
          </p:cNvPicPr>
          <p:nvPr/>
        </p:nvPicPr>
        <p:blipFill>
          <a:blip r:embed="rId3"/>
          <a:stretch>
            <a:fillRect/>
          </a:stretch>
        </p:blipFill>
        <p:spPr>
          <a:xfrm>
            <a:off x="5118284" y="38136"/>
            <a:ext cx="7041967" cy="6781728"/>
          </a:xfrm>
          <a:prstGeom prst="rect">
            <a:avLst/>
          </a:prstGeom>
        </p:spPr>
      </p:pic>
    </p:spTree>
    <p:extLst>
      <p:ext uri="{BB962C8B-B14F-4D97-AF65-F5344CB8AC3E}">
        <p14:creationId xmlns:p14="http://schemas.microsoft.com/office/powerpoint/2010/main" val="1517565682"/>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1AFD7407-9DE1-3E49-2AB9-7F5C635457A9}"/>
              </a:ext>
            </a:extLst>
          </p:cNvPr>
          <p:cNvGraphicFramePr>
            <a:graphicFrameLocks noGrp="1"/>
          </p:cNvGraphicFramePr>
          <p:nvPr>
            <p:ph idx="1"/>
            <p:extLst>
              <p:ext uri="{D42A27DB-BD31-4B8C-83A1-F6EECF244321}">
                <p14:modId xmlns:p14="http://schemas.microsoft.com/office/powerpoint/2010/main" val="4272820581"/>
              </p:ext>
            </p:extLst>
          </p:nvPr>
        </p:nvGraphicFramePr>
        <p:xfrm>
          <a:off x="636105" y="1470992"/>
          <a:ext cx="11131826" cy="4345263"/>
        </p:xfrm>
        <a:graphic>
          <a:graphicData uri="http://schemas.openxmlformats.org/drawingml/2006/table">
            <a:tbl>
              <a:tblPr firstRow="1" bandRow="1">
                <a:tableStyleId>{5C22544A-7EE6-4342-B048-85BDC9FD1C3A}</a:tableStyleId>
              </a:tblPr>
              <a:tblGrid>
                <a:gridCol w="5565913">
                  <a:extLst>
                    <a:ext uri="{9D8B030D-6E8A-4147-A177-3AD203B41FA5}">
                      <a16:colId xmlns:a16="http://schemas.microsoft.com/office/drawing/2014/main" val="4215429326"/>
                    </a:ext>
                  </a:extLst>
                </a:gridCol>
                <a:gridCol w="5565913">
                  <a:extLst>
                    <a:ext uri="{9D8B030D-6E8A-4147-A177-3AD203B41FA5}">
                      <a16:colId xmlns:a16="http://schemas.microsoft.com/office/drawing/2014/main" val="2482028380"/>
                    </a:ext>
                  </a:extLst>
                </a:gridCol>
              </a:tblGrid>
              <a:tr h="589714">
                <a:tc>
                  <a:txBody>
                    <a:bodyPr/>
                    <a:lstStyle/>
                    <a:p>
                      <a:r>
                        <a:rPr lang="en-US" sz="3200" dirty="0"/>
                        <a:t>Type of tooth</a:t>
                      </a:r>
                    </a:p>
                  </a:txBody>
                  <a:tcPr/>
                </a:tc>
                <a:tc>
                  <a:txBody>
                    <a:bodyPr/>
                    <a:lstStyle/>
                    <a:p>
                      <a:r>
                        <a:rPr lang="en-US" sz="3200" dirty="0"/>
                        <a:t>Function </a:t>
                      </a:r>
                    </a:p>
                  </a:txBody>
                  <a:tcPr/>
                </a:tc>
                <a:extLst>
                  <a:ext uri="{0D108BD9-81ED-4DB2-BD59-A6C34878D82A}">
                    <a16:rowId xmlns:a16="http://schemas.microsoft.com/office/drawing/2014/main" val="538489331"/>
                  </a:ext>
                </a:extLst>
              </a:tr>
              <a:tr h="1086316">
                <a:tc>
                  <a:txBody>
                    <a:bodyPr/>
                    <a:lstStyle/>
                    <a:p>
                      <a:r>
                        <a:rPr lang="en-US" sz="3200" dirty="0"/>
                        <a:t>Incisor tooth</a:t>
                      </a:r>
                    </a:p>
                  </a:txBody>
                  <a:tcPr/>
                </a:tc>
                <a:tc>
                  <a:txBody>
                    <a:bodyPr/>
                    <a:lstStyle/>
                    <a:p>
                      <a:r>
                        <a:rPr lang="en-US" sz="3200" dirty="0"/>
                        <a:t>Cutting and biting food</a:t>
                      </a:r>
                    </a:p>
                  </a:txBody>
                  <a:tcPr/>
                </a:tc>
                <a:extLst>
                  <a:ext uri="{0D108BD9-81ED-4DB2-BD59-A6C34878D82A}">
                    <a16:rowId xmlns:a16="http://schemas.microsoft.com/office/drawing/2014/main" val="1743496283"/>
                  </a:ext>
                </a:extLst>
              </a:tr>
              <a:tr h="1086316">
                <a:tc>
                  <a:txBody>
                    <a:bodyPr/>
                    <a:lstStyle/>
                    <a:p>
                      <a:r>
                        <a:rPr lang="en-US" sz="3200" dirty="0"/>
                        <a:t>Canine tooth</a:t>
                      </a:r>
                    </a:p>
                  </a:txBody>
                  <a:tcPr/>
                </a:tc>
                <a:tc>
                  <a:txBody>
                    <a:bodyPr/>
                    <a:lstStyle/>
                    <a:p>
                      <a:r>
                        <a:rPr lang="en-US" sz="3200" dirty="0"/>
                        <a:t>Piercing and tearing flesh</a:t>
                      </a:r>
                    </a:p>
                  </a:txBody>
                  <a:tcPr/>
                </a:tc>
                <a:extLst>
                  <a:ext uri="{0D108BD9-81ED-4DB2-BD59-A6C34878D82A}">
                    <a16:rowId xmlns:a16="http://schemas.microsoft.com/office/drawing/2014/main" val="854151037"/>
                  </a:ext>
                </a:extLst>
              </a:tr>
              <a:tr h="589714">
                <a:tc>
                  <a:txBody>
                    <a:bodyPr/>
                    <a:lstStyle/>
                    <a:p>
                      <a:r>
                        <a:rPr lang="en-US" sz="3200" dirty="0"/>
                        <a:t>Premolar tooth</a:t>
                      </a:r>
                    </a:p>
                  </a:txBody>
                  <a:tcPr/>
                </a:tc>
                <a:tc rowSpan="2">
                  <a:txBody>
                    <a:bodyPr/>
                    <a:lstStyle/>
                    <a:p>
                      <a:r>
                        <a:rPr lang="en-US" sz="3200" dirty="0"/>
                        <a:t>Chewing, grinding/crushing food</a:t>
                      </a:r>
                    </a:p>
                  </a:txBody>
                  <a:tcPr/>
                </a:tc>
                <a:extLst>
                  <a:ext uri="{0D108BD9-81ED-4DB2-BD59-A6C34878D82A}">
                    <a16:rowId xmlns:a16="http://schemas.microsoft.com/office/drawing/2014/main" val="1921022334"/>
                  </a:ext>
                </a:extLst>
              </a:tr>
              <a:tr h="993203">
                <a:tc>
                  <a:txBody>
                    <a:bodyPr/>
                    <a:lstStyle/>
                    <a:p>
                      <a:r>
                        <a:rPr lang="en-US" sz="3200" dirty="0"/>
                        <a:t>Molar tooth</a:t>
                      </a:r>
                    </a:p>
                  </a:txBody>
                  <a:tcPr/>
                </a:tc>
                <a:tc vMerge="1">
                  <a:txBody>
                    <a:bodyPr/>
                    <a:lstStyle/>
                    <a:p>
                      <a:endParaRPr lang="en-US" dirty="0"/>
                    </a:p>
                  </a:txBody>
                  <a:tcPr/>
                </a:tc>
                <a:extLst>
                  <a:ext uri="{0D108BD9-81ED-4DB2-BD59-A6C34878D82A}">
                    <a16:rowId xmlns:a16="http://schemas.microsoft.com/office/drawing/2014/main" val="2408767504"/>
                  </a:ext>
                </a:extLst>
              </a:tr>
            </a:tbl>
          </a:graphicData>
        </a:graphic>
      </p:graphicFrame>
    </p:spTree>
    <p:extLst>
      <p:ext uri="{BB962C8B-B14F-4D97-AF65-F5344CB8AC3E}">
        <p14:creationId xmlns:p14="http://schemas.microsoft.com/office/powerpoint/2010/main" val="1858785679"/>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07202-2DA0-2B29-A333-857307AB1646}"/>
              </a:ext>
            </a:extLst>
          </p:cNvPr>
          <p:cNvSpPr>
            <a:spLocks noGrp="1"/>
          </p:cNvSpPr>
          <p:nvPr>
            <p:ph type="title"/>
          </p:nvPr>
        </p:nvSpPr>
        <p:spPr>
          <a:xfrm>
            <a:off x="738876" y="153473"/>
            <a:ext cx="9404723" cy="912256"/>
          </a:xfrm>
        </p:spPr>
        <p:txBody>
          <a:bodyPr/>
          <a:lstStyle/>
          <a:p>
            <a:pPr algn="just"/>
            <a:r>
              <a:rPr lang="en-US" b="1" u="sng" dirty="0"/>
              <a:t>Structure of mammalian teeth</a:t>
            </a:r>
          </a:p>
        </p:txBody>
      </p:sp>
      <p:sp>
        <p:nvSpPr>
          <p:cNvPr id="3" name="Content Placeholder 2">
            <a:extLst>
              <a:ext uri="{FF2B5EF4-FFF2-40B4-BE49-F238E27FC236}">
                <a16:creationId xmlns:a16="http://schemas.microsoft.com/office/drawing/2014/main" id="{45595A94-FD80-B07E-59E3-200531A7F322}"/>
              </a:ext>
            </a:extLst>
          </p:cNvPr>
          <p:cNvSpPr>
            <a:spLocks noGrp="1"/>
          </p:cNvSpPr>
          <p:nvPr>
            <p:ph idx="1"/>
          </p:nvPr>
        </p:nvSpPr>
        <p:spPr>
          <a:xfrm>
            <a:off x="738876" y="1065729"/>
            <a:ext cx="10843524" cy="5182671"/>
          </a:xfrm>
        </p:spPr>
        <p:txBody>
          <a:bodyPr/>
          <a:lstStyle/>
          <a:p>
            <a:pPr marL="0" indent="0" algn="just">
              <a:buNone/>
            </a:pPr>
            <a:r>
              <a:rPr lang="en-US" sz="3200" b="1" u="sng" dirty="0">
                <a:effectLst>
                  <a:outerShdw blurRad="38100" dist="38100" dir="2700000" algn="tl">
                    <a:srgbClr val="000000">
                      <a:alpha val="43137"/>
                    </a:srgbClr>
                  </a:outerShdw>
                </a:effectLst>
              </a:rPr>
              <a:t>1. Incisor tooth</a:t>
            </a:r>
          </a:p>
          <a:p>
            <a:pPr marL="0" indent="0" algn="just">
              <a:buNone/>
            </a:pPr>
            <a:r>
              <a:rPr lang="en-US" sz="3200" b="1" u="sng" dirty="0">
                <a:effectLst>
                  <a:outerShdw blurRad="38100" dist="38100" dir="2700000" algn="tl">
                    <a:srgbClr val="000000">
                      <a:alpha val="43137"/>
                    </a:srgbClr>
                  </a:outerShdw>
                </a:effectLst>
              </a:rPr>
              <a:t>Characteristics:</a:t>
            </a:r>
          </a:p>
          <a:p>
            <a:pPr algn="just"/>
            <a:r>
              <a:rPr lang="en-US" sz="3200" dirty="0"/>
              <a:t>Has chisel-shaped (wedge-shaped) crown with sharp, flat cutting edge </a:t>
            </a:r>
          </a:p>
          <a:p>
            <a:pPr algn="just"/>
            <a:r>
              <a:rPr lang="en-US" sz="3200" dirty="0"/>
              <a:t>Have single root</a:t>
            </a:r>
          </a:p>
          <a:p>
            <a:pPr algn="just"/>
            <a:r>
              <a:rPr lang="en-US" sz="3200" dirty="0"/>
              <a:t>Has narrow dental canal</a:t>
            </a:r>
          </a:p>
          <a:p>
            <a:endParaRPr lang="en-US" dirty="0"/>
          </a:p>
        </p:txBody>
      </p:sp>
    </p:spTree>
    <p:extLst>
      <p:ext uri="{BB962C8B-B14F-4D97-AF65-F5344CB8AC3E}">
        <p14:creationId xmlns:p14="http://schemas.microsoft.com/office/powerpoint/2010/main" val="3511086411"/>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E9FE6-92CD-B7A1-2E98-1040F0F2A85A}"/>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7DBEF1C0-44CE-1FC5-7266-DB778B399EFF}"/>
              </a:ext>
            </a:extLst>
          </p:cNvPr>
          <p:cNvPicPr>
            <a:picLocks noChangeAspect="1"/>
          </p:cNvPicPr>
          <p:nvPr/>
        </p:nvPicPr>
        <p:blipFill>
          <a:blip r:embed="rId2"/>
          <a:stretch>
            <a:fillRect/>
          </a:stretch>
        </p:blipFill>
        <p:spPr>
          <a:xfrm>
            <a:off x="646111" y="343518"/>
            <a:ext cx="9862863" cy="6061764"/>
          </a:xfrm>
          <a:prstGeom prst="rect">
            <a:avLst/>
          </a:prstGeom>
        </p:spPr>
      </p:pic>
    </p:spTree>
    <p:extLst>
      <p:ext uri="{BB962C8B-B14F-4D97-AF65-F5344CB8AC3E}">
        <p14:creationId xmlns:p14="http://schemas.microsoft.com/office/powerpoint/2010/main" val="2486727061"/>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012F3-1686-0440-E35B-DA202014FED2}"/>
              </a:ext>
            </a:extLst>
          </p:cNvPr>
          <p:cNvSpPr>
            <a:spLocks noGrp="1"/>
          </p:cNvSpPr>
          <p:nvPr>
            <p:ph type="title"/>
          </p:nvPr>
        </p:nvSpPr>
        <p:spPr>
          <a:xfrm>
            <a:off x="500337" y="48343"/>
            <a:ext cx="10909785" cy="561258"/>
          </a:xfrm>
        </p:spPr>
        <p:txBody>
          <a:bodyPr/>
          <a:lstStyle/>
          <a:p>
            <a:r>
              <a:rPr lang="en-US" sz="3200" b="1" u="sng" dirty="0"/>
              <a:t>Drawing of external side/lateral view of incisor tooth</a:t>
            </a:r>
          </a:p>
        </p:txBody>
      </p:sp>
      <p:pic>
        <p:nvPicPr>
          <p:cNvPr id="7" name="Picture 6">
            <a:extLst>
              <a:ext uri="{FF2B5EF4-FFF2-40B4-BE49-F238E27FC236}">
                <a16:creationId xmlns:a16="http://schemas.microsoft.com/office/drawing/2014/main" id="{D29DBD03-FD9F-B106-BCAC-9DFD558D2B38}"/>
              </a:ext>
            </a:extLst>
          </p:cNvPr>
          <p:cNvPicPr>
            <a:picLocks noChangeAspect="1"/>
          </p:cNvPicPr>
          <p:nvPr/>
        </p:nvPicPr>
        <p:blipFill>
          <a:blip r:embed="rId2"/>
          <a:stretch>
            <a:fillRect/>
          </a:stretch>
        </p:blipFill>
        <p:spPr>
          <a:xfrm>
            <a:off x="3545893" y="609600"/>
            <a:ext cx="4074103" cy="6211337"/>
          </a:xfrm>
          <a:prstGeom prst="rect">
            <a:avLst/>
          </a:prstGeom>
        </p:spPr>
      </p:pic>
    </p:spTree>
    <p:extLst>
      <p:ext uri="{BB962C8B-B14F-4D97-AF65-F5344CB8AC3E}">
        <p14:creationId xmlns:p14="http://schemas.microsoft.com/office/powerpoint/2010/main" val="1489534602"/>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9F82C-75AF-2F9D-BB24-AFDDC348AF72}"/>
              </a:ext>
            </a:extLst>
          </p:cNvPr>
          <p:cNvSpPr>
            <a:spLocks noGrp="1"/>
          </p:cNvSpPr>
          <p:nvPr>
            <p:ph type="title"/>
          </p:nvPr>
        </p:nvSpPr>
        <p:spPr>
          <a:xfrm>
            <a:off x="540093" y="81570"/>
            <a:ext cx="9404723" cy="1400530"/>
          </a:xfrm>
        </p:spPr>
        <p:txBody>
          <a:bodyPr/>
          <a:lstStyle/>
          <a:p>
            <a:r>
              <a:rPr lang="en-US" dirty="0"/>
              <a:t>2.	Canine tooth</a:t>
            </a:r>
          </a:p>
        </p:txBody>
      </p:sp>
      <p:sp>
        <p:nvSpPr>
          <p:cNvPr id="3" name="Content Placeholder 2">
            <a:extLst>
              <a:ext uri="{FF2B5EF4-FFF2-40B4-BE49-F238E27FC236}">
                <a16:creationId xmlns:a16="http://schemas.microsoft.com/office/drawing/2014/main" id="{892A13EA-42DD-6800-2604-84BAAB3F19D7}"/>
              </a:ext>
            </a:extLst>
          </p:cNvPr>
          <p:cNvSpPr>
            <a:spLocks noGrp="1"/>
          </p:cNvSpPr>
          <p:nvPr>
            <p:ph idx="1"/>
          </p:nvPr>
        </p:nvSpPr>
        <p:spPr>
          <a:xfrm>
            <a:off x="357808" y="781835"/>
            <a:ext cx="11148324" cy="4923182"/>
          </a:xfrm>
        </p:spPr>
        <p:txBody>
          <a:bodyPr/>
          <a:lstStyle/>
          <a:p>
            <a:pPr marL="0" indent="0" algn="just">
              <a:buNone/>
            </a:pPr>
            <a:r>
              <a:rPr lang="en-US" sz="3200" b="1" u="sng" dirty="0"/>
              <a:t>Characteristics</a:t>
            </a:r>
            <a:r>
              <a:rPr lang="en-US" sz="3200" dirty="0"/>
              <a:t> </a:t>
            </a:r>
          </a:p>
          <a:p>
            <a:pPr algn="just"/>
            <a:r>
              <a:rPr lang="en-US" sz="3200" dirty="0"/>
              <a:t>The crown is sharp and pointed or conical.</a:t>
            </a:r>
          </a:p>
          <a:p>
            <a:pPr algn="just"/>
            <a:r>
              <a:rPr lang="en-US" sz="3200" dirty="0"/>
              <a:t>Has single root</a:t>
            </a:r>
          </a:p>
          <a:p>
            <a:pPr algn="just"/>
            <a:r>
              <a:rPr lang="en-US" sz="3200" dirty="0"/>
              <a:t>Has narrow dental canal</a:t>
            </a:r>
          </a:p>
          <a:p>
            <a:endParaRPr lang="en-US" dirty="0"/>
          </a:p>
        </p:txBody>
      </p:sp>
      <p:pic>
        <p:nvPicPr>
          <p:cNvPr id="5" name="Picture 4">
            <a:extLst>
              <a:ext uri="{FF2B5EF4-FFF2-40B4-BE49-F238E27FC236}">
                <a16:creationId xmlns:a16="http://schemas.microsoft.com/office/drawing/2014/main" id="{DE29C173-94AC-2012-9BB9-05B4C94C07EA}"/>
              </a:ext>
            </a:extLst>
          </p:cNvPr>
          <p:cNvPicPr>
            <a:picLocks noChangeAspect="1"/>
          </p:cNvPicPr>
          <p:nvPr/>
        </p:nvPicPr>
        <p:blipFill>
          <a:blip r:embed="rId2"/>
          <a:stretch>
            <a:fillRect/>
          </a:stretch>
        </p:blipFill>
        <p:spPr>
          <a:xfrm>
            <a:off x="6323771" y="1966524"/>
            <a:ext cx="3986420" cy="4872291"/>
          </a:xfrm>
          <a:prstGeom prst="rect">
            <a:avLst/>
          </a:prstGeom>
        </p:spPr>
      </p:pic>
    </p:spTree>
    <p:extLst>
      <p:ext uri="{BB962C8B-B14F-4D97-AF65-F5344CB8AC3E}">
        <p14:creationId xmlns:p14="http://schemas.microsoft.com/office/powerpoint/2010/main" val="316519151"/>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75F12-94CB-4A5D-317D-5CFEA0F1F9E8}"/>
              </a:ext>
            </a:extLst>
          </p:cNvPr>
          <p:cNvSpPr>
            <a:spLocks noGrp="1"/>
          </p:cNvSpPr>
          <p:nvPr>
            <p:ph type="title"/>
          </p:nvPr>
        </p:nvSpPr>
        <p:spPr>
          <a:xfrm>
            <a:off x="354564" y="57208"/>
            <a:ext cx="10989298" cy="1400530"/>
          </a:xfrm>
        </p:spPr>
        <p:txBody>
          <a:bodyPr/>
          <a:lstStyle/>
          <a:p>
            <a:r>
              <a:rPr lang="en-US" sz="3200" b="1" u="sng" dirty="0"/>
              <a:t>A drawing of external lateral/side view of canine tooth</a:t>
            </a:r>
          </a:p>
        </p:txBody>
      </p:sp>
      <p:pic>
        <p:nvPicPr>
          <p:cNvPr id="5" name="Picture 4">
            <a:extLst>
              <a:ext uri="{FF2B5EF4-FFF2-40B4-BE49-F238E27FC236}">
                <a16:creationId xmlns:a16="http://schemas.microsoft.com/office/drawing/2014/main" id="{D508B94E-4727-4807-D8E3-7A5570038311}"/>
              </a:ext>
            </a:extLst>
          </p:cNvPr>
          <p:cNvPicPr>
            <a:picLocks noChangeAspect="1"/>
          </p:cNvPicPr>
          <p:nvPr/>
        </p:nvPicPr>
        <p:blipFill>
          <a:blip r:embed="rId2"/>
          <a:stretch>
            <a:fillRect/>
          </a:stretch>
        </p:blipFill>
        <p:spPr>
          <a:xfrm>
            <a:off x="3697355" y="636106"/>
            <a:ext cx="3564836" cy="6238463"/>
          </a:xfrm>
          <a:prstGeom prst="rect">
            <a:avLst/>
          </a:prstGeom>
        </p:spPr>
      </p:pic>
    </p:spTree>
    <p:extLst>
      <p:ext uri="{BB962C8B-B14F-4D97-AF65-F5344CB8AC3E}">
        <p14:creationId xmlns:p14="http://schemas.microsoft.com/office/powerpoint/2010/main" val="3841409755"/>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F1D33-1F2A-C160-856D-A8DF32D9102C}"/>
              </a:ext>
            </a:extLst>
          </p:cNvPr>
          <p:cNvSpPr>
            <a:spLocks noGrp="1"/>
          </p:cNvSpPr>
          <p:nvPr>
            <p:ph type="title"/>
          </p:nvPr>
        </p:nvSpPr>
        <p:spPr>
          <a:xfrm>
            <a:off x="575624" y="94909"/>
            <a:ext cx="9404723" cy="1400530"/>
          </a:xfrm>
        </p:spPr>
        <p:txBody>
          <a:bodyPr/>
          <a:lstStyle/>
          <a:p>
            <a:r>
              <a:rPr lang="en-US" dirty="0"/>
              <a:t>3.	Premolar tooth</a:t>
            </a:r>
            <a:br>
              <a:rPr lang="en-US" dirty="0"/>
            </a:br>
            <a:endParaRPr lang="en-US" dirty="0"/>
          </a:p>
        </p:txBody>
      </p:sp>
      <p:sp>
        <p:nvSpPr>
          <p:cNvPr id="3" name="Content Placeholder 2">
            <a:extLst>
              <a:ext uri="{FF2B5EF4-FFF2-40B4-BE49-F238E27FC236}">
                <a16:creationId xmlns:a16="http://schemas.microsoft.com/office/drawing/2014/main" id="{648B7BA7-6825-DB8A-DDAF-93FA93B84DD2}"/>
              </a:ext>
            </a:extLst>
          </p:cNvPr>
          <p:cNvSpPr>
            <a:spLocks noGrp="1"/>
          </p:cNvSpPr>
          <p:nvPr>
            <p:ph idx="1"/>
          </p:nvPr>
        </p:nvSpPr>
        <p:spPr>
          <a:xfrm>
            <a:off x="575624" y="925597"/>
            <a:ext cx="10685479" cy="4752960"/>
          </a:xfrm>
        </p:spPr>
        <p:txBody>
          <a:bodyPr>
            <a:normAutofit/>
          </a:bodyPr>
          <a:lstStyle/>
          <a:p>
            <a:pPr marL="0" indent="0" algn="just">
              <a:buNone/>
            </a:pPr>
            <a:r>
              <a:rPr lang="en-US" sz="2800" b="1" u="sng" dirty="0"/>
              <a:t>Characteristics </a:t>
            </a:r>
          </a:p>
          <a:p>
            <a:pPr algn="just"/>
            <a:r>
              <a:rPr lang="en-US" sz="2800" dirty="0"/>
              <a:t>Has wide/broad crown</a:t>
            </a:r>
          </a:p>
          <a:p>
            <a:pPr algn="just"/>
            <a:r>
              <a:rPr lang="en-US" sz="2800" dirty="0"/>
              <a:t>Has ridges and cusps at the top of the crown, for grinding food. </a:t>
            </a:r>
          </a:p>
          <a:p>
            <a:pPr algn="just"/>
            <a:r>
              <a:rPr lang="en-US" sz="2800" dirty="0"/>
              <a:t>Dentine more exposed at the top </a:t>
            </a:r>
          </a:p>
          <a:p>
            <a:pPr algn="just"/>
            <a:r>
              <a:rPr lang="en-US" sz="2800" dirty="0"/>
              <a:t>Has wide dental canal</a:t>
            </a:r>
          </a:p>
          <a:p>
            <a:pPr algn="just"/>
            <a:r>
              <a:rPr lang="en-US" sz="2800" dirty="0"/>
              <a:t>Has two roots</a:t>
            </a:r>
          </a:p>
          <a:p>
            <a:pPr algn="just"/>
            <a:endParaRPr lang="en-US" sz="2800" dirty="0"/>
          </a:p>
        </p:txBody>
      </p:sp>
      <p:pic>
        <p:nvPicPr>
          <p:cNvPr id="5" name="Picture 4">
            <a:extLst>
              <a:ext uri="{FF2B5EF4-FFF2-40B4-BE49-F238E27FC236}">
                <a16:creationId xmlns:a16="http://schemas.microsoft.com/office/drawing/2014/main" id="{43C84C72-EDBC-B8CA-B373-5CAD2945B6C4}"/>
              </a:ext>
            </a:extLst>
          </p:cNvPr>
          <p:cNvPicPr>
            <a:picLocks noChangeAspect="1"/>
          </p:cNvPicPr>
          <p:nvPr/>
        </p:nvPicPr>
        <p:blipFill>
          <a:blip r:embed="rId2"/>
          <a:stretch>
            <a:fillRect/>
          </a:stretch>
        </p:blipFill>
        <p:spPr>
          <a:xfrm>
            <a:off x="7017854" y="2566426"/>
            <a:ext cx="5174146" cy="4233392"/>
          </a:xfrm>
          <a:prstGeom prst="rect">
            <a:avLst/>
          </a:prstGeom>
        </p:spPr>
      </p:pic>
    </p:spTree>
    <p:extLst>
      <p:ext uri="{BB962C8B-B14F-4D97-AF65-F5344CB8AC3E}">
        <p14:creationId xmlns:p14="http://schemas.microsoft.com/office/powerpoint/2010/main" val="2197908239"/>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CF907-FC71-D2DB-07F4-B05F4FA84920}"/>
              </a:ext>
            </a:extLst>
          </p:cNvPr>
          <p:cNvSpPr>
            <a:spLocks noGrp="1"/>
          </p:cNvSpPr>
          <p:nvPr>
            <p:ph type="title"/>
          </p:nvPr>
        </p:nvSpPr>
        <p:spPr>
          <a:xfrm>
            <a:off x="462203" y="0"/>
            <a:ext cx="11267593" cy="609601"/>
          </a:xfrm>
        </p:spPr>
        <p:txBody>
          <a:bodyPr/>
          <a:lstStyle/>
          <a:p>
            <a:r>
              <a:rPr lang="en-US" sz="3200" b="1" u="sng" dirty="0"/>
              <a:t>Drawing of external lateral/side view of pre-molar tooth</a:t>
            </a:r>
          </a:p>
        </p:txBody>
      </p:sp>
      <p:pic>
        <p:nvPicPr>
          <p:cNvPr id="5" name="Picture 4">
            <a:extLst>
              <a:ext uri="{FF2B5EF4-FFF2-40B4-BE49-F238E27FC236}">
                <a16:creationId xmlns:a16="http://schemas.microsoft.com/office/drawing/2014/main" id="{10C8BA87-5B07-F3CC-E209-040025BB4F38}"/>
              </a:ext>
            </a:extLst>
          </p:cNvPr>
          <p:cNvPicPr>
            <a:picLocks noChangeAspect="1"/>
          </p:cNvPicPr>
          <p:nvPr/>
        </p:nvPicPr>
        <p:blipFill>
          <a:blip r:embed="rId2"/>
          <a:stretch>
            <a:fillRect/>
          </a:stretch>
        </p:blipFill>
        <p:spPr>
          <a:xfrm>
            <a:off x="2491408" y="552562"/>
            <a:ext cx="6374295" cy="6252429"/>
          </a:xfrm>
          <a:prstGeom prst="rect">
            <a:avLst/>
          </a:prstGeom>
        </p:spPr>
      </p:pic>
    </p:spTree>
    <p:extLst>
      <p:ext uri="{BB962C8B-B14F-4D97-AF65-F5344CB8AC3E}">
        <p14:creationId xmlns:p14="http://schemas.microsoft.com/office/powerpoint/2010/main" val="1084168345"/>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C753E-00C7-BD8A-801F-F428EB796FB8}"/>
              </a:ext>
            </a:extLst>
          </p:cNvPr>
          <p:cNvSpPr>
            <a:spLocks noGrp="1"/>
          </p:cNvSpPr>
          <p:nvPr>
            <p:ph type="title"/>
          </p:nvPr>
        </p:nvSpPr>
        <p:spPr/>
        <p:txBody>
          <a:bodyPr/>
          <a:lstStyle/>
          <a:p>
            <a:r>
              <a:rPr lang="en-US" u="sng" dirty="0"/>
              <a:t>4.	Molar tooth</a:t>
            </a:r>
            <a:r>
              <a:rPr lang="en-US" dirty="0"/>
              <a:t/>
            </a:r>
            <a:br>
              <a:rPr lang="en-US" dirty="0"/>
            </a:br>
            <a:endParaRPr lang="en-US" dirty="0"/>
          </a:p>
        </p:txBody>
      </p:sp>
      <p:sp>
        <p:nvSpPr>
          <p:cNvPr id="3" name="Content Placeholder 2">
            <a:extLst>
              <a:ext uri="{FF2B5EF4-FFF2-40B4-BE49-F238E27FC236}">
                <a16:creationId xmlns:a16="http://schemas.microsoft.com/office/drawing/2014/main" id="{DB3A29A6-44D6-2C06-9F04-4C69773B3715}"/>
              </a:ext>
            </a:extLst>
          </p:cNvPr>
          <p:cNvSpPr>
            <a:spLocks noGrp="1"/>
          </p:cNvSpPr>
          <p:nvPr>
            <p:ph idx="1"/>
          </p:nvPr>
        </p:nvSpPr>
        <p:spPr>
          <a:xfrm>
            <a:off x="772008" y="1139687"/>
            <a:ext cx="10982670" cy="4387053"/>
          </a:xfrm>
        </p:spPr>
        <p:txBody>
          <a:bodyPr/>
          <a:lstStyle/>
          <a:p>
            <a:pPr marL="0" indent="0" algn="just">
              <a:buNone/>
            </a:pPr>
            <a:r>
              <a:rPr lang="en-US" sz="3200" b="1" u="sng" dirty="0"/>
              <a:t>Characteristics </a:t>
            </a:r>
          </a:p>
          <a:p>
            <a:pPr algn="just"/>
            <a:r>
              <a:rPr lang="en-US" sz="3200" dirty="0"/>
              <a:t>Has a wide/broad crown</a:t>
            </a:r>
          </a:p>
          <a:p>
            <a:pPr algn="just"/>
            <a:r>
              <a:rPr lang="en-US" sz="3200" dirty="0"/>
              <a:t>Has ridges and cusps at the top of the crown, for grinding food. </a:t>
            </a:r>
          </a:p>
          <a:p>
            <a:pPr algn="just"/>
            <a:r>
              <a:rPr lang="en-US" sz="3200" dirty="0"/>
              <a:t>Dentine more exposed at the top </a:t>
            </a:r>
          </a:p>
          <a:p>
            <a:pPr algn="just"/>
            <a:r>
              <a:rPr lang="en-US" sz="3200" dirty="0"/>
              <a:t>Has wide dental canal</a:t>
            </a:r>
          </a:p>
          <a:p>
            <a:pPr algn="just"/>
            <a:r>
              <a:rPr lang="en-US" sz="3200" dirty="0"/>
              <a:t>Have 3 (or 4) roots.</a:t>
            </a:r>
          </a:p>
          <a:p>
            <a:endParaRPr lang="en-US" dirty="0"/>
          </a:p>
        </p:txBody>
      </p:sp>
      <p:pic>
        <p:nvPicPr>
          <p:cNvPr id="5" name="Picture 4">
            <a:extLst>
              <a:ext uri="{FF2B5EF4-FFF2-40B4-BE49-F238E27FC236}">
                <a16:creationId xmlns:a16="http://schemas.microsoft.com/office/drawing/2014/main" id="{80B140FC-204D-9655-CF8E-092532DB9814}"/>
              </a:ext>
            </a:extLst>
          </p:cNvPr>
          <p:cNvPicPr>
            <a:picLocks noChangeAspect="1"/>
          </p:cNvPicPr>
          <p:nvPr/>
        </p:nvPicPr>
        <p:blipFill>
          <a:blip r:embed="rId2"/>
          <a:stretch>
            <a:fillRect/>
          </a:stretch>
        </p:blipFill>
        <p:spPr>
          <a:xfrm>
            <a:off x="7885793" y="2905125"/>
            <a:ext cx="4200190" cy="3500158"/>
          </a:xfrm>
          <a:prstGeom prst="rect">
            <a:avLst/>
          </a:prstGeom>
        </p:spPr>
      </p:pic>
    </p:spTree>
    <p:extLst>
      <p:ext uri="{BB962C8B-B14F-4D97-AF65-F5344CB8AC3E}">
        <p14:creationId xmlns:p14="http://schemas.microsoft.com/office/powerpoint/2010/main" val="1272502712"/>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59382-8273-0BD6-5173-1B43DDE06B7C}"/>
              </a:ext>
            </a:extLst>
          </p:cNvPr>
          <p:cNvSpPr>
            <a:spLocks noGrp="1"/>
          </p:cNvSpPr>
          <p:nvPr>
            <p:ph type="title"/>
          </p:nvPr>
        </p:nvSpPr>
        <p:spPr>
          <a:xfrm>
            <a:off x="645130" y="75167"/>
            <a:ext cx="10963774" cy="1400530"/>
          </a:xfrm>
        </p:spPr>
        <p:txBody>
          <a:bodyPr/>
          <a:lstStyle/>
          <a:p>
            <a:r>
              <a:rPr lang="en-US" sz="3200" b="1" u="sng" dirty="0"/>
              <a:t>Drawing of external lateral/side view of molar tooth</a:t>
            </a:r>
          </a:p>
        </p:txBody>
      </p:sp>
      <p:pic>
        <p:nvPicPr>
          <p:cNvPr id="2050" name="Picture 2">
            <a:extLst>
              <a:ext uri="{FF2B5EF4-FFF2-40B4-BE49-F238E27FC236}">
                <a16:creationId xmlns:a16="http://schemas.microsoft.com/office/drawing/2014/main" id="{48D9F4C8-E871-693A-A505-64EC29CD37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225"/>
          <a:stretch/>
        </p:blipFill>
        <p:spPr bwMode="auto">
          <a:xfrm>
            <a:off x="1833563" y="633435"/>
            <a:ext cx="7403202" cy="6135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1018758"/>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308CA-624C-CF37-02BC-A4F35C0C7803}"/>
              </a:ext>
            </a:extLst>
          </p:cNvPr>
          <p:cNvSpPr>
            <a:spLocks noGrp="1"/>
          </p:cNvSpPr>
          <p:nvPr>
            <p:ph type="title"/>
          </p:nvPr>
        </p:nvSpPr>
        <p:spPr>
          <a:xfrm>
            <a:off x="632859" y="0"/>
            <a:ext cx="9404723" cy="781878"/>
          </a:xfrm>
        </p:spPr>
        <p:txBody>
          <a:bodyPr/>
          <a:lstStyle/>
          <a:p>
            <a:r>
              <a:rPr lang="en-US" sz="3200" b="1" u="sng" dirty="0"/>
              <a:t>Adaptations of the different types of teeth </a:t>
            </a:r>
          </a:p>
        </p:txBody>
      </p:sp>
      <p:graphicFrame>
        <p:nvGraphicFramePr>
          <p:cNvPr id="4" name="Table 4">
            <a:extLst>
              <a:ext uri="{FF2B5EF4-FFF2-40B4-BE49-F238E27FC236}">
                <a16:creationId xmlns:a16="http://schemas.microsoft.com/office/drawing/2014/main" id="{6C8EAE23-998C-7B1B-12DF-D82D92610EF4}"/>
              </a:ext>
            </a:extLst>
          </p:cNvPr>
          <p:cNvGraphicFramePr>
            <a:graphicFrameLocks noGrp="1"/>
          </p:cNvGraphicFramePr>
          <p:nvPr>
            <p:ph idx="1"/>
            <p:extLst>
              <p:ext uri="{D42A27DB-BD31-4B8C-83A1-F6EECF244321}">
                <p14:modId xmlns:p14="http://schemas.microsoft.com/office/powerpoint/2010/main" val="1029910053"/>
              </p:ext>
            </p:extLst>
          </p:nvPr>
        </p:nvGraphicFramePr>
        <p:xfrm>
          <a:off x="145773" y="768628"/>
          <a:ext cx="11900453" cy="6004560"/>
        </p:xfrm>
        <a:graphic>
          <a:graphicData uri="http://schemas.openxmlformats.org/drawingml/2006/table">
            <a:tbl>
              <a:tblPr firstRow="1" bandRow="1">
                <a:tableStyleId>{5C22544A-7EE6-4342-B048-85BDC9FD1C3A}</a:tableStyleId>
              </a:tblPr>
              <a:tblGrid>
                <a:gridCol w="2425148">
                  <a:extLst>
                    <a:ext uri="{9D8B030D-6E8A-4147-A177-3AD203B41FA5}">
                      <a16:colId xmlns:a16="http://schemas.microsoft.com/office/drawing/2014/main" val="1179285421"/>
                    </a:ext>
                  </a:extLst>
                </a:gridCol>
                <a:gridCol w="9475305">
                  <a:extLst>
                    <a:ext uri="{9D8B030D-6E8A-4147-A177-3AD203B41FA5}">
                      <a16:colId xmlns:a16="http://schemas.microsoft.com/office/drawing/2014/main" val="3190699253"/>
                    </a:ext>
                  </a:extLst>
                </a:gridCol>
              </a:tblGrid>
              <a:tr h="476342">
                <a:tc>
                  <a:txBody>
                    <a:bodyPr/>
                    <a:lstStyle/>
                    <a:p>
                      <a:pPr algn="just"/>
                      <a:r>
                        <a:rPr lang="en-US" sz="2800" dirty="0"/>
                        <a:t>Type of tooth</a:t>
                      </a:r>
                    </a:p>
                  </a:txBody>
                  <a:tcPr/>
                </a:tc>
                <a:tc>
                  <a:txBody>
                    <a:bodyPr/>
                    <a:lstStyle/>
                    <a:p>
                      <a:pPr algn="just"/>
                      <a:r>
                        <a:rPr lang="en-US" sz="2800" dirty="0"/>
                        <a:t>Adaptation </a:t>
                      </a:r>
                    </a:p>
                  </a:txBody>
                  <a:tcPr/>
                </a:tc>
                <a:extLst>
                  <a:ext uri="{0D108BD9-81ED-4DB2-BD59-A6C34878D82A}">
                    <a16:rowId xmlns:a16="http://schemas.microsoft.com/office/drawing/2014/main" val="2277090441"/>
                  </a:ext>
                </a:extLst>
              </a:tr>
              <a:tr h="476342">
                <a:tc>
                  <a:txBody>
                    <a:bodyPr/>
                    <a:lstStyle/>
                    <a:p>
                      <a:pPr algn="just"/>
                      <a:r>
                        <a:rPr lang="en-US" sz="2800" dirty="0"/>
                        <a:t>Incisor tooth</a:t>
                      </a:r>
                    </a:p>
                  </a:txBody>
                  <a:tcPr/>
                </a:tc>
                <a:tc>
                  <a:txBody>
                    <a:bodyPr/>
                    <a:lstStyle/>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dirty="0"/>
                        <a:t>Sharp chisel-shaped crown for cutting food</a:t>
                      </a:r>
                    </a:p>
                  </a:txBody>
                  <a:tcPr/>
                </a:tc>
                <a:extLst>
                  <a:ext uri="{0D108BD9-81ED-4DB2-BD59-A6C34878D82A}">
                    <a16:rowId xmlns:a16="http://schemas.microsoft.com/office/drawing/2014/main" val="320085553"/>
                  </a:ext>
                </a:extLst>
              </a:tr>
              <a:tr h="868624">
                <a:tc>
                  <a:txBody>
                    <a:bodyPr/>
                    <a:lstStyle/>
                    <a:p>
                      <a:pPr algn="just"/>
                      <a:r>
                        <a:rPr lang="en-US" sz="2800" dirty="0"/>
                        <a:t>Canine tooth</a:t>
                      </a:r>
                    </a:p>
                  </a:txBody>
                  <a:tcPr/>
                </a:tc>
                <a:tc>
                  <a:txBody>
                    <a:bodyPr/>
                    <a:lstStyle/>
                    <a:p>
                      <a:pPr marL="457200" indent="-457200" algn="just">
                        <a:buFont typeface="Arial" panose="020B0604020202020204" pitchFamily="34" charset="0"/>
                        <a:buChar char="•"/>
                      </a:pPr>
                      <a:r>
                        <a:rPr lang="en-US" sz="2800" dirty="0"/>
                        <a:t>Sharp pointed crown for tearing flesh</a:t>
                      </a:r>
                    </a:p>
                  </a:txBody>
                  <a:tcPr/>
                </a:tc>
                <a:extLst>
                  <a:ext uri="{0D108BD9-81ED-4DB2-BD59-A6C34878D82A}">
                    <a16:rowId xmlns:a16="http://schemas.microsoft.com/office/drawing/2014/main" val="229679472"/>
                  </a:ext>
                </a:extLst>
              </a:tr>
              <a:tr h="1653188">
                <a:tc>
                  <a:txBody>
                    <a:bodyPr/>
                    <a:lstStyle/>
                    <a:p>
                      <a:pPr algn="just"/>
                      <a:r>
                        <a:rPr lang="en-US" sz="2800" dirty="0"/>
                        <a:t>Premolar tooth</a:t>
                      </a:r>
                    </a:p>
                  </a:txBody>
                  <a:tcPr/>
                </a:tc>
                <a:tc>
                  <a:txBody>
                    <a:bodyPr/>
                    <a:lstStyle/>
                    <a:p>
                      <a:pPr marL="457200" indent="-457200" algn="just">
                        <a:buFont typeface="Arial" panose="020B0604020202020204" pitchFamily="34" charset="0"/>
                        <a:buChar char="•"/>
                      </a:pPr>
                      <a:r>
                        <a:rPr lang="en-US" sz="2800" dirty="0"/>
                        <a:t>Two roots for firm anchorage into the jaw bone.</a:t>
                      </a:r>
                    </a:p>
                    <a:p>
                      <a:pPr marL="457200" indent="-457200" algn="just">
                        <a:buFont typeface="Arial" panose="020B0604020202020204" pitchFamily="34" charset="0"/>
                        <a:buChar char="•"/>
                      </a:pPr>
                      <a:r>
                        <a:rPr lang="en-US" sz="2800" dirty="0"/>
                        <a:t>Broad crown to increase surface for grinding food.</a:t>
                      </a:r>
                    </a:p>
                    <a:p>
                      <a:pPr marL="457200" indent="-457200" algn="just">
                        <a:buFont typeface="Arial" panose="020B0604020202020204" pitchFamily="34" charset="0"/>
                        <a:buChar char="•"/>
                      </a:pPr>
                      <a:r>
                        <a:rPr lang="en-US" sz="2800" dirty="0"/>
                        <a:t>Has cusps and ridges to increase friction for grinding food.</a:t>
                      </a:r>
                    </a:p>
                  </a:txBody>
                  <a:tcPr/>
                </a:tc>
                <a:extLst>
                  <a:ext uri="{0D108BD9-81ED-4DB2-BD59-A6C34878D82A}">
                    <a16:rowId xmlns:a16="http://schemas.microsoft.com/office/drawing/2014/main" val="1427386470"/>
                  </a:ext>
                </a:extLst>
              </a:tr>
              <a:tr h="2064911">
                <a:tc>
                  <a:txBody>
                    <a:bodyPr/>
                    <a:lstStyle/>
                    <a:p>
                      <a:pPr algn="just"/>
                      <a:r>
                        <a:rPr lang="en-US" sz="2800" dirty="0"/>
                        <a:t>Molar tooth</a:t>
                      </a:r>
                    </a:p>
                  </a:txBody>
                  <a:tcPr/>
                </a:tc>
                <a:tc>
                  <a:txBody>
                    <a:bodyPr/>
                    <a:lstStyle/>
                    <a:p>
                      <a:pPr marL="457200" indent="-457200" algn="just">
                        <a:buFont typeface="Arial" panose="020B0604020202020204" pitchFamily="34" charset="0"/>
                        <a:buChar char="•"/>
                      </a:pPr>
                      <a:r>
                        <a:rPr lang="en-US" sz="2800" dirty="0"/>
                        <a:t>Three roots for firm anchorage into the jaw bone.</a:t>
                      </a:r>
                    </a:p>
                    <a:p>
                      <a:pPr marL="457200" indent="-457200" algn="just">
                        <a:buFont typeface="Arial" panose="020B0604020202020204" pitchFamily="34" charset="0"/>
                        <a:buChar char="•"/>
                      </a:pPr>
                      <a:r>
                        <a:rPr lang="en-US" sz="2800" dirty="0"/>
                        <a:t>Broad crown to increase surface for grinding food.</a:t>
                      </a:r>
                    </a:p>
                    <a:p>
                      <a:pPr marL="457200" indent="-457200" algn="just">
                        <a:buFont typeface="Arial" panose="020B0604020202020204" pitchFamily="34" charset="0"/>
                        <a:buChar char="•"/>
                      </a:pPr>
                      <a:r>
                        <a:rPr lang="en-US" sz="2800" dirty="0"/>
                        <a:t>Has cusps and ridges to increase friction for grinding food.</a:t>
                      </a:r>
                    </a:p>
                    <a:p>
                      <a:pPr algn="just"/>
                      <a:endParaRPr lang="en-US" sz="2800" dirty="0"/>
                    </a:p>
                  </a:txBody>
                  <a:tcPr/>
                </a:tc>
                <a:extLst>
                  <a:ext uri="{0D108BD9-81ED-4DB2-BD59-A6C34878D82A}">
                    <a16:rowId xmlns:a16="http://schemas.microsoft.com/office/drawing/2014/main" val="2192885944"/>
                  </a:ext>
                </a:extLst>
              </a:tr>
            </a:tbl>
          </a:graphicData>
        </a:graphic>
      </p:graphicFrame>
    </p:spTree>
    <p:extLst>
      <p:ext uri="{BB962C8B-B14F-4D97-AF65-F5344CB8AC3E}">
        <p14:creationId xmlns:p14="http://schemas.microsoft.com/office/powerpoint/2010/main" val="1424981528"/>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C7065-EC04-FE38-AF3B-AF2AF422D4D0}"/>
              </a:ext>
            </a:extLst>
          </p:cNvPr>
          <p:cNvSpPr>
            <a:spLocks noGrp="1"/>
          </p:cNvSpPr>
          <p:nvPr>
            <p:ph type="title"/>
          </p:nvPr>
        </p:nvSpPr>
        <p:spPr>
          <a:xfrm>
            <a:off x="645130" y="0"/>
            <a:ext cx="9404723" cy="609601"/>
          </a:xfrm>
        </p:spPr>
        <p:txBody>
          <a:bodyPr/>
          <a:lstStyle/>
          <a:p>
            <a:pPr algn="ctr"/>
            <a:r>
              <a:rPr lang="en-US" b="1" u="sng" dirty="0"/>
              <a:t>Internal structure of the tooth</a:t>
            </a:r>
          </a:p>
        </p:txBody>
      </p:sp>
      <p:sp>
        <p:nvSpPr>
          <p:cNvPr id="3" name="Content Placeholder 2">
            <a:extLst>
              <a:ext uri="{FF2B5EF4-FFF2-40B4-BE49-F238E27FC236}">
                <a16:creationId xmlns:a16="http://schemas.microsoft.com/office/drawing/2014/main" id="{9E8E1EEE-9E3B-4D7A-1A6A-378E7E664F36}"/>
              </a:ext>
            </a:extLst>
          </p:cNvPr>
          <p:cNvSpPr>
            <a:spLocks noGrp="1"/>
          </p:cNvSpPr>
          <p:nvPr>
            <p:ph idx="1"/>
          </p:nvPr>
        </p:nvSpPr>
        <p:spPr>
          <a:xfrm>
            <a:off x="132522" y="715618"/>
            <a:ext cx="11926956" cy="5532782"/>
          </a:xfrm>
        </p:spPr>
        <p:txBody>
          <a:bodyPr>
            <a:normAutofit/>
          </a:bodyPr>
          <a:lstStyle/>
          <a:p>
            <a:pPr marL="0" indent="0" algn="just">
              <a:buNone/>
            </a:pPr>
            <a:r>
              <a:rPr lang="en-US" sz="3200" b="1" u="sng" dirty="0"/>
              <a:t>A drawing of longitudinal section through incisor tooth</a:t>
            </a:r>
          </a:p>
        </p:txBody>
      </p:sp>
      <p:pic>
        <p:nvPicPr>
          <p:cNvPr id="5" name="Picture 4">
            <a:extLst>
              <a:ext uri="{FF2B5EF4-FFF2-40B4-BE49-F238E27FC236}">
                <a16:creationId xmlns:a16="http://schemas.microsoft.com/office/drawing/2014/main" id="{D0B0DFE9-64CE-F7A9-BB1D-21425F61A274}"/>
              </a:ext>
            </a:extLst>
          </p:cNvPr>
          <p:cNvPicPr>
            <a:picLocks noChangeAspect="1"/>
          </p:cNvPicPr>
          <p:nvPr/>
        </p:nvPicPr>
        <p:blipFill>
          <a:blip r:embed="rId2"/>
          <a:stretch>
            <a:fillRect/>
          </a:stretch>
        </p:blipFill>
        <p:spPr>
          <a:xfrm>
            <a:off x="1709530" y="1253523"/>
            <a:ext cx="8653670" cy="5576091"/>
          </a:xfrm>
          <a:prstGeom prst="rect">
            <a:avLst/>
          </a:prstGeom>
        </p:spPr>
      </p:pic>
    </p:spTree>
    <p:extLst>
      <p:ext uri="{BB962C8B-B14F-4D97-AF65-F5344CB8AC3E}">
        <p14:creationId xmlns:p14="http://schemas.microsoft.com/office/powerpoint/2010/main" val="3483617409"/>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7024D-1C79-4127-F20C-657DCC3D865E}"/>
              </a:ext>
            </a:extLst>
          </p:cNvPr>
          <p:cNvSpPr>
            <a:spLocks noGrp="1"/>
          </p:cNvSpPr>
          <p:nvPr>
            <p:ph type="title"/>
          </p:nvPr>
        </p:nvSpPr>
        <p:spPr>
          <a:xfrm>
            <a:off x="645130" y="0"/>
            <a:ext cx="10552957" cy="1400530"/>
          </a:xfrm>
        </p:spPr>
        <p:txBody>
          <a:bodyPr/>
          <a:lstStyle/>
          <a:p>
            <a:r>
              <a:rPr lang="en-US" sz="3200" b="1" u="sng" dirty="0"/>
              <a:t>Drawing of longitudinal section of molar tooth</a:t>
            </a:r>
          </a:p>
        </p:txBody>
      </p:sp>
      <p:sp>
        <p:nvSpPr>
          <p:cNvPr id="3" name="Content Placeholder 2">
            <a:extLst>
              <a:ext uri="{FF2B5EF4-FFF2-40B4-BE49-F238E27FC236}">
                <a16:creationId xmlns:a16="http://schemas.microsoft.com/office/drawing/2014/main" id="{FA4FC7A4-9945-289F-7BFA-08654E575FF4}"/>
              </a:ext>
            </a:extLst>
          </p:cNvPr>
          <p:cNvSpPr>
            <a:spLocks noGrp="1"/>
          </p:cNvSpPr>
          <p:nvPr>
            <p:ph idx="1"/>
          </p:nvPr>
        </p:nvSpPr>
        <p:spPr/>
        <p:txBody>
          <a:bodyPr/>
          <a:lstStyle/>
          <a:p>
            <a:endParaRPr lang="en-US" dirty="0"/>
          </a:p>
        </p:txBody>
      </p:sp>
      <p:pic>
        <p:nvPicPr>
          <p:cNvPr id="7" name="Picture 6">
            <a:extLst>
              <a:ext uri="{FF2B5EF4-FFF2-40B4-BE49-F238E27FC236}">
                <a16:creationId xmlns:a16="http://schemas.microsoft.com/office/drawing/2014/main" id="{5AB4942F-D6B4-731D-2799-CDC47B24BBEE}"/>
              </a:ext>
            </a:extLst>
          </p:cNvPr>
          <p:cNvPicPr>
            <a:picLocks noChangeAspect="1"/>
          </p:cNvPicPr>
          <p:nvPr/>
        </p:nvPicPr>
        <p:blipFill>
          <a:blip r:embed="rId2"/>
          <a:stretch>
            <a:fillRect/>
          </a:stretch>
        </p:blipFill>
        <p:spPr>
          <a:xfrm>
            <a:off x="993913" y="608432"/>
            <a:ext cx="9303026" cy="6131195"/>
          </a:xfrm>
          <a:prstGeom prst="rect">
            <a:avLst/>
          </a:prstGeom>
        </p:spPr>
      </p:pic>
    </p:spTree>
    <p:extLst>
      <p:ext uri="{BB962C8B-B14F-4D97-AF65-F5344CB8AC3E}">
        <p14:creationId xmlns:p14="http://schemas.microsoft.com/office/powerpoint/2010/main" val="1957629036"/>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20456-573F-5F01-6CD0-FA044B9DF13A}"/>
              </a:ext>
            </a:extLst>
          </p:cNvPr>
          <p:cNvSpPr>
            <a:spLocks noGrp="1"/>
          </p:cNvSpPr>
          <p:nvPr>
            <p:ph type="title"/>
          </p:nvPr>
        </p:nvSpPr>
        <p:spPr>
          <a:xfrm>
            <a:off x="645130" y="0"/>
            <a:ext cx="9404723" cy="768626"/>
          </a:xfrm>
        </p:spPr>
        <p:txBody>
          <a:bodyPr/>
          <a:lstStyle/>
          <a:p>
            <a:r>
              <a:rPr lang="en-US" sz="3200" b="1" u="sng" dirty="0"/>
              <a:t>Parts of the tooth and their functions</a:t>
            </a:r>
            <a:r>
              <a:rPr lang="en-US" dirty="0"/>
              <a:t/>
            </a:r>
            <a:br>
              <a:rPr lang="en-US" dirty="0"/>
            </a:br>
            <a:endParaRPr lang="en-US" dirty="0"/>
          </a:p>
        </p:txBody>
      </p:sp>
      <p:sp>
        <p:nvSpPr>
          <p:cNvPr id="3" name="Content Placeholder 2">
            <a:extLst>
              <a:ext uri="{FF2B5EF4-FFF2-40B4-BE49-F238E27FC236}">
                <a16:creationId xmlns:a16="http://schemas.microsoft.com/office/drawing/2014/main" id="{D71F14ED-95D4-756C-9592-181E8A0D0E71}"/>
              </a:ext>
            </a:extLst>
          </p:cNvPr>
          <p:cNvSpPr>
            <a:spLocks noGrp="1"/>
          </p:cNvSpPr>
          <p:nvPr>
            <p:ph idx="1"/>
          </p:nvPr>
        </p:nvSpPr>
        <p:spPr>
          <a:xfrm>
            <a:off x="198783" y="768626"/>
            <a:ext cx="11993217" cy="5479774"/>
          </a:xfrm>
        </p:spPr>
        <p:txBody>
          <a:bodyPr>
            <a:noAutofit/>
          </a:bodyPr>
          <a:lstStyle/>
          <a:p>
            <a:pPr marL="0" marR="0" lvl="0" indent="0" algn="just">
              <a:lnSpc>
                <a:spcPct val="115000"/>
              </a:lnSpc>
              <a:spcBef>
                <a:spcPts val="0"/>
              </a:spcBef>
              <a:spcAft>
                <a:spcPts val="1000"/>
              </a:spcAft>
              <a:buNone/>
            </a:pPr>
            <a:r>
              <a:rPr lang="en-US" sz="3200" b="1" dirty="0">
                <a:effectLst/>
                <a:latin typeface="+mn-lt"/>
                <a:ea typeface="Calibri" panose="020F0502020204030204" pitchFamily="34" charset="0"/>
                <a:cs typeface="Times New Roman" panose="02020603050405020304" pitchFamily="18" charset="0"/>
              </a:rPr>
              <a:t>1. Crown</a:t>
            </a:r>
            <a:endParaRPr lang="en-US" sz="3200" dirty="0">
              <a:effectLst/>
              <a:latin typeface="+mn-lt"/>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200" dirty="0">
                <a:effectLst/>
                <a:latin typeface="+mn-lt"/>
                <a:ea typeface="Calibri" panose="020F0502020204030204" pitchFamily="34" charset="0"/>
                <a:cs typeface="Times New Roman" panose="02020603050405020304" pitchFamily="18" charset="0"/>
              </a:rPr>
              <a:t>Used to break down food into small particles during chewing, grinding and cutting. </a:t>
            </a:r>
          </a:p>
          <a:p>
            <a:pPr marL="0" marR="0" algn="just">
              <a:lnSpc>
                <a:spcPct val="115000"/>
              </a:lnSpc>
              <a:spcBef>
                <a:spcPts val="0"/>
              </a:spcBef>
              <a:spcAft>
                <a:spcPts val="1000"/>
              </a:spcAft>
            </a:pPr>
            <a:r>
              <a:rPr lang="en-US" sz="3200" dirty="0">
                <a:effectLst/>
                <a:latin typeface="+mn-lt"/>
                <a:ea typeface="Calibri" panose="020F0502020204030204" pitchFamily="34" charset="0"/>
                <a:cs typeface="Times New Roman" panose="02020603050405020304" pitchFamily="18" charset="0"/>
              </a:rPr>
              <a:t> It consists of;</a:t>
            </a:r>
          </a:p>
          <a:p>
            <a:pPr marL="0" marR="0" indent="0" algn="just">
              <a:lnSpc>
                <a:spcPct val="115000"/>
              </a:lnSpc>
              <a:spcBef>
                <a:spcPts val="0"/>
              </a:spcBef>
              <a:spcAft>
                <a:spcPts val="1000"/>
              </a:spcAft>
              <a:buNone/>
            </a:pPr>
            <a:r>
              <a:rPr lang="en-US" sz="3200" b="1" dirty="0">
                <a:effectLst/>
                <a:latin typeface="+mn-lt"/>
                <a:ea typeface="Calibri" panose="020F0502020204030204" pitchFamily="34" charset="0"/>
                <a:cs typeface="Times New Roman" panose="02020603050405020304" pitchFamily="18" charset="0"/>
              </a:rPr>
              <a:t>a) Enamel</a:t>
            </a:r>
            <a:endParaRPr lang="en-US" sz="3200" dirty="0">
              <a:effectLst/>
              <a:latin typeface="+mn-lt"/>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200" dirty="0">
                <a:effectLst/>
                <a:latin typeface="+mn-lt"/>
                <a:ea typeface="Calibri" panose="020F0502020204030204" pitchFamily="34" charset="0"/>
                <a:cs typeface="Times New Roman" panose="02020603050405020304" pitchFamily="18" charset="0"/>
              </a:rPr>
              <a:t>It is the hardest substance in the body, made up of calcium phosphate</a:t>
            </a:r>
          </a:p>
          <a:p>
            <a:pPr marL="0" marR="0" algn="just">
              <a:lnSpc>
                <a:spcPct val="115000"/>
              </a:lnSpc>
              <a:spcBef>
                <a:spcPts val="0"/>
              </a:spcBef>
              <a:spcAft>
                <a:spcPts val="1000"/>
              </a:spcAft>
            </a:pPr>
            <a:r>
              <a:rPr lang="en-US" sz="3200" dirty="0">
                <a:effectLst/>
                <a:latin typeface="+mn-lt"/>
                <a:ea typeface="Calibri" panose="020F0502020204030204" pitchFamily="34" charset="0"/>
                <a:cs typeface="Times New Roman" panose="02020603050405020304" pitchFamily="18" charset="0"/>
              </a:rPr>
              <a:t>It is used for strengthening the tooth to enable it grind and cut. </a:t>
            </a:r>
          </a:p>
        </p:txBody>
      </p:sp>
    </p:spTree>
    <p:extLst>
      <p:ext uri="{BB962C8B-B14F-4D97-AF65-F5344CB8AC3E}">
        <p14:creationId xmlns:p14="http://schemas.microsoft.com/office/powerpoint/2010/main" val="3557723379"/>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E13818-E02A-F429-0DE5-41DAED6B4D88}"/>
              </a:ext>
            </a:extLst>
          </p:cNvPr>
          <p:cNvSpPr>
            <a:spLocks noGrp="1"/>
          </p:cNvSpPr>
          <p:nvPr>
            <p:ph idx="1"/>
          </p:nvPr>
        </p:nvSpPr>
        <p:spPr>
          <a:xfrm>
            <a:off x="536713" y="450574"/>
            <a:ext cx="11118574" cy="5956852"/>
          </a:xfrm>
        </p:spPr>
        <p:txBody>
          <a:bodyPr>
            <a:normAutofit lnSpcReduction="10000"/>
          </a:bodyPr>
          <a:lstStyle/>
          <a:p>
            <a:pPr marL="0" marR="0" indent="0" algn="just">
              <a:lnSpc>
                <a:spcPct val="115000"/>
              </a:lnSpc>
              <a:spcBef>
                <a:spcPts val="0"/>
              </a:spcBef>
              <a:spcAft>
                <a:spcPts val="1000"/>
              </a:spcAft>
              <a:buNone/>
            </a:pPr>
            <a:r>
              <a:rPr lang="en-US" sz="3200" b="1" dirty="0">
                <a:effectLst/>
                <a:latin typeface="+mn-lt"/>
                <a:ea typeface="Calibri" panose="020F0502020204030204" pitchFamily="34" charset="0"/>
                <a:cs typeface="Times New Roman" panose="02020603050405020304" pitchFamily="18" charset="0"/>
              </a:rPr>
              <a:t>b) Dentine</a:t>
            </a:r>
            <a:endParaRPr lang="en-US" sz="3200" dirty="0">
              <a:effectLst/>
              <a:latin typeface="+mn-lt"/>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3200" dirty="0">
                <a:effectLst/>
                <a:latin typeface="+mn-lt"/>
                <a:ea typeface="Calibri" panose="020F0502020204030204" pitchFamily="34" charset="0"/>
                <a:cs typeface="Times New Roman" panose="02020603050405020304" pitchFamily="18" charset="0"/>
              </a:rPr>
              <a:t>It is fairly hard.</a:t>
            </a:r>
          </a:p>
          <a:p>
            <a:pPr marL="0" marR="0" algn="just">
              <a:lnSpc>
                <a:spcPct val="115000"/>
              </a:lnSpc>
              <a:spcBef>
                <a:spcPts val="0"/>
              </a:spcBef>
              <a:spcAft>
                <a:spcPts val="1000"/>
              </a:spcAft>
            </a:pPr>
            <a:r>
              <a:rPr lang="en-US" sz="3200" dirty="0">
                <a:effectLst/>
                <a:latin typeface="+mn-lt"/>
                <a:ea typeface="Calibri" panose="020F0502020204030204" pitchFamily="34" charset="0"/>
                <a:cs typeface="Times New Roman" panose="02020603050405020304" pitchFamily="18" charset="0"/>
              </a:rPr>
              <a:t>It is used to strengthen the tooth. </a:t>
            </a:r>
          </a:p>
          <a:p>
            <a:pPr marL="0" marR="0" indent="0" algn="just">
              <a:lnSpc>
                <a:spcPct val="115000"/>
              </a:lnSpc>
              <a:spcBef>
                <a:spcPts val="0"/>
              </a:spcBef>
              <a:spcAft>
                <a:spcPts val="1000"/>
              </a:spcAft>
              <a:buNone/>
            </a:pPr>
            <a:r>
              <a:rPr lang="en-US" sz="3200" b="1" dirty="0">
                <a:effectLst/>
                <a:latin typeface="+mn-lt"/>
                <a:ea typeface="Calibri" panose="020F0502020204030204" pitchFamily="34" charset="0"/>
                <a:cs typeface="Times New Roman" panose="02020603050405020304" pitchFamily="18" charset="0"/>
              </a:rPr>
              <a:t>2. Pulp cavity</a:t>
            </a:r>
          </a:p>
          <a:p>
            <a:pPr marL="0" marR="0" algn="just">
              <a:lnSpc>
                <a:spcPct val="115000"/>
              </a:lnSpc>
              <a:spcBef>
                <a:spcPts val="0"/>
              </a:spcBef>
              <a:spcAft>
                <a:spcPts val="1000"/>
              </a:spcAft>
            </a:pPr>
            <a:r>
              <a:rPr lang="en-US" sz="3200" dirty="0">
                <a:effectLst/>
                <a:latin typeface="+mn-lt"/>
                <a:ea typeface="Calibri" panose="020F0502020204030204" pitchFamily="34" charset="0"/>
                <a:cs typeface="Times New Roman" panose="02020603050405020304" pitchFamily="18" charset="0"/>
              </a:rPr>
              <a:t>It is the living part of the tooth containing blood vessels and nerve endings. </a:t>
            </a:r>
          </a:p>
          <a:p>
            <a:pPr marL="0" marR="0" algn="just">
              <a:lnSpc>
                <a:spcPct val="115000"/>
              </a:lnSpc>
              <a:spcBef>
                <a:spcPts val="0"/>
              </a:spcBef>
              <a:spcAft>
                <a:spcPts val="1000"/>
              </a:spcAft>
            </a:pPr>
            <a:r>
              <a:rPr lang="en-US" sz="3200" dirty="0">
                <a:effectLst/>
                <a:latin typeface="+mn-lt"/>
                <a:ea typeface="Calibri" panose="020F0502020204030204" pitchFamily="34" charset="0"/>
                <a:cs typeface="Times New Roman" panose="02020603050405020304" pitchFamily="18" charset="0"/>
              </a:rPr>
              <a:t>It provides sensitivity to the tooth </a:t>
            </a:r>
          </a:p>
          <a:p>
            <a:pPr marL="0" marR="0" indent="0" algn="just">
              <a:lnSpc>
                <a:spcPct val="115000"/>
              </a:lnSpc>
              <a:spcBef>
                <a:spcPts val="0"/>
              </a:spcBef>
              <a:spcAft>
                <a:spcPts val="1000"/>
              </a:spcAft>
              <a:buNone/>
            </a:pPr>
            <a:r>
              <a:rPr lang="en-US" sz="3200" b="1" dirty="0">
                <a:effectLst/>
                <a:latin typeface="+mn-lt"/>
                <a:ea typeface="Calibri" panose="020F0502020204030204" pitchFamily="34" charset="0"/>
                <a:cs typeface="Times New Roman" panose="02020603050405020304" pitchFamily="18" charset="0"/>
              </a:rPr>
              <a:t>3. Neck</a:t>
            </a:r>
          </a:p>
          <a:p>
            <a:pPr marL="0" marR="0" algn="just">
              <a:lnSpc>
                <a:spcPct val="115000"/>
              </a:lnSpc>
              <a:spcBef>
                <a:spcPts val="0"/>
              </a:spcBef>
              <a:spcAft>
                <a:spcPts val="1000"/>
              </a:spcAft>
            </a:pPr>
            <a:r>
              <a:rPr lang="en-US" sz="3200" dirty="0">
                <a:effectLst/>
                <a:latin typeface="+mn-lt"/>
                <a:ea typeface="Calibri" panose="020F0502020204030204" pitchFamily="34" charset="0"/>
                <a:cs typeface="Times New Roman" panose="02020603050405020304" pitchFamily="18" charset="0"/>
              </a:rPr>
              <a:t>It is the junction between the crown and the root. </a:t>
            </a:r>
          </a:p>
          <a:p>
            <a:pPr marL="0" marR="0" algn="just">
              <a:lnSpc>
                <a:spcPct val="115000"/>
              </a:lnSpc>
              <a:spcBef>
                <a:spcPts val="0"/>
              </a:spcBef>
              <a:spcAft>
                <a:spcPts val="1000"/>
              </a:spcAft>
            </a:pPr>
            <a:endParaRPr lang="en-US" sz="3200" dirty="0">
              <a:effectLst/>
              <a:latin typeface="+mn-lt"/>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endParaRPr lang="en-US" sz="3200" dirty="0">
              <a:effectLst/>
              <a:latin typeface="+mn-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45677188"/>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5BBEE4-699C-FDED-7677-0CCBC9ACE66E}"/>
              </a:ext>
            </a:extLst>
          </p:cNvPr>
          <p:cNvSpPr>
            <a:spLocks noGrp="1"/>
          </p:cNvSpPr>
          <p:nvPr>
            <p:ph idx="1"/>
          </p:nvPr>
        </p:nvSpPr>
        <p:spPr>
          <a:xfrm>
            <a:off x="506964" y="1086678"/>
            <a:ext cx="10783888" cy="5148470"/>
          </a:xfrm>
        </p:spPr>
        <p:txBody>
          <a:bodyPr>
            <a:noAutofit/>
          </a:bodyPr>
          <a:lstStyle/>
          <a:p>
            <a:pPr marL="0" indent="0" algn="just">
              <a:buNone/>
            </a:pPr>
            <a:r>
              <a:rPr lang="en-US" sz="3200" b="1" dirty="0"/>
              <a:t>4. Root</a:t>
            </a:r>
            <a:r>
              <a:rPr lang="en-US" sz="3200" dirty="0"/>
              <a:t> </a:t>
            </a:r>
          </a:p>
          <a:p>
            <a:pPr algn="just"/>
            <a:r>
              <a:rPr lang="en-US" sz="3200" dirty="0"/>
              <a:t>It fixes the tooth in the Jaw bone</a:t>
            </a:r>
          </a:p>
          <a:p>
            <a:pPr marL="0" indent="0" algn="just">
              <a:buNone/>
            </a:pPr>
            <a:r>
              <a:rPr lang="en-US" sz="3200" b="1" dirty="0"/>
              <a:t>5. Blood vessels</a:t>
            </a:r>
          </a:p>
          <a:p>
            <a:pPr algn="just"/>
            <a:r>
              <a:rPr lang="en-US" sz="3200" dirty="0"/>
              <a:t>Supply the tooth with nutrients and oxygen.</a:t>
            </a:r>
          </a:p>
          <a:p>
            <a:pPr marL="0" indent="0" algn="just">
              <a:buNone/>
            </a:pPr>
            <a:r>
              <a:rPr lang="en-US" sz="3200" b="1" dirty="0"/>
              <a:t>6. Nerve endings</a:t>
            </a:r>
          </a:p>
          <a:p>
            <a:pPr algn="just"/>
            <a:r>
              <a:rPr lang="en-US" sz="3200" dirty="0"/>
              <a:t>For sensitivity of tooth as they detect changes in temperature and pressure in the tooth</a:t>
            </a:r>
          </a:p>
        </p:txBody>
      </p:sp>
    </p:spTree>
    <p:extLst>
      <p:ext uri="{BB962C8B-B14F-4D97-AF65-F5344CB8AC3E}">
        <p14:creationId xmlns:p14="http://schemas.microsoft.com/office/powerpoint/2010/main" val="3506651730"/>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EADA9-864D-6D29-DD2B-B6B4BB2EA4FE}"/>
              </a:ext>
            </a:extLst>
          </p:cNvPr>
          <p:cNvSpPr>
            <a:spLocks noGrp="1"/>
          </p:cNvSpPr>
          <p:nvPr>
            <p:ph type="title"/>
          </p:nvPr>
        </p:nvSpPr>
        <p:spPr>
          <a:xfrm>
            <a:off x="645131" y="0"/>
            <a:ext cx="9294000" cy="742122"/>
          </a:xfrm>
        </p:spPr>
        <p:txBody>
          <a:bodyPr/>
          <a:lstStyle/>
          <a:p>
            <a:pPr algn="ctr"/>
            <a:r>
              <a:rPr lang="en-US" b="1" u="sng" dirty="0">
                <a:effectLst>
                  <a:outerShdw blurRad="38100" dist="38100" dir="2700000" algn="tl">
                    <a:srgbClr val="000000">
                      <a:alpha val="43137"/>
                    </a:srgbClr>
                  </a:outerShdw>
                </a:effectLst>
              </a:rPr>
              <a:t>Dentition and dental formula</a:t>
            </a:r>
          </a:p>
        </p:txBody>
      </p:sp>
      <p:sp>
        <p:nvSpPr>
          <p:cNvPr id="3" name="Content Placeholder 2">
            <a:extLst>
              <a:ext uri="{FF2B5EF4-FFF2-40B4-BE49-F238E27FC236}">
                <a16:creationId xmlns:a16="http://schemas.microsoft.com/office/drawing/2014/main" id="{371EA135-C305-93C9-8E92-F8BB6E4EBE6C}"/>
              </a:ext>
            </a:extLst>
          </p:cNvPr>
          <p:cNvSpPr>
            <a:spLocks noGrp="1"/>
          </p:cNvSpPr>
          <p:nvPr>
            <p:ph idx="1"/>
          </p:nvPr>
        </p:nvSpPr>
        <p:spPr>
          <a:xfrm>
            <a:off x="331304" y="1086678"/>
            <a:ext cx="11370366" cy="5161721"/>
          </a:xfrm>
        </p:spPr>
        <p:txBody>
          <a:bodyPr>
            <a:noAutofit/>
          </a:bodyPr>
          <a:lstStyle/>
          <a:p>
            <a:pPr marL="0" indent="0" algn="just">
              <a:buNone/>
            </a:pPr>
            <a:r>
              <a:rPr lang="en-US" sz="3200" b="1" u="sng" dirty="0"/>
              <a:t>Dentition </a:t>
            </a:r>
          </a:p>
          <a:p>
            <a:pPr marL="0" indent="0" algn="just">
              <a:buNone/>
            </a:pPr>
            <a:r>
              <a:rPr lang="en-US" sz="3200" dirty="0"/>
              <a:t>There are two types:	</a:t>
            </a:r>
          </a:p>
          <a:p>
            <a:pPr algn="just"/>
            <a:r>
              <a:rPr lang="en-US" sz="3200" b="1" dirty="0"/>
              <a:t>Heterodont dentition</a:t>
            </a:r>
            <a:r>
              <a:rPr lang="en-US" sz="3200" dirty="0"/>
              <a:t>: there are different kinds of teeth each having a particular role to play in the feeding process e.g. in mammals. </a:t>
            </a:r>
          </a:p>
          <a:p>
            <a:pPr algn="just"/>
            <a:endParaRPr lang="en-US" sz="3200" dirty="0"/>
          </a:p>
          <a:p>
            <a:pPr algn="just"/>
            <a:r>
              <a:rPr lang="en-US" sz="3200" b="1" dirty="0"/>
              <a:t>Homodont dentition: </a:t>
            </a:r>
            <a:r>
              <a:rPr lang="en-US" sz="3200" dirty="0"/>
              <a:t>The teeth of are all alike i.e. similar in shape and carryout the same function e.g. reptiles and amphibians. </a:t>
            </a:r>
          </a:p>
          <a:p>
            <a:pPr marL="0" indent="0" algn="just">
              <a:buNone/>
            </a:pPr>
            <a:endParaRPr lang="en-US" sz="3200" dirty="0"/>
          </a:p>
        </p:txBody>
      </p:sp>
    </p:spTree>
    <p:extLst>
      <p:ext uri="{BB962C8B-B14F-4D97-AF65-F5344CB8AC3E}">
        <p14:creationId xmlns:p14="http://schemas.microsoft.com/office/powerpoint/2010/main" val="1707123508"/>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A81AF-FA56-8946-0CCE-CD033B1655C7}"/>
              </a:ext>
            </a:extLst>
          </p:cNvPr>
          <p:cNvSpPr>
            <a:spLocks noGrp="1"/>
          </p:cNvSpPr>
          <p:nvPr>
            <p:ph type="title"/>
          </p:nvPr>
        </p:nvSpPr>
        <p:spPr>
          <a:xfrm>
            <a:off x="804156" y="198783"/>
            <a:ext cx="9404723" cy="1400530"/>
          </a:xfrm>
        </p:spPr>
        <p:txBody>
          <a:bodyPr/>
          <a:lstStyle/>
          <a:p>
            <a:r>
              <a:rPr lang="en-US" b="1" u="sng" dirty="0">
                <a:effectLst>
                  <a:outerShdw blurRad="38100" dist="38100" dir="2700000" algn="tl">
                    <a:srgbClr val="000000">
                      <a:alpha val="43137"/>
                    </a:srgbClr>
                  </a:outerShdw>
                </a:effectLst>
              </a:rPr>
              <a:t>Dental formula</a:t>
            </a:r>
          </a:p>
        </p:txBody>
      </p:sp>
      <p:sp>
        <p:nvSpPr>
          <p:cNvPr id="3" name="Content Placeholder 2">
            <a:extLst>
              <a:ext uri="{FF2B5EF4-FFF2-40B4-BE49-F238E27FC236}">
                <a16:creationId xmlns:a16="http://schemas.microsoft.com/office/drawing/2014/main" id="{CE359368-1A61-9E35-22C2-342B4A74A200}"/>
              </a:ext>
            </a:extLst>
          </p:cNvPr>
          <p:cNvSpPr>
            <a:spLocks noGrp="1"/>
          </p:cNvSpPr>
          <p:nvPr>
            <p:ph idx="1"/>
          </p:nvPr>
        </p:nvSpPr>
        <p:spPr>
          <a:xfrm>
            <a:off x="366126" y="1166191"/>
            <a:ext cx="11459748" cy="4273825"/>
          </a:xfrm>
        </p:spPr>
        <p:txBody>
          <a:bodyPr>
            <a:noAutofit/>
          </a:bodyPr>
          <a:lstStyle/>
          <a:p>
            <a:pPr algn="just"/>
            <a:r>
              <a:rPr lang="en-US" sz="3200" dirty="0"/>
              <a:t>It is the formula indicating number and positions of each type of teeth in half of upper jaw and half of lower jaw. </a:t>
            </a:r>
          </a:p>
          <a:p>
            <a:pPr algn="just"/>
            <a:r>
              <a:rPr lang="en-US" sz="3200" dirty="0"/>
              <a:t>It shows the adaptation of animal to a particular diet. </a:t>
            </a:r>
          </a:p>
          <a:p>
            <a:pPr algn="just"/>
            <a:r>
              <a:rPr lang="en-US" sz="3200" dirty="0"/>
              <a:t>The number of teeth in the upper jaw is written above that of the lower jaw. </a:t>
            </a:r>
          </a:p>
          <a:p>
            <a:pPr algn="just"/>
            <a:r>
              <a:rPr lang="en-US" sz="3200" dirty="0"/>
              <a:t>The different types of teeth are represented by letters i.e. </a:t>
            </a:r>
          </a:p>
          <a:p>
            <a:pPr algn="just"/>
            <a:r>
              <a:rPr lang="en-US" sz="3200" dirty="0"/>
              <a:t>Incisors (I), Canines (C), Premolars (Pm), Molars (M) </a:t>
            </a:r>
          </a:p>
          <a:p>
            <a:pPr algn="just"/>
            <a:endParaRPr lang="en-US" sz="3200" dirty="0"/>
          </a:p>
        </p:txBody>
      </p:sp>
    </p:spTree>
    <p:extLst>
      <p:ext uri="{BB962C8B-B14F-4D97-AF65-F5344CB8AC3E}">
        <p14:creationId xmlns:p14="http://schemas.microsoft.com/office/powerpoint/2010/main" val="1083465397"/>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94DB9-59C5-9B6B-DC5C-87CFC29812A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20644F8-980E-C74F-537E-089EBBDD7248}"/>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124F7ADC-BD97-4BBC-B04C-6254C8D73358}"/>
              </a:ext>
            </a:extLst>
          </p:cNvPr>
          <p:cNvPicPr>
            <a:picLocks noChangeAspect="1"/>
          </p:cNvPicPr>
          <p:nvPr/>
        </p:nvPicPr>
        <p:blipFill>
          <a:blip r:embed="rId2"/>
          <a:stretch>
            <a:fillRect/>
          </a:stretch>
        </p:blipFill>
        <p:spPr>
          <a:xfrm>
            <a:off x="646110" y="84364"/>
            <a:ext cx="10777263" cy="6614084"/>
          </a:xfrm>
          <a:prstGeom prst="rect">
            <a:avLst/>
          </a:prstGeom>
        </p:spPr>
      </p:pic>
    </p:spTree>
    <p:extLst>
      <p:ext uri="{BB962C8B-B14F-4D97-AF65-F5344CB8AC3E}">
        <p14:creationId xmlns:p14="http://schemas.microsoft.com/office/powerpoint/2010/main" val="750628423"/>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13A01-23AD-D00D-1C76-0B9CCFD219E7}"/>
              </a:ext>
            </a:extLst>
          </p:cNvPr>
          <p:cNvSpPr>
            <a:spLocks noGrp="1"/>
          </p:cNvSpPr>
          <p:nvPr>
            <p:ph type="title"/>
          </p:nvPr>
        </p:nvSpPr>
        <p:spPr>
          <a:xfrm>
            <a:off x="540094" y="42787"/>
            <a:ext cx="9404723" cy="1400530"/>
          </a:xfrm>
        </p:spPr>
        <p:txBody>
          <a:bodyPr/>
          <a:lstStyle/>
          <a:p>
            <a:r>
              <a:rPr lang="en-US" dirty="0"/>
              <a:t>Examples:</a:t>
            </a:r>
          </a:p>
        </p:txBody>
      </p:sp>
      <p:sp>
        <p:nvSpPr>
          <p:cNvPr id="3" name="Content Placeholder 2">
            <a:extLst>
              <a:ext uri="{FF2B5EF4-FFF2-40B4-BE49-F238E27FC236}">
                <a16:creationId xmlns:a16="http://schemas.microsoft.com/office/drawing/2014/main" id="{8A752F50-172F-D8E9-110D-DE6EB452C9E8}"/>
              </a:ext>
            </a:extLst>
          </p:cNvPr>
          <p:cNvSpPr>
            <a:spLocks noGrp="1"/>
          </p:cNvSpPr>
          <p:nvPr>
            <p:ph idx="1"/>
          </p:nvPr>
        </p:nvSpPr>
        <p:spPr/>
        <p:txBody>
          <a:bodyPr/>
          <a:lstStyle/>
          <a:p>
            <a:endParaRPr lang="en-US" dirty="0"/>
          </a:p>
        </p:txBody>
      </p:sp>
      <p:pic>
        <p:nvPicPr>
          <p:cNvPr id="45" name="Picture 44">
            <a:extLst>
              <a:ext uri="{FF2B5EF4-FFF2-40B4-BE49-F238E27FC236}">
                <a16:creationId xmlns:a16="http://schemas.microsoft.com/office/drawing/2014/main" id="{53CAB112-D5FB-A42F-FACB-B72528BAAD16}"/>
              </a:ext>
            </a:extLst>
          </p:cNvPr>
          <p:cNvPicPr>
            <a:picLocks noChangeAspect="1"/>
          </p:cNvPicPr>
          <p:nvPr/>
        </p:nvPicPr>
        <p:blipFill>
          <a:blip r:embed="rId2"/>
          <a:stretch>
            <a:fillRect/>
          </a:stretch>
        </p:blipFill>
        <p:spPr>
          <a:xfrm>
            <a:off x="185530" y="743052"/>
            <a:ext cx="11807687" cy="5962548"/>
          </a:xfrm>
          <a:prstGeom prst="rect">
            <a:avLst/>
          </a:prstGeom>
        </p:spPr>
      </p:pic>
    </p:spTree>
    <p:extLst>
      <p:ext uri="{BB962C8B-B14F-4D97-AF65-F5344CB8AC3E}">
        <p14:creationId xmlns:p14="http://schemas.microsoft.com/office/powerpoint/2010/main" val="3697728100"/>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6B689-87AB-C7F4-4BAA-F70231CEF5E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3769648-8C17-840B-3F6E-6E8AB1C5DDB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C9EB473-2F0A-34A4-1C96-481FD6372B8F}"/>
              </a:ext>
            </a:extLst>
          </p:cNvPr>
          <p:cNvPicPr>
            <a:picLocks noChangeAspect="1"/>
          </p:cNvPicPr>
          <p:nvPr/>
        </p:nvPicPr>
        <p:blipFill>
          <a:blip r:embed="rId2"/>
          <a:stretch>
            <a:fillRect/>
          </a:stretch>
        </p:blipFill>
        <p:spPr>
          <a:xfrm>
            <a:off x="130437" y="26863"/>
            <a:ext cx="12017194" cy="6831137"/>
          </a:xfrm>
          <a:prstGeom prst="rect">
            <a:avLst/>
          </a:prstGeom>
        </p:spPr>
      </p:pic>
    </p:spTree>
    <p:extLst>
      <p:ext uri="{BB962C8B-B14F-4D97-AF65-F5344CB8AC3E}">
        <p14:creationId xmlns:p14="http://schemas.microsoft.com/office/powerpoint/2010/main" val="1111794689"/>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A954C-0BD3-B0C4-5ACD-90098077D1E9}"/>
              </a:ext>
            </a:extLst>
          </p:cNvPr>
          <p:cNvSpPr>
            <a:spLocks noGrp="1"/>
          </p:cNvSpPr>
          <p:nvPr>
            <p:ph type="title"/>
          </p:nvPr>
        </p:nvSpPr>
        <p:spPr>
          <a:xfrm>
            <a:off x="525881" y="68368"/>
            <a:ext cx="10339941" cy="1400530"/>
          </a:xfrm>
        </p:spPr>
        <p:txBody>
          <a:bodyPr/>
          <a:lstStyle/>
          <a:p>
            <a:r>
              <a:rPr lang="en-US" sz="3200" b="1" u="sng" dirty="0"/>
              <a:t>Adaptation of teeth to diet of the animals</a:t>
            </a:r>
            <a:r>
              <a:rPr lang="en-US" dirty="0"/>
              <a:t/>
            </a:r>
            <a:br>
              <a:rPr lang="en-US" dirty="0"/>
            </a:br>
            <a:endParaRPr lang="en-US" dirty="0"/>
          </a:p>
        </p:txBody>
      </p:sp>
      <p:sp>
        <p:nvSpPr>
          <p:cNvPr id="3" name="Content Placeholder 2">
            <a:extLst>
              <a:ext uri="{FF2B5EF4-FFF2-40B4-BE49-F238E27FC236}">
                <a16:creationId xmlns:a16="http://schemas.microsoft.com/office/drawing/2014/main" id="{A0A9884F-09DE-EFD6-0F61-0D1AC56973FA}"/>
              </a:ext>
            </a:extLst>
          </p:cNvPr>
          <p:cNvSpPr>
            <a:spLocks noGrp="1"/>
          </p:cNvSpPr>
          <p:nvPr>
            <p:ph idx="1"/>
          </p:nvPr>
        </p:nvSpPr>
        <p:spPr>
          <a:xfrm>
            <a:off x="0" y="821643"/>
            <a:ext cx="12192000" cy="6327909"/>
          </a:xfrm>
        </p:spPr>
        <p:txBody>
          <a:bodyPr>
            <a:noAutofit/>
          </a:bodyPr>
          <a:lstStyle/>
          <a:p>
            <a:pPr marL="0" indent="0" algn="just">
              <a:spcBef>
                <a:spcPts val="0"/>
              </a:spcBef>
              <a:buNone/>
            </a:pPr>
            <a:r>
              <a:rPr lang="en-US" sz="3200" b="1" dirty="0"/>
              <a:t>a) In most herbivores:</a:t>
            </a:r>
          </a:p>
          <a:p>
            <a:pPr algn="just">
              <a:spcBef>
                <a:spcPts val="0"/>
              </a:spcBef>
            </a:pPr>
            <a:r>
              <a:rPr lang="en-US" sz="3200" dirty="0"/>
              <a:t>Lack upper incisors, but have a horny pad used for pressing and cutting grass.</a:t>
            </a:r>
          </a:p>
          <a:p>
            <a:pPr algn="just">
              <a:spcBef>
                <a:spcPts val="0"/>
              </a:spcBef>
            </a:pPr>
            <a:r>
              <a:rPr lang="en-US" sz="3200" dirty="0"/>
              <a:t>Have sharp lower incisors for cutting grass. </a:t>
            </a:r>
          </a:p>
          <a:p>
            <a:pPr algn="just">
              <a:spcBef>
                <a:spcPts val="0"/>
              </a:spcBef>
            </a:pPr>
            <a:r>
              <a:rPr lang="en-US" sz="3200" dirty="0"/>
              <a:t>Canines may be absent leaving a gap called diastema which increases the gap for the tongue to manipulate food. </a:t>
            </a:r>
          </a:p>
          <a:p>
            <a:pPr algn="just">
              <a:spcBef>
                <a:spcPts val="0"/>
              </a:spcBef>
            </a:pPr>
            <a:r>
              <a:rPr lang="en-US" sz="3200" dirty="0"/>
              <a:t>Have long muscular tongue for rolling grass</a:t>
            </a:r>
          </a:p>
          <a:p>
            <a:pPr algn="just">
              <a:spcBef>
                <a:spcPts val="0"/>
              </a:spcBef>
            </a:pPr>
            <a:r>
              <a:rPr lang="en-US" sz="3200" dirty="0"/>
              <a:t>Premolars and molars are broad with many cusps for grinding food. </a:t>
            </a:r>
          </a:p>
          <a:p>
            <a:pPr algn="just">
              <a:spcBef>
                <a:spcPts val="0"/>
              </a:spcBef>
            </a:pPr>
            <a:r>
              <a:rPr lang="en-US" sz="3200" dirty="0"/>
              <a:t>Jaws can move sideways, back and forward to increase grinding. </a:t>
            </a:r>
          </a:p>
          <a:p>
            <a:pPr algn="just">
              <a:spcBef>
                <a:spcPts val="0"/>
              </a:spcBef>
            </a:pPr>
            <a:endParaRPr lang="en-US" sz="3200" dirty="0"/>
          </a:p>
        </p:txBody>
      </p:sp>
    </p:spTree>
    <p:extLst>
      <p:ext uri="{BB962C8B-B14F-4D97-AF65-F5344CB8AC3E}">
        <p14:creationId xmlns:p14="http://schemas.microsoft.com/office/powerpoint/2010/main" val="1862203568"/>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DAF94-D0C6-8005-61F1-5BDAE28CFD1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D4D1B15-B2E7-D351-74DB-F19F8DEFBC56}"/>
              </a:ext>
            </a:extLst>
          </p:cNvPr>
          <p:cNvSpPr>
            <a:spLocks noGrp="1"/>
          </p:cNvSpPr>
          <p:nvPr>
            <p:ph idx="1"/>
          </p:nvPr>
        </p:nvSpPr>
        <p:spPr/>
        <p:txBody>
          <a:bodyPr/>
          <a:lstStyle/>
          <a:p>
            <a:endParaRPr lang="en-US"/>
          </a:p>
        </p:txBody>
      </p:sp>
      <p:pic>
        <p:nvPicPr>
          <p:cNvPr id="7170" name="Picture 2" descr="Why don't cows have upper front teeth? - Quora">
            <a:extLst>
              <a:ext uri="{FF2B5EF4-FFF2-40B4-BE49-F238E27FC236}">
                <a16:creationId xmlns:a16="http://schemas.microsoft.com/office/drawing/2014/main" id="{6E1975E5-359D-DC7E-419A-FDBF283552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111" y="182883"/>
            <a:ext cx="9785257" cy="64922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7135001"/>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EFEC8-1B5F-2692-9A4D-B2241A32E85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C4B4F29-F2F8-703C-14E0-44D7B8FE9FF8}"/>
              </a:ext>
            </a:extLst>
          </p:cNvPr>
          <p:cNvSpPr>
            <a:spLocks noGrp="1"/>
          </p:cNvSpPr>
          <p:nvPr>
            <p:ph idx="1"/>
          </p:nvPr>
        </p:nvSpPr>
        <p:spPr/>
        <p:txBody>
          <a:bodyPr/>
          <a:lstStyle/>
          <a:p>
            <a:endParaRPr lang="en-US"/>
          </a:p>
        </p:txBody>
      </p:sp>
      <p:pic>
        <p:nvPicPr>
          <p:cNvPr id="8194" name="Picture 2" descr="Cow Teeth: Do Cows Have Upper Teeth? - AZ Animals">
            <a:extLst>
              <a:ext uri="{FF2B5EF4-FFF2-40B4-BE49-F238E27FC236}">
                <a16:creationId xmlns:a16="http://schemas.microsoft.com/office/drawing/2014/main" id="{E02DFD36-6F37-AE0B-D94B-CACA7F7E6C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442913"/>
            <a:ext cx="11430000" cy="5972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3193650"/>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589DB0-6E50-4D5D-6CD3-7748D03EFB82}"/>
              </a:ext>
            </a:extLst>
          </p:cNvPr>
          <p:cNvSpPr>
            <a:spLocks noGrp="1"/>
          </p:cNvSpPr>
          <p:nvPr>
            <p:ph idx="1"/>
          </p:nvPr>
        </p:nvSpPr>
        <p:spPr>
          <a:xfrm>
            <a:off x="218661" y="622851"/>
            <a:ext cx="11754678" cy="5373757"/>
          </a:xfrm>
        </p:spPr>
        <p:txBody>
          <a:bodyPr>
            <a:normAutofit/>
          </a:bodyPr>
          <a:lstStyle/>
          <a:p>
            <a:pPr marL="0" indent="0" algn="just">
              <a:buNone/>
            </a:pPr>
            <a:r>
              <a:rPr lang="en-US" sz="3200" b="1" dirty="0"/>
              <a:t>b) Most carnivores</a:t>
            </a:r>
            <a:r>
              <a:rPr lang="en-US" sz="3200" dirty="0"/>
              <a:t>:</a:t>
            </a:r>
          </a:p>
          <a:p>
            <a:pPr algn="just"/>
            <a:r>
              <a:rPr lang="en-US" sz="3200" dirty="0"/>
              <a:t>Have small and sharp incisor for removing flesh from bones. </a:t>
            </a:r>
          </a:p>
          <a:p>
            <a:pPr algn="just"/>
            <a:r>
              <a:rPr lang="en-US" sz="3200" dirty="0"/>
              <a:t>Canines are long and pointed for; holding, stabbing or piercing and killing prey, and defense. </a:t>
            </a:r>
          </a:p>
          <a:p>
            <a:pPr algn="just"/>
            <a:r>
              <a:rPr lang="en-US" sz="3200" dirty="0"/>
              <a:t>Have carnassial teeth made of the first molars on the lower jaws and last pre-molars on the upper jaws used for cutting and crushing bones, and scrapping off meat from bones</a:t>
            </a:r>
          </a:p>
        </p:txBody>
      </p:sp>
    </p:spTree>
    <p:extLst>
      <p:ext uri="{BB962C8B-B14F-4D97-AF65-F5344CB8AC3E}">
        <p14:creationId xmlns:p14="http://schemas.microsoft.com/office/powerpoint/2010/main" val="3132562841"/>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7A83-C3AF-D1E2-DD68-80678ACC205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BBC5260-6646-1777-9D2C-0D84EE50E218}"/>
              </a:ext>
            </a:extLst>
          </p:cNvPr>
          <p:cNvSpPr>
            <a:spLocks noGrp="1"/>
          </p:cNvSpPr>
          <p:nvPr>
            <p:ph idx="1"/>
          </p:nvPr>
        </p:nvSpPr>
        <p:spPr/>
        <p:txBody>
          <a:bodyPr/>
          <a:lstStyle/>
          <a:p>
            <a:endParaRPr lang="en-US"/>
          </a:p>
        </p:txBody>
      </p:sp>
      <p:pic>
        <p:nvPicPr>
          <p:cNvPr id="5122" name="Picture 2" descr="Image result for carnassial teeth">
            <a:extLst>
              <a:ext uri="{FF2B5EF4-FFF2-40B4-BE49-F238E27FC236}">
                <a16:creationId xmlns:a16="http://schemas.microsoft.com/office/drawing/2014/main" id="{64BE91B8-7594-3BE5-AC44-6D7DC5C7AD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869" y="230046"/>
            <a:ext cx="10240830" cy="6400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81764039"/>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AA0C5-AD07-275C-FCCF-C25E7186E67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5F83876-3129-F857-43D6-325BE6BE5488}"/>
              </a:ext>
            </a:extLst>
          </p:cNvPr>
          <p:cNvSpPr>
            <a:spLocks noGrp="1"/>
          </p:cNvSpPr>
          <p:nvPr>
            <p:ph idx="1"/>
          </p:nvPr>
        </p:nvSpPr>
        <p:spPr/>
        <p:txBody>
          <a:bodyPr/>
          <a:lstStyle/>
          <a:p>
            <a:endParaRPr lang="en-US"/>
          </a:p>
        </p:txBody>
      </p:sp>
      <p:pic>
        <p:nvPicPr>
          <p:cNvPr id="6146" name="Picture 2" descr="Image result for carnassial teeth">
            <a:extLst>
              <a:ext uri="{FF2B5EF4-FFF2-40B4-BE49-F238E27FC236}">
                <a16:creationId xmlns:a16="http://schemas.microsoft.com/office/drawing/2014/main" id="{2FE72580-AAF0-C71D-2644-EF1A4DA907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564" y="228303"/>
            <a:ext cx="10959191" cy="6485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1140216"/>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85FDD-16E7-E33F-6339-9FD9AC0980E3}"/>
              </a:ext>
            </a:extLst>
          </p:cNvPr>
          <p:cNvSpPr>
            <a:spLocks noGrp="1"/>
          </p:cNvSpPr>
          <p:nvPr>
            <p:ph type="title"/>
          </p:nvPr>
        </p:nvSpPr>
        <p:spPr/>
        <p:txBody>
          <a:bodyPr/>
          <a:lstStyle/>
          <a:p>
            <a:pPr algn="ctr"/>
            <a:r>
              <a:rPr lang="en-US" b="1" u="sng" dirty="0">
                <a:effectLst>
                  <a:outerShdw blurRad="38100" dist="38100" dir="2700000" algn="tl">
                    <a:srgbClr val="000000">
                      <a:alpha val="43137"/>
                    </a:srgbClr>
                  </a:outerShdw>
                </a:effectLst>
              </a:rPr>
              <a:t>Oral Hygiene</a:t>
            </a:r>
          </a:p>
        </p:txBody>
      </p:sp>
      <p:sp>
        <p:nvSpPr>
          <p:cNvPr id="3" name="Content Placeholder 2">
            <a:extLst>
              <a:ext uri="{FF2B5EF4-FFF2-40B4-BE49-F238E27FC236}">
                <a16:creationId xmlns:a16="http://schemas.microsoft.com/office/drawing/2014/main" id="{62B9B63B-EE7E-61EC-9102-58C6ACF0F45E}"/>
              </a:ext>
            </a:extLst>
          </p:cNvPr>
          <p:cNvSpPr>
            <a:spLocks noGrp="1"/>
          </p:cNvSpPr>
          <p:nvPr>
            <p:ph idx="1"/>
          </p:nvPr>
        </p:nvSpPr>
        <p:spPr>
          <a:xfrm>
            <a:off x="477078" y="1205948"/>
            <a:ext cx="11383618" cy="5042451"/>
          </a:xfrm>
        </p:spPr>
        <p:txBody>
          <a:bodyPr>
            <a:noAutofit/>
          </a:bodyPr>
          <a:lstStyle/>
          <a:p>
            <a:pPr algn="just"/>
            <a:r>
              <a:rPr lang="en-US" sz="3200" dirty="0"/>
              <a:t>Involves taking proper care of the teeth, gums, tongue and inner lining of the mouth.</a:t>
            </a:r>
          </a:p>
          <a:p>
            <a:pPr marL="0" indent="0" algn="just">
              <a:buNone/>
            </a:pPr>
            <a:endParaRPr lang="en-US" sz="3200" dirty="0"/>
          </a:p>
          <a:p>
            <a:pPr marL="457200" indent="-457200" algn="just">
              <a:buFont typeface="+mj-lt"/>
              <a:buAutoNum type="arabicPeriod"/>
            </a:pPr>
            <a:r>
              <a:rPr lang="en-US" sz="3200" dirty="0"/>
              <a:t>What are the benefits of maintaining good oral hygiene?</a:t>
            </a:r>
          </a:p>
          <a:p>
            <a:pPr marL="457200" indent="-457200" algn="just">
              <a:buFont typeface="+mj-lt"/>
              <a:buAutoNum type="arabicPeriod"/>
            </a:pPr>
            <a:r>
              <a:rPr lang="en-US" sz="3200" dirty="0"/>
              <a:t>What are the consequences of poor oral hygiene?</a:t>
            </a:r>
          </a:p>
          <a:p>
            <a:pPr marL="457200" indent="-457200" algn="just">
              <a:buFont typeface="+mj-lt"/>
              <a:buAutoNum type="arabicPeriod"/>
            </a:pPr>
            <a:r>
              <a:rPr lang="en-US" sz="3200" dirty="0"/>
              <a:t>In practice, how do you maintain good oral hygiene?</a:t>
            </a:r>
          </a:p>
        </p:txBody>
      </p:sp>
    </p:spTree>
    <p:extLst>
      <p:ext uri="{BB962C8B-B14F-4D97-AF65-F5344CB8AC3E}">
        <p14:creationId xmlns:p14="http://schemas.microsoft.com/office/powerpoint/2010/main" val="2215517943"/>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730D1-4662-3B4D-6E8A-6BB2B2157F50}"/>
              </a:ext>
            </a:extLst>
          </p:cNvPr>
          <p:cNvSpPr>
            <a:spLocks noGrp="1"/>
          </p:cNvSpPr>
          <p:nvPr>
            <p:ph type="title"/>
          </p:nvPr>
        </p:nvSpPr>
        <p:spPr>
          <a:xfrm>
            <a:off x="646110" y="0"/>
            <a:ext cx="9404723" cy="779735"/>
          </a:xfrm>
        </p:spPr>
        <p:txBody>
          <a:bodyPr/>
          <a:lstStyle/>
          <a:p>
            <a:r>
              <a:rPr lang="en-US" sz="3200" b="1" u="sng" dirty="0"/>
              <a:t>Benefits of good oral hygiene</a:t>
            </a:r>
          </a:p>
        </p:txBody>
      </p:sp>
      <p:sp>
        <p:nvSpPr>
          <p:cNvPr id="3" name="Content Placeholder 2">
            <a:extLst>
              <a:ext uri="{FF2B5EF4-FFF2-40B4-BE49-F238E27FC236}">
                <a16:creationId xmlns:a16="http://schemas.microsoft.com/office/drawing/2014/main" id="{0332E224-54A2-8476-E750-B5A495212E99}"/>
              </a:ext>
            </a:extLst>
          </p:cNvPr>
          <p:cNvSpPr>
            <a:spLocks noGrp="1"/>
          </p:cNvSpPr>
          <p:nvPr>
            <p:ph idx="1"/>
          </p:nvPr>
        </p:nvSpPr>
        <p:spPr>
          <a:xfrm>
            <a:off x="561594" y="542170"/>
            <a:ext cx="11068811" cy="4573169"/>
          </a:xfrm>
        </p:spPr>
        <p:txBody>
          <a:bodyPr>
            <a:noAutofit/>
          </a:bodyPr>
          <a:lstStyle/>
          <a:p>
            <a:pPr algn="just"/>
            <a:r>
              <a:rPr lang="en-US" sz="3200" dirty="0"/>
              <a:t>To prevent dental diseases.</a:t>
            </a:r>
          </a:p>
          <a:p>
            <a:pPr algn="just"/>
            <a:r>
              <a:rPr lang="en-US" sz="3200" dirty="0"/>
              <a:t>To prevent tooth loss.</a:t>
            </a:r>
          </a:p>
          <a:p>
            <a:pPr algn="just"/>
            <a:r>
              <a:rPr lang="en-US" sz="3200" dirty="0"/>
              <a:t>To prevent bad breath.</a:t>
            </a:r>
          </a:p>
          <a:p>
            <a:pPr algn="just"/>
            <a:r>
              <a:rPr lang="en-US" sz="3200" dirty="0"/>
              <a:t>To have strong teeth.</a:t>
            </a:r>
          </a:p>
          <a:p>
            <a:pPr algn="just"/>
            <a:r>
              <a:rPr lang="en-US" sz="3200" dirty="0"/>
              <a:t>To have bright and confident smile.</a:t>
            </a:r>
          </a:p>
          <a:p>
            <a:pPr marL="0" indent="0" algn="just">
              <a:buNone/>
            </a:pPr>
            <a:r>
              <a:rPr lang="en-US" sz="3200" b="1" u="sng" dirty="0"/>
              <a:t>Consequences of poor oral hygiene</a:t>
            </a:r>
          </a:p>
          <a:p>
            <a:pPr algn="just"/>
            <a:r>
              <a:rPr lang="en-US" sz="3200" dirty="0"/>
              <a:t>Dental diseases.</a:t>
            </a:r>
          </a:p>
          <a:p>
            <a:pPr algn="just"/>
            <a:r>
              <a:rPr lang="en-US" sz="3200" dirty="0"/>
              <a:t>Tooth loss when extracted.</a:t>
            </a:r>
          </a:p>
          <a:p>
            <a:pPr algn="just"/>
            <a:r>
              <a:rPr lang="en-US" sz="3200" dirty="0"/>
              <a:t>Bad breath.</a:t>
            </a:r>
          </a:p>
          <a:p>
            <a:pPr algn="just"/>
            <a:r>
              <a:rPr lang="en-US" sz="3200" dirty="0"/>
              <a:t>Weak teeth.</a:t>
            </a:r>
          </a:p>
        </p:txBody>
      </p:sp>
    </p:spTree>
    <p:extLst>
      <p:ext uri="{BB962C8B-B14F-4D97-AF65-F5344CB8AC3E}">
        <p14:creationId xmlns:p14="http://schemas.microsoft.com/office/powerpoint/2010/main" val="1594347414"/>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8FEE7-2D04-3DEF-877E-B985C5E4D32C}"/>
              </a:ext>
            </a:extLst>
          </p:cNvPr>
          <p:cNvSpPr>
            <a:spLocks noGrp="1"/>
          </p:cNvSpPr>
          <p:nvPr>
            <p:ph type="title"/>
          </p:nvPr>
        </p:nvSpPr>
        <p:spPr>
          <a:xfrm>
            <a:off x="1202703" y="0"/>
            <a:ext cx="9404723" cy="819491"/>
          </a:xfrm>
        </p:spPr>
        <p:txBody>
          <a:bodyPr/>
          <a:lstStyle/>
          <a:p>
            <a:r>
              <a:rPr lang="en-US" b="1" u="sng" dirty="0"/>
              <a:t>Maintaining good oral hygiene</a:t>
            </a:r>
          </a:p>
        </p:txBody>
      </p:sp>
      <p:sp>
        <p:nvSpPr>
          <p:cNvPr id="3" name="Content Placeholder 2">
            <a:extLst>
              <a:ext uri="{FF2B5EF4-FFF2-40B4-BE49-F238E27FC236}">
                <a16:creationId xmlns:a16="http://schemas.microsoft.com/office/drawing/2014/main" id="{0DEF289A-9B47-8D76-E82B-18908550270A}"/>
              </a:ext>
            </a:extLst>
          </p:cNvPr>
          <p:cNvSpPr>
            <a:spLocks noGrp="1"/>
          </p:cNvSpPr>
          <p:nvPr>
            <p:ph idx="1"/>
          </p:nvPr>
        </p:nvSpPr>
        <p:spPr>
          <a:xfrm>
            <a:off x="397565" y="927652"/>
            <a:ext cx="11476383" cy="5234609"/>
          </a:xfrm>
        </p:spPr>
        <p:txBody>
          <a:bodyPr>
            <a:noAutofit/>
          </a:bodyPr>
          <a:lstStyle/>
          <a:p>
            <a:pPr algn="just"/>
            <a:r>
              <a:rPr lang="en-US" sz="3200" dirty="0"/>
              <a:t>Visit dentist regularly at least once in three month to check on status of your teeth</a:t>
            </a:r>
          </a:p>
          <a:p>
            <a:pPr algn="just"/>
            <a:r>
              <a:rPr lang="en-US" sz="3200" dirty="0"/>
              <a:t>Avoid eating too much sugary foods as they support growth of bacteria that cause tooth decay.</a:t>
            </a:r>
          </a:p>
          <a:p>
            <a:pPr algn="just"/>
            <a:r>
              <a:rPr lang="en-US" sz="3200" dirty="0"/>
              <a:t>Avoid using teeth for opening bottles</a:t>
            </a:r>
          </a:p>
          <a:p>
            <a:pPr algn="just"/>
            <a:r>
              <a:rPr lang="en-US" sz="3200" dirty="0"/>
              <a:t>Clean your teeth regularly especially after meals, at least twice a day to remove microbial plaque.</a:t>
            </a:r>
          </a:p>
          <a:p>
            <a:pPr algn="just"/>
            <a:r>
              <a:rPr lang="en-US" sz="3200" dirty="0"/>
              <a:t>Change the tooth brush every three month because new tooth brush removes plaque more than an old one with worn out bristles.</a:t>
            </a:r>
          </a:p>
        </p:txBody>
      </p:sp>
    </p:spTree>
    <p:extLst>
      <p:ext uri="{BB962C8B-B14F-4D97-AF65-F5344CB8AC3E}">
        <p14:creationId xmlns:p14="http://schemas.microsoft.com/office/powerpoint/2010/main" val="2923850274"/>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EFD8D4-F307-8896-D775-B5DA3FE9F306}"/>
              </a:ext>
            </a:extLst>
          </p:cNvPr>
          <p:cNvSpPr>
            <a:spLocks noGrp="1"/>
          </p:cNvSpPr>
          <p:nvPr>
            <p:ph idx="1"/>
          </p:nvPr>
        </p:nvSpPr>
        <p:spPr>
          <a:xfrm>
            <a:off x="573224" y="155128"/>
            <a:ext cx="11035679" cy="6484211"/>
          </a:xfrm>
        </p:spPr>
        <p:txBody>
          <a:bodyPr>
            <a:noAutofit/>
          </a:bodyPr>
          <a:lstStyle/>
          <a:p>
            <a:pPr algn="just"/>
            <a:r>
              <a:rPr lang="en-US" sz="3200" dirty="0"/>
              <a:t>Avoid foods which are too cold or too hot. May cause expansion and contraction of tooth and may crack.</a:t>
            </a:r>
          </a:p>
          <a:p>
            <a:pPr algn="just"/>
            <a:r>
              <a:rPr lang="en-US" sz="3200" dirty="0"/>
              <a:t>Include phosphorus, calcium, vitamins A and C in your diet for healthy growth of gums and teeth.</a:t>
            </a:r>
          </a:p>
          <a:p>
            <a:pPr algn="just"/>
            <a:r>
              <a:rPr lang="en-US" sz="3200" dirty="0"/>
              <a:t>Use tooth paste containing fluorine as it strengthens the enamel and reduces amount of acid produced by bacteria.</a:t>
            </a:r>
          </a:p>
          <a:p>
            <a:pPr algn="just"/>
            <a:r>
              <a:rPr lang="en-US" sz="3200" dirty="0"/>
              <a:t>Use mouth guard to protect the teeth during athletics.</a:t>
            </a:r>
          </a:p>
          <a:p>
            <a:pPr algn="just"/>
            <a:r>
              <a:rPr lang="en-US" sz="3200" dirty="0"/>
              <a:t>Avoid tobacco and alcohol because the cause stains and oral cancer.</a:t>
            </a:r>
          </a:p>
          <a:p>
            <a:pPr algn="just"/>
            <a:endParaRPr lang="en-US" sz="3200" dirty="0"/>
          </a:p>
          <a:p>
            <a:endParaRPr lang="en-US" sz="3200" dirty="0"/>
          </a:p>
        </p:txBody>
      </p:sp>
    </p:spTree>
    <p:extLst>
      <p:ext uri="{BB962C8B-B14F-4D97-AF65-F5344CB8AC3E}">
        <p14:creationId xmlns:p14="http://schemas.microsoft.com/office/powerpoint/2010/main" val="886117619"/>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2DC45-DFE4-B77C-A4A1-5C16292523DA}"/>
              </a:ext>
            </a:extLst>
          </p:cNvPr>
          <p:cNvSpPr>
            <a:spLocks noGrp="1"/>
          </p:cNvSpPr>
          <p:nvPr>
            <p:ph type="title"/>
          </p:nvPr>
        </p:nvSpPr>
        <p:spPr>
          <a:xfrm>
            <a:off x="738876" y="0"/>
            <a:ext cx="9404723" cy="1400530"/>
          </a:xfrm>
        </p:spPr>
        <p:txBody>
          <a:bodyPr/>
          <a:lstStyle/>
          <a:p>
            <a:r>
              <a:rPr lang="en-US" b="1" u="sng" dirty="0"/>
              <a:t>Common dental diseases</a:t>
            </a:r>
          </a:p>
        </p:txBody>
      </p:sp>
      <p:sp>
        <p:nvSpPr>
          <p:cNvPr id="3" name="Content Placeholder 2">
            <a:extLst>
              <a:ext uri="{FF2B5EF4-FFF2-40B4-BE49-F238E27FC236}">
                <a16:creationId xmlns:a16="http://schemas.microsoft.com/office/drawing/2014/main" id="{3FC34F6D-6040-2549-046C-840DF4D128F1}"/>
              </a:ext>
            </a:extLst>
          </p:cNvPr>
          <p:cNvSpPr>
            <a:spLocks noGrp="1"/>
          </p:cNvSpPr>
          <p:nvPr>
            <p:ph idx="1"/>
          </p:nvPr>
        </p:nvSpPr>
        <p:spPr>
          <a:xfrm>
            <a:off x="212035" y="700265"/>
            <a:ext cx="10986053" cy="5068956"/>
          </a:xfrm>
        </p:spPr>
        <p:txBody>
          <a:bodyPr>
            <a:normAutofit lnSpcReduction="10000"/>
          </a:bodyPr>
          <a:lstStyle/>
          <a:p>
            <a:pPr marL="0" indent="0" algn="just">
              <a:buNone/>
            </a:pPr>
            <a:r>
              <a:rPr lang="en-US" dirty="0"/>
              <a:t>1</a:t>
            </a:r>
            <a:r>
              <a:rPr lang="en-US" sz="3200" dirty="0"/>
              <a:t>. </a:t>
            </a:r>
            <a:r>
              <a:rPr lang="en-US" sz="3200" b="1" dirty="0"/>
              <a:t>Tooth decay</a:t>
            </a:r>
          </a:p>
          <a:p>
            <a:pPr algn="just"/>
            <a:r>
              <a:rPr lang="en-US" sz="3200" dirty="0"/>
              <a:t>Also known as dental caries or dental cavities</a:t>
            </a:r>
          </a:p>
          <a:p>
            <a:pPr algn="just"/>
            <a:r>
              <a:rPr lang="en-US" sz="3200" dirty="0"/>
              <a:t>This is rotting of teeth caused by acids produced by  bacteria (located in dental plaque) that ferment the sugars left in between teeth or on surfaces of the teeth. </a:t>
            </a:r>
          </a:p>
          <a:p>
            <a:pPr algn="just"/>
            <a:r>
              <a:rPr lang="en-US" sz="3200" dirty="0"/>
              <a:t>The acid corrodes the enamel up to pulp cavity causing bleeding and pain.</a:t>
            </a:r>
          </a:p>
          <a:p>
            <a:pPr algn="just"/>
            <a:r>
              <a:rPr lang="en-US" sz="3200" dirty="0"/>
              <a:t>Treatment at early stages can be by filling the cavity or tooth extraction at advanced stages.</a:t>
            </a:r>
          </a:p>
          <a:p>
            <a:pPr algn="just"/>
            <a:endParaRPr lang="en-US" dirty="0"/>
          </a:p>
          <a:p>
            <a:pPr algn="just"/>
            <a:endParaRPr lang="en-US" dirty="0"/>
          </a:p>
        </p:txBody>
      </p:sp>
    </p:spTree>
    <p:extLst>
      <p:ext uri="{BB962C8B-B14F-4D97-AF65-F5344CB8AC3E}">
        <p14:creationId xmlns:p14="http://schemas.microsoft.com/office/powerpoint/2010/main" val="1477552901"/>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28EB8-6C6F-D2C7-ED27-EBDBA8A1A99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82BE72B-D6FF-B915-DEB4-28D8B8D5AB64}"/>
              </a:ext>
            </a:extLst>
          </p:cNvPr>
          <p:cNvSpPr>
            <a:spLocks noGrp="1"/>
          </p:cNvSpPr>
          <p:nvPr>
            <p:ph idx="1"/>
          </p:nvPr>
        </p:nvSpPr>
        <p:spPr/>
        <p:txBody>
          <a:bodyPr/>
          <a:lstStyle/>
          <a:p>
            <a:endParaRPr lang="en-US"/>
          </a:p>
        </p:txBody>
      </p:sp>
      <p:pic>
        <p:nvPicPr>
          <p:cNvPr id="2050" name="Picture 2" descr="Your Pediatric Dentist in Greenfield Prevents Tooth Decay">
            <a:extLst>
              <a:ext uri="{FF2B5EF4-FFF2-40B4-BE49-F238E27FC236}">
                <a16:creationId xmlns:a16="http://schemas.microsoft.com/office/drawing/2014/main" id="{65BE3ED6-BF76-7DEB-D305-69CAFCDB47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4705681"/>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B39F5-AB50-0608-6030-9AAECB71E37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E126A0E-5126-250A-E72D-3B7D59D007B9}"/>
              </a:ext>
            </a:extLst>
          </p:cNvPr>
          <p:cNvSpPr>
            <a:spLocks noGrp="1"/>
          </p:cNvSpPr>
          <p:nvPr>
            <p:ph idx="1"/>
          </p:nvPr>
        </p:nvSpPr>
        <p:spPr/>
        <p:txBody>
          <a:bodyPr/>
          <a:lstStyle/>
          <a:p>
            <a:endParaRPr lang="en-US"/>
          </a:p>
        </p:txBody>
      </p:sp>
      <p:pic>
        <p:nvPicPr>
          <p:cNvPr id="1026" name="Picture 2" descr="Facts About Tooth Decay | Brunelli Dental Partners">
            <a:extLst>
              <a:ext uri="{FF2B5EF4-FFF2-40B4-BE49-F238E27FC236}">
                <a16:creationId xmlns:a16="http://schemas.microsoft.com/office/drawing/2014/main" id="{067AB120-301A-DCA3-5C54-B2C76A0751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4288"/>
            <a:ext cx="9753600" cy="6829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7593657"/>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B7D741-04DF-F240-8D36-2EBEFF69209A}"/>
              </a:ext>
            </a:extLst>
          </p:cNvPr>
          <p:cNvSpPr>
            <a:spLocks noGrp="1"/>
          </p:cNvSpPr>
          <p:nvPr>
            <p:ph idx="1"/>
          </p:nvPr>
        </p:nvSpPr>
        <p:spPr>
          <a:xfrm>
            <a:off x="125895" y="0"/>
            <a:ext cx="11940209" cy="6672470"/>
          </a:xfrm>
        </p:spPr>
        <p:txBody>
          <a:bodyPr>
            <a:noAutofit/>
          </a:bodyPr>
          <a:lstStyle/>
          <a:p>
            <a:pPr marL="0" indent="0" algn="just">
              <a:spcBef>
                <a:spcPts val="0"/>
              </a:spcBef>
              <a:buNone/>
            </a:pPr>
            <a:r>
              <a:rPr lang="en-US" sz="3200" b="1" dirty="0"/>
              <a:t>2. Gum disease (periodontal disease)</a:t>
            </a:r>
          </a:p>
          <a:p>
            <a:pPr algn="just">
              <a:spcBef>
                <a:spcPts val="0"/>
              </a:spcBef>
            </a:pPr>
            <a:r>
              <a:rPr lang="en-US" sz="3200" dirty="0"/>
              <a:t>It is caused by bacteria in the mouth which infect tissue surrounding the tooth, causing inflammation around the tooth.</a:t>
            </a:r>
          </a:p>
          <a:p>
            <a:pPr marL="0" indent="0" algn="just">
              <a:spcBef>
                <a:spcPts val="0"/>
              </a:spcBef>
              <a:buNone/>
            </a:pPr>
            <a:r>
              <a:rPr lang="en-US" sz="3200" b="1" dirty="0"/>
              <a:t>(</a:t>
            </a:r>
            <a:r>
              <a:rPr lang="en-US" sz="3200" b="1" dirty="0" err="1"/>
              <a:t>i</a:t>
            </a:r>
            <a:r>
              <a:rPr lang="en-US" sz="3200" b="1" dirty="0"/>
              <a:t>) Gingivitis </a:t>
            </a:r>
          </a:p>
          <a:p>
            <a:pPr algn="just">
              <a:spcBef>
                <a:spcPts val="0"/>
              </a:spcBef>
            </a:pPr>
            <a:r>
              <a:rPr lang="en-US" sz="3200" dirty="0"/>
              <a:t>It is the early stage of gum disease. </a:t>
            </a:r>
          </a:p>
          <a:p>
            <a:pPr algn="just">
              <a:spcBef>
                <a:spcPts val="0"/>
              </a:spcBef>
            </a:pPr>
            <a:r>
              <a:rPr lang="en-US" sz="3200" dirty="0"/>
              <a:t>The gum becomes swollen, red and may bleed.</a:t>
            </a:r>
          </a:p>
          <a:p>
            <a:pPr marL="0" indent="0" algn="just">
              <a:spcBef>
                <a:spcPts val="0"/>
              </a:spcBef>
              <a:buNone/>
            </a:pPr>
            <a:r>
              <a:rPr lang="en-US" sz="3200" b="1" dirty="0"/>
              <a:t>(ii) Periodontitis (pyorrhea)</a:t>
            </a:r>
          </a:p>
          <a:p>
            <a:pPr algn="just">
              <a:spcBef>
                <a:spcPts val="0"/>
              </a:spcBef>
            </a:pPr>
            <a:r>
              <a:rPr lang="en-US" sz="3200" dirty="0"/>
              <a:t>It is the later stage of gum disease.</a:t>
            </a:r>
          </a:p>
          <a:p>
            <a:pPr algn="just">
              <a:spcBef>
                <a:spcPts val="0"/>
              </a:spcBef>
            </a:pPr>
            <a:r>
              <a:rPr lang="en-US" sz="3200" dirty="0"/>
              <a:t>The gums pull away from the tooth and bacteria damages the fibers that hold the teeth onto the jaws, and the tooth is loosely attached and may fall off.</a:t>
            </a:r>
          </a:p>
          <a:p>
            <a:pPr algn="just">
              <a:spcBef>
                <a:spcPts val="0"/>
              </a:spcBef>
            </a:pPr>
            <a:r>
              <a:rPr lang="en-US" sz="3200" dirty="0"/>
              <a:t>Gum disease is controlled by good oral hygiene and scaling by dentists.</a:t>
            </a:r>
          </a:p>
        </p:txBody>
      </p:sp>
    </p:spTree>
    <p:extLst>
      <p:ext uri="{BB962C8B-B14F-4D97-AF65-F5344CB8AC3E}">
        <p14:creationId xmlns:p14="http://schemas.microsoft.com/office/powerpoint/2010/main" val="3362815832"/>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2802F-6E38-975E-4416-E9D87C46A9FF}"/>
              </a:ext>
            </a:extLst>
          </p:cNvPr>
          <p:cNvSpPr>
            <a:spLocks noGrp="1"/>
          </p:cNvSpPr>
          <p:nvPr>
            <p:ph type="title"/>
          </p:nvPr>
        </p:nvSpPr>
        <p:spPr>
          <a:xfrm>
            <a:off x="1086814" y="609293"/>
            <a:ext cx="9404723" cy="1400530"/>
          </a:xfrm>
        </p:spPr>
        <p:txBody>
          <a:bodyPr/>
          <a:lstStyle/>
          <a:p>
            <a:r>
              <a:rPr lang="en-US" dirty="0" err="1"/>
              <a:t>Ginivitis</a:t>
            </a:r>
            <a:r>
              <a:rPr lang="en-US" dirty="0"/>
              <a:t>                            Periodontitis </a:t>
            </a:r>
          </a:p>
        </p:txBody>
      </p:sp>
      <p:sp>
        <p:nvSpPr>
          <p:cNvPr id="3" name="Content Placeholder 2">
            <a:extLst>
              <a:ext uri="{FF2B5EF4-FFF2-40B4-BE49-F238E27FC236}">
                <a16:creationId xmlns:a16="http://schemas.microsoft.com/office/drawing/2014/main" id="{F467DF42-2A23-DC05-CBDA-C7C817CA4C8A}"/>
              </a:ext>
            </a:extLst>
          </p:cNvPr>
          <p:cNvSpPr>
            <a:spLocks noGrp="1"/>
          </p:cNvSpPr>
          <p:nvPr>
            <p:ph idx="1"/>
          </p:nvPr>
        </p:nvSpPr>
        <p:spPr/>
        <p:txBody>
          <a:bodyPr/>
          <a:lstStyle/>
          <a:p>
            <a:endParaRPr lang="en-US"/>
          </a:p>
        </p:txBody>
      </p:sp>
      <p:pic>
        <p:nvPicPr>
          <p:cNvPr id="5122" name="Picture 2" descr="Postsurgical discomfort and at-home recovery: 4 ways to make oral care  easier | Perio Implant Advisory">
            <a:extLst>
              <a:ext uri="{FF2B5EF4-FFF2-40B4-BE49-F238E27FC236}">
                <a16:creationId xmlns:a16="http://schemas.microsoft.com/office/drawing/2014/main" id="{AA15EDA5-219F-1666-7D9D-5462E9028D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75840"/>
            <a:ext cx="6255026" cy="479183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Periodontitis - Dental Disorders - Merck Manuals Professional Edition">
            <a:extLst>
              <a:ext uri="{FF2B5EF4-FFF2-40B4-BE49-F238E27FC236}">
                <a16:creationId xmlns:a16="http://schemas.microsoft.com/office/drawing/2014/main" id="{79C5208C-729F-DF07-BE1B-D62071DADA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5026" y="1575840"/>
            <a:ext cx="5936974" cy="4834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1487093"/>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A158B-4B1C-F082-38DB-07BA3DDD77F3}"/>
              </a:ext>
            </a:extLst>
          </p:cNvPr>
          <p:cNvSpPr>
            <a:spLocks noGrp="1"/>
          </p:cNvSpPr>
          <p:nvPr>
            <p:ph type="title"/>
          </p:nvPr>
        </p:nvSpPr>
        <p:spPr>
          <a:xfrm>
            <a:off x="950911" y="439471"/>
            <a:ext cx="9404723" cy="700221"/>
          </a:xfrm>
        </p:spPr>
        <p:txBody>
          <a:bodyPr/>
          <a:lstStyle/>
          <a:p>
            <a:pPr algn="ctr"/>
            <a:r>
              <a:rPr lang="en-US" b="1" u="sng" dirty="0"/>
              <a:t>Mammalian Digestive System</a:t>
            </a:r>
          </a:p>
        </p:txBody>
      </p:sp>
      <p:sp>
        <p:nvSpPr>
          <p:cNvPr id="3" name="Content Placeholder 2">
            <a:extLst>
              <a:ext uri="{FF2B5EF4-FFF2-40B4-BE49-F238E27FC236}">
                <a16:creationId xmlns:a16="http://schemas.microsoft.com/office/drawing/2014/main" id="{DFA4C2A6-8EC4-34F3-B77C-1A825F296734}"/>
              </a:ext>
            </a:extLst>
          </p:cNvPr>
          <p:cNvSpPr>
            <a:spLocks noGrp="1"/>
          </p:cNvSpPr>
          <p:nvPr>
            <p:ph idx="1"/>
          </p:nvPr>
        </p:nvSpPr>
        <p:spPr>
          <a:xfrm>
            <a:off x="848138" y="1245711"/>
            <a:ext cx="10058400" cy="3207020"/>
          </a:xfrm>
        </p:spPr>
        <p:txBody>
          <a:bodyPr>
            <a:noAutofit/>
          </a:bodyPr>
          <a:lstStyle/>
          <a:p>
            <a:pPr algn="just"/>
            <a:r>
              <a:rPr lang="en-US" sz="3200" dirty="0"/>
              <a:t>The digestive system is made up of the alimentary canal and the associated organs.</a:t>
            </a:r>
          </a:p>
          <a:p>
            <a:pPr algn="just"/>
            <a:r>
              <a:rPr lang="en-US" sz="3200" dirty="0"/>
              <a:t>The alimentary canal/gut is a long muscular tube that extends from the mouth to the anus.</a:t>
            </a:r>
          </a:p>
          <a:p>
            <a:pPr algn="just"/>
            <a:r>
              <a:rPr lang="en-US" sz="3200" dirty="0"/>
              <a:t>It is tubular to allow passage of food.</a:t>
            </a:r>
          </a:p>
          <a:p>
            <a:pPr algn="just"/>
            <a:r>
              <a:rPr lang="en-US" sz="3200" dirty="0"/>
              <a:t>It has associated organs and glands that are capable of digestion, absorption and egestion.</a:t>
            </a:r>
          </a:p>
          <a:p>
            <a:pPr algn="just"/>
            <a:endParaRPr lang="en-US" sz="3200" dirty="0"/>
          </a:p>
          <a:p>
            <a:pPr marL="0" indent="0" algn="just">
              <a:buNone/>
            </a:pPr>
            <a:r>
              <a:rPr lang="en-US" sz="3200" b="1" i="1" u="sng" dirty="0"/>
              <a:t>Draw the human digestive system from a suitable text book</a:t>
            </a:r>
          </a:p>
          <a:p>
            <a:pPr algn="just"/>
            <a:endParaRPr lang="en-US" sz="3200" dirty="0"/>
          </a:p>
        </p:txBody>
      </p:sp>
    </p:spTree>
    <p:extLst>
      <p:ext uri="{BB962C8B-B14F-4D97-AF65-F5344CB8AC3E}">
        <p14:creationId xmlns:p14="http://schemas.microsoft.com/office/powerpoint/2010/main" val="2879393826"/>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8B3E3-47B0-5897-3928-866D7321E02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790D5A5-961D-4912-D525-DEE6E5C171C3}"/>
              </a:ext>
            </a:extLst>
          </p:cNvPr>
          <p:cNvSpPr>
            <a:spLocks noGrp="1"/>
          </p:cNvSpPr>
          <p:nvPr>
            <p:ph idx="1"/>
          </p:nvPr>
        </p:nvSpPr>
        <p:spPr/>
        <p:txBody>
          <a:bodyPr/>
          <a:lstStyle/>
          <a:p>
            <a:endParaRPr lang="en-US"/>
          </a:p>
        </p:txBody>
      </p:sp>
      <p:pic>
        <p:nvPicPr>
          <p:cNvPr id="1026" name="Picture 2">
            <a:extLst>
              <a:ext uri="{FF2B5EF4-FFF2-40B4-BE49-F238E27FC236}">
                <a16:creationId xmlns:a16="http://schemas.microsoft.com/office/drawing/2014/main" id="{099C8C21-07D9-400C-0348-75939ED5BB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087" y="4763"/>
            <a:ext cx="9647583" cy="685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a:extLst>
              <a:ext uri="{FF2B5EF4-FFF2-40B4-BE49-F238E27FC236}">
                <a16:creationId xmlns:a16="http://schemas.microsoft.com/office/drawing/2014/main" id="{0671723D-5C77-36E3-390A-603D1BE298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487" y="157163"/>
            <a:ext cx="9647583" cy="685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0662254"/>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C0960-7B53-E233-6074-F84E9B567FB3}"/>
              </a:ext>
            </a:extLst>
          </p:cNvPr>
          <p:cNvSpPr>
            <a:spLocks noGrp="1"/>
          </p:cNvSpPr>
          <p:nvPr>
            <p:ph type="title"/>
          </p:nvPr>
        </p:nvSpPr>
        <p:spPr/>
        <p:txBody>
          <a:bodyPr/>
          <a:lstStyle/>
          <a:p>
            <a:endParaRPr lang="en-US"/>
          </a:p>
        </p:txBody>
      </p:sp>
      <p:graphicFrame>
        <p:nvGraphicFramePr>
          <p:cNvPr id="4" name="Table 4">
            <a:extLst>
              <a:ext uri="{FF2B5EF4-FFF2-40B4-BE49-F238E27FC236}">
                <a16:creationId xmlns:a16="http://schemas.microsoft.com/office/drawing/2014/main" id="{E30A8C48-8051-0BE2-8A77-D44E97EF888B}"/>
              </a:ext>
            </a:extLst>
          </p:cNvPr>
          <p:cNvGraphicFramePr>
            <a:graphicFrameLocks noGrp="1"/>
          </p:cNvGraphicFramePr>
          <p:nvPr>
            <p:ph idx="1"/>
            <p:extLst>
              <p:ext uri="{D42A27DB-BD31-4B8C-83A1-F6EECF244321}">
                <p14:modId xmlns:p14="http://schemas.microsoft.com/office/powerpoint/2010/main" val="3382535733"/>
              </p:ext>
            </p:extLst>
          </p:nvPr>
        </p:nvGraphicFramePr>
        <p:xfrm>
          <a:off x="218660" y="365760"/>
          <a:ext cx="11754679" cy="6126480"/>
        </p:xfrm>
        <a:graphic>
          <a:graphicData uri="http://schemas.openxmlformats.org/drawingml/2006/table">
            <a:tbl>
              <a:tblPr firstRow="1" bandRow="1">
                <a:tableStyleId>{5C22544A-7EE6-4342-B048-85BDC9FD1C3A}</a:tableStyleId>
              </a:tblPr>
              <a:tblGrid>
                <a:gridCol w="3571462">
                  <a:extLst>
                    <a:ext uri="{9D8B030D-6E8A-4147-A177-3AD203B41FA5}">
                      <a16:colId xmlns:a16="http://schemas.microsoft.com/office/drawing/2014/main" val="3618750634"/>
                    </a:ext>
                  </a:extLst>
                </a:gridCol>
                <a:gridCol w="8183217">
                  <a:extLst>
                    <a:ext uri="{9D8B030D-6E8A-4147-A177-3AD203B41FA5}">
                      <a16:colId xmlns:a16="http://schemas.microsoft.com/office/drawing/2014/main" val="7475779"/>
                    </a:ext>
                  </a:extLst>
                </a:gridCol>
              </a:tblGrid>
              <a:tr h="370840">
                <a:tc>
                  <a:txBody>
                    <a:bodyPr/>
                    <a:lstStyle/>
                    <a:p>
                      <a:r>
                        <a:rPr lang="en-US" sz="3200" dirty="0"/>
                        <a:t>Part of alimentary canal</a:t>
                      </a:r>
                    </a:p>
                  </a:txBody>
                  <a:tcPr/>
                </a:tc>
                <a:tc>
                  <a:txBody>
                    <a:bodyPr/>
                    <a:lstStyle/>
                    <a:p>
                      <a:r>
                        <a:rPr lang="en-US" sz="3200" dirty="0"/>
                        <a:t>Structure and Function </a:t>
                      </a:r>
                    </a:p>
                  </a:txBody>
                  <a:tcPr/>
                </a:tc>
                <a:extLst>
                  <a:ext uri="{0D108BD9-81ED-4DB2-BD59-A6C34878D82A}">
                    <a16:rowId xmlns:a16="http://schemas.microsoft.com/office/drawing/2014/main" val="8333455"/>
                  </a:ext>
                </a:extLst>
              </a:tr>
              <a:tr h="370840">
                <a:tc>
                  <a:txBody>
                    <a:bodyPr/>
                    <a:lstStyle/>
                    <a:p>
                      <a:r>
                        <a:rPr lang="en-US" sz="3200" dirty="0"/>
                        <a:t>Mouth </a:t>
                      </a:r>
                    </a:p>
                  </a:txBody>
                  <a:tcPr/>
                </a:tc>
                <a:tc>
                  <a:txBody>
                    <a:bodyPr/>
                    <a:lstStyle/>
                    <a:p>
                      <a:pPr marL="457200" indent="-457200" algn="just">
                        <a:buFont typeface="Arial" panose="020B0604020202020204" pitchFamily="34" charset="0"/>
                        <a:buChar char="•"/>
                      </a:pPr>
                      <a:r>
                        <a:rPr lang="en-US" sz="3200" dirty="0"/>
                        <a:t>Has teeth for physical digestion.</a:t>
                      </a:r>
                    </a:p>
                    <a:p>
                      <a:pPr marL="457200" indent="-457200" algn="just">
                        <a:buFont typeface="Arial" panose="020B0604020202020204" pitchFamily="34" charset="0"/>
                        <a:buChar char="•"/>
                      </a:pPr>
                      <a:r>
                        <a:rPr lang="en-US" sz="3200" dirty="0"/>
                        <a:t>Has a tongue that rolls food into bolus.</a:t>
                      </a:r>
                    </a:p>
                    <a:p>
                      <a:pPr marL="457200" indent="-457200" algn="just">
                        <a:buFont typeface="Arial" panose="020B0604020202020204" pitchFamily="34" charset="0"/>
                        <a:buChar char="•"/>
                      </a:pPr>
                      <a:r>
                        <a:rPr lang="en-US" sz="3200" dirty="0"/>
                        <a:t>Has salivary glands that secrete saliva to lubricate food.</a:t>
                      </a:r>
                    </a:p>
                    <a:p>
                      <a:pPr marL="457200" indent="-457200" algn="just">
                        <a:buFont typeface="Arial" panose="020B0604020202020204" pitchFamily="34" charset="0"/>
                        <a:buChar char="•"/>
                      </a:pPr>
                      <a:r>
                        <a:rPr lang="en-US" sz="3200" dirty="0"/>
                        <a:t>Saliva contains enzyme salivary amylase that catalyzes the chemical </a:t>
                      </a:r>
                      <a:r>
                        <a:rPr lang="en-US" sz="3200" u="sng" dirty="0"/>
                        <a:t>digestion of starch into maltose.</a:t>
                      </a:r>
                    </a:p>
                  </a:txBody>
                  <a:tcPr/>
                </a:tc>
                <a:extLst>
                  <a:ext uri="{0D108BD9-81ED-4DB2-BD59-A6C34878D82A}">
                    <a16:rowId xmlns:a16="http://schemas.microsoft.com/office/drawing/2014/main" val="1344178095"/>
                  </a:ext>
                </a:extLst>
              </a:tr>
              <a:tr h="370840">
                <a:tc>
                  <a:txBody>
                    <a:bodyPr/>
                    <a:lstStyle/>
                    <a:p>
                      <a:r>
                        <a:rPr lang="en-US" sz="3200" dirty="0" err="1"/>
                        <a:t>Oesophagus</a:t>
                      </a:r>
                      <a:r>
                        <a:rPr lang="en-US" sz="3200" dirty="0"/>
                        <a:t> </a:t>
                      </a:r>
                    </a:p>
                  </a:txBody>
                  <a:tcPr/>
                </a:tc>
                <a:tc>
                  <a:txBody>
                    <a:bodyPr/>
                    <a:lstStyle/>
                    <a:p>
                      <a:pPr marL="457200" indent="-457200" algn="just">
                        <a:buFont typeface="Arial" panose="020B0604020202020204" pitchFamily="34" charset="0"/>
                        <a:buChar char="•"/>
                      </a:pPr>
                      <a:r>
                        <a:rPr lang="en-US" sz="3200" dirty="0"/>
                        <a:t>Has muscular wall that facilitate transport of food to the stomach through peristalsis.</a:t>
                      </a:r>
                    </a:p>
                  </a:txBody>
                  <a:tcPr/>
                </a:tc>
                <a:extLst>
                  <a:ext uri="{0D108BD9-81ED-4DB2-BD59-A6C34878D82A}">
                    <a16:rowId xmlns:a16="http://schemas.microsoft.com/office/drawing/2014/main" val="1282717775"/>
                  </a:ext>
                </a:extLst>
              </a:tr>
            </a:tbl>
          </a:graphicData>
        </a:graphic>
      </p:graphicFrame>
    </p:spTree>
    <p:extLst>
      <p:ext uri="{BB962C8B-B14F-4D97-AF65-F5344CB8AC3E}">
        <p14:creationId xmlns:p14="http://schemas.microsoft.com/office/powerpoint/2010/main" val="2165072782"/>
      </p:ext>
    </p:extLst>
  </p:cSld>
  <p:clrMapOvr>
    <a:masterClrMapping/>
  </p:clrMapOvr>
  <p:timing>
    <p:tnLst>
      <p:par>
        <p:cTn id="1" dur="indefinite" restart="never" nodeType="tmRoot"/>
      </p:par>
    </p:tnLst>
  </p:timing>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00679-9572-B05B-7111-AFDA6EA05B5A}"/>
              </a:ext>
            </a:extLst>
          </p:cNvPr>
          <p:cNvSpPr>
            <a:spLocks noGrp="1"/>
          </p:cNvSpPr>
          <p:nvPr>
            <p:ph type="title"/>
          </p:nvPr>
        </p:nvSpPr>
        <p:spPr/>
        <p:txBody>
          <a:bodyPr/>
          <a:lstStyle/>
          <a:p>
            <a:endParaRPr lang="en-US" dirty="0"/>
          </a:p>
        </p:txBody>
      </p:sp>
      <p:graphicFrame>
        <p:nvGraphicFramePr>
          <p:cNvPr id="4" name="Table 4">
            <a:extLst>
              <a:ext uri="{FF2B5EF4-FFF2-40B4-BE49-F238E27FC236}">
                <a16:creationId xmlns:a16="http://schemas.microsoft.com/office/drawing/2014/main" id="{2081F721-4ED6-7AB2-7B62-B41A4D6277F1}"/>
              </a:ext>
            </a:extLst>
          </p:cNvPr>
          <p:cNvGraphicFramePr>
            <a:graphicFrameLocks noGrp="1"/>
          </p:cNvGraphicFramePr>
          <p:nvPr>
            <p:ph idx="1"/>
            <p:extLst>
              <p:ext uri="{D42A27DB-BD31-4B8C-83A1-F6EECF244321}">
                <p14:modId xmlns:p14="http://schemas.microsoft.com/office/powerpoint/2010/main" val="1900810790"/>
              </p:ext>
            </p:extLst>
          </p:nvPr>
        </p:nvGraphicFramePr>
        <p:xfrm>
          <a:off x="0" y="79513"/>
          <a:ext cx="12192000" cy="7453083"/>
        </p:xfrm>
        <a:graphic>
          <a:graphicData uri="http://schemas.openxmlformats.org/drawingml/2006/table">
            <a:tbl>
              <a:tblPr firstRow="1" bandRow="1">
                <a:tableStyleId>{5C22544A-7EE6-4342-B048-85BDC9FD1C3A}</a:tableStyleId>
              </a:tblPr>
              <a:tblGrid>
                <a:gridCol w="1782305">
                  <a:extLst>
                    <a:ext uri="{9D8B030D-6E8A-4147-A177-3AD203B41FA5}">
                      <a16:colId xmlns:a16="http://schemas.microsoft.com/office/drawing/2014/main" val="848839012"/>
                    </a:ext>
                  </a:extLst>
                </a:gridCol>
                <a:gridCol w="10409695">
                  <a:extLst>
                    <a:ext uri="{9D8B030D-6E8A-4147-A177-3AD203B41FA5}">
                      <a16:colId xmlns:a16="http://schemas.microsoft.com/office/drawing/2014/main" val="2842581315"/>
                    </a:ext>
                  </a:extLst>
                </a:gridCol>
              </a:tblGrid>
              <a:tr h="3611156">
                <a:tc>
                  <a:txBody>
                    <a:bodyPr/>
                    <a:lstStyle/>
                    <a:p>
                      <a:r>
                        <a:rPr lang="en-US" sz="2800" b="0" dirty="0"/>
                        <a:t>Stomach </a:t>
                      </a:r>
                    </a:p>
                  </a:txBody>
                  <a:tcPr/>
                </a:tc>
                <a:tc>
                  <a:txBody>
                    <a:bodyPr/>
                    <a:lstStyle/>
                    <a:p>
                      <a:pPr marL="457200" indent="-457200">
                        <a:buFont typeface="Arial" panose="020B0604020202020204" pitchFamily="34" charset="0"/>
                        <a:buChar char="•"/>
                      </a:pPr>
                      <a:r>
                        <a:rPr lang="en-US" sz="2800" b="0" dirty="0"/>
                        <a:t>Stores and churns food. </a:t>
                      </a:r>
                    </a:p>
                    <a:p>
                      <a:pPr marL="457200" indent="-457200">
                        <a:buFont typeface="Arial" panose="020B0604020202020204" pitchFamily="34" charset="0"/>
                        <a:buChar char="•"/>
                      </a:pPr>
                      <a:r>
                        <a:rPr lang="en-US" sz="2800" b="0" dirty="0"/>
                        <a:t>Has gastric glands that produce gastric juice which contains:</a:t>
                      </a:r>
                    </a:p>
                    <a:p>
                      <a:pPr marL="457200" indent="-457200">
                        <a:buFont typeface="Arial" panose="020B0604020202020204" pitchFamily="34" charset="0"/>
                        <a:buChar char="•"/>
                      </a:pPr>
                      <a:r>
                        <a:rPr lang="en-US" sz="2800" b="0" dirty="0"/>
                        <a:t>Pepsin: catalyzes digestion of </a:t>
                      </a:r>
                      <a:r>
                        <a:rPr lang="en-US" sz="2800" b="0" u="sng" dirty="0"/>
                        <a:t>proteins to peptides.</a:t>
                      </a:r>
                      <a:r>
                        <a:rPr lang="en-US" sz="2800" b="0" dirty="0"/>
                        <a:t>.</a:t>
                      </a:r>
                    </a:p>
                    <a:p>
                      <a:pPr marL="457200" indent="-457200">
                        <a:buFont typeface="Arial" panose="020B0604020202020204" pitchFamily="34" charset="0"/>
                        <a:buChar char="•"/>
                      </a:pPr>
                      <a:r>
                        <a:rPr lang="en-US" sz="2800" b="0" dirty="0"/>
                        <a:t>HCl: activates enzymes pepsinogen to pepsin and prorenin to rennin, kills germs, provides an optimum acidic medium for pepsin and stops action of salivary amylase.</a:t>
                      </a:r>
                    </a:p>
                    <a:p>
                      <a:pPr marL="457200" indent="-457200">
                        <a:buFont typeface="Arial" panose="020B0604020202020204" pitchFamily="34" charset="0"/>
                        <a:buChar char="•"/>
                      </a:pPr>
                      <a:r>
                        <a:rPr lang="en-US" sz="2800" b="0" dirty="0"/>
                        <a:t>Mucus protects stomach wall from HCl and pepsin.</a:t>
                      </a:r>
                    </a:p>
                    <a:p>
                      <a:pPr marL="457200" indent="-457200">
                        <a:buFont typeface="Arial" panose="020B0604020202020204" pitchFamily="34" charset="0"/>
                        <a:buChar char="•"/>
                      </a:pPr>
                      <a:r>
                        <a:rPr lang="en-US" sz="2800" b="0" dirty="0"/>
                        <a:t>Renin coagulates milk proteins. </a:t>
                      </a:r>
                    </a:p>
                  </a:txBody>
                  <a:tcPr/>
                </a:tc>
                <a:extLst>
                  <a:ext uri="{0D108BD9-81ED-4DB2-BD59-A6C34878D82A}">
                    <a16:rowId xmlns:a16="http://schemas.microsoft.com/office/drawing/2014/main" val="1086822408"/>
                  </a:ext>
                </a:extLst>
              </a:tr>
              <a:tr h="3094443">
                <a:tc>
                  <a:txBody>
                    <a:bodyPr/>
                    <a:lstStyle/>
                    <a:p>
                      <a:r>
                        <a:rPr lang="en-US" sz="2800" b="0" dirty="0"/>
                        <a:t>Liver </a:t>
                      </a:r>
                    </a:p>
                  </a:txBody>
                  <a:tcPr/>
                </a:tc>
                <a:tc>
                  <a:txBody>
                    <a:bodyPr/>
                    <a:lstStyle/>
                    <a:p>
                      <a:pPr marL="457200" indent="-457200">
                        <a:buFont typeface="Arial" panose="020B0604020202020204" pitchFamily="34" charset="0"/>
                        <a:buChar char="•"/>
                      </a:pPr>
                      <a:r>
                        <a:rPr lang="en-US" sz="2800" b="0" dirty="0"/>
                        <a:t>Destroys worn out/old red blood cells.</a:t>
                      </a:r>
                    </a:p>
                    <a:p>
                      <a:pPr marL="457200" indent="-457200">
                        <a:buFont typeface="Arial" panose="020B0604020202020204" pitchFamily="34" charset="0"/>
                        <a:buChar char="•"/>
                      </a:pPr>
                      <a:r>
                        <a:rPr lang="en-US" sz="2800" b="0" dirty="0"/>
                        <a:t>Produces bile juice.</a:t>
                      </a:r>
                    </a:p>
                    <a:p>
                      <a:pPr marL="457200" indent="-457200">
                        <a:buFont typeface="Arial" panose="020B0604020202020204" pitchFamily="34" charset="0"/>
                        <a:buChar char="•"/>
                      </a:pPr>
                      <a:r>
                        <a:rPr lang="en-US" sz="2800" b="0" dirty="0"/>
                        <a:t>Stores vitamins and Iron</a:t>
                      </a:r>
                    </a:p>
                    <a:p>
                      <a:pPr marL="457200" indent="-457200">
                        <a:buFont typeface="Arial" panose="020B0604020202020204" pitchFamily="34" charset="0"/>
                        <a:buChar char="•"/>
                      </a:pPr>
                      <a:r>
                        <a:rPr lang="en-US" sz="2800" b="0" dirty="0"/>
                        <a:t>Detoxifies poison</a:t>
                      </a:r>
                    </a:p>
                    <a:p>
                      <a:pPr marL="457200" indent="-457200">
                        <a:buFont typeface="Arial" panose="020B0604020202020204" pitchFamily="34" charset="0"/>
                        <a:buChar char="•"/>
                      </a:pPr>
                      <a:r>
                        <a:rPr lang="en-US" sz="2800" b="0" dirty="0"/>
                        <a:t>Produces heat due to various chemical processes taking place in it.</a:t>
                      </a:r>
                    </a:p>
                    <a:p>
                      <a:pPr marL="457200" indent="-457200">
                        <a:buFont typeface="Arial" panose="020B0604020202020204" pitchFamily="34" charset="0"/>
                        <a:buChar char="•"/>
                      </a:pPr>
                      <a:r>
                        <a:rPr lang="en-US" sz="2800" b="0" dirty="0"/>
                        <a:t>Forms new red blood cells</a:t>
                      </a:r>
                    </a:p>
                  </a:txBody>
                  <a:tcPr/>
                </a:tc>
                <a:extLst>
                  <a:ext uri="{0D108BD9-81ED-4DB2-BD59-A6C34878D82A}">
                    <a16:rowId xmlns:a16="http://schemas.microsoft.com/office/drawing/2014/main" val="1211697893"/>
                  </a:ext>
                </a:extLst>
              </a:tr>
            </a:tbl>
          </a:graphicData>
        </a:graphic>
      </p:graphicFrame>
    </p:spTree>
    <p:extLst>
      <p:ext uri="{BB962C8B-B14F-4D97-AF65-F5344CB8AC3E}">
        <p14:creationId xmlns:p14="http://schemas.microsoft.com/office/powerpoint/2010/main" val="1757521519"/>
      </p:ext>
    </p:extLst>
  </p:cSld>
  <p:clrMapOvr>
    <a:masterClrMapping/>
  </p:clrMapOvr>
  <p:timing>
    <p:tnLst>
      <p:par>
        <p:cTn id="1" dur="indefinite" restart="never" nodeType="tmRoot"/>
      </p:par>
    </p:tnLst>
  </p:timing>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52E0F-2B2E-6E6E-E04E-C17B8DFC3EF0}"/>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02186ABD-8998-C5E0-51E2-5FE083B38394}"/>
              </a:ext>
            </a:extLst>
          </p:cNvPr>
          <p:cNvGraphicFramePr>
            <a:graphicFrameLocks noGrp="1"/>
          </p:cNvGraphicFramePr>
          <p:nvPr>
            <p:ph idx="1"/>
            <p:extLst>
              <p:ext uri="{D42A27DB-BD31-4B8C-83A1-F6EECF244321}">
                <p14:modId xmlns:p14="http://schemas.microsoft.com/office/powerpoint/2010/main" val="1920439126"/>
              </p:ext>
            </p:extLst>
          </p:nvPr>
        </p:nvGraphicFramePr>
        <p:xfrm>
          <a:off x="0" y="39756"/>
          <a:ext cx="12191999" cy="6786251"/>
        </p:xfrm>
        <a:graphic>
          <a:graphicData uri="http://schemas.openxmlformats.org/drawingml/2006/table">
            <a:tbl>
              <a:tblPr firstRow="1" bandRow="1">
                <a:tableStyleId>{5C22544A-7EE6-4342-B048-85BDC9FD1C3A}</a:tableStyleId>
              </a:tblPr>
              <a:tblGrid>
                <a:gridCol w="2425147">
                  <a:extLst>
                    <a:ext uri="{9D8B030D-6E8A-4147-A177-3AD203B41FA5}">
                      <a16:colId xmlns:a16="http://schemas.microsoft.com/office/drawing/2014/main" val="1714770497"/>
                    </a:ext>
                  </a:extLst>
                </a:gridCol>
                <a:gridCol w="9766852">
                  <a:extLst>
                    <a:ext uri="{9D8B030D-6E8A-4147-A177-3AD203B41FA5}">
                      <a16:colId xmlns:a16="http://schemas.microsoft.com/office/drawing/2014/main" val="2876246839"/>
                    </a:ext>
                  </a:extLst>
                </a:gridCol>
              </a:tblGrid>
              <a:tr h="750458">
                <a:tc>
                  <a:txBody>
                    <a:bodyPr/>
                    <a:lstStyle/>
                    <a:p>
                      <a:pPr algn="just"/>
                      <a:r>
                        <a:rPr lang="en-US" sz="2800" b="0" dirty="0"/>
                        <a:t>Gall bladder </a:t>
                      </a:r>
                    </a:p>
                  </a:txBody>
                  <a:tcPr/>
                </a:tc>
                <a:tc>
                  <a:txBody>
                    <a:bodyPr/>
                    <a:lstStyle/>
                    <a:p>
                      <a:pPr marL="457200" indent="-457200" algn="just">
                        <a:buFont typeface="Arial" panose="020B0604020202020204" pitchFamily="34" charset="0"/>
                        <a:buChar char="•"/>
                      </a:pPr>
                      <a:r>
                        <a:rPr lang="en-US" sz="2800" b="0" dirty="0"/>
                        <a:t>Stores and releases Bile into the duodenum</a:t>
                      </a:r>
                    </a:p>
                  </a:txBody>
                  <a:tcPr/>
                </a:tc>
                <a:extLst>
                  <a:ext uri="{0D108BD9-81ED-4DB2-BD59-A6C34878D82A}">
                    <a16:rowId xmlns:a16="http://schemas.microsoft.com/office/drawing/2014/main" val="1615671328"/>
                  </a:ext>
                </a:extLst>
              </a:tr>
              <a:tr h="2530593">
                <a:tc>
                  <a:txBody>
                    <a:bodyPr/>
                    <a:lstStyle/>
                    <a:p>
                      <a:pPr algn="just"/>
                      <a:r>
                        <a:rPr lang="en-US" sz="2800" b="0" dirty="0"/>
                        <a:t>Pancreas</a:t>
                      </a:r>
                    </a:p>
                  </a:txBody>
                  <a:tcPr/>
                </a:tc>
                <a:tc>
                  <a:txBody>
                    <a:bodyPr/>
                    <a:lstStyle/>
                    <a:p>
                      <a:pPr marL="457200" indent="-457200" algn="just">
                        <a:buFont typeface="Arial" panose="020B0604020202020204" pitchFamily="34" charset="0"/>
                        <a:buChar char="•"/>
                      </a:pPr>
                      <a:r>
                        <a:rPr lang="en-US" sz="2800" b="0" dirty="0"/>
                        <a:t>Produces and secrets </a:t>
                      </a:r>
                      <a:r>
                        <a:rPr lang="en-US" sz="2800" b="1" dirty="0"/>
                        <a:t>pancreatic juice </a:t>
                      </a:r>
                      <a:r>
                        <a:rPr lang="en-US" sz="2800" b="0" dirty="0"/>
                        <a:t>that contains enzymes, into the duodenum.</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b="0" dirty="0"/>
                        <a:t>Pancreatic  juice contains hydrogen carbonate ions to neutralize the stomach acid and sets alkaline p H, optimum for action of pancreatic enzymes.</a:t>
                      </a:r>
                    </a:p>
                  </a:txBody>
                  <a:tcPr/>
                </a:tc>
                <a:extLst>
                  <a:ext uri="{0D108BD9-81ED-4DB2-BD59-A6C34878D82A}">
                    <a16:rowId xmlns:a16="http://schemas.microsoft.com/office/drawing/2014/main" val="1116716011"/>
                  </a:ext>
                </a:extLst>
              </a:tr>
              <a:tr h="3345036">
                <a:tc>
                  <a:txBody>
                    <a:bodyPr/>
                    <a:lstStyle/>
                    <a:p>
                      <a:pPr algn="just"/>
                      <a:r>
                        <a:rPr lang="en-US" sz="2800" b="0" dirty="0"/>
                        <a:t>Duodenum </a:t>
                      </a:r>
                    </a:p>
                  </a:txBody>
                  <a:tcPr/>
                </a:tc>
                <a:tc>
                  <a:txBody>
                    <a:bodyPr/>
                    <a:lstStyle/>
                    <a:p>
                      <a:pPr marL="457200" indent="-457200" algn="just">
                        <a:buFont typeface="Arial" panose="020B0604020202020204" pitchFamily="34" charset="0"/>
                        <a:buChar char="•"/>
                      </a:pPr>
                      <a:r>
                        <a:rPr lang="en-US" sz="2800" b="0" dirty="0"/>
                        <a:t>Bile juice emulsify fat.</a:t>
                      </a:r>
                    </a:p>
                    <a:p>
                      <a:pPr marL="457200" indent="-457200" algn="just">
                        <a:buFont typeface="Arial" panose="020B0604020202020204" pitchFamily="34" charset="0"/>
                        <a:buChar char="•"/>
                      </a:pPr>
                      <a:r>
                        <a:rPr lang="en-US" sz="2800" b="1" dirty="0"/>
                        <a:t>Pancreatic lipase</a:t>
                      </a:r>
                      <a:r>
                        <a:rPr lang="en-US" sz="2800" b="0" dirty="0"/>
                        <a:t>; catalyzes breakdown of </a:t>
                      </a:r>
                      <a:r>
                        <a:rPr lang="en-US" sz="2800" b="0" u="sng" dirty="0"/>
                        <a:t>lipids to fatty acids and glycerol</a:t>
                      </a:r>
                      <a:r>
                        <a:rPr lang="en-US" sz="2800" b="0" dirty="0"/>
                        <a:t>.</a:t>
                      </a:r>
                    </a:p>
                    <a:p>
                      <a:pPr marL="457200" indent="-457200" algn="just">
                        <a:buFont typeface="Arial" panose="020B0604020202020204" pitchFamily="34" charset="0"/>
                        <a:buChar char="•"/>
                      </a:pPr>
                      <a:r>
                        <a:rPr lang="en-US" sz="2800" b="1" dirty="0"/>
                        <a:t>Pancreatic amylase</a:t>
                      </a:r>
                      <a:r>
                        <a:rPr lang="en-US" sz="2800" b="0" dirty="0"/>
                        <a:t>; catalyzes breakdown of the remaining </a:t>
                      </a:r>
                      <a:r>
                        <a:rPr lang="en-US" sz="2800" b="0" u="sng" dirty="0"/>
                        <a:t>starch from digestion in the mouth into maltose</a:t>
                      </a:r>
                      <a:r>
                        <a:rPr lang="en-US" sz="2800" b="0" dirty="0"/>
                        <a:t>.</a:t>
                      </a:r>
                    </a:p>
                    <a:p>
                      <a:pPr marL="457200" indent="-457200" algn="just">
                        <a:buFont typeface="Arial" panose="020B0604020202020204" pitchFamily="34" charset="0"/>
                        <a:buChar char="•"/>
                      </a:pPr>
                      <a:r>
                        <a:rPr lang="en-US" sz="2800" b="1" dirty="0"/>
                        <a:t>Trypsin; </a:t>
                      </a:r>
                      <a:r>
                        <a:rPr lang="en-US" sz="2800" b="0" dirty="0"/>
                        <a:t>catalyzes breakdown of </a:t>
                      </a:r>
                      <a:r>
                        <a:rPr lang="en-US" sz="2800" b="0" u="sng" dirty="0"/>
                        <a:t>proteins to peptides.</a:t>
                      </a:r>
                      <a:endParaRPr lang="en-US" sz="2800" b="0" dirty="0"/>
                    </a:p>
                  </a:txBody>
                  <a:tcPr/>
                </a:tc>
                <a:extLst>
                  <a:ext uri="{0D108BD9-81ED-4DB2-BD59-A6C34878D82A}">
                    <a16:rowId xmlns:a16="http://schemas.microsoft.com/office/drawing/2014/main" val="3091566901"/>
                  </a:ext>
                </a:extLst>
              </a:tr>
            </a:tbl>
          </a:graphicData>
        </a:graphic>
      </p:graphicFrame>
    </p:spTree>
    <p:extLst>
      <p:ext uri="{BB962C8B-B14F-4D97-AF65-F5344CB8AC3E}">
        <p14:creationId xmlns:p14="http://schemas.microsoft.com/office/powerpoint/2010/main" val="2936768366"/>
      </p:ext>
    </p:extLst>
  </p:cSld>
  <p:clrMapOvr>
    <a:masterClrMapping/>
  </p:clrMapOvr>
  <p:timing>
    <p:tnLst>
      <p:par>
        <p:cTn id="1" dur="indefinite" restart="never" nodeType="tmRoot"/>
      </p:par>
    </p:tnLst>
  </p:timing>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D4A3868-E23A-BB52-3AF7-48E073BD54DA}"/>
              </a:ext>
            </a:extLst>
          </p:cNvPr>
          <p:cNvGraphicFramePr>
            <a:graphicFrameLocks noGrp="1"/>
          </p:cNvGraphicFramePr>
          <p:nvPr>
            <p:ph idx="1"/>
            <p:extLst>
              <p:ext uri="{D42A27DB-BD31-4B8C-83A1-F6EECF244321}">
                <p14:modId xmlns:p14="http://schemas.microsoft.com/office/powerpoint/2010/main" val="1515753766"/>
              </p:ext>
            </p:extLst>
          </p:nvPr>
        </p:nvGraphicFramePr>
        <p:xfrm>
          <a:off x="0" y="397563"/>
          <a:ext cx="12046226" cy="5943600"/>
        </p:xfrm>
        <a:graphic>
          <a:graphicData uri="http://schemas.openxmlformats.org/drawingml/2006/table">
            <a:tbl>
              <a:tblPr firstRow="1" bandRow="1">
                <a:tableStyleId>{5C22544A-7EE6-4342-B048-85BDC9FD1C3A}</a:tableStyleId>
              </a:tblPr>
              <a:tblGrid>
                <a:gridCol w="1616765">
                  <a:extLst>
                    <a:ext uri="{9D8B030D-6E8A-4147-A177-3AD203B41FA5}">
                      <a16:colId xmlns:a16="http://schemas.microsoft.com/office/drawing/2014/main" val="644632308"/>
                    </a:ext>
                  </a:extLst>
                </a:gridCol>
                <a:gridCol w="10429461">
                  <a:extLst>
                    <a:ext uri="{9D8B030D-6E8A-4147-A177-3AD203B41FA5}">
                      <a16:colId xmlns:a16="http://schemas.microsoft.com/office/drawing/2014/main" val="2522882230"/>
                    </a:ext>
                  </a:extLst>
                </a:gridCol>
              </a:tblGrid>
              <a:tr h="2565495">
                <a:tc>
                  <a:txBody>
                    <a:bodyPr/>
                    <a:lstStyle/>
                    <a:p>
                      <a:pPr algn="just"/>
                      <a:r>
                        <a:rPr lang="en-US" sz="3200" b="0" dirty="0"/>
                        <a:t>Ileum </a:t>
                      </a:r>
                    </a:p>
                  </a:txBody>
                  <a:tcPr/>
                </a:tc>
                <a:tc>
                  <a:txBody>
                    <a:bodyPr/>
                    <a:lstStyle/>
                    <a:p>
                      <a:pPr algn="just"/>
                      <a:r>
                        <a:rPr lang="en-US" sz="3200" b="0" dirty="0"/>
                        <a:t>Its wall produce of intestinal juice called </a:t>
                      </a:r>
                      <a:r>
                        <a:rPr lang="en-US" sz="3200" b="1" dirty="0"/>
                        <a:t>succus entericus </a:t>
                      </a:r>
                      <a:r>
                        <a:rPr lang="en-US" sz="3200" b="0" dirty="0"/>
                        <a:t>which contains enzymes that complete digestion.</a:t>
                      </a:r>
                    </a:p>
                    <a:p>
                      <a:pPr marL="457200" indent="-457200" algn="just">
                        <a:buFont typeface="Arial" panose="020B0604020202020204" pitchFamily="34" charset="0"/>
                        <a:buChar char="•"/>
                      </a:pPr>
                      <a:r>
                        <a:rPr lang="en-US" sz="3200" b="1" dirty="0"/>
                        <a:t>Maltase; </a:t>
                      </a:r>
                      <a:r>
                        <a:rPr lang="en-US" sz="3200" b="0" dirty="0"/>
                        <a:t>catalyzes breakdown of maltose into glucose.</a:t>
                      </a:r>
                    </a:p>
                    <a:p>
                      <a:pPr marL="457200" indent="-457200" algn="just">
                        <a:buFont typeface="Arial" panose="020B0604020202020204" pitchFamily="34" charset="0"/>
                        <a:buChar char="•"/>
                      </a:pPr>
                      <a:r>
                        <a:rPr lang="en-US" sz="3200" b="1" dirty="0"/>
                        <a:t>Peptidase (or </a:t>
                      </a:r>
                      <a:r>
                        <a:rPr lang="en-US" sz="3200" b="1" dirty="0" err="1"/>
                        <a:t>erepsin</a:t>
                      </a:r>
                      <a:r>
                        <a:rPr lang="en-US" sz="3200" b="1" dirty="0"/>
                        <a:t>); </a:t>
                      </a:r>
                      <a:r>
                        <a:rPr lang="en-US" sz="3200" b="0" dirty="0"/>
                        <a:t>catalyzes breakdown of peptides into amino acids</a:t>
                      </a:r>
                    </a:p>
                    <a:p>
                      <a:pPr marL="457200" indent="-457200" algn="just">
                        <a:buFont typeface="Arial" panose="020B0604020202020204" pitchFamily="34" charset="0"/>
                        <a:buChar char="•"/>
                      </a:pPr>
                      <a:r>
                        <a:rPr lang="en-US" sz="3200" b="1" dirty="0"/>
                        <a:t>Sucrase; </a:t>
                      </a:r>
                      <a:r>
                        <a:rPr lang="en-US" sz="3200" b="0" dirty="0"/>
                        <a:t>catalyzes breakdown of sucrose into glucose and fructose</a:t>
                      </a:r>
                    </a:p>
                    <a:p>
                      <a:pPr marL="457200" indent="-457200" algn="just">
                        <a:buFont typeface="Arial" panose="020B0604020202020204" pitchFamily="34" charset="0"/>
                        <a:buChar char="•"/>
                      </a:pPr>
                      <a:r>
                        <a:rPr lang="en-US" sz="3200" b="1" dirty="0"/>
                        <a:t>Lactase; </a:t>
                      </a:r>
                      <a:r>
                        <a:rPr lang="en-US" sz="3200" b="0" dirty="0"/>
                        <a:t>catalyzes breakdown of lactose to glucose and galactose</a:t>
                      </a:r>
                    </a:p>
                    <a:p>
                      <a:pPr algn="just"/>
                      <a:endParaRPr lang="en-US" sz="3200" b="0" dirty="0"/>
                    </a:p>
                  </a:txBody>
                  <a:tcPr/>
                </a:tc>
                <a:extLst>
                  <a:ext uri="{0D108BD9-81ED-4DB2-BD59-A6C34878D82A}">
                    <a16:rowId xmlns:a16="http://schemas.microsoft.com/office/drawing/2014/main" val="2773964717"/>
                  </a:ext>
                </a:extLst>
              </a:tr>
            </a:tbl>
          </a:graphicData>
        </a:graphic>
      </p:graphicFrame>
    </p:spTree>
    <p:extLst>
      <p:ext uri="{BB962C8B-B14F-4D97-AF65-F5344CB8AC3E}">
        <p14:creationId xmlns:p14="http://schemas.microsoft.com/office/powerpoint/2010/main" val="289346030"/>
      </p:ext>
    </p:extLst>
  </p:cSld>
  <p:clrMapOvr>
    <a:masterClrMapping/>
  </p:clrMapOvr>
  <p:timing>
    <p:tnLst>
      <p:par>
        <p:cTn id="1" dur="indefinite" restart="never" nodeType="tmRoot"/>
      </p:par>
    </p:tnLst>
  </p:timing>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8D5D27F-59BD-9035-ACE2-E5B064A7A21F}"/>
              </a:ext>
            </a:extLst>
          </p:cNvPr>
          <p:cNvGraphicFramePr>
            <a:graphicFrameLocks noGrp="1"/>
          </p:cNvGraphicFramePr>
          <p:nvPr>
            <p:ph idx="1"/>
            <p:extLst>
              <p:ext uri="{D42A27DB-BD31-4B8C-83A1-F6EECF244321}">
                <p14:modId xmlns:p14="http://schemas.microsoft.com/office/powerpoint/2010/main" val="1385847830"/>
              </p:ext>
            </p:extLst>
          </p:nvPr>
        </p:nvGraphicFramePr>
        <p:xfrm>
          <a:off x="69643" y="1867107"/>
          <a:ext cx="12046226" cy="2621280"/>
        </p:xfrm>
        <a:graphic>
          <a:graphicData uri="http://schemas.openxmlformats.org/drawingml/2006/table">
            <a:tbl>
              <a:tblPr firstRow="1" bandRow="1">
                <a:tableStyleId>{5C22544A-7EE6-4342-B048-85BDC9FD1C3A}</a:tableStyleId>
              </a:tblPr>
              <a:tblGrid>
                <a:gridCol w="1904931">
                  <a:extLst>
                    <a:ext uri="{9D8B030D-6E8A-4147-A177-3AD203B41FA5}">
                      <a16:colId xmlns:a16="http://schemas.microsoft.com/office/drawing/2014/main" val="539088566"/>
                    </a:ext>
                  </a:extLst>
                </a:gridCol>
                <a:gridCol w="10141295">
                  <a:extLst>
                    <a:ext uri="{9D8B030D-6E8A-4147-A177-3AD203B41FA5}">
                      <a16:colId xmlns:a16="http://schemas.microsoft.com/office/drawing/2014/main" val="557076612"/>
                    </a:ext>
                  </a:extLst>
                </a:gridCol>
              </a:tblGrid>
              <a:tr h="612030">
                <a:tc>
                  <a:txBody>
                    <a:bodyPr/>
                    <a:lstStyle/>
                    <a:p>
                      <a:r>
                        <a:rPr lang="en-US" sz="3200" b="0" dirty="0"/>
                        <a:t>Large intestine </a:t>
                      </a:r>
                    </a:p>
                  </a:txBody>
                  <a:tcPr/>
                </a:tc>
                <a:tc>
                  <a:txBody>
                    <a:bodyPr/>
                    <a:lstStyle/>
                    <a:p>
                      <a:pPr marL="457200" indent="-457200">
                        <a:buFont typeface="Arial" panose="020B0604020202020204" pitchFamily="34" charset="0"/>
                        <a:buChar char="•"/>
                      </a:pPr>
                      <a:r>
                        <a:rPr lang="en-US" sz="3200" b="0" dirty="0"/>
                        <a:t>Colon absorbs water.</a:t>
                      </a:r>
                    </a:p>
                    <a:p>
                      <a:pPr marL="457200" indent="-457200">
                        <a:buFont typeface="Arial" panose="020B0604020202020204" pitchFamily="34" charset="0"/>
                        <a:buChar char="•"/>
                      </a:pPr>
                      <a:r>
                        <a:rPr lang="en-US" sz="3200" b="0" dirty="0"/>
                        <a:t>Rectum stores remaining undigested food (</a:t>
                      </a:r>
                      <a:r>
                        <a:rPr lang="en-US" sz="3200" b="0" smtClean="0"/>
                        <a:t>faeces</a:t>
                      </a:r>
                      <a:r>
                        <a:rPr lang="en-US" sz="3200" b="0" dirty="0"/>
                        <a:t>).</a:t>
                      </a:r>
                    </a:p>
                  </a:txBody>
                  <a:tcPr/>
                </a:tc>
                <a:extLst>
                  <a:ext uri="{0D108BD9-81ED-4DB2-BD59-A6C34878D82A}">
                    <a16:rowId xmlns:a16="http://schemas.microsoft.com/office/drawing/2014/main" val="328972127"/>
                  </a:ext>
                </a:extLst>
              </a:tr>
              <a:tr h="612030">
                <a:tc>
                  <a:txBody>
                    <a:bodyPr/>
                    <a:lstStyle/>
                    <a:p>
                      <a:r>
                        <a:rPr lang="en-US" sz="3200" dirty="0"/>
                        <a:t>Anus </a:t>
                      </a:r>
                    </a:p>
                  </a:txBody>
                  <a:tcPr/>
                </a:tc>
                <a:tc>
                  <a:txBody>
                    <a:bodyPr/>
                    <a:lstStyle/>
                    <a:p>
                      <a:pPr marL="457200" indent="-457200">
                        <a:buFont typeface="Arial" panose="020B0604020202020204" pitchFamily="34" charset="0"/>
                        <a:buChar char="•"/>
                      </a:pPr>
                      <a:r>
                        <a:rPr lang="en-US" sz="3200" kern="1200" dirty="0">
                          <a:solidFill>
                            <a:schemeClr val="dk1"/>
                          </a:solidFill>
                          <a:effectLst/>
                          <a:latin typeface="+mn-lt"/>
                          <a:ea typeface="+mn-ea"/>
                          <a:cs typeface="+mn-cs"/>
                        </a:rPr>
                        <a:t>An opening for egestion when the anal sphincter muscles relax.</a:t>
                      </a:r>
                      <a:endParaRPr lang="en-US" sz="3200" dirty="0"/>
                    </a:p>
                  </a:txBody>
                  <a:tcPr/>
                </a:tc>
                <a:extLst>
                  <a:ext uri="{0D108BD9-81ED-4DB2-BD59-A6C34878D82A}">
                    <a16:rowId xmlns:a16="http://schemas.microsoft.com/office/drawing/2014/main" val="2561046919"/>
                  </a:ext>
                </a:extLst>
              </a:tr>
            </a:tbl>
          </a:graphicData>
        </a:graphic>
      </p:graphicFrame>
    </p:spTree>
    <p:extLst>
      <p:ext uri="{BB962C8B-B14F-4D97-AF65-F5344CB8AC3E}">
        <p14:creationId xmlns:p14="http://schemas.microsoft.com/office/powerpoint/2010/main" val="471831145"/>
      </p:ext>
    </p:extLst>
  </p:cSld>
  <p:clrMapOvr>
    <a:masterClrMapping/>
  </p:clrMapOvr>
  <p:timing>
    <p:tnLst>
      <p:par>
        <p:cTn id="1" dur="indefinite" restart="never" nodeType="tmRoot"/>
      </p:par>
    </p:tnLst>
  </p:timing>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19F5E-97A5-5188-B09B-C6C7DE885065}"/>
              </a:ext>
            </a:extLst>
          </p:cNvPr>
          <p:cNvSpPr>
            <a:spLocks noGrp="1"/>
          </p:cNvSpPr>
          <p:nvPr>
            <p:ph type="title"/>
          </p:nvPr>
        </p:nvSpPr>
        <p:spPr>
          <a:xfrm>
            <a:off x="751148" y="651501"/>
            <a:ext cx="9404723" cy="753230"/>
          </a:xfrm>
        </p:spPr>
        <p:txBody>
          <a:bodyPr/>
          <a:lstStyle/>
          <a:p>
            <a:pPr algn="ctr"/>
            <a:r>
              <a:rPr lang="en-US" b="1" u="sng" dirty="0"/>
              <a:t>Digestion of food</a:t>
            </a:r>
          </a:p>
        </p:txBody>
      </p:sp>
      <p:sp>
        <p:nvSpPr>
          <p:cNvPr id="3" name="Content Placeholder 2">
            <a:extLst>
              <a:ext uri="{FF2B5EF4-FFF2-40B4-BE49-F238E27FC236}">
                <a16:creationId xmlns:a16="http://schemas.microsoft.com/office/drawing/2014/main" id="{5C682378-308E-BAC4-AB42-63D099A05DA1}"/>
              </a:ext>
            </a:extLst>
          </p:cNvPr>
          <p:cNvSpPr>
            <a:spLocks noGrp="1"/>
          </p:cNvSpPr>
          <p:nvPr>
            <p:ph idx="1"/>
          </p:nvPr>
        </p:nvSpPr>
        <p:spPr>
          <a:xfrm>
            <a:off x="645130" y="1987826"/>
            <a:ext cx="10972799" cy="3644349"/>
          </a:xfrm>
        </p:spPr>
        <p:txBody>
          <a:bodyPr>
            <a:normAutofit/>
          </a:bodyPr>
          <a:lstStyle/>
          <a:p>
            <a:pPr algn="just"/>
            <a:r>
              <a:rPr lang="en-US" sz="3200" dirty="0"/>
              <a:t>Digestion is the breaking down of large/complex insoluble food particles into smaller, soluble and absorbable particles. </a:t>
            </a:r>
          </a:p>
          <a:p>
            <a:pPr algn="just"/>
            <a:r>
              <a:rPr lang="en-US" sz="3200" dirty="0"/>
              <a:t>Foods go through: ingestion, digestion, absorption, assimilation and egestion of indigestible materials.</a:t>
            </a:r>
          </a:p>
          <a:p>
            <a:pPr algn="just"/>
            <a:endParaRPr lang="en-US" sz="3200" dirty="0"/>
          </a:p>
        </p:txBody>
      </p:sp>
    </p:spTree>
    <p:extLst>
      <p:ext uri="{BB962C8B-B14F-4D97-AF65-F5344CB8AC3E}">
        <p14:creationId xmlns:p14="http://schemas.microsoft.com/office/powerpoint/2010/main" val="2765432462"/>
      </p:ext>
    </p:extLst>
  </p:cSld>
  <p:clrMapOvr>
    <a:masterClrMapping/>
  </p:clrMapOvr>
  <p:timing>
    <p:tnLst>
      <p:par>
        <p:cTn id="1" dur="indefinite" restart="never" nodeType="tmRoot"/>
      </p:par>
    </p:tnLst>
  </p:timing>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25D2FF-522E-4854-0024-7B8710DBB3ED}"/>
              </a:ext>
            </a:extLst>
          </p:cNvPr>
          <p:cNvSpPr>
            <a:spLocks noGrp="1"/>
          </p:cNvSpPr>
          <p:nvPr>
            <p:ph idx="1"/>
          </p:nvPr>
        </p:nvSpPr>
        <p:spPr>
          <a:xfrm>
            <a:off x="371061" y="490327"/>
            <a:ext cx="11330609" cy="5996609"/>
          </a:xfrm>
        </p:spPr>
        <p:txBody>
          <a:bodyPr>
            <a:noAutofit/>
          </a:bodyPr>
          <a:lstStyle/>
          <a:p>
            <a:pPr marL="0" indent="0" algn="just">
              <a:buNone/>
            </a:pPr>
            <a:r>
              <a:rPr lang="en-US" sz="3200" b="1" dirty="0"/>
              <a:t>Basic types of digestion</a:t>
            </a:r>
          </a:p>
          <a:p>
            <a:pPr marL="0" indent="0" algn="just">
              <a:buNone/>
            </a:pPr>
            <a:r>
              <a:rPr lang="en-US" sz="3200" b="1" dirty="0"/>
              <a:t>a) Physical/mechanical digestion:</a:t>
            </a:r>
            <a:r>
              <a:rPr lang="en-US" sz="3200" dirty="0"/>
              <a:t> breakdown of food substances by teeth (means of biting, cutting, grinding), muscular contractions (churning), coagulating and emulsifying.</a:t>
            </a:r>
          </a:p>
          <a:p>
            <a:pPr algn="just"/>
            <a:r>
              <a:rPr lang="en-US" sz="3200" dirty="0"/>
              <a:t>Does not result in changing chemical nature of the food.</a:t>
            </a:r>
          </a:p>
          <a:p>
            <a:pPr marL="0" indent="0" algn="just">
              <a:buNone/>
            </a:pPr>
            <a:r>
              <a:rPr lang="en-US" sz="3200" b="1" dirty="0"/>
              <a:t>b) Chemical digestion:</a:t>
            </a:r>
            <a:r>
              <a:rPr lang="en-US" sz="3200" dirty="0"/>
              <a:t> breakdown food by digestive enzymes into simpler molecular forms. </a:t>
            </a:r>
          </a:p>
          <a:p>
            <a:pPr algn="just"/>
            <a:r>
              <a:rPr lang="en-US" sz="3200" dirty="0"/>
              <a:t>Results in changing chemical nature of the food.</a:t>
            </a:r>
          </a:p>
          <a:p>
            <a:pPr algn="just"/>
            <a:endParaRPr lang="en-US" sz="3200" dirty="0"/>
          </a:p>
        </p:txBody>
      </p:sp>
    </p:spTree>
    <p:extLst>
      <p:ext uri="{BB962C8B-B14F-4D97-AF65-F5344CB8AC3E}">
        <p14:creationId xmlns:p14="http://schemas.microsoft.com/office/powerpoint/2010/main" val="1905292792"/>
      </p:ext>
    </p:extLst>
  </p:cSld>
  <p:clrMapOvr>
    <a:masterClrMapping/>
  </p:clrMapOvr>
  <p:timing>
    <p:tnLst>
      <p:par>
        <p:cTn id="1" dur="indefinite" restart="never" nodeType="tmRoot"/>
      </p:par>
    </p:tnLst>
  </p:timing>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C3AB0-FEE0-96C5-5120-B7B1BB04B8FA}"/>
              </a:ext>
            </a:extLst>
          </p:cNvPr>
          <p:cNvSpPr>
            <a:spLocks noGrp="1"/>
          </p:cNvSpPr>
          <p:nvPr>
            <p:ph type="title"/>
          </p:nvPr>
        </p:nvSpPr>
        <p:spPr>
          <a:xfrm>
            <a:off x="410817" y="2451652"/>
            <a:ext cx="11251096" cy="1376168"/>
          </a:xfrm>
        </p:spPr>
        <p:txBody>
          <a:bodyPr/>
          <a:lstStyle/>
          <a:p>
            <a:r>
              <a:rPr lang="en-US" b="1" dirty="0">
                <a:effectLst>
                  <a:outerShdw blurRad="38100" dist="38100" dir="2700000" algn="tl">
                    <a:srgbClr val="000000">
                      <a:alpha val="43137"/>
                    </a:srgbClr>
                  </a:outerShdw>
                </a:effectLst>
              </a:rPr>
              <a:t>Which food substance is digested in the mouth?</a:t>
            </a:r>
          </a:p>
        </p:txBody>
      </p:sp>
    </p:spTree>
    <p:extLst>
      <p:ext uri="{BB962C8B-B14F-4D97-AF65-F5344CB8AC3E}">
        <p14:creationId xmlns:p14="http://schemas.microsoft.com/office/powerpoint/2010/main" val="3852861963"/>
      </p:ext>
    </p:extLst>
  </p:cSld>
  <p:clrMapOvr>
    <a:masterClrMapping/>
  </p:clrMapOvr>
  <p:timing>
    <p:tnLst>
      <p:par>
        <p:cTn id="1" dur="indefinite" restart="never" nodeType="tmRoot"/>
      </p:par>
    </p:tnLst>
  </p:timing>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7D523-E84D-76D2-A090-B447655BF438}"/>
              </a:ext>
            </a:extLst>
          </p:cNvPr>
          <p:cNvSpPr>
            <a:spLocks noGrp="1"/>
          </p:cNvSpPr>
          <p:nvPr>
            <p:ph type="title"/>
          </p:nvPr>
        </p:nvSpPr>
        <p:spPr/>
        <p:txBody>
          <a:bodyPr/>
          <a:lstStyle/>
          <a:p>
            <a:r>
              <a:rPr lang="en-US" dirty="0"/>
              <a:t/>
            </a:r>
            <a:br>
              <a:rPr lang="en-US" dirty="0"/>
            </a:br>
            <a:endParaRPr lang="en-US" dirty="0"/>
          </a:p>
        </p:txBody>
      </p:sp>
      <p:sp>
        <p:nvSpPr>
          <p:cNvPr id="3" name="Content Placeholder 2">
            <a:extLst>
              <a:ext uri="{FF2B5EF4-FFF2-40B4-BE49-F238E27FC236}">
                <a16:creationId xmlns:a16="http://schemas.microsoft.com/office/drawing/2014/main" id="{E268E526-4797-F85F-A30D-B8D15B2448BE}"/>
              </a:ext>
            </a:extLst>
          </p:cNvPr>
          <p:cNvSpPr>
            <a:spLocks noGrp="1"/>
          </p:cNvSpPr>
          <p:nvPr>
            <p:ph idx="1"/>
          </p:nvPr>
        </p:nvSpPr>
        <p:spPr>
          <a:xfrm>
            <a:off x="225287" y="185579"/>
            <a:ext cx="11860695" cy="6559778"/>
          </a:xfrm>
        </p:spPr>
        <p:txBody>
          <a:bodyPr>
            <a:noAutofit/>
          </a:bodyPr>
          <a:lstStyle/>
          <a:p>
            <a:pPr marL="0" indent="0" algn="just">
              <a:buNone/>
            </a:pPr>
            <a:r>
              <a:rPr lang="en-US" sz="3200" b="1" u="sng" dirty="0">
                <a:effectLst>
                  <a:outerShdw blurRad="38100" dist="38100" dir="2700000" algn="tl">
                    <a:srgbClr val="000000">
                      <a:alpha val="43137"/>
                    </a:srgbClr>
                  </a:outerShdw>
                </a:effectLst>
              </a:rPr>
              <a:t>Experiment to determine the food substance chemically digested in the mouth</a:t>
            </a:r>
          </a:p>
          <a:p>
            <a:pPr algn="just"/>
            <a:r>
              <a:rPr lang="en-US" sz="3200" dirty="0"/>
              <a:t>Apparatus and materials</a:t>
            </a:r>
          </a:p>
          <a:p>
            <a:pPr algn="just"/>
            <a:r>
              <a:rPr lang="en-US" sz="3200" dirty="0"/>
              <a:t>Saliva </a:t>
            </a:r>
          </a:p>
          <a:p>
            <a:pPr algn="just"/>
            <a:r>
              <a:rPr lang="en-US" sz="3200" dirty="0"/>
              <a:t>10% Starch solution</a:t>
            </a:r>
          </a:p>
          <a:p>
            <a:pPr algn="just"/>
            <a:r>
              <a:rPr lang="en-US" sz="3200" dirty="0"/>
              <a:t>Beaker </a:t>
            </a:r>
          </a:p>
          <a:p>
            <a:pPr algn="just"/>
            <a:r>
              <a:rPr lang="en-US" sz="3200" dirty="0"/>
              <a:t>Benedict’s solution</a:t>
            </a:r>
          </a:p>
          <a:p>
            <a:pPr algn="just"/>
            <a:r>
              <a:rPr lang="en-US" sz="3200" dirty="0"/>
              <a:t>Measuring cylinder</a:t>
            </a:r>
          </a:p>
          <a:p>
            <a:pPr algn="just"/>
            <a:r>
              <a:rPr lang="en-US" sz="3200" dirty="0"/>
              <a:t>2 test tubes</a:t>
            </a:r>
          </a:p>
          <a:p>
            <a:pPr algn="just"/>
            <a:r>
              <a:rPr lang="en-US" sz="3200" dirty="0"/>
              <a:t>Water bath</a:t>
            </a:r>
          </a:p>
          <a:p>
            <a:pPr algn="just"/>
            <a:r>
              <a:rPr lang="en-US" sz="3200" dirty="0"/>
              <a:t>Thermometer </a:t>
            </a:r>
          </a:p>
          <a:p>
            <a:pPr marL="0" indent="0" algn="just">
              <a:buNone/>
            </a:pPr>
            <a:endParaRPr lang="en-US" sz="3200" dirty="0"/>
          </a:p>
        </p:txBody>
      </p:sp>
    </p:spTree>
    <p:extLst>
      <p:ext uri="{BB962C8B-B14F-4D97-AF65-F5344CB8AC3E}">
        <p14:creationId xmlns:p14="http://schemas.microsoft.com/office/powerpoint/2010/main" val="1065087300"/>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07947B-332C-811B-FC88-B764376ED221}"/>
              </a:ext>
            </a:extLst>
          </p:cNvPr>
          <p:cNvSpPr>
            <a:spLocks noGrp="1"/>
          </p:cNvSpPr>
          <p:nvPr>
            <p:ph idx="1"/>
          </p:nvPr>
        </p:nvSpPr>
        <p:spPr>
          <a:xfrm>
            <a:off x="510209" y="748748"/>
            <a:ext cx="11171582" cy="5360503"/>
          </a:xfrm>
        </p:spPr>
        <p:txBody>
          <a:bodyPr>
            <a:normAutofit lnSpcReduction="10000"/>
          </a:bodyPr>
          <a:lstStyle/>
          <a:p>
            <a:pPr marL="0" indent="0" algn="just">
              <a:buNone/>
            </a:pPr>
            <a:r>
              <a:rPr lang="en-US" sz="3200" b="1" dirty="0"/>
              <a:t>Procedure </a:t>
            </a:r>
          </a:p>
          <a:p>
            <a:pPr algn="just"/>
            <a:r>
              <a:rPr lang="en-US" sz="3200" dirty="0"/>
              <a:t>Label two test tubes A and B.</a:t>
            </a:r>
          </a:p>
          <a:p>
            <a:pPr algn="just"/>
            <a:r>
              <a:rPr lang="en-US" sz="3200" dirty="0"/>
              <a:t>Pour 2cm</a:t>
            </a:r>
            <a:r>
              <a:rPr lang="en-US" sz="3200" baseline="30000" dirty="0"/>
              <a:t>3</a:t>
            </a:r>
            <a:r>
              <a:rPr lang="en-US" sz="3200" dirty="0"/>
              <a:t> of starch solution into each of the two test tubes.</a:t>
            </a:r>
          </a:p>
          <a:p>
            <a:pPr algn="just"/>
            <a:r>
              <a:rPr lang="en-US" sz="3200" dirty="0"/>
              <a:t>Add 1cm</a:t>
            </a:r>
            <a:r>
              <a:rPr lang="en-US" sz="3200" baseline="30000" dirty="0"/>
              <a:t>3</a:t>
            </a:r>
            <a:r>
              <a:rPr lang="en-US" sz="3200" dirty="0"/>
              <a:t> of saliva into test tube A, and 1cm</a:t>
            </a:r>
            <a:r>
              <a:rPr lang="en-US" sz="3200" baseline="30000" dirty="0"/>
              <a:t>3</a:t>
            </a:r>
            <a:r>
              <a:rPr lang="en-US" sz="3200" dirty="0"/>
              <a:t> of water into test tube B.</a:t>
            </a:r>
          </a:p>
          <a:p>
            <a:pPr algn="just"/>
            <a:r>
              <a:rPr lang="en-US" sz="3200" dirty="0"/>
              <a:t>Place both test tubes in a water bath maintained at 37</a:t>
            </a:r>
            <a:r>
              <a:rPr lang="en-US" sz="3200" baseline="30000" dirty="0"/>
              <a:t>o</a:t>
            </a:r>
            <a:r>
              <a:rPr lang="en-US" sz="3200" dirty="0"/>
              <a:t>C to 40</a:t>
            </a:r>
            <a:r>
              <a:rPr lang="en-US" sz="3200" baseline="30000" dirty="0"/>
              <a:t>o</a:t>
            </a:r>
            <a:r>
              <a:rPr lang="en-US" sz="3200" dirty="0"/>
              <a:t>C  for 20 minutes.</a:t>
            </a:r>
          </a:p>
          <a:p>
            <a:pPr algn="just"/>
            <a:r>
              <a:rPr lang="en-US" sz="3200" dirty="0"/>
              <a:t>After the 20 minutes, add 2cm</a:t>
            </a:r>
            <a:r>
              <a:rPr lang="en-US" sz="3200" baseline="30000" dirty="0"/>
              <a:t>3</a:t>
            </a:r>
            <a:r>
              <a:rPr lang="en-US" sz="3200" dirty="0"/>
              <a:t> of Benedict’s solution into each test tube and boil.</a:t>
            </a:r>
          </a:p>
          <a:p>
            <a:pPr marL="0" indent="0">
              <a:buNone/>
            </a:pPr>
            <a:endParaRPr lang="en-US" dirty="0"/>
          </a:p>
        </p:txBody>
      </p:sp>
    </p:spTree>
    <p:extLst>
      <p:ext uri="{BB962C8B-B14F-4D97-AF65-F5344CB8AC3E}">
        <p14:creationId xmlns:p14="http://schemas.microsoft.com/office/powerpoint/2010/main" val="1284247399"/>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2DE11-8518-127C-AA29-50F550F08A31}"/>
              </a:ext>
            </a:extLst>
          </p:cNvPr>
          <p:cNvSpPr>
            <a:spLocks noGrp="1"/>
          </p:cNvSpPr>
          <p:nvPr>
            <p:ph type="title"/>
          </p:nvPr>
        </p:nvSpPr>
        <p:spPr>
          <a:xfrm>
            <a:off x="645130" y="271859"/>
            <a:ext cx="9404723" cy="1400530"/>
          </a:xfrm>
        </p:spPr>
        <p:txBody>
          <a:bodyPr/>
          <a:lstStyle/>
          <a:p>
            <a:r>
              <a:rPr lang="en-US" dirty="0"/>
              <a:t>Set up of apparatus</a:t>
            </a:r>
          </a:p>
        </p:txBody>
      </p:sp>
      <p:sp>
        <p:nvSpPr>
          <p:cNvPr id="3" name="Content Placeholder 2">
            <a:extLst>
              <a:ext uri="{FF2B5EF4-FFF2-40B4-BE49-F238E27FC236}">
                <a16:creationId xmlns:a16="http://schemas.microsoft.com/office/drawing/2014/main" id="{680FB79E-3D0A-AB2D-0354-D899C8BA9868}"/>
              </a:ext>
            </a:extLst>
          </p:cNvPr>
          <p:cNvSpPr>
            <a:spLocks noGrp="1"/>
          </p:cNvSpPr>
          <p:nvPr>
            <p:ph idx="1"/>
          </p:nvPr>
        </p:nvSpPr>
        <p:spPr/>
        <p:txBody>
          <a:bodyPr/>
          <a:lstStyle/>
          <a:p>
            <a:pPr marL="0" indent="0">
              <a:buNone/>
            </a:pPr>
            <a:endParaRPr lang="en-US" dirty="0"/>
          </a:p>
        </p:txBody>
      </p:sp>
      <p:pic>
        <p:nvPicPr>
          <p:cNvPr id="5" name="Picture 4">
            <a:extLst>
              <a:ext uri="{FF2B5EF4-FFF2-40B4-BE49-F238E27FC236}">
                <a16:creationId xmlns:a16="http://schemas.microsoft.com/office/drawing/2014/main" id="{BF2D38E1-D6F0-D03F-2A4A-BBF0371D54BC}"/>
              </a:ext>
            </a:extLst>
          </p:cNvPr>
          <p:cNvPicPr>
            <a:picLocks noChangeAspect="1"/>
          </p:cNvPicPr>
          <p:nvPr/>
        </p:nvPicPr>
        <p:blipFill rotWithShape="1">
          <a:blip r:embed="rId2"/>
          <a:srcRect l="3135" t="13043" r="498"/>
          <a:stretch/>
        </p:blipFill>
        <p:spPr>
          <a:xfrm>
            <a:off x="2893" y="1308905"/>
            <a:ext cx="12189107" cy="5058767"/>
          </a:xfrm>
          <a:prstGeom prst="rect">
            <a:avLst/>
          </a:prstGeom>
        </p:spPr>
      </p:pic>
    </p:spTree>
    <p:extLst>
      <p:ext uri="{BB962C8B-B14F-4D97-AF65-F5344CB8AC3E}">
        <p14:creationId xmlns:p14="http://schemas.microsoft.com/office/powerpoint/2010/main" val="1439800605"/>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BB1802-F888-6A81-4201-234AD7E8822A}"/>
              </a:ext>
            </a:extLst>
          </p:cNvPr>
          <p:cNvSpPr>
            <a:spLocks noGrp="1"/>
          </p:cNvSpPr>
          <p:nvPr>
            <p:ph idx="1"/>
          </p:nvPr>
        </p:nvSpPr>
        <p:spPr>
          <a:xfrm>
            <a:off x="238539" y="371061"/>
            <a:ext cx="11423373" cy="5877340"/>
          </a:xfrm>
        </p:spPr>
        <p:txBody>
          <a:bodyPr>
            <a:normAutofit/>
          </a:bodyPr>
          <a:lstStyle/>
          <a:p>
            <a:pPr marL="0" indent="0" algn="just">
              <a:buNone/>
            </a:pPr>
            <a:r>
              <a:rPr lang="en-US" sz="3200" b="1" dirty="0"/>
              <a:t>Observation </a:t>
            </a:r>
          </a:p>
          <a:p>
            <a:pPr algn="just"/>
            <a:r>
              <a:rPr lang="en-US" sz="3200" dirty="0"/>
              <a:t>Test tube A: turbid solution turns to blue solution, green solution, yellow precipitate and orange precipitate.</a:t>
            </a:r>
          </a:p>
          <a:p>
            <a:pPr algn="just"/>
            <a:r>
              <a:rPr lang="en-US" sz="3200" dirty="0"/>
              <a:t>Test tube B: turbid solution turns to blue solution and persists.</a:t>
            </a:r>
          </a:p>
          <a:p>
            <a:pPr marL="0" indent="0" algn="just">
              <a:buNone/>
            </a:pPr>
            <a:endParaRPr lang="en-US" sz="3200" b="1" dirty="0"/>
          </a:p>
          <a:p>
            <a:pPr marL="0" indent="0" algn="just">
              <a:buNone/>
            </a:pPr>
            <a:r>
              <a:rPr lang="en-US" sz="3200" b="1" dirty="0"/>
              <a:t>Conclusion</a:t>
            </a:r>
            <a:r>
              <a:rPr lang="en-US" sz="3200" dirty="0"/>
              <a:t> </a:t>
            </a:r>
          </a:p>
          <a:p>
            <a:pPr marL="0" indent="0" algn="just">
              <a:buNone/>
            </a:pPr>
            <a:r>
              <a:rPr lang="en-US" sz="3200" dirty="0"/>
              <a:t>Test tube A contains reducing sugars because starch is digested by an enzyme in saliva into reducing sugars.</a:t>
            </a:r>
          </a:p>
        </p:txBody>
      </p:sp>
    </p:spTree>
    <p:extLst>
      <p:ext uri="{BB962C8B-B14F-4D97-AF65-F5344CB8AC3E}">
        <p14:creationId xmlns:p14="http://schemas.microsoft.com/office/powerpoint/2010/main" val="1596710867"/>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1D8BD-1FB4-A981-7825-A4B26EC44E9C}"/>
              </a:ext>
            </a:extLst>
          </p:cNvPr>
          <p:cNvSpPr>
            <a:spLocks noGrp="1"/>
          </p:cNvSpPr>
          <p:nvPr>
            <p:ph type="title"/>
          </p:nvPr>
        </p:nvSpPr>
        <p:spPr>
          <a:xfrm>
            <a:off x="645130" y="113717"/>
            <a:ext cx="9404723" cy="806239"/>
          </a:xfrm>
        </p:spPr>
        <p:txBody>
          <a:bodyPr/>
          <a:lstStyle/>
          <a:p>
            <a:pPr algn="ctr"/>
            <a:r>
              <a:rPr lang="en-US" b="1" u="sng" dirty="0"/>
              <a:t>The process of digestion</a:t>
            </a:r>
          </a:p>
        </p:txBody>
      </p:sp>
      <p:sp>
        <p:nvSpPr>
          <p:cNvPr id="3" name="Content Placeholder 2">
            <a:extLst>
              <a:ext uri="{FF2B5EF4-FFF2-40B4-BE49-F238E27FC236}">
                <a16:creationId xmlns:a16="http://schemas.microsoft.com/office/drawing/2014/main" id="{D9D5A64F-480B-F66B-939E-F9EDEF84FB81}"/>
              </a:ext>
            </a:extLst>
          </p:cNvPr>
          <p:cNvSpPr>
            <a:spLocks noGrp="1"/>
          </p:cNvSpPr>
          <p:nvPr>
            <p:ph idx="1"/>
          </p:nvPr>
        </p:nvSpPr>
        <p:spPr>
          <a:xfrm>
            <a:off x="212036" y="899003"/>
            <a:ext cx="11979964" cy="5845280"/>
          </a:xfrm>
        </p:spPr>
        <p:txBody>
          <a:bodyPr>
            <a:noAutofit/>
          </a:bodyPr>
          <a:lstStyle/>
          <a:p>
            <a:pPr marL="0" indent="0" algn="just">
              <a:buNone/>
            </a:pPr>
            <a:r>
              <a:rPr lang="en-US" sz="3200" b="1" dirty="0"/>
              <a:t>In the mouth</a:t>
            </a:r>
          </a:p>
          <a:p>
            <a:pPr algn="just"/>
            <a:r>
              <a:rPr lang="en-US" sz="3200" dirty="0"/>
              <a:t>Food is chewed/masticated by the teeth, to increase surface area for efficient enzyme action.</a:t>
            </a:r>
          </a:p>
          <a:p>
            <a:pPr algn="just"/>
            <a:r>
              <a:rPr lang="en-US" sz="3200" dirty="0"/>
              <a:t>Saliva from salivary glands lubricates food and provide suitable pH for enzyme salivary amylase/ptyalin.</a:t>
            </a:r>
          </a:p>
          <a:p>
            <a:pPr algn="just"/>
            <a:r>
              <a:rPr lang="en-US" sz="3200" dirty="0"/>
              <a:t>Enzyme salivary amylase catalyzes the breakdown of starch into maltose.</a:t>
            </a:r>
          </a:p>
          <a:p>
            <a:pPr algn="just"/>
            <a:r>
              <a:rPr lang="en-US" sz="3200" dirty="0"/>
              <a:t>Food is rolled into bolus by the tongue, and moved through the </a:t>
            </a:r>
            <a:r>
              <a:rPr lang="en-US" sz="3200" dirty="0" err="1"/>
              <a:t>oesophagus</a:t>
            </a:r>
            <a:r>
              <a:rPr lang="en-US" sz="3200" dirty="0"/>
              <a:t> by peristalsis. </a:t>
            </a:r>
          </a:p>
          <a:p>
            <a:pPr algn="just"/>
            <a:endParaRPr lang="en-US" sz="3200" dirty="0"/>
          </a:p>
        </p:txBody>
      </p:sp>
    </p:spTree>
    <p:extLst>
      <p:ext uri="{BB962C8B-B14F-4D97-AF65-F5344CB8AC3E}">
        <p14:creationId xmlns:p14="http://schemas.microsoft.com/office/powerpoint/2010/main" val="3976163626"/>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FC4AF-CE3C-016E-7B79-DF993E4EDDA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3B5F06-6178-C95F-EB6E-3DA7E40966F9}"/>
              </a:ext>
            </a:extLst>
          </p:cNvPr>
          <p:cNvSpPr>
            <a:spLocks noGrp="1"/>
          </p:cNvSpPr>
          <p:nvPr>
            <p:ph idx="1"/>
          </p:nvPr>
        </p:nvSpPr>
        <p:spPr/>
        <p:txBody>
          <a:bodyPr/>
          <a:lstStyle/>
          <a:p>
            <a:endParaRPr lang="en-US"/>
          </a:p>
        </p:txBody>
      </p:sp>
      <p:pic>
        <p:nvPicPr>
          <p:cNvPr id="1026" name="Picture 2">
            <a:extLst>
              <a:ext uri="{FF2B5EF4-FFF2-40B4-BE49-F238E27FC236}">
                <a16:creationId xmlns:a16="http://schemas.microsoft.com/office/drawing/2014/main" id="{A50CD9C6-5055-D39B-F491-AA74BC0C0C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130" y="200080"/>
            <a:ext cx="9784331" cy="6511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0948441"/>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8226C-0324-CDDC-ADAA-5C82D4D05246}"/>
              </a:ext>
            </a:extLst>
          </p:cNvPr>
          <p:cNvSpPr>
            <a:spLocks noGrp="1"/>
          </p:cNvSpPr>
          <p:nvPr>
            <p:ph type="title"/>
          </p:nvPr>
        </p:nvSpPr>
        <p:spPr>
          <a:xfrm>
            <a:off x="646110" y="108161"/>
            <a:ext cx="9404723" cy="713474"/>
          </a:xfrm>
        </p:spPr>
        <p:txBody>
          <a:bodyPr/>
          <a:lstStyle/>
          <a:p>
            <a:r>
              <a:rPr lang="en-US" b="1" dirty="0"/>
              <a:t>In the stomach</a:t>
            </a:r>
          </a:p>
        </p:txBody>
      </p:sp>
      <p:sp>
        <p:nvSpPr>
          <p:cNvPr id="3" name="Content Placeholder 2">
            <a:extLst>
              <a:ext uri="{FF2B5EF4-FFF2-40B4-BE49-F238E27FC236}">
                <a16:creationId xmlns:a16="http://schemas.microsoft.com/office/drawing/2014/main" id="{428DDDA3-E368-BF31-531C-6EC89B7D60D9}"/>
              </a:ext>
            </a:extLst>
          </p:cNvPr>
          <p:cNvSpPr>
            <a:spLocks noGrp="1"/>
          </p:cNvSpPr>
          <p:nvPr>
            <p:ph idx="1"/>
          </p:nvPr>
        </p:nvSpPr>
        <p:spPr>
          <a:xfrm>
            <a:off x="357810" y="821635"/>
            <a:ext cx="11188080" cy="5928204"/>
          </a:xfrm>
        </p:spPr>
        <p:txBody>
          <a:bodyPr>
            <a:noAutofit/>
          </a:bodyPr>
          <a:lstStyle/>
          <a:p>
            <a:pPr algn="just"/>
            <a:r>
              <a:rPr lang="en-US" sz="3200" dirty="0"/>
              <a:t>Food (bolus) enters the stomach through the cardiac sphincter. </a:t>
            </a:r>
          </a:p>
          <a:p>
            <a:pPr algn="just"/>
            <a:r>
              <a:rPr lang="en-US" sz="3200" dirty="0"/>
              <a:t>Gastric glands (in the stomach walls) secrete gastric juice that contains; water, hydrochloric acid, pepsin, rennin and mucus.</a:t>
            </a:r>
          </a:p>
          <a:p>
            <a:pPr algn="just"/>
            <a:r>
              <a:rPr lang="en-US" sz="3200" dirty="0"/>
              <a:t>Stomach muscles contract and churn the food with gastric juice to form a semi solid called </a:t>
            </a:r>
            <a:r>
              <a:rPr lang="en-US" sz="3200" b="1" u="sng" dirty="0">
                <a:effectLst>
                  <a:outerShdw blurRad="38100" dist="38100" dir="2700000" algn="tl">
                    <a:srgbClr val="000000">
                      <a:alpha val="43137"/>
                    </a:srgbClr>
                  </a:outerShdw>
                </a:effectLst>
              </a:rPr>
              <a:t>chyme</a:t>
            </a:r>
          </a:p>
          <a:p>
            <a:pPr algn="just"/>
            <a:r>
              <a:rPr lang="en-US" sz="3200" dirty="0"/>
              <a:t>Pepsin catalyzes breakdown of proteins into peptides. </a:t>
            </a:r>
          </a:p>
          <a:p>
            <a:pPr algn="just"/>
            <a:r>
              <a:rPr lang="en-US" sz="3200" dirty="0"/>
              <a:t>Rennin coagulates soluble milk protein called caseinogen into insoluble proteins called casein which can then be acted on by pepsin. </a:t>
            </a:r>
          </a:p>
          <a:p>
            <a:pPr algn="just"/>
            <a:endParaRPr lang="en-US" sz="3200" dirty="0"/>
          </a:p>
        </p:txBody>
      </p:sp>
    </p:spTree>
    <p:extLst>
      <p:ext uri="{BB962C8B-B14F-4D97-AF65-F5344CB8AC3E}">
        <p14:creationId xmlns:p14="http://schemas.microsoft.com/office/powerpoint/2010/main" val="503051027"/>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BD5DD-E7D0-E7FF-EF3E-686499C9028A}"/>
              </a:ext>
            </a:extLst>
          </p:cNvPr>
          <p:cNvSpPr>
            <a:spLocks noGrp="1"/>
          </p:cNvSpPr>
          <p:nvPr>
            <p:ph type="title"/>
          </p:nvPr>
        </p:nvSpPr>
        <p:spPr>
          <a:xfrm>
            <a:off x="606354" y="0"/>
            <a:ext cx="9404723" cy="728870"/>
          </a:xfrm>
        </p:spPr>
        <p:txBody>
          <a:bodyPr/>
          <a:lstStyle/>
          <a:p>
            <a:r>
              <a:rPr lang="en-US" dirty="0"/>
              <a:t>In the duodenum </a:t>
            </a:r>
          </a:p>
        </p:txBody>
      </p:sp>
      <p:sp>
        <p:nvSpPr>
          <p:cNvPr id="3" name="Content Placeholder 2">
            <a:extLst>
              <a:ext uri="{FF2B5EF4-FFF2-40B4-BE49-F238E27FC236}">
                <a16:creationId xmlns:a16="http://schemas.microsoft.com/office/drawing/2014/main" id="{5D7BDF99-8671-4BE6-7735-BD4064503BB5}"/>
              </a:ext>
            </a:extLst>
          </p:cNvPr>
          <p:cNvSpPr>
            <a:spLocks noGrp="1"/>
          </p:cNvSpPr>
          <p:nvPr>
            <p:ph idx="1"/>
          </p:nvPr>
        </p:nvSpPr>
        <p:spPr>
          <a:xfrm>
            <a:off x="0" y="728870"/>
            <a:ext cx="12099235" cy="6016487"/>
          </a:xfrm>
        </p:spPr>
        <p:txBody>
          <a:bodyPr>
            <a:noAutofit/>
          </a:bodyPr>
          <a:lstStyle/>
          <a:p>
            <a:pPr algn="just"/>
            <a:r>
              <a:rPr lang="en-US" sz="2800" dirty="0"/>
              <a:t>Bile is released from the gall bladder through the bile duct.</a:t>
            </a:r>
          </a:p>
          <a:p>
            <a:pPr algn="just"/>
            <a:r>
              <a:rPr lang="en-US" sz="2800" dirty="0"/>
              <a:t>Bile salts emulsify fats (breakdown the large fat drops into tiny droplets which can mix better with water to create an emulsion) increasing surface area for action of lipase</a:t>
            </a:r>
          </a:p>
          <a:p>
            <a:pPr algn="just"/>
            <a:r>
              <a:rPr lang="en-US" sz="2800" dirty="0"/>
              <a:t>Pancreatic juice containing the following enzymes is releases from the pancreas through the pancreatic duct.</a:t>
            </a:r>
          </a:p>
          <a:p>
            <a:pPr algn="just">
              <a:buFont typeface="Wingdings" panose="05000000000000000000" pitchFamily="2" charset="2"/>
              <a:buChar char="Ø"/>
            </a:pPr>
            <a:r>
              <a:rPr lang="en-US" sz="2800" dirty="0"/>
              <a:t>Pancreatic lipase; catalyzes breakdown of lipids to fatty acids and glycerol.</a:t>
            </a:r>
          </a:p>
          <a:p>
            <a:pPr algn="just">
              <a:buFont typeface="Wingdings" panose="05000000000000000000" pitchFamily="2" charset="2"/>
              <a:buChar char="Ø"/>
            </a:pPr>
            <a:r>
              <a:rPr lang="en-US" sz="2800" dirty="0"/>
              <a:t>Pancreatic amylase; catalyzes breakdown of the remaining starch from digestion in the mouth into maltose.</a:t>
            </a:r>
          </a:p>
          <a:p>
            <a:pPr algn="just">
              <a:buFont typeface="Wingdings" panose="05000000000000000000" pitchFamily="2" charset="2"/>
              <a:buChar char="Ø"/>
            </a:pPr>
            <a:r>
              <a:rPr lang="en-US" sz="2800" dirty="0"/>
              <a:t>Trypsin; catalyzes breakdown of proteins to peptides. </a:t>
            </a:r>
          </a:p>
          <a:p>
            <a:pPr algn="just"/>
            <a:endParaRPr lang="en-US" sz="2800" dirty="0"/>
          </a:p>
        </p:txBody>
      </p:sp>
    </p:spTree>
    <p:extLst>
      <p:ext uri="{BB962C8B-B14F-4D97-AF65-F5344CB8AC3E}">
        <p14:creationId xmlns:p14="http://schemas.microsoft.com/office/powerpoint/2010/main" val="2658873082"/>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8632B-6BB3-B1EA-4A1A-EEBBAB646C92}"/>
              </a:ext>
            </a:extLst>
          </p:cNvPr>
          <p:cNvSpPr>
            <a:spLocks noGrp="1"/>
          </p:cNvSpPr>
          <p:nvPr>
            <p:ph type="title"/>
          </p:nvPr>
        </p:nvSpPr>
        <p:spPr>
          <a:xfrm>
            <a:off x="500337" y="0"/>
            <a:ext cx="9404723" cy="609601"/>
          </a:xfrm>
        </p:spPr>
        <p:txBody>
          <a:bodyPr/>
          <a:lstStyle/>
          <a:p>
            <a:r>
              <a:rPr lang="en-US" b="1" u="sng" dirty="0">
                <a:effectLst>
                  <a:outerShdw blurRad="38100" dist="38100" dir="2700000" algn="tl">
                    <a:srgbClr val="000000">
                      <a:alpha val="43137"/>
                    </a:srgbClr>
                  </a:outerShdw>
                </a:effectLst>
              </a:rPr>
              <a:t>In the ileum </a:t>
            </a:r>
          </a:p>
        </p:txBody>
      </p:sp>
      <p:sp>
        <p:nvSpPr>
          <p:cNvPr id="3" name="Content Placeholder 2">
            <a:extLst>
              <a:ext uri="{FF2B5EF4-FFF2-40B4-BE49-F238E27FC236}">
                <a16:creationId xmlns:a16="http://schemas.microsoft.com/office/drawing/2014/main" id="{6FCD7346-DCFF-FF86-5E86-1B6E716561D3}"/>
              </a:ext>
            </a:extLst>
          </p:cNvPr>
          <p:cNvSpPr>
            <a:spLocks noGrp="1"/>
          </p:cNvSpPr>
          <p:nvPr>
            <p:ph idx="1"/>
          </p:nvPr>
        </p:nvSpPr>
        <p:spPr>
          <a:xfrm>
            <a:off x="185530" y="609601"/>
            <a:ext cx="11820939" cy="4856921"/>
          </a:xfrm>
        </p:spPr>
        <p:txBody>
          <a:bodyPr>
            <a:noAutofit/>
          </a:bodyPr>
          <a:lstStyle/>
          <a:p>
            <a:pPr algn="just"/>
            <a:r>
              <a:rPr lang="en-US" sz="3200" dirty="0"/>
              <a:t>Intestinal juice called succus entericus containing the following enzymes is produced.</a:t>
            </a:r>
          </a:p>
          <a:p>
            <a:pPr algn="just">
              <a:buFont typeface="Wingdings" panose="05000000000000000000" pitchFamily="2" charset="2"/>
              <a:buChar char="Ø"/>
            </a:pPr>
            <a:r>
              <a:rPr lang="en-US" sz="3200" dirty="0"/>
              <a:t>Maltase; catalyzes breakdown of maltose into glucose.</a:t>
            </a:r>
          </a:p>
          <a:p>
            <a:pPr algn="just">
              <a:buFont typeface="Wingdings" panose="05000000000000000000" pitchFamily="2" charset="2"/>
              <a:buChar char="Ø"/>
            </a:pPr>
            <a:r>
              <a:rPr lang="en-US" sz="3200" dirty="0"/>
              <a:t>Peptidase (or </a:t>
            </a:r>
            <a:r>
              <a:rPr lang="en-US" sz="3200" dirty="0" err="1"/>
              <a:t>erepsin</a:t>
            </a:r>
            <a:r>
              <a:rPr lang="en-US" sz="3200" dirty="0"/>
              <a:t>); catalyzes breakdown of peptides into amino acids</a:t>
            </a:r>
          </a:p>
          <a:p>
            <a:pPr algn="just">
              <a:buFont typeface="Wingdings" panose="05000000000000000000" pitchFamily="2" charset="2"/>
              <a:buChar char="Ø"/>
            </a:pPr>
            <a:r>
              <a:rPr lang="en-US" sz="3200" dirty="0"/>
              <a:t>Sucrase; catalyzes breakdown of sucrose into glucose and fructose</a:t>
            </a:r>
          </a:p>
          <a:p>
            <a:pPr algn="just">
              <a:buFont typeface="Wingdings" panose="05000000000000000000" pitchFamily="2" charset="2"/>
              <a:buChar char="Ø"/>
            </a:pPr>
            <a:r>
              <a:rPr lang="en-US" sz="3200" dirty="0"/>
              <a:t>Lactase; catalyzes breakdown of lactose to glucose and galactose.</a:t>
            </a:r>
          </a:p>
          <a:p>
            <a:pPr marL="0" indent="0" algn="just">
              <a:buNone/>
            </a:pPr>
            <a:r>
              <a:rPr lang="en-US" sz="3200" dirty="0"/>
              <a:t>The food containing the soluble end products of digestion, ready for digestion is called </a:t>
            </a:r>
            <a:r>
              <a:rPr lang="en-US" sz="3200" b="1" u="sng" dirty="0">
                <a:effectLst>
                  <a:outerShdw blurRad="38100" dist="38100" dir="2700000" algn="tl">
                    <a:srgbClr val="000000">
                      <a:alpha val="43137"/>
                    </a:srgbClr>
                  </a:outerShdw>
                </a:effectLst>
              </a:rPr>
              <a:t>chyle</a:t>
            </a:r>
            <a:r>
              <a:rPr lang="en-US" sz="3200" dirty="0"/>
              <a:t>.</a:t>
            </a:r>
          </a:p>
          <a:p>
            <a:pPr algn="just"/>
            <a:endParaRPr lang="en-US" sz="3200" dirty="0"/>
          </a:p>
        </p:txBody>
      </p:sp>
    </p:spTree>
    <p:extLst>
      <p:ext uri="{BB962C8B-B14F-4D97-AF65-F5344CB8AC3E}">
        <p14:creationId xmlns:p14="http://schemas.microsoft.com/office/powerpoint/2010/main" val="231681129"/>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B501E3-9D16-0AA1-2872-DB13CE6F5BFA}"/>
              </a:ext>
            </a:extLst>
          </p:cNvPr>
          <p:cNvSpPr>
            <a:spLocks noGrp="1"/>
          </p:cNvSpPr>
          <p:nvPr>
            <p:ph idx="1"/>
          </p:nvPr>
        </p:nvSpPr>
        <p:spPr>
          <a:xfrm>
            <a:off x="145774" y="2146852"/>
            <a:ext cx="11820939" cy="4101547"/>
          </a:xfrm>
        </p:spPr>
        <p:txBody>
          <a:bodyPr/>
          <a:lstStyle/>
          <a:p>
            <a:pPr marL="0" indent="0">
              <a:buNone/>
            </a:pPr>
            <a:r>
              <a:rPr lang="en-US" sz="3200" dirty="0">
                <a:latin typeface="+mn-lt"/>
              </a:rPr>
              <a:t>Describe the digestion process that occurs when a person eats</a:t>
            </a:r>
          </a:p>
          <a:p>
            <a:pPr marL="0" indent="0">
              <a:buNone/>
            </a:pPr>
            <a:r>
              <a:rPr lang="en-US" sz="3200" dirty="0" err="1">
                <a:latin typeface="+mn-lt"/>
              </a:rPr>
              <a:t>i</a:t>
            </a:r>
            <a:r>
              <a:rPr lang="en-US" sz="3200" dirty="0">
                <a:latin typeface="+mn-lt"/>
              </a:rPr>
              <a:t>.	Starchy food e.g., posho. </a:t>
            </a:r>
          </a:p>
          <a:p>
            <a:pPr marL="0" indent="0">
              <a:buNone/>
            </a:pPr>
            <a:r>
              <a:rPr lang="en-US" sz="3200" dirty="0">
                <a:latin typeface="+mn-lt"/>
              </a:rPr>
              <a:t>ii.	Proteins e.g., beef. </a:t>
            </a:r>
          </a:p>
          <a:p>
            <a:endParaRPr lang="en-US" dirty="0"/>
          </a:p>
        </p:txBody>
      </p:sp>
    </p:spTree>
    <p:extLst>
      <p:ext uri="{BB962C8B-B14F-4D97-AF65-F5344CB8AC3E}">
        <p14:creationId xmlns:p14="http://schemas.microsoft.com/office/powerpoint/2010/main" val="2229383108"/>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319E9-9B99-FDF0-3ED9-1CC3D03A141F}"/>
              </a:ext>
            </a:extLst>
          </p:cNvPr>
          <p:cNvSpPr>
            <a:spLocks noGrp="1"/>
          </p:cNvSpPr>
          <p:nvPr>
            <p:ph type="title"/>
          </p:nvPr>
        </p:nvSpPr>
        <p:spPr/>
        <p:txBody>
          <a:bodyPr/>
          <a:lstStyle/>
          <a:p>
            <a:pPr algn="ctr"/>
            <a:r>
              <a:rPr lang="en-US" b="1" u="sng" dirty="0">
                <a:effectLst>
                  <a:outerShdw blurRad="38100" dist="38100" dir="2700000" algn="tl">
                    <a:srgbClr val="000000">
                      <a:alpha val="43137"/>
                    </a:srgbClr>
                  </a:outerShdw>
                </a:effectLst>
              </a:rPr>
              <a:t>Absorption of digested food</a:t>
            </a:r>
          </a:p>
        </p:txBody>
      </p:sp>
      <p:sp>
        <p:nvSpPr>
          <p:cNvPr id="3" name="Content Placeholder 2">
            <a:extLst>
              <a:ext uri="{FF2B5EF4-FFF2-40B4-BE49-F238E27FC236}">
                <a16:creationId xmlns:a16="http://schemas.microsoft.com/office/drawing/2014/main" id="{47F74786-F5E5-EAD0-AC69-1E9091E0D4B4}"/>
              </a:ext>
            </a:extLst>
          </p:cNvPr>
          <p:cNvSpPr>
            <a:spLocks noGrp="1"/>
          </p:cNvSpPr>
          <p:nvPr>
            <p:ph idx="1"/>
          </p:nvPr>
        </p:nvSpPr>
        <p:spPr>
          <a:xfrm>
            <a:off x="331304" y="2133600"/>
            <a:ext cx="11688418" cy="4114800"/>
          </a:xfrm>
        </p:spPr>
        <p:txBody>
          <a:bodyPr>
            <a:normAutofit/>
          </a:bodyPr>
          <a:lstStyle/>
          <a:p>
            <a:pPr algn="just"/>
            <a:r>
              <a:rPr lang="en-US" sz="3200" dirty="0"/>
              <a:t>Absorption is the process by which digested food materials enter the blood stream.</a:t>
            </a:r>
          </a:p>
          <a:p>
            <a:pPr algn="just"/>
            <a:r>
              <a:rPr lang="en-US" sz="3200" dirty="0"/>
              <a:t>This takes place in the ileum. </a:t>
            </a:r>
          </a:p>
          <a:p>
            <a:pPr algn="just"/>
            <a:r>
              <a:rPr lang="en-US" sz="3200" dirty="0"/>
              <a:t>The ileum has villi which suits it for absorption.</a:t>
            </a:r>
          </a:p>
          <a:p>
            <a:pPr algn="just"/>
            <a:endParaRPr lang="en-US" sz="3200" dirty="0"/>
          </a:p>
        </p:txBody>
      </p:sp>
    </p:spTree>
    <p:extLst>
      <p:ext uri="{BB962C8B-B14F-4D97-AF65-F5344CB8AC3E}">
        <p14:creationId xmlns:p14="http://schemas.microsoft.com/office/powerpoint/2010/main" val="2199573125"/>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FCA26-8AE1-35FB-E98A-482CB8B13C1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DF493B-91A3-2461-AAA2-041022B96B47}"/>
              </a:ext>
            </a:extLst>
          </p:cNvPr>
          <p:cNvSpPr>
            <a:spLocks noGrp="1"/>
          </p:cNvSpPr>
          <p:nvPr>
            <p:ph idx="1"/>
          </p:nvPr>
        </p:nvSpPr>
        <p:spPr/>
        <p:txBody>
          <a:bodyPr/>
          <a:lstStyle/>
          <a:p>
            <a:endParaRPr lang="en-US"/>
          </a:p>
        </p:txBody>
      </p:sp>
      <p:pic>
        <p:nvPicPr>
          <p:cNvPr id="2050" name="Picture 3">
            <a:extLst>
              <a:ext uri="{FF2B5EF4-FFF2-40B4-BE49-F238E27FC236}">
                <a16:creationId xmlns:a16="http://schemas.microsoft.com/office/drawing/2014/main" id="{37DE7A8F-1FC7-3FEE-AAEB-B4B55A39D7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3" y="4763"/>
            <a:ext cx="5755302" cy="685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Picture 6">
            <a:extLst>
              <a:ext uri="{FF2B5EF4-FFF2-40B4-BE49-F238E27FC236}">
                <a16:creationId xmlns:a16="http://schemas.microsoft.com/office/drawing/2014/main" id="{35D4A7D7-1904-C479-A425-04CB15823C1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228" t="4255" r="5226" b="4474"/>
          <a:stretch/>
        </p:blipFill>
        <p:spPr bwMode="auto">
          <a:xfrm>
            <a:off x="5760065" y="5956"/>
            <a:ext cx="6427172" cy="6860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8F87F650-1426-A116-3D5E-7EBD3264ED1E}"/>
              </a:ext>
            </a:extLst>
          </p:cNvPr>
          <p:cNvPicPr>
            <a:picLocks noChangeAspect="1"/>
          </p:cNvPicPr>
          <p:nvPr/>
        </p:nvPicPr>
        <p:blipFill>
          <a:blip r:embed="rId4"/>
          <a:stretch>
            <a:fillRect/>
          </a:stretch>
        </p:blipFill>
        <p:spPr>
          <a:xfrm>
            <a:off x="4443047" y="2623931"/>
            <a:ext cx="3797755" cy="2118291"/>
          </a:xfrm>
          <a:prstGeom prst="rect">
            <a:avLst/>
          </a:prstGeom>
        </p:spPr>
      </p:pic>
    </p:spTree>
    <p:extLst>
      <p:ext uri="{BB962C8B-B14F-4D97-AF65-F5344CB8AC3E}">
        <p14:creationId xmlns:p14="http://schemas.microsoft.com/office/powerpoint/2010/main" val="3614633833"/>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D82D62-5A79-0B4F-BF13-53155AF421D4}"/>
              </a:ext>
            </a:extLst>
          </p:cNvPr>
          <p:cNvSpPr>
            <a:spLocks noGrp="1"/>
          </p:cNvSpPr>
          <p:nvPr>
            <p:ph idx="1"/>
          </p:nvPr>
        </p:nvSpPr>
        <p:spPr>
          <a:xfrm>
            <a:off x="1156321" y="14856"/>
            <a:ext cx="8946541" cy="4195481"/>
          </a:xfrm>
        </p:spPr>
        <p:txBody>
          <a:bodyPr/>
          <a:lstStyle/>
          <a:p>
            <a:pPr marL="0" indent="0" algn="ctr">
              <a:buNone/>
            </a:pPr>
            <a:r>
              <a:rPr lang="en-US" sz="3200" b="1" u="sng" dirty="0"/>
              <a:t>A drawing of a villus</a:t>
            </a:r>
          </a:p>
          <a:p>
            <a:pPr marL="0" indent="0" algn="ctr">
              <a:buNone/>
            </a:pPr>
            <a:r>
              <a:rPr lang="en-US" sz="3200" b="1" dirty="0"/>
              <a:t>(Introduction to biology page 89, fig 18.7)</a:t>
            </a:r>
          </a:p>
          <a:p>
            <a:endParaRPr lang="en-US" b="1" dirty="0"/>
          </a:p>
        </p:txBody>
      </p:sp>
      <p:pic>
        <p:nvPicPr>
          <p:cNvPr id="5" name="Picture 4">
            <a:extLst>
              <a:ext uri="{FF2B5EF4-FFF2-40B4-BE49-F238E27FC236}">
                <a16:creationId xmlns:a16="http://schemas.microsoft.com/office/drawing/2014/main" id="{68F4D5AC-3312-6AA1-2A69-784AC274B885}"/>
              </a:ext>
            </a:extLst>
          </p:cNvPr>
          <p:cNvPicPr>
            <a:picLocks noChangeAspect="1"/>
          </p:cNvPicPr>
          <p:nvPr/>
        </p:nvPicPr>
        <p:blipFill>
          <a:blip r:embed="rId2"/>
          <a:stretch>
            <a:fillRect/>
          </a:stretch>
        </p:blipFill>
        <p:spPr>
          <a:xfrm>
            <a:off x="1404730" y="1157262"/>
            <a:ext cx="9104244" cy="5548338"/>
          </a:xfrm>
          <a:prstGeom prst="rect">
            <a:avLst/>
          </a:prstGeom>
        </p:spPr>
      </p:pic>
    </p:spTree>
    <p:extLst>
      <p:ext uri="{BB962C8B-B14F-4D97-AF65-F5344CB8AC3E}">
        <p14:creationId xmlns:p14="http://schemas.microsoft.com/office/powerpoint/2010/main" val="3600865907"/>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465FE-328C-B118-47AA-4506FD8945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DBE3BD2-40EB-5E93-22A8-6D94EEBB28B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25EB3E0-7CA6-C572-BF4E-97A6F7CEBE4A}"/>
              </a:ext>
            </a:extLst>
          </p:cNvPr>
          <p:cNvPicPr>
            <a:picLocks noChangeAspect="1"/>
          </p:cNvPicPr>
          <p:nvPr/>
        </p:nvPicPr>
        <p:blipFill>
          <a:blip r:embed="rId2"/>
          <a:stretch>
            <a:fillRect/>
          </a:stretch>
        </p:blipFill>
        <p:spPr>
          <a:xfrm>
            <a:off x="543339" y="-10726"/>
            <a:ext cx="10654748" cy="6868725"/>
          </a:xfrm>
          <a:prstGeom prst="rect">
            <a:avLst/>
          </a:prstGeom>
        </p:spPr>
      </p:pic>
    </p:spTree>
    <p:extLst>
      <p:ext uri="{BB962C8B-B14F-4D97-AF65-F5344CB8AC3E}">
        <p14:creationId xmlns:p14="http://schemas.microsoft.com/office/powerpoint/2010/main" val="2724523986"/>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E94DCB-D6BF-F4BF-9BDF-420C4154D1D1}"/>
              </a:ext>
            </a:extLst>
          </p:cNvPr>
          <p:cNvSpPr>
            <a:spLocks noGrp="1"/>
          </p:cNvSpPr>
          <p:nvPr>
            <p:ph idx="1"/>
          </p:nvPr>
        </p:nvSpPr>
        <p:spPr>
          <a:xfrm>
            <a:off x="371061" y="1033670"/>
            <a:ext cx="11290851" cy="5214729"/>
          </a:xfrm>
        </p:spPr>
        <p:txBody>
          <a:bodyPr>
            <a:noAutofit/>
          </a:bodyPr>
          <a:lstStyle/>
          <a:p>
            <a:pPr algn="just"/>
            <a:r>
              <a:rPr lang="en-US" sz="3200" dirty="0"/>
              <a:t>Fatty acids and glycerol are absorbed into the lacteal of the villus.</a:t>
            </a:r>
          </a:p>
          <a:p>
            <a:pPr algn="just"/>
            <a:r>
              <a:rPr lang="en-US" sz="3200" dirty="0"/>
              <a:t>The lacteals join up to form the lymphatic system carrying these food materials and distributing them to all parts of the body.</a:t>
            </a:r>
          </a:p>
          <a:p>
            <a:pPr algn="just"/>
            <a:r>
              <a:rPr lang="en-US" sz="3200" dirty="0"/>
              <a:t>Glucose, Amino acids and Fructose pass into the blood capillaries of the villus.</a:t>
            </a:r>
          </a:p>
          <a:p>
            <a:pPr algn="just"/>
            <a:r>
              <a:rPr lang="en-US" sz="3200" dirty="0"/>
              <a:t>The blood capillaries join up to form the Hepatic portal vein which transport these nutrients to the liver</a:t>
            </a:r>
          </a:p>
        </p:txBody>
      </p:sp>
    </p:spTree>
    <p:extLst>
      <p:ext uri="{BB962C8B-B14F-4D97-AF65-F5344CB8AC3E}">
        <p14:creationId xmlns:p14="http://schemas.microsoft.com/office/powerpoint/2010/main" val="2699750256"/>
      </p:ext>
    </p:extLst>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E28E6-00A9-B1D1-FF49-DB042EA4F677}"/>
              </a:ext>
            </a:extLst>
          </p:cNvPr>
          <p:cNvSpPr>
            <a:spLocks noGrp="1"/>
          </p:cNvSpPr>
          <p:nvPr>
            <p:ph type="title"/>
          </p:nvPr>
        </p:nvSpPr>
        <p:spPr>
          <a:xfrm>
            <a:off x="0" y="0"/>
            <a:ext cx="11926956" cy="1400530"/>
          </a:xfrm>
        </p:spPr>
        <p:txBody>
          <a:bodyPr/>
          <a:lstStyle/>
          <a:p>
            <a:pPr algn="ctr"/>
            <a:r>
              <a:rPr lang="en-US" b="1" u="sng" dirty="0">
                <a:effectLst>
                  <a:outerShdw blurRad="38100" dist="38100" dir="2700000" algn="tl">
                    <a:srgbClr val="000000">
                      <a:alpha val="43137"/>
                    </a:srgbClr>
                  </a:outerShdw>
                </a:effectLst>
              </a:rPr>
              <a:t>Adaptations of ileum/ small intestine for absorption of digested food</a:t>
            </a:r>
          </a:p>
        </p:txBody>
      </p:sp>
      <p:sp>
        <p:nvSpPr>
          <p:cNvPr id="3" name="Content Placeholder 2">
            <a:extLst>
              <a:ext uri="{FF2B5EF4-FFF2-40B4-BE49-F238E27FC236}">
                <a16:creationId xmlns:a16="http://schemas.microsoft.com/office/drawing/2014/main" id="{D547917C-46C2-90FD-B11A-DD1931CCDD7C}"/>
              </a:ext>
            </a:extLst>
          </p:cNvPr>
          <p:cNvSpPr>
            <a:spLocks noGrp="1"/>
          </p:cNvSpPr>
          <p:nvPr>
            <p:ph idx="1"/>
          </p:nvPr>
        </p:nvSpPr>
        <p:spPr>
          <a:xfrm>
            <a:off x="92766" y="1400530"/>
            <a:ext cx="11926956" cy="4847869"/>
          </a:xfrm>
        </p:spPr>
        <p:txBody>
          <a:bodyPr>
            <a:noAutofit/>
          </a:bodyPr>
          <a:lstStyle/>
          <a:p>
            <a:pPr marL="342900" marR="0" lvl="0" indent="-342900" algn="just">
              <a:lnSpc>
                <a:spcPct val="115000"/>
              </a:lnSpc>
              <a:spcBef>
                <a:spcPts val="315"/>
              </a:spcBef>
              <a:spcAft>
                <a:spcPts val="0"/>
              </a:spcAft>
              <a:buFont typeface="Symbol" panose="05050102010706020507" pitchFamily="18" charset="2"/>
              <a:buChar char=""/>
            </a:pPr>
            <a:r>
              <a:rPr lang="en-US" sz="3200" spc="25" dirty="0">
                <a:effectLst/>
                <a:latin typeface="+mn-lt"/>
                <a:ea typeface="Times New Roman" panose="02020603050405020304" pitchFamily="18" charset="0"/>
                <a:cs typeface="Times New Roman" panose="02020603050405020304" pitchFamily="18" charset="0"/>
              </a:rPr>
              <a:t>Ileum is very long to provide a large surface area for absorption of food.</a:t>
            </a:r>
            <a:endParaRPr lang="en-US" sz="3200" dirty="0">
              <a:effectLst/>
              <a:latin typeface="+mn-lt"/>
              <a:ea typeface="Calibri" panose="020F0502020204030204" pitchFamily="34" charset="0"/>
              <a:cs typeface="Times New Roman" panose="02020603050405020304" pitchFamily="18" charset="0"/>
            </a:endParaRPr>
          </a:p>
          <a:p>
            <a:pPr marL="342900" marR="0" lvl="0" indent="-342900" algn="just">
              <a:lnSpc>
                <a:spcPct val="115000"/>
              </a:lnSpc>
              <a:spcBef>
                <a:spcPts val="315"/>
              </a:spcBef>
              <a:spcAft>
                <a:spcPts val="0"/>
              </a:spcAft>
              <a:buFont typeface="Symbol" panose="05050102010706020507" pitchFamily="18" charset="2"/>
              <a:buChar char=""/>
            </a:pPr>
            <a:r>
              <a:rPr lang="en-US" sz="3200" spc="25" dirty="0">
                <a:effectLst/>
                <a:latin typeface="+mn-lt"/>
                <a:ea typeface="Times New Roman" panose="02020603050405020304" pitchFamily="18" charset="0"/>
                <a:cs typeface="Times New Roman" panose="02020603050405020304" pitchFamily="18" charset="0"/>
              </a:rPr>
              <a:t>Its walls are folded to give large surface area for absorption of food.</a:t>
            </a:r>
            <a:endParaRPr lang="en-US" sz="3200" dirty="0">
              <a:effectLst/>
              <a:latin typeface="+mn-lt"/>
              <a:ea typeface="Calibri" panose="020F0502020204030204" pitchFamily="34" charset="0"/>
              <a:cs typeface="Times New Roman" panose="02020603050405020304" pitchFamily="18" charset="0"/>
            </a:endParaRPr>
          </a:p>
          <a:p>
            <a:pPr marL="342900" marR="0" lvl="0" indent="-342900" algn="just">
              <a:lnSpc>
                <a:spcPct val="115000"/>
              </a:lnSpc>
              <a:spcBef>
                <a:spcPts val="315"/>
              </a:spcBef>
              <a:spcAft>
                <a:spcPts val="0"/>
              </a:spcAft>
              <a:buFont typeface="Symbol" panose="05050102010706020507" pitchFamily="18" charset="2"/>
              <a:buChar char=""/>
            </a:pPr>
            <a:r>
              <a:rPr lang="en-US" sz="3200" spc="25" dirty="0">
                <a:effectLst/>
                <a:latin typeface="+mn-lt"/>
                <a:ea typeface="Times New Roman" panose="02020603050405020304" pitchFamily="18" charset="0"/>
                <a:cs typeface="Times New Roman" panose="02020603050405020304" pitchFamily="18" charset="0"/>
              </a:rPr>
              <a:t>Its inner lining contains </a:t>
            </a:r>
            <a:r>
              <a:rPr lang="en-US" sz="3200" spc="25" dirty="0">
                <a:latin typeface="+mn-lt"/>
                <a:ea typeface="Times New Roman" panose="02020603050405020304" pitchFamily="18" charset="0"/>
                <a:cs typeface="Times New Roman" panose="02020603050405020304" pitchFamily="18" charset="0"/>
              </a:rPr>
              <a:t>many </a:t>
            </a:r>
            <a:r>
              <a:rPr lang="en-US" sz="3200" spc="25" dirty="0">
                <a:effectLst/>
                <a:latin typeface="+mn-lt"/>
                <a:ea typeface="Times New Roman" panose="02020603050405020304" pitchFamily="18" charset="0"/>
                <a:cs typeface="Times New Roman" panose="02020603050405020304" pitchFamily="18" charset="0"/>
              </a:rPr>
              <a:t>villi which increase the surface area for absorption of food.</a:t>
            </a:r>
            <a:endParaRPr lang="en-US" sz="3200" dirty="0">
              <a:effectLst/>
              <a:latin typeface="+mn-lt"/>
              <a:ea typeface="Calibri" panose="020F0502020204030204" pitchFamily="34" charset="0"/>
              <a:cs typeface="Times New Roman" panose="02020603050405020304" pitchFamily="18" charset="0"/>
            </a:endParaRPr>
          </a:p>
          <a:p>
            <a:pPr marL="342900" marR="0" lvl="0" indent="-342900" algn="just">
              <a:lnSpc>
                <a:spcPct val="115000"/>
              </a:lnSpc>
              <a:spcBef>
                <a:spcPts val="315"/>
              </a:spcBef>
              <a:spcAft>
                <a:spcPts val="0"/>
              </a:spcAft>
              <a:buFont typeface="Symbol" panose="05050102010706020507" pitchFamily="18" charset="2"/>
              <a:buChar char=""/>
            </a:pPr>
            <a:r>
              <a:rPr lang="en-US" sz="3200" spc="25" dirty="0">
                <a:effectLst/>
                <a:latin typeface="+mn-lt"/>
                <a:ea typeface="Times New Roman" panose="02020603050405020304" pitchFamily="18" charset="0"/>
                <a:cs typeface="Times New Roman" panose="02020603050405020304" pitchFamily="18" charset="0"/>
              </a:rPr>
              <a:t>Each villus contains many microvilli which further increase the surface area for absorption of food</a:t>
            </a:r>
            <a:endParaRPr lang="en-US" sz="3200" dirty="0">
              <a:effectLst/>
              <a:latin typeface="+mn-lt"/>
              <a:ea typeface="Calibri" panose="020F0502020204030204" pitchFamily="34" charset="0"/>
              <a:cs typeface="Times New Roman" panose="02020603050405020304" pitchFamily="18" charset="0"/>
            </a:endParaRPr>
          </a:p>
          <a:p>
            <a:pPr marL="0" indent="0">
              <a:buNone/>
            </a:pPr>
            <a:endParaRPr lang="en-US" sz="2800" dirty="0">
              <a:latin typeface="+mn-lt"/>
            </a:endParaRPr>
          </a:p>
        </p:txBody>
      </p:sp>
    </p:spTree>
    <p:extLst>
      <p:ext uri="{BB962C8B-B14F-4D97-AF65-F5344CB8AC3E}">
        <p14:creationId xmlns:p14="http://schemas.microsoft.com/office/powerpoint/2010/main" val="3727424636"/>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66C0A3-69B2-7D81-215D-FD205FEA0A0D}"/>
              </a:ext>
            </a:extLst>
          </p:cNvPr>
          <p:cNvSpPr>
            <a:spLocks noGrp="1"/>
          </p:cNvSpPr>
          <p:nvPr>
            <p:ph idx="1"/>
          </p:nvPr>
        </p:nvSpPr>
        <p:spPr>
          <a:xfrm>
            <a:off x="357810" y="1311966"/>
            <a:ext cx="11211338" cy="4518991"/>
          </a:xfrm>
        </p:spPr>
        <p:txBody>
          <a:bodyPr>
            <a:normAutofit/>
          </a:bodyPr>
          <a:lstStyle/>
          <a:p>
            <a:pPr marL="342900" marR="0" lvl="0" indent="-342900" algn="just">
              <a:lnSpc>
                <a:spcPct val="115000"/>
              </a:lnSpc>
              <a:spcBef>
                <a:spcPts val="315"/>
              </a:spcBef>
              <a:spcAft>
                <a:spcPts val="0"/>
              </a:spcAft>
              <a:buFont typeface="Symbol" panose="05050102010706020507" pitchFamily="18" charset="2"/>
              <a:buChar char=""/>
            </a:pPr>
            <a:r>
              <a:rPr lang="en-US" sz="3200" spc="25" dirty="0">
                <a:effectLst/>
                <a:latin typeface="+mn-lt"/>
                <a:ea typeface="Times New Roman" panose="02020603050405020304" pitchFamily="18" charset="0"/>
                <a:cs typeface="Times New Roman" panose="02020603050405020304" pitchFamily="18" charset="0"/>
              </a:rPr>
              <a:t>Villi contain numerous blood capillaries which transport absorbed food (glucose, vitamins, amino acids, fructose, etc.).</a:t>
            </a:r>
            <a:endParaRPr lang="en-US" sz="3200" dirty="0">
              <a:effectLst/>
              <a:latin typeface="+mn-lt"/>
              <a:ea typeface="Calibri" panose="020F0502020204030204" pitchFamily="34" charset="0"/>
              <a:cs typeface="Times New Roman" panose="02020603050405020304" pitchFamily="18" charset="0"/>
            </a:endParaRPr>
          </a:p>
          <a:p>
            <a:pPr marL="342900" marR="0" lvl="0" indent="-342900" algn="just">
              <a:lnSpc>
                <a:spcPct val="115000"/>
              </a:lnSpc>
              <a:spcBef>
                <a:spcPts val="315"/>
              </a:spcBef>
              <a:spcAft>
                <a:spcPts val="0"/>
              </a:spcAft>
              <a:buFont typeface="Symbol" panose="05050102010706020507" pitchFamily="18" charset="2"/>
              <a:buChar char=""/>
            </a:pPr>
            <a:r>
              <a:rPr lang="en-US" sz="3200" spc="25" dirty="0">
                <a:effectLst/>
                <a:latin typeface="+mn-lt"/>
                <a:ea typeface="Times New Roman" panose="02020603050405020304" pitchFamily="18" charset="0"/>
                <a:cs typeface="Times New Roman" panose="02020603050405020304" pitchFamily="18" charset="0"/>
              </a:rPr>
              <a:t>Villi contain lacteal which transport absorbed fatty acids and glycerol to the lymphatic system.</a:t>
            </a:r>
            <a:endParaRPr lang="en-US" sz="3200" dirty="0">
              <a:effectLst/>
              <a:latin typeface="+mn-lt"/>
              <a:ea typeface="Calibri" panose="020F0502020204030204" pitchFamily="34" charset="0"/>
              <a:cs typeface="Times New Roman" panose="02020603050405020304" pitchFamily="18" charset="0"/>
            </a:endParaRPr>
          </a:p>
          <a:p>
            <a:pPr marL="342900" marR="0" lvl="0" indent="-342900" algn="just">
              <a:lnSpc>
                <a:spcPct val="115000"/>
              </a:lnSpc>
              <a:spcBef>
                <a:spcPts val="315"/>
              </a:spcBef>
              <a:spcAft>
                <a:spcPts val="0"/>
              </a:spcAft>
              <a:buFont typeface="Symbol" panose="05050102010706020507" pitchFamily="18" charset="2"/>
              <a:buChar char=""/>
            </a:pPr>
            <a:r>
              <a:rPr lang="en-US" sz="3200" spc="25" dirty="0">
                <a:effectLst/>
                <a:latin typeface="+mn-lt"/>
                <a:ea typeface="Times New Roman" panose="02020603050405020304" pitchFamily="18" charset="0"/>
                <a:cs typeface="Times New Roman" panose="02020603050405020304" pitchFamily="18" charset="0"/>
              </a:rPr>
              <a:t>Villi have thin walls (epithelium) to reduce distance to capillaries and lacteal.</a:t>
            </a:r>
            <a:endParaRPr lang="en-US" sz="3200" dirty="0">
              <a:effectLst/>
              <a:latin typeface="+mn-lt"/>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23783050"/>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D00FA-3DBA-A6BF-2CE6-6A97524B1DED}"/>
              </a:ext>
            </a:extLst>
          </p:cNvPr>
          <p:cNvSpPr>
            <a:spLocks noGrp="1"/>
          </p:cNvSpPr>
          <p:nvPr>
            <p:ph type="title"/>
          </p:nvPr>
        </p:nvSpPr>
        <p:spPr>
          <a:xfrm>
            <a:off x="645130" y="108161"/>
            <a:ext cx="9404723" cy="1400530"/>
          </a:xfrm>
        </p:spPr>
        <p:txBody>
          <a:bodyPr/>
          <a:lstStyle/>
          <a:p>
            <a:pPr algn="ctr"/>
            <a:r>
              <a:rPr lang="en-US" b="1" u="sng" dirty="0">
                <a:effectLst>
                  <a:outerShdw blurRad="38100" dist="38100" dir="2700000" algn="tl">
                    <a:srgbClr val="000000">
                      <a:alpha val="43137"/>
                    </a:srgbClr>
                  </a:outerShdw>
                </a:effectLst>
              </a:rPr>
              <a:t>Assimilation of food</a:t>
            </a:r>
          </a:p>
        </p:txBody>
      </p:sp>
      <p:sp>
        <p:nvSpPr>
          <p:cNvPr id="3" name="Content Placeholder 2">
            <a:extLst>
              <a:ext uri="{FF2B5EF4-FFF2-40B4-BE49-F238E27FC236}">
                <a16:creationId xmlns:a16="http://schemas.microsoft.com/office/drawing/2014/main" id="{AAE81ED1-2651-6EAB-584F-C86AD3E9652C}"/>
              </a:ext>
            </a:extLst>
          </p:cNvPr>
          <p:cNvSpPr>
            <a:spLocks noGrp="1"/>
          </p:cNvSpPr>
          <p:nvPr>
            <p:ph idx="1"/>
          </p:nvPr>
        </p:nvSpPr>
        <p:spPr>
          <a:xfrm>
            <a:off x="119270" y="1219200"/>
            <a:ext cx="11661913" cy="5029199"/>
          </a:xfrm>
        </p:spPr>
        <p:txBody>
          <a:bodyPr>
            <a:normAutofit fontScale="92500"/>
          </a:bodyPr>
          <a:lstStyle/>
          <a:p>
            <a:pPr algn="just"/>
            <a:r>
              <a:rPr lang="en-US" sz="3200" dirty="0"/>
              <a:t>After absorption, food is transported to cells and assimilated.</a:t>
            </a:r>
          </a:p>
          <a:p>
            <a:pPr algn="just"/>
            <a:r>
              <a:rPr lang="en-US" sz="3200" dirty="0"/>
              <a:t>Assimilation is the utilization of absorbed food nutrients in the metabolic processes of the body</a:t>
            </a:r>
          </a:p>
          <a:p>
            <a:pPr marL="0" indent="0" algn="just">
              <a:buNone/>
            </a:pPr>
            <a:r>
              <a:rPr lang="en-US" sz="3200" b="1" u="sng" dirty="0">
                <a:effectLst>
                  <a:outerShdw blurRad="38100" dist="38100" dir="2700000" algn="tl">
                    <a:srgbClr val="000000">
                      <a:alpha val="43137"/>
                    </a:srgbClr>
                  </a:outerShdw>
                </a:effectLst>
              </a:rPr>
              <a:t>Glucose</a:t>
            </a:r>
          </a:p>
          <a:p>
            <a:pPr algn="just">
              <a:buFont typeface="Wingdings" panose="05000000000000000000" pitchFamily="2" charset="2"/>
              <a:buChar char="ü"/>
            </a:pPr>
            <a:r>
              <a:rPr lang="en-US" sz="3200" dirty="0"/>
              <a:t>Used in respiration to release energy</a:t>
            </a:r>
          </a:p>
          <a:p>
            <a:pPr algn="just">
              <a:buFont typeface="Wingdings" panose="05000000000000000000" pitchFamily="2" charset="2"/>
              <a:buChar char="ü"/>
            </a:pPr>
            <a:r>
              <a:rPr lang="en-US" sz="3200" dirty="0"/>
              <a:t>Excess glucose is converted to </a:t>
            </a:r>
            <a:r>
              <a:rPr lang="en-US" sz="3200" b="1" dirty="0">
                <a:effectLst>
                  <a:outerShdw blurRad="38100" dist="38100" dir="2700000" algn="tl">
                    <a:srgbClr val="000000">
                      <a:alpha val="43137"/>
                    </a:srgbClr>
                  </a:outerShdw>
                </a:effectLst>
              </a:rPr>
              <a:t>glycogen</a:t>
            </a:r>
            <a:r>
              <a:rPr lang="en-US" sz="3200" dirty="0"/>
              <a:t> and stored in the liver and muscles.</a:t>
            </a:r>
          </a:p>
          <a:p>
            <a:pPr algn="just">
              <a:buFont typeface="Wingdings" panose="05000000000000000000" pitchFamily="2" charset="2"/>
              <a:buChar char="ü"/>
            </a:pPr>
            <a:r>
              <a:rPr lang="en-US" sz="3200" dirty="0"/>
              <a:t>Excess glucose is converted to fat and stored under the skin and delicate organs like liver, heart, and kidney</a:t>
            </a:r>
          </a:p>
          <a:p>
            <a:pPr marL="0" indent="0" algn="just">
              <a:buNone/>
            </a:pPr>
            <a:endParaRPr lang="en-US" sz="3200" dirty="0"/>
          </a:p>
        </p:txBody>
      </p:sp>
    </p:spTree>
    <p:extLst>
      <p:ext uri="{BB962C8B-B14F-4D97-AF65-F5344CB8AC3E}">
        <p14:creationId xmlns:p14="http://schemas.microsoft.com/office/powerpoint/2010/main" val="2446994252"/>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8CA7CD-A2CD-9D2C-6804-DB3A05F4AFA3}"/>
              </a:ext>
            </a:extLst>
          </p:cNvPr>
          <p:cNvSpPr>
            <a:spLocks noGrp="1"/>
          </p:cNvSpPr>
          <p:nvPr>
            <p:ph idx="1"/>
          </p:nvPr>
        </p:nvSpPr>
        <p:spPr>
          <a:xfrm>
            <a:off x="318052" y="1232452"/>
            <a:ext cx="11489635" cy="4611757"/>
          </a:xfrm>
        </p:spPr>
        <p:txBody>
          <a:bodyPr>
            <a:noAutofit/>
          </a:bodyPr>
          <a:lstStyle/>
          <a:p>
            <a:pPr algn="just"/>
            <a:r>
              <a:rPr lang="en-US" sz="3200" b="1" u="sng" dirty="0">
                <a:effectLst>
                  <a:outerShdw blurRad="38100" dist="38100" dir="2700000" algn="tl">
                    <a:srgbClr val="000000">
                      <a:alpha val="43137"/>
                    </a:srgbClr>
                  </a:outerShdw>
                </a:effectLst>
              </a:rPr>
              <a:t>Amino acids</a:t>
            </a:r>
          </a:p>
          <a:p>
            <a:pPr algn="just">
              <a:buFont typeface="Wingdings" panose="05000000000000000000" pitchFamily="2" charset="2"/>
              <a:buChar char="Ø"/>
            </a:pPr>
            <a:r>
              <a:rPr lang="en-US" sz="3200" dirty="0"/>
              <a:t>Growth and repair of damaged tissues.</a:t>
            </a:r>
          </a:p>
          <a:p>
            <a:pPr algn="just">
              <a:buFont typeface="Wingdings" panose="05000000000000000000" pitchFamily="2" charset="2"/>
              <a:buChar char="Ø"/>
            </a:pPr>
            <a:r>
              <a:rPr lang="en-US" sz="3200" dirty="0"/>
              <a:t>Used in protein synthesis e.g. formation of hormones, enzymes and antibodies.</a:t>
            </a:r>
          </a:p>
          <a:p>
            <a:pPr algn="just">
              <a:buFont typeface="Wingdings" panose="05000000000000000000" pitchFamily="2" charset="2"/>
              <a:buChar char="Ø"/>
            </a:pPr>
            <a:r>
              <a:rPr lang="en-US" sz="3200" dirty="0"/>
              <a:t>Excess amino acid is deaminated (amino groups removed) leading to formation of urea. Urea is excreted via kidney in form of urine.</a:t>
            </a:r>
          </a:p>
          <a:p>
            <a:pPr algn="just">
              <a:buFont typeface="Wingdings" panose="05000000000000000000" pitchFamily="2" charset="2"/>
              <a:buChar char="Ø"/>
            </a:pPr>
            <a:r>
              <a:rPr lang="en-US" sz="3200" dirty="0"/>
              <a:t>Used for respiration in absence of glucose and fats.</a:t>
            </a:r>
          </a:p>
          <a:p>
            <a:pPr algn="just"/>
            <a:endParaRPr lang="en-US" sz="3200" dirty="0"/>
          </a:p>
        </p:txBody>
      </p:sp>
    </p:spTree>
    <p:extLst>
      <p:ext uri="{BB962C8B-B14F-4D97-AF65-F5344CB8AC3E}">
        <p14:creationId xmlns:p14="http://schemas.microsoft.com/office/powerpoint/2010/main" val="4292640403"/>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9A8185-4F00-AB0D-9861-27B05118A8FA}"/>
              </a:ext>
            </a:extLst>
          </p:cNvPr>
          <p:cNvSpPr>
            <a:spLocks noGrp="1"/>
          </p:cNvSpPr>
          <p:nvPr>
            <p:ph idx="1"/>
          </p:nvPr>
        </p:nvSpPr>
        <p:spPr>
          <a:xfrm>
            <a:off x="344557" y="1272210"/>
            <a:ext cx="11078817" cy="4929807"/>
          </a:xfrm>
        </p:spPr>
        <p:txBody>
          <a:bodyPr>
            <a:noAutofit/>
          </a:bodyPr>
          <a:lstStyle/>
          <a:p>
            <a:pPr algn="just"/>
            <a:r>
              <a:rPr lang="en-US" sz="3200" b="1" u="sng" dirty="0">
                <a:effectLst>
                  <a:outerShdw blurRad="38100" dist="38100" dir="2700000" algn="tl">
                    <a:srgbClr val="000000">
                      <a:alpha val="43137"/>
                    </a:srgbClr>
                  </a:outerShdw>
                </a:effectLst>
              </a:rPr>
              <a:t>Fatty acids and glycerol (Lipids)</a:t>
            </a:r>
          </a:p>
          <a:p>
            <a:pPr algn="just">
              <a:buFont typeface="Wingdings" panose="05000000000000000000" pitchFamily="2" charset="2"/>
              <a:buChar char="ü"/>
            </a:pPr>
            <a:r>
              <a:rPr lang="en-US" sz="3200" dirty="0"/>
              <a:t>Are stored under skin in adipose tissues for insulating the body against heat loss.</a:t>
            </a:r>
          </a:p>
          <a:p>
            <a:pPr algn="just">
              <a:buFont typeface="Wingdings" panose="05000000000000000000" pitchFamily="2" charset="2"/>
              <a:buChar char="ü"/>
            </a:pPr>
            <a:r>
              <a:rPr lang="en-US" sz="3200" dirty="0"/>
              <a:t>Are stored around delicate organs like intestine, liver, heart, kidney and lung to cushion the organs against friction. </a:t>
            </a:r>
          </a:p>
          <a:p>
            <a:pPr algn="just">
              <a:buFont typeface="Wingdings" panose="05000000000000000000" pitchFamily="2" charset="2"/>
              <a:buChar char="ü"/>
            </a:pPr>
            <a:r>
              <a:rPr lang="en-US" sz="3200" dirty="0"/>
              <a:t>In condition of lack of glucose, they are used for respiration</a:t>
            </a:r>
          </a:p>
          <a:p>
            <a:pPr algn="just"/>
            <a:endParaRPr lang="en-US" sz="3200" dirty="0"/>
          </a:p>
        </p:txBody>
      </p:sp>
    </p:spTree>
    <p:extLst>
      <p:ext uri="{BB962C8B-B14F-4D97-AF65-F5344CB8AC3E}">
        <p14:creationId xmlns:p14="http://schemas.microsoft.com/office/powerpoint/2010/main" val="1273575747"/>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97AB54-07EF-946F-E216-00ADC84D0AEB}"/>
              </a:ext>
            </a:extLst>
          </p:cNvPr>
          <p:cNvSpPr>
            <a:spLocks noGrp="1"/>
          </p:cNvSpPr>
          <p:nvPr>
            <p:ph idx="1"/>
          </p:nvPr>
        </p:nvSpPr>
        <p:spPr>
          <a:xfrm>
            <a:off x="1063555" y="1072257"/>
            <a:ext cx="10545349" cy="4440647"/>
          </a:xfrm>
        </p:spPr>
        <p:txBody>
          <a:bodyPr>
            <a:normAutofit/>
          </a:bodyPr>
          <a:lstStyle/>
          <a:p>
            <a:pPr algn="just"/>
            <a:r>
              <a:rPr lang="en-US" sz="3200" b="1" u="sng" dirty="0">
                <a:effectLst>
                  <a:outerShdw blurRad="38100" dist="38100" dir="2700000" algn="tl">
                    <a:srgbClr val="000000">
                      <a:alpha val="43137"/>
                    </a:srgbClr>
                  </a:outerShdw>
                </a:effectLst>
              </a:rPr>
              <a:t>Vitamins and mineral salts</a:t>
            </a:r>
          </a:p>
          <a:p>
            <a:pPr algn="just">
              <a:buFont typeface="Wingdings" panose="05000000000000000000" pitchFamily="2" charset="2"/>
              <a:buChar char="Ø"/>
            </a:pPr>
            <a:r>
              <a:rPr lang="en-US" sz="3200" dirty="0"/>
              <a:t>Some are stored in the liver (e.g. iron and fat soluble vitamins: A, D, E, K)</a:t>
            </a:r>
          </a:p>
          <a:p>
            <a:pPr marL="0" indent="0" algn="just">
              <a:buNone/>
            </a:pPr>
            <a:r>
              <a:rPr lang="en-US" sz="3200" dirty="0"/>
              <a:t>Note: vitamins, mineral salts and water do not undergo digestion.</a:t>
            </a:r>
          </a:p>
          <a:p>
            <a:pPr marL="0" indent="0" algn="just">
              <a:buNone/>
            </a:pPr>
            <a:endParaRPr lang="en-US" sz="3200" dirty="0"/>
          </a:p>
        </p:txBody>
      </p:sp>
    </p:spTree>
    <p:extLst>
      <p:ext uri="{BB962C8B-B14F-4D97-AF65-F5344CB8AC3E}">
        <p14:creationId xmlns:p14="http://schemas.microsoft.com/office/powerpoint/2010/main" val="2725080331"/>
      </p:ext>
    </p:extLst>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BEE94-2C3A-468B-1782-E4B8AC66D184}"/>
              </a:ext>
            </a:extLst>
          </p:cNvPr>
          <p:cNvSpPr>
            <a:spLocks noGrp="1"/>
          </p:cNvSpPr>
          <p:nvPr>
            <p:ph type="title"/>
          </p:nvPr>
        </p:nvSpPr>
        <p:spPr>
          <a:xfrm>
            <a:off x="646111" y="15397"/>
            <a:ext cx="9404723" cy="766481"/>
          </a:xfrm>
        </p:spPr>
        <p:txBody>
          <a:bodyPr/>
          <a:lstStyle/>
          <a:p>
            <a:pPr algn="ctr"/>
            <a:r>
              <a:rPr lang="en-US" b="1" u="sng" dirty="0">
                <a:effectLst>
                  <a:outerShdw blurRad="38100" dist="38100" dir="2700000" algn="tl">
                    <a:srgbClr val="000000">
                      <a:alpha val="43137"/>
                    </a:srgbClr>
                  </a:outerShdw>
                </a:effectLst>
              </a:rPr>
              <a:t>Nutrition in a </a:t>
            </a:r>
            <a:r>
              <a:rPr lang="en-US" b="1" u="sng" dirty="0" err="1">
                <a:effectLst>
                  <a:outerShdw blurRad="38100" dist="38100" dir="2700000" algn="tl">
                    <a:srgbClr val="000000">
                      <a:alpha val="43137"/>
                    </a:srgbClr>
                  </a:outerShdw>
                </a:effectLst>
              </a:rPr>
              <a:t>mould</a:t>
            </a:r>
            <a:endParaRPr lang="en-US"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90175979-50E6-FD3F-4BEA-0F5EA6C76D9D}"/>
              </a:ext>
            </a:extLst>
          </p:cNvPr>
          <p:cNvSpPr>
            <a:spLocks noGrp="1"/>
          </p:cNvSpPr>
          <p:nvPr>
            <p:ph idx="1"/>
          </p:nvPr>
        </p:nvSpPr>
        <p:spPr>
          <a:xfrm>
            <a:off x="159026" y="1232452"/>
            <a:ext cx="12032974" cy="5466521"/>
          </a:xfrm>
        </p:spPr>
        <p:txBody>
          <a:bodyPr>
            <a:noAutofit/>
          </a:bodyPr>
          <a:lstStyle/>
          <a:p>
            <a:pPr algn="just"/>
            <a:r>
              <a:rPr lang="en-US" sz="3200" dirty="0"/>
              <a:t>Fungi, like bread </a:t>
            </a:r>
            <a:r>
              <a:rPr lang="en-US" sz="3200" dirty="0" err="1"/>
              <a:t>mould</a:t>
            </a:r>
            <a:r>
              <a:rPr lang="en-US" sz="3200" dirty="0"/>
              <a:t>, Rhizopus, are saprophytic. </a:t>
            </a:r>
          </a:p>
          <a:p>
            <a:pPr algn="just"/>
            <a:r>
              <a:rPr lang="en-US" sz="3200" dirty="0"/>
              <a:t>Saprophytic nutrition (</a:t>
            </a:r>
            <a:r>
              <a:rPr lang="en-US" sz="3200" dirty="0" err="1"/>
              <a:t>saprophytism</a:t>
            </a:r>
            <a:r>
              <a:rPr lang="en-US" sz="3200" dirty="0"/>
              <a:t>) is a method of feeding where organisms obtain nutrients in solution form from dead decaying organic matter.</a:t>
            </a:r>
          </a:p>
          <a:p>
            <a:pPr algn="just"/>
            <a:r>
              <a:rPr lang="en-US" sz="3200" dirty="0"/>
              <a:t>When feeding, the fungus grows branches/hyphae of mycelium called rhizoids which penetrate the food substrate </a:t>
            </a:r>
            <a:r>
              <a:rPr lang="en-US" sz="3200" dirty="0" err="1"/>
              <a:t>eg</a:t>
            </a:r>
            <a:r>
              <a:rPr lang="en-US" sz="3200" dirty="0"/>
              <a:t> bread</a:t>
            </a:r>
          </a:p>
          <a:p>
            <a:pPr algn="just"/>
            <a:r>
              <a:rPr lang="en-US" sz="3200" dirty="0"/>
              <a:t>At the ends of the rhizoids, extracellular digestive enzymes are secreted into the food substrate</a:t>
            </a:r>
          </a:p>
        </p:txBody>
      </p:sp>
    </p:spTree>
    <p:extLst>
      <p:ext uri="{BB962C8B-B14F-4D97-AF65-F5344CB8AC3E}">
        <p14:creationId xmlns:p14="http://schemas.microsoft.com/office/powerpoint/2010/main" val="911953324"/>
      </p:ext>
    </p:extLst>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506B94-5B13-4E8E-A397-1BF0C9437E94}"/>
              </a:ext>
            </a:extLst>
          </p:cNvPr>
          <p:cNvSpPr>
            <a:spLocks noGrp="1"/>
          </p:cNvSpPr>
          <p:nvPr>
            <p:ph idx="1"/>
          </p:nvPr>
        </p:nvSpPr>
        <p:spPr>
          <a:xfrm>
            <a:off x="465517" y="39758"/>
            <a:ext cx="11275910" cy="4326835"/>
          </a:xfrm>
        </p:spPr>
        <p:txBody>
          <a:bodyPr>
            <a:normAutofit/>
          </a:bodyPr>
          <a:lstStyle/>
          <a:p>
            <a:pPr algn="just"/>
            <a:r>
              <a:rPr lang="en-US" sz="3200" dirty="0"/>
              <a:t>The food material is dissolved and broken down into absorbable units.</a:t>
            </a:r>
          </a:p>
          <a:p>
            <a:pPr algn="just"/>
            <a:r>
              <a:rPr lang="en-US" sz="3200" dirty="0"/>
              <a:t>The nutrients are absorbed by the rhizoids.</a:t>
            </a:r>
          </a:p>
          <a:p>
            <a:pPr marL="0" indent="0" algn="just">
              <a:buNone/>
            </a:pPr>
            <a:endParaRPr lang="en-US" sz="3200" dirty="0"/>
          </a:p>
          <a:p>
            <a:endParaRPr lang="en-US" dirty="0"/>
          </a:p>
          <a:p>
            <a:endParaRPr lang="en-US" dirty="0"/>
          </a:p>
        </p:txBody>
      </p:sp>
      <p:pic>
        <p:nvPicPr>
          <p:cNvPr id="1026" name="Picture 2" descr="If my white bread was lightly molded on the crust only, is it safe to eat?  - Quora">
            <a:extLst>
              <a:ext uri="{FF2B5EF4-FFF2-40B4-BE49-F238E27FC236}">
                <a16:creationId xmlns:a16="http://schemas.microsoft.com/office/drawing/2014/main" id="{1FBE86BB-7521-485E-9A12-8D5D25BA901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63" t="378" r="-176" b="9074"/>
          <a:stretch/>
        </p:blipFill>
        <p:spPr bwMode="auto">
          <a:xfrm>
            <a:off x="450573" y="1653209"/>
            <a:ext cx="11290854" cy="5165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2541008"/>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ED9E6-0679-4A77-4F8C-E17BB1D52A4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FBD773-3C0C-1287-2E3F-A293F9283781}"/>
              </a:ext>
            </a:extLst>
          </p:cNvPr>
          <p:cNvSpPr>
            <a:spLocks noGrp="1"/>
          </p:cNvSpPr>
          <p:nvPr>
            <p:ph idx="1"/>
          </p:nvPr>
        </p:nvSpPr>
        <p:spPr/>
        <p:txBody>
          <a:bodyPr/>
          <a:lstStyle/>
          <a:p>
            <a:endParaRPr lang="en-US"/>
          </a:p>
        </p:txBody>
      </p:sp>
      <p:pic>
        <p:nvPicPr>
          <p:cNvPr id="1026" name="Picture 2" descr="Mold Diagram Stock Illustrations – 239 Mold Diagram Stock Illustrations,  Vectors &amp; Clipart - Dreamstime">
            <a:extLst>
              <a:ext uri="{FF2B5EF4-FFF2-40B4-BE49-F238E27FC236}">
                <a16:creationId xmlns:a16="http://schemas.microsoft.com/office/drawing/2014/main" id="{28B569B1-2332-83B3-5B70-BE19A8535DF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9818" r="7217" b="4095"/>
          <a:stretch/>
        </p:blipFill>
        <p:spPr bwMode="auto">
          <a:xfrm>
            <a:off x="490330" y="48135"/>
            <a:ext cx="10744130" cy="6761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563289"/>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263DE-BE98-F576-8FD1-52B18F63126A}"/>
              </a:ext>
            </a:extLst>
          </p:cNvPr>
          <p:cNvSpPr>
            <a:spLocks noGrp="1"/>
          </p:cNvSpPr>
          <p:nvPr>
            <p:ph type="title"/>
          </p:nvPr>
        </p:nvSpPr>
        <p:spPr>
          <a:xfrm>
            <a:off x="646111" y="41901"/>
            <a:ext cx="9404723" cy="1400530"/>
          </a:xfrm>
        </p:spPr>
        <p:txBody>
          <a:bodyPr/>
          <a:lstStyle/>
          <a:p>
            <a:endParaRPr lang="en-US"/>
          </a:p>
        </p:txBody>
      </p:sp>
      <p:sp>
        <p:nvSpPr>
          <p:cNvPr id="3" name="Content Placeholder 2">
            <a:extLst>
              <a:ext uri="{FF2B5EF4-FFF2-40B4-BE49-F238E27FC236}">
                <a16:creationId xmlns:a16="http://schemas.microsoft.com/office/drawing/2014/main" id="{EC8FE9C6-1EB0-F7DC-60B1-064C32DFEEDF}"/>
              </a:ext>
            </a:extLst>
          </p:cNvPr>
          <p:cNvSpPr>
            <a:spLocks noGrp="1"/>
          </p:cNvSpPr>
          <p:nvPr>
            <p:ph idx="1"/>
          </p:nvPr>
        </p:nvSpPr>
        <p:spPr/>
        <p:txBody>
          <a:bodyPr/>
          <a:lstStyle/>
          <a:p>
            <a:endParaRPr lang="en-US"/>
          </a:p>
        </p:txBody>
      </p:sp>
      <p:pic>
        <p:nvPicPr>
          <p:cNvPr id="2050" name="Picture 34">
            <a:extLst>
              <a:ext uri="{FF2B5EF4-FFF2-40B4-BE49-F238E27FC236}">
                <a16:creationId xmlns:a16="http://schemas.microsoft.com/office/drawing/2014/main" id="{7970214A-70F9-083F-DAD0-87DB881378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111" y="0"/>
            <a:ext cx="1059442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4564982"/>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B6E87-7DC7-2382-C3C5-CC1AF8ACFED3}"/>
              </a:ext>
            </a:extLst>
          </p:cNvPr>
          <p:cNvSpPr>
            <a:spLocks noGrp="1"/>
          </p:cNvSpPr>
          <p:nvPr>
            <p:ph type="title"/>
          </p:nvPr>
        </p:nvSpPr>
        <p:spPr/>
        <p:txBody>
          <a:bodyPr/>
          <a:lstStyle/>
          <a:p>
            <a:pPr algn="ctr"/>
            <a:r>
              <a:rPr lang="en-US" b="1" dirty="0"/>
              <a:t>Advantages of saprophytic nutrition  </a:t>
            </a:r>
          </a:p>
        </p:txBody>
      </p:sp>
      <p:sp>
        <p:nvSpPr>
          <p:cNvPr id="3" name="Content Placeholder 2">
            <a:extLst>
              <a:ext uri="{FF2B5EF4-FFF2-40B4-BE49-F238E27FC236}">
                <a16:creationId xmlns:a16="http://schemas.microsoft.com/office/drawing/2014/main" id="{04E9701F-8BD4-6376-2E2D-E5C58C24B496}"/>
              </a:ext>
            </a:extLst>
          </p:cNvPr>
          <p:cNvSpPr>
            <a:spLocks noGrp="1"/>
          </p:cNvSpPr>
          <p:nvPr>
            <p:ph idx="1"/>
          </p:nvPr>
        </p:nvSpPr>
        <p:spPr>
          <a:xfrm>
            <a:off x="410818" y="2052918"/>
            <a:ext cx="10813774" cy="4195481"/>
          </a:xfrm>
        </p:spPr>
        <p:txBody>
          <a:bodyPr>
            <a:normAutofit/>
          </a:bodyPr>
          <a:lstStyle/>
          <a:p>
            <a:pPr algn="just"/>
            <a:r>
              <a:rPr lang="en-US" sz="3200" dirty="0"/>
              <a:t>Recycling of nutrients by breaking organic matter into simpler substances that can be absorbed by plants.</a:t>
            </a:r>
          </a:p>
          <a:p>
            <a:pPr algn="just"/>
            <a:r>
              <a:rPr lang="en-US" sz="3200" dirty="0"/>
              <a:t>Cleaning the environment by decomposing litter </a:t>
            </a:r>
          </a:p>
        </p:txBody>
      </p:sp>
    </p:spTree>
    <p:extLst>
      <p:ext uri="{BB962C8B-B14F-4D97-AF65-F5344CB8AC3E}">
        <p14:creationId xmlns:p14="http://schemas.microsoft.com/office/powerpoint/2010/main" val="494804297"/>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C4C04-03A0-C109-3F0F-DD7C092890FC}"/>
              </a:ext>
            </a:extLst>
          </p:cNvPr>
          <p:cNvSpPr>
            <a:spLocks noGrp="1"/>
          </p:cNvSpPr>
          <p:nvPr>
            <p:ph type="title"/>
          </p:nvPr>
        </p:nvSpPr>
        <p:spPr/>
        <p:txBody>
          <a:bodyPr/>
          <a:lstStyle/>
          <a:p>
            <a:pPr algn="ctr"/>
            <a:r>
              <a:rPr lang="en-US" sz="4400" b="1" dirty="0">
                <a:effectLst>
                  <a:outerShdw blurRad="38100" dist="38100" dir="2700000" algn="tl">
                    <a:srgbClr val="000000">
                      <a:alpha val="43137"/>
                    </a:srgbClr>
                  </a:outerShdw>
                </a:effectLst>
              </a:rPr>
              <a:t>Extracellular and intracellular digestion</a:t>
            </a:r>
            <a:br>
              <a:rPr lang="en-US" sz="4400"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28C1A5BE-AD8E-A75D-4DA6-B66CCC5F165C}"/>
              </a:ext>
            </a:extLst>
          </p:cNvPr>
          <p:cNvSpPr>
            <a:spLocks noGrp="1"/>
          </p:cNvSpPr>
          <p:nvPr>
            <p:ph idx="1"/>
          </p:nvPr>
        </p:nvSpPr>
        <p:spPr>
          <a:xfrm>
            <a:off x="251792" y="2330324"/>
            <a:ext cx="11294098" cy="4395151"/>
          </a:xfrm>
        </p:spPr>
        <p:txBody>
          <a:bodyPr>
            <a:normAutofit/>
          </a:bodyPr>
          <a:lstStyle/>
          <a:p>
            <a:pPr algn="just"/>
            <a:r>
              <a:rPr lang="en-US" sz="2800" dirty="0"/>
              <a:t>Extracellular digestion is where food is broken down outside the cell. E.g. in human beings, bacteria and fungi, etc..</a:t>
            </a:r>
          </a:p>
          <a:p>
            <a:pPr algn="just"/>
            <a:r>
              <a:rPr lang="en-US" sz="2800" dirty="0"/>
              <a:t>Intracellular digestion is where food is broken down inside the cell, .e.g. in protozoans.</a:t>
            </a:r>
          </a:p>
          <a:p>
            <a:pPr marL="0" indent="0" algn="just">
              <a:buNone/>
            </a:pPr>
            <a:endParaRPr lang="en-US" sz="2800" dirty="0"/>
          </a:p>
        </p:txBody>
      </p:sp>
    </p:spTree>
    <p:extLst>
      <p:ext uri="{BB962C8B-B14F-4D97-AF65-F5344CB8AC3E}">
        <p14:creationId xmlns:p14="http://schemas.microsoft.com/office/powerpoint/2010/main" val="2565925797"/>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4050F-B9E3-A8FC-9638-E4E49D8FCE48}"/>
              </a:ext>
            </a:extLst>
          </p:cNvPr>
          <p:cNvSpPr>
            <a:spLocks noGrp="1"/>
          </p:cNvSpPr>
          <p:nvPr>
            <p:ph type="title"/>
          </p:nvPr>
        </p:nvSpPr>
        <p:spPr/>
        <p:txBody>
          <a:bodyPr/>
          <a:lstStyle/>
          <a:p>
            <a:pPr algn="ctr"/>
            <a:r>
              <a:rPr lang="en-US" b="1" dirty="0">
                <a:effectLst>
                  <a:outerShdw blurRad="38100" dist="38100" dir="2700000" algn="tl">
                    <a:srgbClr val="000000">
                      <a:alpha val="43137"/>
                    </a:srgbClr>
                  </a:outerShdw>
                </a:effectLst>
              </a:rPr>
              <a:t>Similarities between extracellular and intracellular digestion</a:t>
            </a:r>
          </a:p>
        </p:txBody>
      </p:sp>
      <p:sp>
        <p:nvSpPr>
          <p:cNvPr id="3" name="Content Placeholder 2">
            <a:extLst>
              <a:ext uri="{FF2B5EF4-FFF2-40B4-BE49-F238E27FC236}">
                <a16:creationId xmlns:a16="http://schemas.microsoft.com/office/drawing/2014/main" id="{A4E84151-3E41-6323-ADCE-C45B36B05612}"/>
              </a:ext>
            </a:extLst>
          </p:cNvPr>
          <p:cNvSpPr>
            <a:spLocks noGrp="1"/>
          </p:cNvSpPr>
          <p:nvPr>
            <p:ph idx="1"/>
          </p:nvPr>
        </p:nvSpPr>
        <p:spPr>
          <a:xfrm>
            <a:off x="1103312" y="2052918"/>
            <a:ext cx="10041766" cy="4195481"/>
          </a:xfrm>
        </p:spPr>
        <p:txBody>
          <a:bodyPr>
            <a:normAutofit/>
          </a:bodyPr>
          <a:lstStyle/>
          <a:p>
            <a:r>
              <a:rPr lang="en-US" sz="2800" dirty="0"/>
              <a:t>Both involve enzymes</a:t>
            </a:r>
          </a:p>
          <a:p>
            <a:r>
              <a:rPr lang="en-US" sz="2800" dirty="0"/>
              <a:t>Both break down complex compounds to simple compounds.</a:t>
            </a:r>
          </a:p>
          <a:p>
            <a:endParaRPr lang="en-US" sz="2800" dirty="0"/>
          </a:p>
        </p:txBody>
      </p:sp>
    </p:spTree>
    <p:extLst>
      <p:ext uri="{BB962C8B-B14F-4D97-AF65-F5344CB8AC3E}">
        <p14:creationId xmlns:p14="http://schemas.microsoft.com/office/powerpoint/2010/main" val="1500199323"/>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1D3CF-9F74-1A8F-15AD-6430606B41DA}"/>
              </a:ext>
            </a:extLst>
          </p:cNvPr>
          <p:cNvSpPr>
            <a:spLocks noGrp="1"/>
          </p:cNvSpPr>
          <p:nvPr>
            <p:ph type="title"/>
          </p:nvPr>
        </p:nvSpPr>
        <p:spPr>
          <a:xfrm>
            <a:off x="606355" y="0"/>
            <a:ext cx="9404723" cy="1400530"/>
          </a:xfrm>
        </p:spPr>
        <p:txBody>
          <a:bodyPr/>
          <a:lstStyle/>
          <a:p>
            <a:pPr algn="ctr"/>
            <a:r>
              <a:rPr lang="en-US" dirty="0"/>
              <a:t>Differences between extracellular and intracellular digestion </a:t>
            </a:r>
          </a:p>
        </p:txBody>
      </p:sp>
      <p:graphicFrame>
        <p:nvGraphicFramePr>
          <p:cNvPr id="4" name="Table 4">
            <a:extLst>
              <a:ext uri="{FF2B5EF4-FFF2-40B4-BE49-F238E27FC236}">
                <a16:creationId xmlns:a16="http://schemas.microsoft.com/office/drawing/2014/main" id="{E42E19B0-C452-5E1A-AE2A-C3F6051E9BC0}"/>
              </a:ext>
            </a:extLst>
          </p:cNvPr>
          <p:cNvGraphicFramePr>
            <a:graphicFrameLocks noGrp="1"/>
          </p:cNvGraphicFramePr>
          <p:nvPr>
            <p:ph idx="1"/>
            <p:extLst>
              <p:ext uri="{D42A27DB-BD31-4B8C-83A1-F6EECF244321}">
                <p14:modId xmlns:p14="http://schemas.microsoft.com/office/powerpoint/2010/main" val="3645941835"/>
              </p:ext>
            </p:extLst>
          </p:nvPr>
        </p:nvGraphicFramePr>
        <p:xfrm>
          <a:off x="0" y="1414403"/>
          <a:ext cx="12192000" cy="534386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59115206"/>
                    </a:ext>
                  </a:extLst>
                </a:gridCol>
                <a:gridCol w="6096000">
                  <a:extLst>
                    <a:ext uri="{9D8B030D-6E8A-4147-A177-3AD203B41FA5}">
                      <a16:colId xmlns:a16="http://schemas.microsoft.com/office/drawing/2014/main" val="2356010078"/>
                    </a:ext>
                  </a:extLst>
                </a:gridCol>
              </a:tblGrid>
              <a:tr h="0">
                <a:tc>
                  <a:txBody>
                    <a:bodyPr/>
                    <a:lstStyle/>
                    <a:p>
                      <a:pPr algn="just"/>
                      <a:r>
                        <a:rPr lang="en-US" sz="2800" dirty="0"/>
                        <a:t>Extracellular digestion </a:t>
                      </a:r>
                    </a:p>
                  </a:txBody>
                  <a:tcPr/>
                </a:tc>
                <a:tc>
                  <a:txBody>
                    <a:bodyPr/>
                    <a:lstStyle/>
                    <a:p>
                      <a:pPr algn="just"/>
                      <a:r>
                        <a:rPr lang="en-US" sz="2800" dirty="0"/>
                        <a:t>Intracellular digestion </a:t>
                      </a:r>
                    </a:p>
                  </a:txBody>
                  <a:tcPr/>
                </a:tc>
                <a:extLst>
                  <a:ext uri="{0D108BD9-81ED-4DB2-BD59-A6C34878D82A}">
                    <a16:rowId xmlns:a16="http://schemas.microsoft.com/office/drawing/2014/main" val="535698410"/>
                  </a:ext>
                </a:extLst>
              </a:tr>
              <a:tr h="1910848">
                <a:tc>
                  <a:txBody>
                    <a:bodyPr/>
                    <a:lstStyle/>
                    <a:p>
                      <a:pPr algn="just"/>
                      <a:r>
                        <a:rPr lang="en-US" sz="2800" b="0" i="0" kern="1200" dirty="0">
                          <a:solidFill>
                            <a:schemeClr val="dk1"/>
                          </a:solidFill>
                          <a:effectLst/>
                          <a:latin typeface="+mn-lt"/>
                          <a:ea typeface="+mn-ea"/>
                          <a:cs typeface="+mn-cs"/>
                        </a:rPr>
                        <a:t>It takes place in the lumen of the alimentary canal and on decaying organic matter</a:t>
                      </a:r>
                      <a:endParaRPr lang="en-US" sz="2800" dirty="0"/>
                    </a:p>
                  </a:txBody>
                  <a:tcPr/>
                </a:tc>
                <a:tc>
                  <a:txBody>
                    <a:bodyPr/>
                    <a:lstStyle/>
                    <a:p>
                      <a:pPr algn="just"/>
                      <a:r>
                        <a:rPr lang="en-US" sz="2800" b="0" i="0" kern="1200" dirty="0">
                          <a:solidFill>
                            <a:schemeClr val="dk1"/>
                          </a:solidFill>
                          <a:effectLst/>
                          <a:latin typeface="+mn-lt"/>
                          <a:ea typeface="+mn-ea"/>
                          <a:cs typeface="+mn-cs"/>
                        </a:rPr>
                        <a:t>Takes place in the food vacuoles of cell</a:t>
                      </a:r>
                      <a:endParaRPr lang="en-US" sz="2800" dirty="0"/>
                    </a:p>
                  </a:txBody>
                  <a:tcPr/>
                </a:tc>
                <a:extLst>
                  <a:ext uri="{0D108BD9-81ED-4DB2-BD59-A6C34878D82A}">
                    <a16:rowId xmlns:a16="http://schemas.microsoft.com/office/drawing/2014/main" val="1808580108"/>
                  </a:ext>
                </a:extLst>
              </a:tr>
              <a:tr h="1004004">
                <a:tc>
                  <a:txBody>
                    <a:bodyPr/>
                    <a:lstStyle/>
                    <a:p>
                      <a:pPr algn="just"/>
                      <a:r>
                        <a:rPr lang="en-US" sz="2800" dirty="0"/>
                        <a:t>Both mechanical and chemical digestion occur</a:t>
                      </a:r>
                    </a:p>
                  </a:txBody>
                  <a:tcPr/>
                </a:tc>
                <a:tc>
                  <a:txBody>
                    <a:bodyPr/>
                    <a:lstStyle/>
                    <a:p>
                      <a:pPr algn="just"/>
                      <a:r>
                        <a:rPr lang="en-US" sz="2800" dirty="0"/>
                        <a:t>Only chemical digestion occur</a:t>
                      </a:r>
                    </a:p>
                  </a:txBody>
                  <a:tcPr/>
                </a:tc>
                <a:extLst>
                  <a:ext uri="{0D108BD9-81ED-4DB2-BD59-A6C34878D82A}">
                    <a16:rowId xmlns:a16="http://schemas.microsoft.com/office/drawing/2014/main" val="1737248206"/>
                  </a:ext>
                </a:extLst>
              </a:tr>
              <a:tr h="1910848">
                <a:tc>
                  <a:txBody>
                    <a:bodyPr/>
                    <a:lstStyle/>
                    <a:p>
                      <a:pPr algn="just"/>
                      <a:r>
                        <a:rPr lang="en-US" sz="2800" b="0" i="0" kern="1200" dirty="0">
                          <a:solidFill>
                            <a:schemeClr val="dk1"/>
                          </a:solidFill>
                          <a:effectLst/>
                          <a:latin typeface="+mn-lt"/>
                          <a:ea typeface="+mn-ea"/>
                          <a:cs typeface="+mn-cs"/>
                        </a:rPr>
                        <a:t>Alimentary canal glands secret enzymes into the lumen</a:t>
                      </a:r>
                      <a:endParaRPr lang="en-US" sz="2800" dirty="0"/>
                    </a:p>
                  </a:txBody>
                  <a:tcPr/>
                </a:tc>
                <a:tc>
                  <a:txBody>
                    <a:bodyPr/>
                    <a:lstStyle/>
                    <a:p>
                      <a:pPr algn="just"/>
                      <a:r>
                        <a:rPr lang="en-US" sz="2800" b="0" i="0" kern="1200" dirty="0">
                          <a:solidFill>
                            <a:schemeClr val="dk1"/>
                          </a:solidFill>
                          <a:effectLst/>
                          <a:latin typeface="+mn-lt"/>
                          <a:ea typeface="+mn-ea"/>
                          <a:cs typeface="+mn-cs"/>
                        </a:rPr>
                        <a:t>Lysosomes secret enzymes into the food vacuole</a:t>
                      </a:r>
                      <a:endParaRPr lang="en-US" sz="2800" dirty="0"/>
                    </a:p>
                  </a:txBody>
                  <a:tcPr/>
                </a:tc>
                <a:extLst>
                  <a:ext uri="{0D108BD9-81ED-4DB2-BD59-A6C34878D82A}">
                    <a16:rowId xmlns:a16="http://schemas.microsoft.com/office/drawing/2014/main" val="3650407122"/>
                  </a:ext>
                </a:extLst>
              </a:tr>
            </a:tbl>
          </a:graphicData>
        </a:graphic>
      </p:graphicFrame>
    </p:spTree>
    <p:extLst>
      <p:ext uri="{BB962C8B-B14F-4D97-AF65-F5344CB8AC3E}">
        <p14:creationId xmlns:p14="http://schemas.microsoft.com/office/powerpoint/2010/main" val="2205881817"/>
      </p:ext>
    </p:extLst>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9C90112-F510-A360-6FEC-71110CDF209E}"/>
              </a:ext>
            </a:extLst>
          </p:cNvPr>
          <p:cNvGraphicFramePr>
            <a:graphicFrameLocks noGrp="1"/>
          </p:cNvGraphicFramePr>
          <p:nvPr>
            <p:ph idx="1"/>
            <p:extLst>
              <p:ext uri="{D42A27DB-BD31-4B8C-83A1-F6EECF244321}">
                <p14:modId xmlns:p14="http://schemas.microsoft.com/office/powerpoint/2010/main" val="3778952673"/>
              </p:ext>
            </p:extLst>
          </p:nvPr>
        </p:nvGraphicFramePr>
        <p:xfrm>
          <a:off x="212036" y="1258959"/>
          <a:ext cx="11741426" cy="4791024"/>
        </p:xfrm>
        <a:graphic>
          <a:graphicData uri="http://schemas.openxmlformats.org/drawingml/2006/table">
            <a:tbl>
              <a:tblPr firstRow="1" bandRow="1">
                <a:tableStyleId>{5C22544A-7EE6-4342-B048-85BDC9FD1C3A}</a:tableStyleId>
              </a:tblPr>
              <a:tblGrid>
                <a:gridCol w="5870713">
                  <a:extLst>
                    <a:ext uri="{9D8B030D-6E8A-4147-A177-3AD203B41FA5}">
                      <a16:colId xmlns:a16="http://schemas.microsoft.com/office/drawing/2014/main" val="2273289832"/>
                    </a:ext>
                  </a:extLst>
                </a:gridCol>
                <a:gridCol w="5870713">
                  <a:extLst>
                    <a:ext uri="{9D8B030D-6E8A-4147-A177-3AD203B41FA5}">
                      <a16:colId xmlns:a16="http://schemas.microsoft.com/office/drawing/2014/main" val="1117238927"/>
                    </a:ext>
                  </a:extLst>
                </a:gridCol>
              </a:tblGrid>
              <a:tr h="1197756">
                <a:tc>
                  <a:txBody>
                    <a:bodyPr/>
                    <a:lstStyle/>
                    <a:p>
                      <a:r>
                        <a:rPr lang="en-US" sz="2800" b="0" dirty="0"/>
                        <a:t>Nutrients are absorbed into blood stream </a:t>
                      </a:r>
                    </a:p>
                  </a:txBody>
                  <a:tcPr/>
                </a:tc>
                <a:tc>
                  <a:txBody>
                    <a:bodyPr/>
                    <a:lstStyle/>
                    <a:p>
                      <a:r>
                        <a:rPr lang="en-US" sz="2800" b="0" dirty="0"/>
                        <a:t>Nutrients diffuse directly into the cytoplasm</a:t>
                      </a:r>
                    </a:p>
                  </a:txBody>
                  <a:tcPr/>
                </a:tc>
                <a:extLst>
                  <a:ext uri="{0D108BD9-81ED-4DB2-BD59-A6C34878D82A}">
                    <a16:rowId xmlns:a16="http://schemas.microsoft.com/office/drawing/2014/main" val="2138839324"/>
                  </a:ext>
                </a:extLst>
              </a:tr>
              <a:tr h="1197756">
                <a:tc>
                  <a:txBody>
                    <a:bodyPr/>
                    <a:lstStyle/>
                    <a:p>
                      <a:r>
                        <a:rPr lang="en-US" sz="2800" dirty="0"/>
                        <a:t>A complex process involving many organs</a:t>
                      </a:r>
                    </a:p>
                  </a:txBody>
                  <a:tcPr/>
                </a:tc>
                <a:tc>
                  <a:txBody>
                    <a:bodyPr/>
                    <a:lstStyle/>
                    <a:p>
                      <a:r>
                        <a:rPr lang="en-US" sz="2800" dirty="0"/>
                        <a:t>A simple process </a:t>
                      </a:r>
                    </a:p>
                  </a:txBody>
                  <a:tcPr/>
                </a:tc>
                <a:extLst>
                  <a:ext uri="{0D108BD9-81ED-4DB2-BD59-A6C34878D82A}">
                    <a16:rowId xmlns:a16="http://schemas.microsoft.com/office/drawing/2014/main" val="3276107703"/>
                  </a:ext>
                </a:extLst>
              </a:tr>
              <a:tr h="1197756">
                <a:tc>
                  <a:txBody>
                    <a:bodyPr/>
                    <a:lstStyle/>
                    <a:p>
                      <a:r>
                        <a:rPr lang="en-US" sz="2800" dirty="0"/>
                        <a:t>Organs and glands are involved</a:t>
                      </a:r>
                    </a:p>
                  </a:txBody>
                  <a:tcPr/>
                </a:tc>
                <a:tc>
                  <a:txBody>
                    <a:bodyPr/>
                    <a:lstStyle/>
                    <a:p>
                      <a:r>
                        <a:rPr lang="en-US" sz="2800" dirty="0"/>
                        <a:t>Lysosomes are involved </a:t>
                      </a:r>
                    </a:p>
                  </a:txBody>
                  <a:tcPr/>
                </a:tc>
                <a:extLst>
                  <a:ext uri="{0D108BD9-81ED-4DB2-BD59-A6C34878D82A}">
                    <a16:rowId xmlns:a16="http://schemas.microsoft.com/office/drawing/2014/main" val="3340319221"/>
                  </a:ext>
                </a:extLst>
              </a:tr>
              <a:tr h="1197756">
                <a:tc>
                  <a:txBody>
                    <a:bodyPr/>
                    <a:lstStyle/>
                    <a:p>
                      <a:r>
                        <a:rPr lang="en-US" sz="2800" dirty="0"/>
                        <a:t>Ingestion occur through mouth</a:t>
                      </a:r>
                    </a:p>
                  </a:txBody>
                  <a:tcPr/>
                </a:tc>
                <a:tc>
                  <a:txBody>
                    <a:bodyPr/>
                    <a:lstStyle/>
                    <a:p>
                      <a:r>
                        <a:rPr lang="en-US" sz="2800" dirty="0"/>
                        <a:t>Ingestion occur through phagocytosis</a:t>
                      </a:r>
                    </a:p>
                  </a:txBody>
                  <a:tcPr/>
                </a:tc>
                <a:extLst>
                  <a:ext uri="{0D108BD9-81ED-4DB2-BD59-A6C34878D82A}">
                    <a16:rowId xmlns:a16="http://schemas.microsoft.com/office/drawing/2014/main" val="883962845"/>
                  </a:ext>
                </a:extLst>
              </a:tr>
            </a:tbl>
          </a:graphicData>
        </a:graphic>
      </p:graphicFrame>
    </p:spTree>
    <p:extLst>
      <p:ext uri="{BB962C8B-B14F-4D97-AF65-F5344CB8AC3E}">
        <p14:creationId xmlns:p14="http://schemas.microsoft.com/office/powerpoint/2010/main" val="2074750074"/>
      </p:ext>
    </p:extLst>
  </p:cSld>
  <p:clrMapOvr>
    <a:masterClrMapping/>
  </p:clrMapOvr>
  <p:timing>
    <p:tnLst>
      <p:par>
        <p:cTn id="1" dur="indefinite" restart="never" nodeType="tmRoot"/>
      </p:par>
    </p:tnLst>
  </p:timing>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724DF-9F52-3AC1-E068-8CFAF516147C}"/>
              </a:ext>
            </a:extLst>
          </p:cNvPr>
          <p:cNvSpPr>
            <a:spLocks noGrp="1"/>
          </p:cNvSpPr>
          <p:nvPr>
            <p:ph type="title"/>
          </p:nvPr>
        </p:nvSpPr>
        <p:spPr/>
        <p:txBody>
          <a:bodyPr/>
          <a:lstStyle/>
          <a:p>
            <a:pPr algn="ctr"/>
            <a:r>
              <a:rPr lang="en-US" b="1" u="sng" dirty="0">
                <a:effectLst>
                  <a:outerShdw blurRad="38100" dist="38100" dir="2700000" algn="tl">
                    <a:srgbClr val="000000">
                      <a:alpha val="43137"/>
                    </a:srgbClr>
                  </a:outerShdw>
                </a:effectLst>
              </a:rPr>
              <a:t>Activity of integration</a:t>
            </a:r>
          </a:p>
        </p:txBody>
      </p:sp>
      <p:sp>
        <p:nvSpPr>
          <p:cNvPr id="3" name="Content Placeholder 2">
            <a:extLst>
              <a:ext uri="{FF2B5EF4-FFF2-40B4-BE49-F238E27FC236}">
                <a16:creationId xmlns:a16="http://schemas.microsoft.com/office/drawing/2014/main" id="{EB135892-240C-57BE-8DA0-BA48A9CE4D20}"/>
              </a:ext>
            </a:extLst>
          </p:cNvPr>
          <p:cNvSpPr>
            <a:spLocks noGrp="1"/>
          </p:cNvSpPr>
          <p:nvPr>
            <p:ph idx="1"/>
          </p:nvPr>
        </p:nvSpPr>
        <p:spPr>
          <a:xfrm>
            <a:off x="397565" y="1391478"/>
            <a:ext cx="11357113" cy="4664765"/>
          </a:xfrm>
        </p:spPr>
        <p:txBody>
          <a:bodyPr>
            <a:noAutofit/>
          </a:bodyPr>
          <a:lstStyle/>
          <a:p>
            <a:pPr algn="just"/>
            <a:r>
              <a:rPr lang="en-US" sz="3200" dirty="0"/>
              <a:t>Your </a:t>
            </a:r>
            <a:r>
              <a:rPr lang="en-US" sz="3200"/>
              <a:t>are </a:t>
            </a:r>
            <a:r>
              <a:rPr lang="en-US" sz="3200" smtClean="0"/>
              <a:t>served, </a:t>
            </a:r>
            <a:r>
              <a:rPr lang="en-US" sz="3200" smtClean="0"/>
              <a:t>cassava</a:t>
            </a:r>
            <a:r>
              <a:rPr lang="en-US" sz="3200" smtClean="0"/>
              <a:t> </a:t>
            </a:r>
            <a:r>
              <a:rPr lang="en-US" sz="3200" smtClean="0"/>
              <a:t>and </a:t>
            </a:r>
            <a:r>
              <a:rPr lang="en-US" sz="3200" smtClean="0"/>
              <a:t>pasted meat</a:t>
            </a:r>
            <a:r>
              <a:rPr lang="en-US" sz="3200" smtClean="0"/>
              <a:t> </a:t>
            </a:r>
            <a:r>
              <a:rPr lang="en-US" sz="3200" dirty="0"/>
              <a:t>for lunch at school. Most students feel sleepy in the afternoon for a few hours, after which they concentrate well in class. Some learners question why they feel sleepy. As a student of Biology, you understand that a lot of body energy is diverted to the process of digestion.</a:t>
            </a:r>
          </a:p>
          <a:p>
            <a:pPr marL="0" indent="0" algn="just">
              <a:buNone/>
            </a:pPr>
            <a:r>
              <a:rPr lang="en-US" sz="3200" b="1" u="sng" dirty="0">
                <a:effectLst>
                  <a:outerShdw blurRad="38100" dist="38100" dir="2700000" algn="tl">
                    <a:srgbClr val="000000">
                      <a:alpha val="43137"/>
                    </a:srgbClr>
                  </a:outerShdw>
                </a:effectLst>
              </a:rPr>
              <a:t>Task:</a:t>
            </a:r>
          </a:p>
          <a:p>
            <a:pPr algn="just"/>
            <a:r>
              <a:rPr lang="en-US" sz="3200" dirty="0"/>
              <a:t>Write an account of the digestion process undergone by the major food values in the lunch served.</a:t>
            </a:r>
          </a:p>
        </p:txBody>
      </p:sp>
    </p:spTree>
    <p:extLst>
      <p:ext uri="{BB962C8B-B14F-4D97-AF65-F5344CB8AC3E}">
        <p14:creationId xmlns:p14="http://schemas.microsoft.com/office/powerpoint/2010/main" val="37492878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33844</TotalTime>
  <Words>15041</Words>
  <Application>Microsoft Office PowerPoint</Application>
  <PresentationFormat>Widescreen</PresentationFormat>
  <Paragraphs>1912</Paragraphs>
  <Slides>370</Slides>
  <Notes>2</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370</vt:i4>
      </vt:variant>
    </vt:vector>
  </HeadingPairs>
  <TitlesOfParts>
    <vt:vector size="381" baseType="lpstr">
      <vt:lpstr>Arial</vt:lpstr>
      <vt:lpstr>Calibri</vt:lpstr>
      <vt:lpstr>Cambria Math</vt:lpstr>
      <vt:lpstr>Century Gothic</vt:lpstr>
      <vt:lpstr>Open Sans</vt:lpstr>
      <vt:lpstr>Symbol</vt:lpstr>
      <vt:lpstr>Times New Roman</vt:lpstr>
      <vt:lpstr>Trebuchet MS</vt:lpstr>
      <vt:lpstr>Wingdings</vt:lpstr>
      <vt:lpstr>Wingdings 3</vt:lpstr>
      <vt:lpstr>Ion</vt:lpstr>
      <vt:lpstr>THEME: SOIL </vt:lpstr>
      <vt:lpstr>PowerPoint Presentation</vt:lpstr>
      <vt:lpstr>PowerPoint Presentation</vt:lpstr>
      <vt:lpstr>What are the main/basic types of soil?</vt:lpstr>
      <vt:lpstr>Types of soil </vt:lpstr>
      <vt:lpstr>Compare the following properties/characteristics of the soil types: </vt:lpstr>
      <vt:lpstr>What materials make up soil?</vt:lpstr>
      <vt:lpstr>Components or constituents of soil</vt:lpstr>
      <vt:lpstr>Soil air</vt:lpstr>
      <vt:lpstr>Importance of soil air</vt:lpstr>
      <vt:lpstr>Finding out the percentage of air in soil</vt:lpstr>
      <vt:lpstr>PowerPoint Presentation</vt:lpstr>
      <vt:lpstr>PowerPoint Presentation</vt:lpstr>
      <vt:lpstr>PowerPoint Presentation</vt:lpstr>
      <vt:lpstr>PowerPoint Presentation</vt:lpstr>
      <vt:lpstr>Worked examples</vt:lpstr>
      <vt:lpstr>PowerPoint Presentation</vt:lpstr>
      <vt:lpstr>PowerPoint Presentation</vt:lpstr>
      <vt:lpstr>Inorganic particles/matter</vt:lpstr>
      <vt:lpstr>PowerPoint Presentation</vt:lpstr>
      <vt:lpstr>PowerPoint Presentation</vt:lpstr>
      <vt:lpstr>PowerPoint Presentation</vt:lpstr>
      <vt:lpstr>PowerPoint Presentation</vt:lpstr>
      <vt:lpstr>PowerPoint Presentation</vt:lpstr>
      <vt:lpstr>Soil water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Humus/organic matter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Soil organisms</vt:lpstr>
      <vt:lpstr>PowerPoint Presentation</vt:lpstr>
      <vt:lpstr>PowerPoint Presentation</vt:lpstr>
      <vt:lpstr>PowerPoint Presentation</vt:lpstr>
      <vt:lpstr>PowerPoint Presentation</vt:lpstr>
      <vt:lpstr>PROPERTIES/CHARACTERISTICS OF SOIL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Activity : Comparing the capillarity of water of different soil samples </vt:lpstr>
      <vt:lpstr>PowerPoint Presentation</vt:lpstr>
      <vt:lpstr>PowerPoint Presentation</vt:lpstr>
      <vt:lpstr>PowerPoint Presentation</vt:lpstr>
      <vt:lpstr>PowerPoint Presentation</vt:lpstr>
      <vt:lpstr>PowerPoint Presentation</vt:lpstr>
      <vt:lpstr>PowerPoint Presentation</vt:lpstr>
      <vt:lpstr>Chemical properties of soil </vt:lpstr>
      <vt:lpstr>PowerPoint Presentation</vt:lpstr>
      <vt:lpstr>PowerPoint Presentation</vt:lpstr>
      <vt:lpstr>PowerPoint Presentation</vt:lpstr>
      <vt:lpstr>PowerPoint Presentation</vt:lpstr>
      <vt:lpstr>Activity of integration</vt:lpstr>
      <vt:lpstr>Soil fertility, erosion and conservation</vt:lpstr>
      <vt:lpstr>PowerPoint Presentation</vt:lpstr>
      <vt:lpstr>PowerPoint Presentation</vt:lpstr>
      <vt:lpstr>PowerPoint Presentation</vt:lpstr>
      <vt:lpstr>PowerPoint Presentation</vt:lpstr>
      <vt:lpstr>Soil erosion</vt:lpstr>
      <vt:lpstr>Soil erosion</vt:lpstr>
      <vt:lpstr>PowerPoint Presentation</vt:lpstr>
      <vt:lpstr>Types of soil erosion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Methods of controlling soil erosion</vt:lpstr>
      <vt:lpstr>PowerPoint Presentation</vt:lpstr>
      <vt:lpstr>PowerPoint Presentation</vt:lpstr>
      <vt:lpstr>PowerPoint Presentation</vt:lpstr>
      <vt:lpstr>PowerPoint Presentation</vt:lpstr>
      <vt:lpstr>Soil Conservation</vt:lpstr>
      <vt:lpstr>PowerPoint Presentation</vt:lpstr>
      <vt:lpstr>Methods of soil conservation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NUTRIENT CYCLES</vt:lpstr>
      <vt:lpstr>NITROGEN CYCLE</vt:lpstr>
      <vt:lpstr> Definition of nitrogen cycle     </vt:lpstr>
      <vt:lpstr>Importance of the nitrogen cycle</vt:lpstr>
      <vt:lpstr>Processes involved in the nitrogen cycle</vt:lpstr>
      <vt:lpstr>PowerPoint Presentation</vt:lpstr>
      <vt:lpstr>PowerPoint Presentation</vt:lpstr>
      <vt:lpstr>Description</vt:lpstr>
      <vt:lpstr>PowerPoint Presentation</vt:lpstr>
      <vt:lpstr>Sources of Nitrogen </vt:lpstr>
      <vt:lpstr>Loss of nitrogen from the soil </vt:lpstr>
      <vt:lpstr>Uses of Nitrogen to plants </vt:lpstr>
      <vt:lpstr>Deficiency symptoms</vt:lpstr>
      <vt:lpstr>THE CARBON CYCLE</vt:lpstr>
      <vt:lpstr>Activity of integration</vt:lpstr>
      <vt:lpstr>PowerPoint Presentation</vt:lpstr>
      <vt:lpstr>NUTRITION:  NUTRITION TYPES AND NUTRIENT COMPOUNDS</vt:lpstr>
      <vt:lpstr>PowerPoint Presentation</vt:lpstr>
      <vt:lpstr>PowerPoint Presentation</vt:lpstr>
      <vt:lpstr>PowerPoint Presentation</vt:lpstr>
      <vt:lpstr>Nutrients found in food</vt:lpstr>
      <vt:lpstr>Food nutrients, sources and importance</vt:lpstr>
      <vt:lpstr>Types of carbohydrates </vt:lpstr>
      <vt:lpstr>PowerPoint Presentation</vt:lpstr>
      <vt:lpstr>PowerPoint Presentation</vt:lpstr>
      <vt:lpstr>PowerPoint Presentation</vt:lpstr>
      <vt:lpstr>PowerPoint Presentation</vt:lpstr>
      <vt:lpstr>PowerPoint Presentation</vt:lpstr>
      <vt:lpstr>Importance of carbohydrates in the diet</vt:lpstr>
      <vt:lpstr>2. Proteins </vt:lpstr>
      <vt:lpstr>Functions of proteins in the body </vt:lpstr>
      <vt:lpstr>3. Lipids   </vt:lpstr>
      <vt:lpstr>Functions of lipids </vt:lpstr>
      <vt:lpstr>4. Vitamins</vt:lpstr>
      <vt:lpstr>Research:</vt:lpstr>
      <vt:lpstr>5. Mineral salts or mineral ions </vt:lpstr>
      <vt:lpstr>6. Water </vt:lpstr>
      <vt:lpstr>Importance of water to animals </vt:lpstr>
      <vt:lpstr>PowerPoint Presentation</vt:lpstr>
      <vt:lpstr>7. Roughages (dietary fiber) </vt:lpstr>
      <vt:lpstr>Food tests</vt:lpstr>
      <vt:lpstr>Test for carbohydrates </vt:lpstr>
      <vt:lpstr>PowerPoint Presentation</vt:lpstr>
      <vt:lpstr>PowerPoint Presentation</vt:lpstr>
      <vt:lpstr>PowerPoint Presentation</vt:lpstr>
      <vt:lpstr>Test for proteins</vt:lpstr>
      <vt:lpstr>Test for lipids</vt:lpstr>
      <vt:lpstr>PowerPoint Presentation</vt:lpstr>
      <vt:lpstr>Test for vitamin C</vt:lpstr>
      <vt:lpstr>Balanced diet</vt:lpstr>
      <vt:lpstr>Malnutrition </vt:lpstr>
      <vt:lpstr>PowerPoint Presentation</vt:lpstr>
      <vt:lpstr>PowerPoint Presentation</vt:lpstr>
      <vt:lpstr>PowerPoint Presentation</vt:lpstr>
      <vt:lpstr>PowerPoint Presentation</vt:lpstr>
      <vt:lpstr>PowerPoint Presentation</vt:lpstr>
      <vt:lpstr>PowerPoint Presentation</vt:lpstr>
      <vt:lpstr>Eating disorders</vt:lpstr>
      <vt:lpstr>Dangers of overweight and obesity</vt:lpstr>
      <vt:lpstr>Managing/avoiding of obesity</vt:lpstr>
      <vt:lpstr>Body Mass Index (BMI)</vt:lpstr>
      <vt:lpstr>PowerPoint Presentation</vt:lpstr>
      <vt:lpstr>Bulimia</vt:lpstr>
      <vt:lpstr>Anorexia </vt:lpstr>
      <vt:lpstr>Use of drugs to change body image</vt:lpstr>
      <vt:lpstr>Size and self esteem</vt:lpstr>
      <vt:lpstr>Activity of integration</vt:lpstr>
      <vt:lpstr>MAJOR PLANT MINERALS </vt:lpstr>
      <vt:lpstr>PowerPoint Presentation</vt:lpstr>
      <vt:lpstr>PowerPoint Presentation</vt:lpstr>
      <vt:lpstr>PowerPoint Presentation</vt:lpstr>
      <vt:lpstr>Activity of integration</vt:lpstr>
      <vt:lpstr>NUTRITION IN GREEN PLANTS</vt:lpstr>
      <vt:lpstr>PowerPoint Presentation</vt:lpstr>
      <vt:lpstr>Photosynthesis </vt:lpstr>
      <vt:lpstr>PowerPoint Presentation</vt:lpstr>
      <vt:lpstr>Importance of photosynthesis </vt:lpstr>
      <vt:lpstr>Uses of products of photosynthesis </vt:lpstr>
      <vt:lpstr>Testing a leaf for starch</vt:lpstr>
      <vt:lpstr>PowerPoint Presentation</vt:lpstr>
      <vt:lpstr>PowerPoint Presentation</vt:lpstr>
      <vt:lpstr>Set up of apparatus</vt:lpstr>
      <vt:lpstr>PowerPoint Presentation</vt:lpstr>
      <vt:lpstr>PowerPoint Presentation</vt:lpstr>
      <vt:lpstr>Rate of photosynthesis</vt:lpstr>
      <vt:lpstr>Factors that affect the rate of photosynthesis</vt:lpstr>
      <vt:lpstr>PowerPoint Presentation</vt:lpstr>
      <vt:lpstr>Finding out the effect of light intensity on rate of photosynthesis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Demonstrating  that light is necessary for photosynthesis</vt:lpstr>
      <vt:lpstr>PowerPoint Presentation</vt:lpstr>
      <vt:lpstr>PowerPoint Presentation</vt:lpstr>
      <vt:lpstr>PowerPoint Presentation</vt:lpstr>
      <vt:lpstr>PowerPoint Presentation</vt:lpstr>
      <vt:lpstr>2. Carbon dioxide concentration</vt:lpstr>
      <vt:lpstr>PowerPoint Presentation</vt:lpstr>
      <vt:lpstr>Finding out the effect of changing carbon dioxide concentration on rate of photosynthesis</vt:lpstr>
      <vt:lpstr>PowerPoint Presentation</vt:lpstr>
      <vt:lpstr>PowerPoint Presentation</vt:lpstr>
      <vt:lpstr>PowerPoint Presentation</vt:lpstr>
      <vt:lpstr>PowerPoint Presentation</vt:lpstr>
      <vt:lpstr>To demonstrate that carbon dioxide is necessary for photosynthesis</vt:lpstr>
      <vt:lpstr>PowerPoint Presentation</vt:lpstr>
      <vt:lpstr>Set up of apparatus</vt:lpstr>
      <vt:lpstr>PowerPoint Presentation</vt:lpstr>
      <vt:lpstr>3. Chlorophyll concentration </vt:lpstr>
      <vt:lpstr>Demonstrating that chlorophyll is necessary for photosynthesis</vt:lpstr>
      <vt:lpstr>PowerPoint Presentation</vt:lpstr>
      <vt:lpstr>PowerPoint Presentation</vt:lpstr>
      <vt:lpstr>PowerPoint Presentation</vt:lpstr>
      <vt:lpstr>PowerPoint Presentation</vt:lpstr>
      <vt:lpstr>PowerPoint Presentation</vt:lpstr>
      <vt:lpstr>4. Temperature </vt:lpstr>
      <vt:lpstr>Graph showing effect of temperature on rate of photosynthesis</vt:lpstr>
      <vt:lpstr>PowerPoint Presentation</vt:lpstr>
      <vt:lpstr>PowerPoint Presentation</vt:lpstr>
      <vt:lpstr>Activity: design an experiment to demonstrate the effect of change in temperature on rate of photosynthesis </vt:lpstr>
      <vt:lpstr>PowerPoint Presentation</vt:lpstr>
      <vt:lpstr>PowerPoint Presentation</vt:lpstr>
      <vt:lpstr>5.Availability of water</vt:lpstr>
      <vt:lpstr>Limiting factors in photosynthesis  </vt:lpstr>
      <vt:lpstr>PowerPoint Presentation</vt:lpstr>
      <vt:lpstr>Graph showing effect of increasing light intensity on rate of photosynthesis at two different temperatures of 15oC and 25oC </vt:lpstr>
      <vt:lpstr>Graph showing effect of increasing light intensity on rate of photosynthesis at two different concentrations of carbon dioxide of 1% and 0.04% </vt:lpstr>
      <vt:lpstr>The leaf as an organ for photosynthesis A drawing of the vertical section  through a leaf</vt:lpstr>
      <vt:lpstr>PowerPoint Presentation</vt:lpstr>
      <vt:lpstr>Adaptations of leaves for photosynthesis</vt:lpstr>
      <vt:lpstr>PowerPoint Presentation</vt:lpstr>
      <vt:lpstr>PowerPoint Presentation</vt:lpstr>
      <vt:lpstr>PowerPoint Presentation</vt:lpstr>
      <vt:lpstr>Activity of integration</vt:lpstr>
      <vt:lpstr>NUTRITION IN MAMMALS</vt:lpstr>
      <vt:lpstr>ENZYMES </vt:lpstr>
      <vt:lpstr>Naming enzymes</vt:lpstr>
      <vt:lpstr>PowerPoint Presentation</vt:lpstr>
      <vt:lpstr>PowerPoint Presentation</vt:lpstr>
      <vt:lpstr>PowerPoint Presentation</vt:lpstr>
      <vt:lpstr>Properties/characteristic of enzymes</vt:lpstr>
      <vt:lpstr>PowerPoint Presentation</vt:lpstr>
      <vt:lpstr>PowerPoint Presentation</vt:lpstr>
      <vt:lpstr>PowerPoint Presentation</vt:lpstr>
      <vt:lpstr>PowerPoint Presentation</vt:lpstr>
      <vt:lpstr>Factors that affect enzyme activity</vt:lpstr>
      <vt:lpstr>Graph showing the effect of pH on the rate of enzyme activity</vt:lpstr>
      <vt:lpstr>Demonstrating that Ph affects enzyme activity</vt:lpstr>
      <vt:lpstr>PowerPoint Presentation</vt:lpstr>
      <vt:lpstr>Set up of apparatus</vt:lpstr>
      <vt:lpstr>PowerPoint Presentation</vt:lpstr>
      <vt:lpstr>Or </vt:lpstr>
      <vt:lpstr>PowerPoint Presentation</vt:lpstr>
      <vt:lpstr>Set up of apparatus</vt:lpstr>
      <vt:lpstr>PowerPoint Presentation</vt:lpstr>
      <vt:lpstr>b) Temperature </vt:lpstr>
      <vt:lpstr>PowerPoint Presentation</vt:lpstr>
      <vt:lpstr>PowerPoint Presentation</vt:lpstr>
      <vt:lpstr>Experiment to show that enzyme activity is affected by temperature</vt:lpstr>
      <vt:lpstr>PowerPoint Presentation</vt:lpstr>
      <vt:lpstr>Set up of apparatus</vt:lpstr>
      <vt:lpstr>PowerPoint Presentation</vt:lpstr>
      <vt:lpstr>PowerPoint Presentation</vt:lpstr>
      <vt:lpstr>c) Enzyme concentration</vt:lpstr>
      <vt:lpstr>Graph showing variation of the rate of enzyme catalyzed reaction with enzyme concentration </vt:lpstr>
      <vt:lpstr>d) Substrate concentration </vt:lpstr>
      <vt:lpstr>e) Presence of inhibitors </vt:lpstr>
      <vt:lpstr>f) Presence of enzyme activators</vt:lpstr>
      <vt:lpstr>The  mammalian teeth</vt:lpstr>
      <vt:lpstr>PowerPoint Presentation</vt:lpstr>
      <vt:lpstr>PowerPoint Presentation</vt:lpstr>
      <vt:lpstr>Structure of mammalian teeth</vt:lpstr>
      <vt:lpstr>PowerPoint Presentation</vt:lpstr>
      <vt:lpstr>Drawing of external side/lateral view of incisor tooth</vt:lpstr>
      <vt:lpstr>2. Canine tooth</vt:lpstr>
      <vt:lpstr>A drawing of external lateral/side view of canine tooth</vt:lpstr>
      <vt:lpstr>3. Premolar tooth </vt:lpstr>
      <vt:lpstr>Drawing of external lateral/side view of pre-molar tooth</vt:lpstr>
      <vt:lpstr>4. Molar tooth </vt:lpstr>
      <vt:lpstr>Drawing of external lateral/side view of molar tooth</vt:lpstr>
      <vt:lpstr>Adaptations of the different types of teeth </vt:lpstr>
      <vt:lpstr>Internal structure of the tooth</vt:lpstr>
      <vt:lpstr>Drawing of longitudinal section of molar tooth</vt:lpstr>
      <vt:lpstr>Parts of the tooth and their functions </vt:lpstr>
      <vt:lpstr>PowerPoint Presentation</vt:lpstr>
      <vt:lpstr>PowerPoint Presentation</vt:lpstr>
      <vt:lpstr>Dentition and dental formula</vt:lpstr>
      <vt:lpstr>Dental formula</vt:lpstr>
      <vt:lpstr>PowerPoint Presentation</vt:lpstr>
      <vt:lpstr>Examples:</vt:lpstr>
      <vt:lpstr>PowerPoint Presentation</vt:lpstr>
      <vt:lpstr>Adaptation of teeth to diet of the animals </vt:lpstr>
      <vt:lpstr>PowerPoint Presentation</vt:lpstr>
      <vt:lpstr>PowerPoint Presentation</vt:lpstr>
      <vt:lpstr>PowerPoint Presentation</vt:lpstr>
      <vt:lpstr>PowerPoint Presentation</vt:lpstr>
      <vt:lpstr>PowerPoint Presentation</vt:lpstr>
      <vt:lpstr>Oral Hygiene</vt:lpstr>
      <vt:lpstr>Benefits of good oral hygiene</vt:lpstr>
      <vt:lpstr>Maintaining good oral hygiene</vt:lpstr>
      <vt:lpstr>PowerPoint Presentation</vt:lpstr>
      <vt:lpstr>Common dental diseases</vt:lpstr>
      <vt:lpstr>PowerPoint Presentation</vt:lpstr>
      <vt:lpstr>PowerPoint Presentation</vt:lpstr>
      <vt:lpstr>PowerPoint Presentation</vt:lpstr>
      <vt:lpstr>Ginivitis                            Periodontitis </vt:lpstr>
      <vt:lpstr>Mammalian Digestive System</vt:lpstr>
      <vt:lpstr>PowerPoint Presentation</vt:lpstr>
      <vt:lpstr>PowerPoint Presentation</vt:lpstr>
      <vt:lpstr>PowerPoint Presentation</vt:lpstr>
      <vt:lpstr>PowerPoint Presentation</vt:lpstr>
      <vt:lpstr>PowerPoint Presentation</vt:lpstr>
      <vt:lpstr>PowerPoint Presentation</vt:lpstr>
      <vt:lpstr>Digestion of food</vt:lpstr>
      <vt:lpstr>PowerPoint Presentation</vt:lpstr>
      <vt:lpstr>Which food substance is digested in the mouth?</vt:lpstr>
      <vt:lpstr> </vt:lpstr>
      <vt:lpstr>PowerPoint Presentation</vt:lpstr>
      <vt:lpstr>Set up of apparatus</vt:lpstr>
      <vt:lpstr>PowerPoint Presentation</vt:lpstr>
      <vt:lpstr>The process of digestion</vt:lpstr>
      <vt:lpstr>PowerPoint Presentation</vt:lpstr>
      <vt:lpstr>In the stomach</vt:lpstr>
      <vt:lpstr>In the duodenum </vt:lpstr>
      <vt:lpstr>In the ileum </vt:lpstr>
      <vt:lpstr>PowerPoint Presentation</vt:lpstr>
      <vt:lpstr>Absorption of digested food</vt:lpstr>
      <vt:lpstr>PowerPoint Presentation</vt:lpstr>
      <vt:lpstr>PowerPoint Presentation</vt:lpstr>
      <vt:lpstr>PowerPoint Presentation</vt:lpstr>
      <vt:lpstr>PowerPoint Presentation</vt:lpstr>
      <vt:lpstr>Adaptations of ileum/ small intestine for absorption of digested food</vt:lpstr>
      <vt:lpstr>PowerPoint Presentation</vt:lpstr>
      <vt:lpstr>Assimilation of food</vt:lpstr>
      <vt:lpstr>PowerPoint Presentation</vt:lpstr>
      <vt:lpstr>PowerPoint Presentation</vt:lpstr>
      <vt:lpstr>PowerPoint Presentation</vt:lpstr>
      <vt:lpstr>Nutrition in a mould</vt:lpstr>
      <vt:lpstr>PowerPoint Presentation</vt:lpstr>
      <vt:lpstr>PowerPoint Presentation</vt:lpstr>
      <vt:lpstr>PowerPoint Presentation</vt:lpstr>
      <vt:lpstr>Advantages of saprophytic nutrition  </vt:lpstr>
      <vt:lpstr>Extracellular and intracellular digestion </vt:lpstr>
      <vt:lpstr>Similarities between extracellular and intracellular digestion</vt:lpstr>
      <vt:lpstr>Differences between extracellular and intracellular digestion </vt:lpstr>
      <vt:lpstr>PowerPoint Presentation</vt:lpstr>
      <vt:lpstr>Activity of integration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 SOIL </dc:title>
  <dc:creator>Denis</dc:creator>
  <cp:lastModifiedBy>USER</cp:lastModifiedBy>
  <cp:revision>240</cp:revision>
  <dcterms:created xsi:type="dcterms:W3CDTF">2022-06-10T03:21:55Z</dcterms:created>
  <dcterms:modified xsi:type="dcterms:W3CDTF">2024-03-18T06:52:09Z</dcterms:modified>
</cp:coreProperties>
</file>