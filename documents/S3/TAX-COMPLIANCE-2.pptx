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71" r:id="rId3"/>
    <p:sldId id="257" r:id="rId4"/>
    <p:sldId id="258" r:id="rId5"/>
    <p:sldId id="262" r:id="rId6"/>
    <p:sldId id="263" r:id="rId7"/>
    <p:sldId id="265" r:id="rId8"/>
    <p:sldId id="259" r:id="rId9"/>
    <p:sldId id="260" r:id="rId10"/>
    <p:sldId id="261" r:id="rId11"/>
    <p:sldId id="266" r:id="rId12"/>
    <p:sldId id="267" r:id="rId13"/>
    <p:sldId id="268" r:id="rId14"/>
    <p:sldId id="270" r:id="rId15"/>
    <p:sldId id="269" r:id="rId16"/>
    <p:sldId id="272" r:id="rId17"/>
    <p:sldId id="275" r:id="rId18"/>
    <p:sldId id="276" r:id="rId19"/>
    <p:sldId id="277" r:id="rId20"/>
    <p:sldId id="273" r:id="rId21"/>
    <p:sldId id="274"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0B91FD-6CCD-4B10-B1EF-1C3F2454C760}"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en-US"/>
        </a:p>
      </dgm:t>
    </dgm:pt>
    <dgm:pt modelId="{A4623AE4-693A-41D9-A4EB-A44730A0E022}">
      <dgm:prSet phldrT="[Text]"/>
      <dgm:spPr/>
      <dgm:t>
        <a:bodyPr/>
        <a:lstStyle/>
        <a:p>
          <a:r>
            <a:rPr lang="en-US" dirty="0"/>
            <a:t>ELEMENTS OF TAX COMPLIANCE</a:t>
          </a:r>
        </a:p>
      </dgm:t>
    </dgm:pt>
    <dgm:pt modelId="{3921DDC1-A6FE-440F-8E96-278C427CED5E}" type="parTrans" cxnId="{568DEBB7-AA05-45A3-AA62-0D3B7076D239}">
      <dgm:prSet/>
      <dgm:spPr/>
      <dgm:t>
        <a:bodyPr/>
        <a:lstStyle/>
        <a:p>
          <a:endParaRPr lang="en-US"/>
        </a:p>
      </dgm:t>
    </dgm:pt>
    <dgm:pt modelId="{0DF1B43E-C5EC-4E69-9A91-1FE3F419994F}" type="sibTrans" cxnId="{568DEBB7-AA05-45A3-AA62-0D3B7076D239}">
      <dgm:prSet/>
      <dgm:spPr/>
      <dgm:t>
        <a:bodyPr/>
        <a:lstStyle/>
        <a:p>
          <a:endParaRPr lang="en-US"/>
        </a:p>
      </dgm:t>
    </dgm:pt>
    <dgm:pt modelId="{DD6FAC6D-34C2-46FF-9F5E-34DC2E75247D}">
      <dgm:prSet phldrT="[Text]"/>
      <dgm:spPr/>
      <dgm:t>
        <a:bodyPr/>
        <a:lstStyle/>
        <a:p>
          <a:r>
            <a:rPr lang="en-US" dirty="0"/>
            <a:t>REGISTRATION</a:t>
          </a:r>
        </a:p>
      </dgm:t>
    </dgm:pt>
    <dgm:pt modelId="{1EF4A66F-9CF8-4EAB-872E-362DB939311A}" type="parTrans" cxnId="{901A401E-1EE6-4682-9919-34655B795A5F}">
      <dgm:prSet/>
      <dgm:spPr/>
      <dgm:t>
        <a:bodyPr/>
        <a:lstStyle/>
        <a:p>
          <a:endParaRPr lang="en-US"/>
        </a:p>
      </dgm:t>
    </dgm:pt>
    <dgm:pt modelId="{6E5B88B1-DD1A-4EFA-8FF1-BC6E209A5B6D}" type="sibTrans" cxnId="{901A401E-1EE6-4682-9919-34655B795A5F}">
      <dgm:prSet/>
      <dgm:spPr/>
      <dgm:t>
        <a:bodyPr/>
        <a:lstStyle/>
        <a:p>
          <a:endParaRPr lang="en-US"/>
        </a:p>
      </dgm:t>
    </dgm:pt>
    <dgm:pt modelId="{DE1D1CC7-7458-431F-A3E4-11325371F895}">
      <dgm:prSet phldrT="[Text]"/>
      <dgm:spPr/>
      <dgm:t>
        <a:bodyPr/>
        <a:lstStyle/>
        <a:p>
          <a:r>
            <a:rPr lang="en-US" dirty="0"/>
            <a:t>FILING TAX RETURNS</a:t>
          </a:r>
        </a:p>
      </dgm:t>
    </dgm:pt>
    <dgm:pt modelId="{D429700B-7E6B-41FD-B5D7-B147B0520B65}" type="parTrans" cxnId="{B0AF5D6C-AC99-4D03-9A3B-2C8BFE7C0B45}">
      <dgm:prSet/>
      <dgm:spPr/>
      <dgm:t>
        <a:bodyPr/>
        <a:lstStyle/>
        <a:p>
          <a:endParaRPr lang="en-US"/>
        </a:p>
      </dgm:t>
    </dgm:pt>
    <dgm:pt modelId="{C5794D59-323B-427C-B0F8-7C1B4D2D865F}" type="sibTrans" cxnId="{B0AF5D6C-AC99-4D03-9A3B-2C8BFE7C0B45}">
      <dgm:prSet/>
      <dgm:spPr/>
      <dgm:t>
        <a:bodyPr/>
        <a:lstStyle/>
        <a:p>
          <a:endParaRPr lang="en-US"/>
        </a:p>
      </dgm:t>
    </dgm:pt>
    <dgm:pt modelId="{F04FA7CD-C66A-48D9-BDDD-31ACD931BAAB}">
      <dgm:prSet phldrT="[Text]"/>
      <dgm:spPr/>
      <dgm:t>
        <a:bodyPr/>
        <a:lstStyle/>
        <a:p>
          <a:r>
            <a:rPr lang="en-US" dirty="0"/>
            <a:t>RECORD KEEPING</a:t>
          </a:r>
        </a:p>
      </dgm:t>
    </dgm:pt>
    <dgm:pt modelId="{A252D901-9732-4277-9B4F-82103B60D4CC}" type="parTrans" cxnId="{F8086BB3-7220-4862-ABDA-9BFEC9765AD2}">
      <dgm:prSet/>
      <dgm:spPr/>
      <dgm:t>
        <a:bodyPr/>
        <a:lstStyle/>
        <a:p>
          <a:endParaRPr lang="en-US"/>
        </a:p>
      </dgm:t>
    </dgm:pt>
    <dgm:pt modelId="{0EE90DF3-2097-4367-875F-C858C41AE56C}" type="sibTrans" cxnId="{F8086BB3-7220-4862-ABDA-9BFEC9765AD2}">
      <dgm:prSet/>
      <dgm:spPr/>
      <dgm:t>
        <a:bodyPr/>
        <a:lstStyle/>
        <a:p>
          <a:endParaRPr lang="en-US"/>
        </a:p>
      </dgm:t>
    </dgm:pt>
    <dgm:pt modelId="{EE18E2F7-0A41-4293-B7AC-490B2910E8C9}">
      <dgm:prSet/>
      <dgm:spPr/>
      <dgm:t>
        <a:bodyPr/>
        <a:lstStyle/>
        <a:p>
          <a:r>
            <a:rPr lang="en-US" dirty="0"/>
            <a:t>DECLARATION</a:t>
          </a:r>
        </a:p>
      </dgm:t>
    </dgm:pt>
    <dgm:pt modelId="{2EF4A507-BB8A-4BA5-AEED-2E047D1CCF49}" type="parTrans" cxnId="{57928AA5-0704-4346-8C92-2E4C5276D40A}">
      <dgm:prSet/>
      <dgm:spPr/>
      <dgm:t>
        <a:bodyPr/>
        <a:lstStyle/>
        <a:p>
          <a:endParaRPr lang="en-US"/>
        </a:p>
      </dgm:t>
    </dgm:pt>
    <dgm:pt modelId="{1B98ADE7-F532-48E4-BAE8-77090DDD3F4D}" type="sibTrans" cxnId="{57928AA5-0704-4346-8C92-2E4C5276D40A}">
      <dgm:prSet/>
      <dgm:spPr/>
      <dgm:t>
        <a:bodyPr/>
        <a:lstStyle/>
        <a:p>
          <a:endParaRPr lang="en-US"/>
        </a:p>
      </dgm:t>
    </dgm:pt>
    <dgm:pt modelId="{E89E1C19-28E4-48C9-B0A5-B6C0EF59B275}">
      <dgm:prSet phldrT="[Text]"/>
      <dgm:spPr/>
      <dgm:t>
        <a:bodyPr/>
        <a:lstStyle/>
        <a:p>
          <a:r>
            <a:rPr lang="en-US" dirty="0"/>
            <a:t>PAYMENTS </a:t>
          </a:r>
        </a:p>
      </dgm:t>
    </dgm:pt>
    <dgm:pt modelId="{FABCFB24-9488-499E-ABDC-CC3F1D4C7267}" type="sibTrans" cxnId="{EF858583-EA14-4F7E-8E2A-EDE88D72E062}">
      <dgm:prSet/>
      <dgm:spPr/>
      <dgm:t>
        <a:bodyPr/>
        <a:lstStyle/>
        <a:p>
          <a:endParaRPr lang="en-US"/>
        </a:p>
      </dgm:t>
    </dgm:pt>
    <dgm:pt modelId="{300DBCFD-EA43-4A27-8177-C3AACAD7B6C7}" type="parTrans" cxnId="{EF858583-EA14-4F7E-8E2A-EDE88D72E062}">
      <dgm:prSet/>
      <dgm:spPr/>
      <dgm:t>
        <a:bodyPr/>
        <a:lstStyle/>
        <a:p>
          <a:endParaRPr lang="en-US"/>
        </a:p>
      </dgm:t>
    </dgm:pt>
    <dgm:pt modelId="{CEB6FDA5-EC93-45F5-92A1-0169CC16F69C}" type="pres">
      <dgm:prSet presAssocID="{3E0B91FD-6CCD-4B10-B1EF-1C3F2454C760}" presName="Name0" presStyleCnt="0">
        <dgm:presLayoutVars>
          <dgm:chMax val="1"/>
          <dgm:dir/>
          <dgm:animLvl val="ctr"/>
          <dgm:resizeHandles val="exact"/>
        </dgm:presLayoutVars>
      </dgm:prSet>
      <dgm:spPr/>
    </dgm:pt>
    <dgm:pt modelId="{6FF50CBC-FD31-4E64-802D-9A0AB1375AD2}" type="pres">
      <dgm:prSet presAssocID="{A4623AE4-693A-41D9-A4EB-A44730A0E022}" presName="centerShape" presStyleLbl="node0" presStyleIdx="0" presStyleCnt="1"/>
      <dgm:spPr/>
    </dgm:pt>
    <dgm:pt modelId="{CE5217C4-7251-43B5-89D3-CFDAEFF705F6}" type="pres">
      <dgm:prSet presAssocID="{1EF4A66F-9CF8-4EAB-872E-362DB939311A}" presName="parTrans" presStyleLbl="sibTrans2D1" presStyleIdx="0" presStyleCnt="5"/>
      <dgm:spPr/>
    </dgm:pt>
    <dgm:pt modelId="{E8E8B5DC-53CA-41A5-97C8-4899F4551230}" type="pres">
      <dgm:prSet presAssocID="{1EF4A66F-9CF8-4EAB-872E-362DB939311A}" presName="connectorText" presStyleLbl="sibTrans2D1" presStyleIdx="0" presStyleCnt="5"/>
      <dgm:spPr/>
    </dgm:pt>
    <dgm:pt modelId="{85154903-BD48-4BF9-A0DB-11FAB6D7BA55}" type="pres">
      <dgm:prSet presAssocID="{DD6FAC6D-34C2-46FF-9F5E-34DC2E75247D}" presName="node" presStyleLbl="node1" presStyleIdx="0" presStyleCnt="5">
        <dgm:presLayoutVars>
          <dgm:bulletEnabled val="1"/>
        </dgm:presLayoutVars>
      </dgm:prSet>
      <dgm:spPr/>
    </dgm:pt>
    <dgm:pt modelId="{259D0347-2992-4E1D-B121-45D1C8F101FF}" type="pres">
      <dgm:prSet presAssocID="{D429700B-7E6B-41FD-B5D7-B147B0520B65}" presName="parTrans" presStyleLbl="sibTrans2D1" presStyleIdx="1" presStyleCnt="5"/>
      <dgm:spPr/>
    </dgm:pt>
    <dgm:pt modelId="{45B62B31-7E73-48C2-91E1-A1FE0194A7FC}" type="pres">
      <dgm:prSet presAssocID="{D429700B-7E6B-41FD-B5D7-B147B0520B65}" presName="connectorText" presStyleLbl="sibTrans2D1" presStyleIdx="1" presStyleCnt="5"/>
      <dgm:spPr/>
    </dgm:pt>
    <dgm:pt modelId="{B770323A-B26C-4172-8A75-6AFAD4A50959}" type="pres">
      <dgm:prSet presAssocID="{DE1D1CC7-7458-431F-A3E4-11325371F895}" presName="node" presStyleLbl="node1" presStyleIdx="1" presStyleCnt="5">
        <dgm:presLayoutVars>
          <dgm:bulletEnabled val="1"/>
        </dgm:presLayoutVars>
      </dgm:prSet>
      <dgm:spPr/>
    </dgm:pt>
    <dgm:pt modelId="{49CF7705-7DB9-46A6-9381-2A4B8295DB27}" type="pres">
      <dgm:prSet presAssocID="{2EF4A507-BB8A-4BA5-AEED-2E047D1CCF49}" presName="parTrans" presStyleLbl="sibTrans2D1" presStyleIdx="2" presStyleCnt="5"/>
      <dgm:spPr/>
    </dgm:pt>
    <dgm:pt modelId="{4BFBE9F7-1D27-42AD-919A-A736FC0EAC80}" type="pres">
      <dgm:prSet presAssocID="{2EF4A507-BB8A-4BA5-AEED-2E047D1CCF49}" presName="connectorText" presStyleLbl="sibTrans2D1" presStyleIdx="2" presStyleCnt="5"/>
      <dgm:spPr/>
    </dgm:pt>
    <dgm:pt modelId="{6F102FD7-E54A-4AB7-A60C-5BC4046DF947}" type="pres">
      <dgm:prSet presAssocID="{EE18E2F7-0A41-4293-B7AC-490B2910E8C9}" presName="node" presStyleLbl="node1" presStyleIdx="2" presStyleCnt="5">
        <dgm:presLayoutVars>
          <dgm:bulletEnabled val="1"/>
        </dgm:presLayoutVars>
      </dgm:prSet>
      <dgm:spPr/>
    </dgm:pt>
    <dgm:pt modelId="{25B350F5-0C9E-48EB-B6A0-0E20A0708344}" type="pres">
      <dgm:prSet presAssocID="{300DBCFD-EA43-4A27-8177-C3AACAD7B6C7}" presName="parTrans" presStyleLbl="sibTrans2D1" presStyleIdx="3" presStyleCnt="5"/>
      <dgm:spPr/>
    </dgm:pt>
    <dgm:pt modelId="{89689F26-B296-43CE-AADB-A96B0F5725BA}" type="pres">
      <dgm:prSet presAssocID="{300DBCFD-EA43-4A27-8177-C3AACAD7B6C7}" presName="connectorText" presStyleLbl="sibTrans2D1" presStyleIdx="3" presStyleCnt="5"/>
      <dgm:spPr/>
    </dgm:pt>
    <dgm:pt modelId="{2781152C-DDF9-466C-9D2E-9BE25DA4027F}" type="pres">
      <dgm:prSet presAssocID="{E89E1C19-28E4-48C9-B0A5-B6C0EF59B275}" presName="node" presStyleLbl="node1" presStyleIdx="3" presStyleCnt="5">
        <dgm:presLayoutVars>
          <dgm:bulletEnabled val="1"/>
        </dgm:presLayoutVars>
      </dgm:prSet>
      <dgm:spPr/>
    </dgm:pt>
    <dgm:pt modelId="{0F913B10-9A6B-4EC0-BABC-701999E19CEE}" type="pres">
      <dgm:prSet presAssocID="{A252D901-9732-4277-9B4F-82103B60D4CC}" presName="parTrans" presStyleLbl="sibTrans2D1" presStyleIdx="4" presStyleCnt="5"/>
      <dgm:spPr/>
    </dgm:pt>
    <dgm:pt modelId="{485CC680-79D1-43AB-B6AB-7018E75191BF}" type="pres">
      <dgm:prSet presAssocID="{A252D901-9732-4277-9B4F-82103B60D4CC}" presName="connectorText" presStyleLbl="sibTrans2D1" presStyleIdx="4" presStyleCnt="5"/>
      <dgm:spPr/>
    </dgm:pt>
    <dgm:pt modelId="{BC73A6A5-A5B5-4709-85B0-EE53DAF0D66F}" type="pres">
      <dgm:prSet presAssocID="{F04FA7CD-C66A-48D9-BDDD-31ACD931BAAB}" presName="node" presStyleLbl="node1" presStyleIdx="4" presStyleCnt="5">
        <dgm:presLayoutVars>
          <dgm:bulletEnabled val="1"/>
        </dgm:presLayoutVars>
      </dgm:prSet>
      <dgm:spPr/>
    </dgm:pt>
  </dgm:ptLst>
  <dgm:cxnLst>
    <dgm:cxn modelId="{14532807-A2A6-4FF7-8169-7B4D5A41620A}" type="presOf" srcId="{1EF4A66F-9CF8-4EAB-872E-362DB939311A}" destId="{E8E8B5DC-53CA-41A5-97C8-4899F4551230}" srcOrd="1" destOrd="0" presId="urn:microsoft.com/office/officeart/2005/8/layout/radial5"/>
    <dgm:cxn modelId="{E4EEAB17-B90F-4679-BD5E-BA849BB6EECF}" type="presOf" srcId="{300DBCFD-EA43-4A27-8177-C3AACAD7B6C7}" destId="{25B350F5-0C9E-48EB-B6A0-0E20A0708344}" srcOrd="0" destOrd="0" presId="urn:microsoft.com/office/officeart/2005/8/layout/radial5"/>
    <dgm:cxn modelId="{81B4901C-4E60-4D20-ABD8-75B77E204BF9}" type="presOf" srcId="{2EF4A507-BB8A-4BA5-AEED-2E047D1CCF49}" destId="{49CF7705-7DB9-46A6-9381-2A4B8295DB27}" srcOrd="0" destOrd="0" presId="urn:microsoft.com/office/officeart/2005/8/layout/radial5"/>
    <dgm:cxn modelId="{901A401E-1EE6-4682-9919-34655B795A5F}" srcId="{A4623AE4-693A-41D9-A4EB-A44730A0E022}" destId="{DD6FAC6D-34C2-46FF-9F5E-34DC2E75247D}" srcOrd="0" destOrd="0" parTransId="{1EF4A66F-9CF8-4EAB-872E-362DB939311A}" sibTransId="{6E5B88B1-DD1A-4EFA-8FF1-BC6E209A5B6D}"/>
    <dgm:cxn modelId="{89743821-EE0D-4646-B8AE-E6346073F961}" type="presOf" srcId="{E89E1C19-28E4-48C9-B0A5-B6C0EF59B275}" destId="{2781152C-DDF9-466C-9D2E-9BE25DA4027F}" srcOrd="0" destOrd="0" presId="urn:microsoft.com/office/officeart/2005/8/layout/radial5"/>
    <dgm:cxn modelId="{3B10695E-C3A2-43D8-A6B9-FD02EDA35670}" type="presOf" srcId="{1EF4A66F-9CF8-4EAB-872E-362DB939311A}" destId="{CE5217C4-7251-43B5-89D3-CFDAEFF705F6}" srcOrd="0" destOrd="0" presId="urn:microsoft.com/office/officeart/2005/8/layout/radial5"/>
    <dgm:cxn modelId="{CBADC95E-9914-4CAD-95DF-66F9E6F594EC}" type="presOf" srcId="{D429700B-7E6B-41FD-B5D7-B147B0520B65}" destId="{259D0347-2992-4E1D-B121-45D1C8F101FF}" srcOrd="0" destOrd="0" presId="urn:microsoft.com/office/officeart/2005/8/layout/radial5"/>
    <dgm:cxn modelId="{B0AF5D6C-AC99-4D03-9A3B-2C8BFE7C0B45}" srcId="{A4623AE4-693A-41D9-A4EB-A44730A0E022}" destId="{DE1D1CC7-7458-431F-A3E4-11325371F895}" srcOrd="1" destOrd="0" parTransId="{D429700B-7E6B-41FD-B5D7-B147B0520B65}" sibTransId="{C5794D59-323B-427C-B0F8-7C1B4D2D865F}"/>
    <dgm:cxn modelId="{429BF272-E41A-4C1E-98E4-3BA069A5719D}" type="presOf" srcId="{A252D901-9732-4277-9B4F-82103B60D4CC}" destId="{0F913B10-9A6B-4EC0-BABC-701999E19CEE}" srcOrd="0" destOrd="0" presId="urn:microsoft.com/office/officeart/2005/8/layout/radial5"/>
    <dgm:cxn modelId="{EF858583-EA14-4F7E-8E2A-EDE88D72E062}" srcId="{A4623AE4-693A-41D9-A4EB-A44730A0E022}" destId="{E89E1C19-28E4-48C9-B0A5-B6C0EF59B275}" srcOrd="3" destOrd="0" parTransId="{300DBCFD-EA43-4A27-8177-C3AACAD7B6C7}" sibTransId="{FABCFB24-9488-499E-ABDC-CC3F1D4C7267}"/>
    <dgm:cxn modelId="{0B694FA2-D298-459C-B003-26B562825465}" type="presOf" srcId="{F04FA7CD-C66A-48D9-BDDD-31ACD931BAAB}" destId="{BC73A6A5-A5B5-4709-85B0-EE53DAF0D66F}" srcOrd="0" destOrd="0" presId="urn:microsoft.com/office/officeart/2005/8/layout/radial5"/>
    <dgm:cxn modelId="{57928AA5-0704-4346-8C92-2E4C5276D40A}" srcId="{A4623AE4-693A-41D9-A4EB-A44730A0E022}" destId="{EE18E2F7-0A41-4293-B7AC-490B2910E8C9}" srcOrd="2" destOrd="0" parTransId="{2EF4A507-BB8A-4BA5-AEED-2E047D1CCF49}" sibTransId="{1B98ADE7-F532-48E4-BAE8-77090DDD3F4D}"/>
    <dgm:cxn modelId="{F8086BB3-7220-4862-ABDA-9BFEC9765AD2}" srcId="{A4623AE4-693A-41D9-A4EB-A44730A0E022}" destId="{F04FA7CD-C66A-48D9-BDDD-31ACD931BAAB}" srcOrd="4" destOrd="0" parTransId="{A252D901-9732-4277-9B4F-82103B60D4CC}" sibTransId="{0EE90DF3-2097-4367-875F-C858C41AE56C}"/>
    <dgm:cxn modelId="{568DEBB7-AA05-45A3-AA62-0D3B7076D239}" srcId="{3E0B91FD-6CCD-4B10-B1EF-1C3F2454C760}" destId="{A4623AE4-693A-41D9-A4EB-A44730A0E022}" srcOrd="0" destOrd="0" parTransId="{3921DDC1-A6FE-440F-8E96-278C427CED5E}" sibTransId="{0DF1B43E-C5EC-4E69-9A91-1FE3F419994F}"/>
    <dgm:cxn modelId="{468957C7-B67E-41AD-8507-45829AD31460}" type="presOf" srcId="{D429700B-7E6B-41FD-B5D7-B147B0520B65}" destId="{45B62B31-7E73-48C2-91E1-A1FE0194A7FC}" srcOrd="1" destOrd="0" presId="urn:microsoft.com/office/officeart/2005/8/layout/radial5"/>
    <dgm:cxn modelId="{1B61C1CF-5611-4604-ADC0-89F4A34961CA}" type="presOf" srcId="{2EF4A507-BB8A-4BA5-AEED-2E047D1CCF49}" destId="{4BFBE9F7-1D27-42AD-919A-A736FC0EAC80}" srcOrd="1" destOrd="0" presId="urn:microsoft.com/office/officeart/2005/8/layout/radial5"/>
    <dgm:cxn modelId="{40621DD0-719A-42BF-997C-BCFCEFDED25C}" type="presOf" srcId="{A4623AE4-693A-41D9-A4EB-A44730A0E022}" destId="{6FF50CBC-FD31-4E64-802D-9A0AB1375AD2}" srcOrd="0" destOrd="0" presId="urn:microsoft.com/office/officeart/2005/8/layout/radial5"/>
    <dgm:cxn modelId="{1AA6ECD1-6380-471B-8DC6-8E0CA2A7B7C2}" type="presOf" srcId="{300DBCFD-EA43-4A27-8177-C3AACAD7B6C7}" destId="{89689F26-B296-43CE-AADB-A96B0F5725BA}" srcOrd="1" destOrd="0" presId="urn:microsoft.com/office/officeart/2005/8/layout/radial5"/>
    <dgm:cxn modelId="{9092D5D3-E9CF-4AA6-A77E-C4E29FF054A2}" type="presOf" srcId="{3E0B91FD-6CCD-4B10-B1EF-1C3F2454C760}" destId="{CEB6FDA5-EC93-45F5-92A1-0169CC16F69C}" srcOrd="0" destOrd="0" presId="urn:microsoft.com/office/officeart/2005/8/layout/radial5"/>
    <dgm:cxn modelId="{4DE273ED-AFEA-4ADD-BAC5-1F262B40C3E9}" type="presOf" srcId="{A252D901-9732-4277-9B4F-82103B60D4CC}" destId="{485CC680-79D1-43AB-B6AB-7018E75191BF}" srcOrd="1" destOrd="0" presId="urn:microsoft.com/office/officeart/2005/8/layout/radial5"/>
    <dgm:cxn modelId="{B50CD8F7-A2FD-4A9C-9217-B7440594D1B6}" type="presOf" srcId="{EE18E2F7-0A41-4293-B7AC-490B2910E8C9}" destId="{6F102FD7-E54A-4AB7-A60C-5BC4046DF947}" srcOrd="0" destOrd="0" presId="urn:microsoft.com/office/officeart/2005/8/layout/radial5"/>
    <dgm:cxn modelId="{C11B21FD-18B1-4DD6-955F-D8ECC8AD701A}" type="presOf" srcId="{DE1D1CC7-7458-431F-A3E4-11325371F895}" destId="{B770323A-B26C-4172-8A75-6AFAD4A50959}" srcOrd="0" destOrd="0" presId="urn:microsoft.com/office/officeart/2005/8/layout/radial5"/>
    <dgm:cxn modelId="{46D215FF-04B5-4580-940A-3A1B21CEBD25}" type="presOf" srcId="{DD6FAC6D-34C2-46FF-9F5E-34DC2E75247D}" destId="{85154903-BD48-4BF9-A0DB-11FAB6D7BA55}" srcOrd="0" destOrd="0" presId="urn:microsoft.com/office/officeart/2005/8/layout/radial5"/>
    <dgm:cxn modelId="{FC056B07-86F1-45D9-9814-5E42EE0EBE20}" type="presParOf" srcId="{CEB6FDA5-EC93-45F5-92A1-0169CC16F69C}" destId="{6FF50CBC-FD31-4E64-802D-9A0AB1375AD2}" srcOrd="0" destOrd="0" presId="urn:microsoft.com/office/officeart/2005/8/layout/radial5"/>
    <dgm:cxn modelId="{FE2A6066-BC54-477E-8DD1-E30333756E51}" type="presParOf" srcId="{CEB6FDA5-EC93-45F5-92A1-0169CC16F69C}" destId="{CE5217C4-7251-43B5-89D3-CFDAEFF705F6}" srcOrd="1" destOrd="0" presId="urn:microsoft.com/office/officeart/2005/8/layout/radial5"/>
    <dgm:cxn modelId="{890397BD-7D68-48CC-BE9E-3AD968238E1C}" type="presParOf" srcId="{CE5217C4-7251-43B5-89D3-CFDAEFF705F6}" destId="{E8E8B5DC-53CA-41A5-97C8-4899F4551230}" srcOrd="0" destOrd="0" presId="urn:microsoft.com/office/officeart/2005/8/layout/radial5"/>
    <dgm:cxn modelId="{6435A6E2-79B0-40A6-9FF5-A3AC5D1B6BE7}" type="presParOf" srcId="{CEB6FDA5-EC93-45F5-92A1-0169CC16F69C}" destId="{85154903-BD48-4BF9-A0DB-11FAB6D7BA55}" srcOrd="2" destOrd="0" presId="urn:microsoft.com/office/officeart/2005/8/layout/radial5"/>
    <dgm:cxn modelId="{8A6792A6-A2FA-4B48-86E4-A44A3E31332E}" type="presParOf" srcId="{CEB6FDA5-EC93-45F5-92A1-0169CC16F69C}" destId="{259D0347-2992-4E1D-B121-45D1C8F101FF}" srcOrd="3" destOrd="0" presId="urn:microsoft.com/office/officeart/2005/8/layout/radial5"/>
    <dgm:cxn modelId="{E1133C9C-4795-4434-944A-5E22B026BA90}" type="presParOf" srcId="{259D0347-2992-4E1D-B121-45D1C8F101FF}" destId="{45B62B31-7E73-48C2-91E1-A1FE0194A7FC}" srcOrd="0" destOrd="0" presId="urn:microsoft.com/office/officeart/2005/8/layout/radial5"/>
    <dgm:cxn modelId="{FB0D3833-096D-4E6E-A993-D4A88D78C406}" type="presParOf" srcId="{CEB6FDA5-EC93-45F5-92A1-0169CC16F69C}" destId="{B770323A-B26C-4172-8A75-6AFAD4A50959}" srcOrd="4" destOrd="0" presId="urn:microsoft.com/office/officeart/2005/8/layout/radial5"/>
    <dgm:cxn modelId="{F953A939-EC54-4F20-BFBB-39108F01A354}" type="presParOf" srcId="{CEB6FDA5-EC93-45F5-92A1-0169CC16F69C}" destId="{49CF7705-7DB9-46A6-9381-2A4B8295DB27}" srcOrd="5" destOrd="0" presId="urn:microsoft.com/office/officeart/2005/8/layout/radial5"/>
    <dgm:cxn modelId="{B80A3734-074F-417B-9743-7080086610B3}" type="presParOf" srcId="{49CF7705-7DB9-46A6-9381-2A4B8295DB27}" destId="{4BFBE9F7-1D27-42AD-919A-A736FC0EAC80}" srcOrd="0" destOrd="0" presId="urn:microsoft.com/office/officeart/2005/8/layout/radial5"/>
    <dgm:cxn modelId="{C602EFC2-9159-4A62-A531-6A859259F114}" type="presParOf" srcId="{CEB6FDA5-EC93-45F5-92A1-0169CC16F69C}" destId="{6F102FD7-E54A-4AB7-A60C-5BC4046DF947}" srcOrd="6" destOrd="0" presId="urn:microsoft.com/office/officeart/2005/8/layout/radial5"/>
    <dgm:cxn modelId="{DCD12917-EB47-40C8-991C-2B63745B7586}" type="presParOf" srcId="{CEB6FDA5-EC93-45F5-92A1-0169CC16F69C}" destId="{25B350F5-0C9E-48EB-B6A0-0E20A0708344}" srcOrd="7" destOrd="0" presId="urn:microsoft.com/office/officeart/2005/8/layout/radial5"/>
    <dgm:cxn modelId="{2312EBBC-CCD6-4C39-9FA1-2A6BB2119152}" type="presParOf" srcId="{25B350F5-0C9E-48EB-B6A0-0E20A0708344}" destId="{89689F26-B296-43CE-AADB-A96B0F5725BA}" srcOrd="0" destOrd="0" presId="urn:microsoft.com/office/officeart/2005/8/layout/radial5"/>
    <dgm:cxn modelId="{831A1A0A-27EE-4D9C-BF30-72740987F092}" type="presParOf" srcId="{CEB6FDA5-EC93-45F5-92A1-0169CC16F69C}" destId="{2781152C-DDF9-466C-9D2E-9BE25DA4027F}" srcOrd="8" destOrd="0" presId="urn:microsoft.com/office/officeart/2005/8/layout/radial5"/>
    <dgm:cxn modelId="{FB2DCB4A-A45D-40FF-9415-BDB1CDE3CADA}" type="presParOf" srcId="{CEB6FDA5-EC93-45F5-92A1-0169CC16F69C}" destId="{0F913B10-9A6B-4EC0-BABC-701999E19CEE}" srcOrd="9" destOrd="0" presId="urn:microsoft.com/office/officeart/2005/8/layout/radial5"/>
    <dgm:cxn modelId="{085966F7-D1F7-419F-B008-668DB906D90D}" type="presParOf" srcId="{0F913B10-9A6B-4EC0-BABC-701999E19CEE}" destId="{485CC680-79D1-43AB-B6AB-7018E75191BF}" srcOrd="0" destOrd="0" presId="urn:microsoft.com/office/officeart/2005/8/layout/radial5"/>
    <dgm:cxn modelId="{4E9BE7EA-70B3-4BF2-946A-4275D9AF444E}" type="presParOf" srcId="{CEB6FDA5-EC93-45F5-92A1-0169CC16F69C}" destId="{BC73A6A5-A5B5-4709-85B0-EE53DAF0D66F}" srcOrd="10"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50CBC-FD31-4E64-802D-9A0AB1375AD2}">
      <dsp:nvSpPr>
        <dsp:cNvPr id="0" name=""/>
        <dsp:cNvSpPr/>
      </dsp:nvSpPr>
      <dsp:spPr>
        <a:xfrm>
          <a:off x="3830288" y="1615106"/>
          <a:ext cx="1150914" cy="115091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ELEMENTS OF TAX COMPLIANCE</a:t>
          </a:r>
        </a:p>
      </dsp:txBody>
      <dsp:txXfrm>
        <a:off x="3998835" y="1783653"/>
        <a:ext cx="813820" cy="813820"/>
      </dsp:txXfrm>
    </dsp:sp>
    <dsp:sp modelId="{CE5217C4-7251-43B5-89D3-CFDAEFF705F6}">
      <dsp:nvSpPr>
        <dsp:cNvPr id="0" name=""/>
        <dsp:cNvSpPr/>
      </dsp:nvSpPr>
      <dsp:spPr>
        <a:xfrm rot="16200000">
          <a:off x="4283522" y="1195759"/>
          <a:ext cx="244446" cy="3913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320189" y="1310688"/>
        <a:ext cx="171112" cy="234787"/>
      </dsp:txXfrm>
    </dsp:sp>
    <dsp:sp modelId="{85154903-BD48-4BF9-A0DB-11FAB6D7BA55}">
      <dsp:nvSpPr>
        <dsp:cNvPr id="0" name=""/>
        <dsp:cNvSpPr/>
      </dsp:nvSpPr>
      <dsp:spPr>
        <a:xfrm>
          <a:off x="3830288" y="2971"/>
          <a:ext cx="1150914" cy="115091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REGISTRATION</a:t>
          </a:r>
        </a:p>
      </dsp:txBody>
      <dsp:txXfrm>
        <a:off x="3998835" y="171518"/>
        <a:ext cx="813820" cy="813820"/>
      </dsp:txXfrm>
    </dsp:sp>
    <dsp:sp modelId="{259D0347-2992-4E1D-B121-45D1C8F101FF}">
      <dsp:nvSpPr>
        <dsp:cNvPr id="0" name=""/>
        <dsp:cNvSpPr/>
      </dsp:nvSpPr>
      <dsp:spPr>
        <a:xfrm rot="20520000">
          <a:off x="5043558" y="1747957"/>
          <a:ext cx="244446" cy="3913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045353" y="1837550"/>
        <a:ext cx="171112" cy="234787"/>
      </dsp:txXfrm>
    </dsp:sp>
    <dsp:sp modelId="{B770323A-B26C-4172-8A75-6AFAD4A50959}">
      <dsp:nvSpPr>
        <dsp:cNvPr id="0" name=""/>
        <dsp:cNvSpPr/>
      </dsp:nvSpPr>
      <dsp:spPr>
        <a:xfrm>
          <a:off x="5363518" y="1116929"/>
          <a:ext cx="1150914" cy="115091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FILING TAX RETURNS</a:t>
          </a:r>
        </a:p>
      </dsp:txBody>
      <dsp:txXfrm>
        <a:off x="5532065" y="1285476"/>
        <a:ext cx="813820" cy="813820"/>
      </dsp:txXfrm>
    </dsp:sp>
    <dsp:sp modelId="{49CF7705-7DB9-46A6-9381-2A4B8295DB27}">
      <dsp:nvSpPr>
        <dsp:cNvPr id="0" name=""/>
        <dsp:cNvSpPr/>
      </dsp:nvSpPr>
      <dsp:spPr>
        <a:xfrm rot="3240000">
          <a:off x="4753250" y="2641433"/>
          <a:ext cx="244446" cy="3913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768365" y="2690031"/>
        <a:ext cx="171112" cy="234787"/>
      </dsp:txXfrm>
    </dsp:sp>
    <dsp:sp modelId="{6F102FD7-E54A-4AB7-A60C-5BC4046DF947}">
      <dsp:nvSpPr>
        <dsp:cNvPr id="0" name=""/>
        <dsp:cNvSpPr/>
      </dsp:nvSpPr>
      <dsp:spPr>
        <a:xfrm>
          <a:off x="4777876" y="2919350"/>
          <a:ext cx="1150914" cy="115091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DECLARATION</a:t>
          </a:r>
        </a:p>
      </dsp:txBody>
      <dsp:txXfrm>
        <a:off x="4946423" y="3087897"/>
        <a:ext cx="813820" cy="813820"/>
      </dsp:txXfrm>
    </dsp:sp>
    <dsp:sp modelId="{25B350F5-0C9E-48EB-B6A0-0E20A0708344}">
      <dsp:nvSpPr>
        <dsp:cNvPr id="0" name=""/>
        <dsp:cNvSpPr/>
      </dsp:nvSpPr>
      <dsp:spPr>
        <a:xfrm rot="7560000">
          <a:off x="3813794" y="2641433"/>
          <a:ext cx="244446" cy="3913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3872013" y="2690031"/>
        <a:ext cx="171112" cy="234787"/>
      </dsp:txXfrm>
    </dsp:sp>
    <dsp:sp modelId="{2781152C-DDF9-466C-9D2E-9BE25DA4027F}">
      <dsp:nvSpPr>
        <dsp:cNvPr id="0" name=""/>
        <dsp:cNvSpPr/>
      </dsp:nvSpPr>
      <dsp:spPr>
        <a:xfrm>
          <a:off x="2882699" y="2919350"/>
          <a:ext cx="1150914" cy="115091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PAYMENTS </a:t>
          </a:r>
        </a:p>
      </dsp:txBody>
      <dsp:txXfrm>
        <a:off x="3051246" y="3087897"/>
        <a:ext cx="813820" cy="813820"/>
      </dsp:txXfrm>
    </dsp:sp>
    <dsp:sp modelId="{0F913B10-9A6B-4EC0-BABC-701999E19CEE}">
      <dsp:nvSpPr>
        <dsp:cNvPr id="0" name=""/>
        <dsp:cNvSpPr/>
      </dsp:nvSpPr>
      <dsp:spPr>
        <a:xfrm rot="11880000">
          <a:off x="3523486" y="1747957"/>
          <a:ext cx="244446" cy="3913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3595025" y="1837550"/>
        <a:ext cx="171112" cy="234787"/>
      </dsp:txXfrm>
    </dsp:sp>
    <dsp:sp modelId="{BC73A6A5-A5B5-4709-85B0-EE53DAF0D66F}">
      <dsp:nvSpPr>
        <dsp:cNvPr id="0" name=""/>
        <dsp:cNvSpPr/>
      </dsp:nvSpPr>
      <dsp:spPr>
        <a:xfrm>
          <a:off x="2297057" y="1116929"/>
          <a:ext cx="1150914" cy="115091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RECORD KEEPING</a:t>
          </a:r>
        </a:p>
      </dsp:txBody>
      <dsp:txXfrm>
        <a:off x="2465604" y="1285476"/>
        <a:ext cx="813820" cy="81382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9165F2-7369-490E-B150-AA501075DF7A}" type="datetimeFigureOut">
              <a:rPr lang="en-US" smtClean="0"/>
              <a:t>05-Jan-24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FEA557E6-4D2C-4315-A13F-E52617D47D1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4602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9165F2-7369-490E-B150-AA501075DF7A}" type="datetimeFigureOut">
              <a:rPr lang="en-US" smtClean="0"/>
              <a:t>05-Jan-24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557E6-4D2C-4315-A13F-E52617D47D1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2119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9165F2-7369-490E-B150-AA501075DF7A}" type="datetimeFigureOut">
              <a:rPr lang="en-US" smtClean="0"/>
              <a:t>05-Jan-24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557E6-4D2C-4315-A13F-E52617D47D1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8203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9165F2-7369-490E-B150-AA501075DF7A}" type="datetimeFigureOut">
              <a:rPr lang="en-US" smtClean="0"/>
              <a:t>05-Jan-24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A557E6-4D2C-4315-A13F-E52617D47D1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8003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9165F2-7369-490E-B150-AA501075DF7A}" type="datetimeFigureOut">
              <a:rPr lang="en-US" smtClean="0"/>
              <a:t>05-Jan-24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A557E6-4D2C-4315-A13F-E52617D47D1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7485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9165F2-7369-490E-B150-AA501075DF7A}" type="datetimeFigureOut">
              <a:rPr lang="en-US" smtClean="0"/>
              <a:t>05-Jan-24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A557E6-4D2C-4315-A13F-E52617D47D1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5125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9165F2-7369-490E-B150-AA501075DF7A}" type="datetimeFigureOut">
              <a:rPr lang="en-US" smtClean="0"/>
              <a:t>05-Jan-24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A557E6-4D2C-4315-A13F-E52617D47D11}" type="slidenum">
              <a:rPr lang="en-US" smtClean="0"/>
              <a:t>‹#›</a:t>
            </a:fld>
            <a:endParaRPr lang="en-US"/>
          </a:p>
        </p:txBody>
      </p:sp>
    </p:spTree>
    <p:extLst>
      <p:ext uri="{BB962C8B-B14F-4D97-AF65-F5344CB8AC3E}">
        <p14:creationId xmlns:p14="http://schemas.microsoft.com/office/powerpoint/2010/main" val="464742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9165F2-7369-490E-B150-AA501075DF7A}" type="datetimeFigureOut">
              <a:rPr lang="en-US" smtClean="0"/>
              <a:t>05-Jan-24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A557E6-4D2C-4315-A13F-E52617D47D1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868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B9165F2-7369-490E-B150-AA501075DF7A}" type="datetimeFigureOut">
              <a:rPr lang="en-US" smtClean="0"/>
              <a:t>05-Jan-24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FEA557E6-4D2C-4315-A13F-E52617D47D1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0593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9165F2-7369-490E-B150-AA501075DF7A}" type="datetimeFigureOut">
              <a:rPr lang="en-US" smtClean="0"/>
              <a:t>05-Jan-24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557E6-4D2C-4315-A13F-E52617D47D1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08596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9165F2-7369-490E-B150-AA501075DF7A}" type="datetimeFigureOut">
              <a:rPr lang="en-US" smtClean="0"/>
              <a:t>05-Jan-24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A557E6-4D2C-4315-A13F-E52617D47D1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4824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9165F2-7369-490E-B150-AA501075DF7A}" type="datetimeFigureOut">
              <a:rPr lang="en-US" smtClean="0"/>
              <a:t>05-Jan-24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EA557E6-4D2C-4315-A13F-E52617D47D1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277076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3B271-FD62-072F-392D-2B79DC101A89}"/>
              </a:ext>
            </a:extLst>
          </p:cNvPr>
          <p:cNvSpPr>
            <a:spLocks noGrp="1"/>
          </p:cNvSpPr>
          <p:nvPr>
            <p:ph type="ctrTitle"/>
          </p:nvPr>
        </p:nvSpPr>
        <p:spPr>
          <a:xfrm>
            <a:off x="3337336" y="1009654"/>
            <a:ext cx="6220322" cy="947057"/>
          </a:xfrm>
        </p:spPr>
        <p:txBody>
          <a:bodyPr>
            <a:normAutofit fontScale="90000"/>
          </a:bodyPr>
          <a:lstStyle/>
          <a:p>
            <a:r>
              <a:rPr lang="en-US" dirty="0"/>
              <a:t>TAX COMPLIANCE</a:t>
            </a:r>
          </a:p>
        </p:txBody>
      </p:sp>
      <p:sp>
        <p:nvSpPr>
          <p:cNvPr id="3" name="Subtitle 2">
            <a:extLst>
              <a:ext uri="{FF2B5EF4-FFF2-40B4-BE49-F238E27FC236}">
                <a16:creationId xmlns:a16="http://schemas.microsoft.com/office/drawing/2014/main" id="{BBC8FAF5-06B3-1D57-6A8A-08D1B782E107}"/>
              </a:ext>
            </a:extLst>
          </p:cNvPr>
          <p:cNvSpPr>
            <a:spLocks noGrp="1"/>
          </p:cNvSpPr>
          <p:nvPr>
            <p:ph type="subTitle" idx="1"/>
          </p:nvPr>
        </p:nvSpPr>
        <p:spPr/>
        <p:txBody>
          <a:bodyPr/>
          <a:lstStyle/>
          <a:p>
            <a:r>
              <a:rPr lang="en-US"/>
              <a:t>TAX COMPLIANCE</a:t>
            </a:r>
          </a:p>
        </p:txBody>
      </p:sp>
    </p:spTree>
    <p:extLst>
      <p:ext uri="{BB962C8B-B14F-4D97-AF65-F5344CB8AC3E}">
        <p14:creationId xmlns:p14="http://schemas.microsoft.com/office/powerpoint/2010/main" val="2597596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508A7-35EC-D8BF-2D82-0E9FA2EEE376}"/>
              </a:ext>
            </a:extLst>
          </p:cNvPr>
          <p:cNvSpPr>
            <a:spLocks noGrp="1"/>
          </p:cNvSpPr>
          <p:nvPr>
            <p:ph type="title"/>
          </p:nvPr>
        </p:nvSpPr>
        <p:spPr>
          <a:xfrm>
            <a:off x="1451580" y="124692"/>
            <a:ext cx="9603275" cy="928254"/>
          </a:xfrm>
        </p:spPr>
        <p:txBody>
          <a:bodyPr>
            <a:normAutofit fontScale="90000"/>
          </a:bodyPr>
          <a:lstStyle/>
          <a:p>
            <a:r>
              <a:rPr lang="en-US" dirty="0"/>
              <a:t>LEARNING OUT COMES</a:t>
            </a:r>
            <a:br>
              <a:rPr lang="en-US" dirty="0"/>
            </a:br>
            <a:r>
              <a:rPr lang="en-US" dirty="0"/>
              <a:t>THE LEARNERS SHOULD BE ABLE TO;</a:t>
            </a:r>
          </a:p>
        </p:txBody>
      </p:sp>
      <p:sp>
        <p:nvSpPr>
          <p:cNvPr id="3" name="Content Placeholder 2">
            <a:extLst>
              <a:ext uri="{FF2B5EF4-FFF2-40B4-BE49-F238E27FC236}">
                <a16:creationId xmlns:a16="http://schemas.microsoft.com/office/drawing/2014/main" id="{84817B0A-03ED-4E32-41BF-73E074383672}"/>
              </a:ext>
            </a:extLst>
          </p:cNvPr>
          <p:cNvSpPr>
            <a:spLocks noGrp="1"/>
          </p:cNvSpPr>
          <p:nvPr>
            <p:ph idx="1"/>
          </p:nvPr>
        </p:nvSpPr>
        <p:spPr>
          <a:xfrm>
            <a:off x="1451580" y="1814946"/>
            <a:ext cx="9603275" cy="4239491"/>
          </a:xfrm>
        </p:spPr>
        <p:txBody>
          <a:bodyPr>
            <a:normAutofit/>
          </a:bodyPr>
          <a:lstStyle/>
          <a:p>
            <a:pPr marL="514350" indent="-514350">
              <a:buFont typeface="+mj-lt"/>
              <a:buAutoNum type="romanUcPeriod"/>
            </a:pPr>
            <a:r>
              <a:rPr lang="en-US" sz="3600" dirty="0"/>
              <a:t>Define tax compliance</a:t>
            </a:r>
          </a:p>
          <a:p>
            <a:pPr marL="514350" indent="-514350">
              <a:buFont typeface="+mj-lt"/>
              <a:buAutoNum type="romanUcPeriod"/>
            </a:pPr>
            <a:r>
              <a:rPr lang="en-US" sz="3600" dirty="0"/>
              <a:t>Explain the factors affecting tax compliance</a:t>
            </a:r>
          </a:p>
          <a:p>
            <a:pPr marL="514350" indent="-514350">
              <a:buFont typeface="+mj-lt"/>
              <a:buAutoNum type="romanUcPeriod"/>
            </a:pPr>
            <a:r>
              <a:rPr lang="en-US" sz="3600" dirty="0"/>
              <a:t>Demonstrate the elements of tax compliance</a:t>
            </a:r>
          </a:p>
          <a:p>
            <a:pPr marL="514350" indent="-514350">
              <a:buFont typeface="+mj-lt"/>
              <a:buAutoNum type="romanUcPeriod"/>
            </a:pPr>
            <a:r>
              <a:rPr lang="en-US" sz="3600" dirty="0"/>
              <a:t>Explain the advantages of tax compliance </a:t>
            </a:r>
          </a:p>
          <a:p>
            <a:pPr marL="514350" indent="-514350">
              <a:buFont typeface="+mj-lt"/>
              <a:buAutoNum type="romanUcPeriod"/>
            </a:pPr>
            <a:r>
              <a:rPr lang="en-US" sz="3600" dirty="0"/>
              <a:t>Suggest ways of improving tax compliance</a:t>
            </a:r>
          </a:p>
        </p:txBody>
      </p:sp>
    </p:spTree>
    <p:extLst>
      <p:ext uri="{BB962C8B-B14F-4D97-AF65-F5344CB8AC3E}">
        <p14:creationId xmlns:p14="http://schemas.microsoft.com/office/powerpoint/2010/main" val="3127979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A72AD-375F-C273-DA2A-7CCD7E6337EA}"/>
              </a:ext>
            </a:extLst>
          </p:cNvPr>
          <p:cNvSpPr>
            <a:spLocks noGrp="1"/>
          </p:cNvSpPr>
          <p:nvPr>
            <p:ph type="title"/>
          </p:nvPr>
        </p:nvSpPr>
        <p:spPr>
          <a:xfrm>
            <a:off x="1399309" y="110838"/>
            <a:ext cx="8415832" cy="568037"/>
          </a:xfrm>
        </p:spPr>
        <p:txBody>
          <a:bodyPr>
            <a:normAutofit/>
          </a:bodyPr>
          <a:lstStyle/>
          <a:p>
            <a:r>
              <a:rPr lang="en-US" dirty="0"/>
              <a:t>TAX COMPLIANCE </a:t>
            </a:r>
          </a:p>
        </p:txBody>
      </p:sp>
      <p:sp>
        <p:nvSpPr>
          <p:cNvPr id="3" name="Content Placeholder 2">
            <a:extLst>
              <a:ext uri="{FF2B5EF4-FFF2-40B4-BE49-F238E27FC236}">
                <a16:creationId xmlns:a16="http://schemas.microsoft.com/office/drawing/2014/main" id="{36092043-F5F7-FBC2-2D49-16BC1511C73D}"/>
              </a:ext>
            </a:extLst>
          </p:cNvPr>
          <p:cNvSpPr>
            <a:spLocks noGrp="1"/>
          </p:cNvSpPr>
          <p:nvPr>
            <p:ph idx="1"/>
          </p:nvPr>
        </p:nvSpPr>
        <p:spPr>
          <a:xfrm>
            <a:off x="554182" y="1373830"/>
            <a:ext cx="11028218" cy="4597481"/>
          </a:xfrm>
        </p:spPr>
        <p:txBody>
          <a:bodyPr>
            <a:normAutofit fontScale="92500" lnSpcReduction="20000"/>
          </a:bodyPr>
          <a:lstStyle/>
          <a:p>
            <a:r>
              <a:rPr lang="en-US" sz="3500" dirty="0"/>
              <a:t>Is the degree to which the tax payers meet their tax obligation as set out in the appropriate regulatory provisions</a:t>
            </a:r>
          </a:p>
          <a:p>
            <a:r>
              <a:rPr lang="en-US" sz="3500" dirty="0"/>
              <a:t>Tax payers are considered to be tax compliant when they make timely, proper and accurate declarations to the tax authority and also settle their tax liabilities voluntarily. So tax compliance can be assessed basing on</a:t>
            </a:r>
          </a:p>
          <a:p>
            <a:pPr>
              <a:buFont typeface="Wingdings" panose="05000000000000000000" pitchFamily="2" charset="2"/>
              <a:buChar char="Ø"/>
            </a:pPr>
            <a:r>
              <a:rPr lang="en-US" sz="3500" dirty="0"/>
              <a:t>Declaration of the tax base; do the tax payers make proper and accurate declaration to the tax authorities?</a:t>
            </a:r>
          </a:p>
          <a:p>
            <a:pPr>
              <a:buFont typeface="Wingdings" panose="05000000000000000000" pitchFamily="2" charset="2"/>
              <a:buChar char="Ø"/>
            </a:pPr>
            <a:endParaRPr lang="en-US" sz="2400" dirty="0"/>
          </a:p>
        </p:txBody>
      </p:sp>
    </p:spTree>
    <p:extLst>
      <p:ext uri="{BB962C8B-B14F-4D97-AF65-F5344CB8AC3E}">
        <p14:creationId xmlns:p14="http://schemas.microsoft.com/office/powerpoint/2010/main" val="2253225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EF25-CB0F-E0AF-4566-C22DC21F5CA8}"/>
              </a:ext>
            </a:extLst>
          </p:cNvPr>
          <p:cNvSpPr>
            <a:spLocks noGrp="1"/>
          </p:cNvSpPr>
          <p:nvPr>
            <p:ph type="title"/>
          </p:nvPr>
        </p:nvSpPr>
        <p:spPr>
          <a:xfrm>
            <a:off x="2612685" y="928503"/>
            <a:ext cx="7202456" cy="391886"/>
          </a:xfrm>
        </p:spPr>
        <p:txBody>
          <a:bodyPr>
            <a:normAutofit fontScale="90000"/>
          </a:bodyPr>
          <a:lstStyle/>
          <a:p>
            <a:r>
              <a:rPr lang="en-US" dirty="0"/>
              <a:t>Tax compliance is based on</a:t>
            </a:r>
          </a:p>
        </p:txBody>
      </p:sp>
      <p:sp>
        <p:nvSpPr>
          <p:cNvPr id="3" name="Content Placeholder 2">
            <a:extLst>
              <a:ext uri="{FF2B5EF4-FFF2-40B4-BE49-F238E27FC236}">
                <a16:creationId xmlns:a16="http://schemas.microsoft.com/office/drawing/2014/main" id="{D54C7710-9047-C3DA-5CB8-7B91B3AC8660}"/>
              </a:ext>
            </a:extLst>
          </p:cNvPr>
          <p:cNvSpPr>
            <a:spLocks noGrp="1"/>
          </p:cNvSpPr>
          <p:nvPr>
            <p:ph idx="1"/>
          </p:nvPr>
        </p:nvSpPr>
        <p:spPr>
          <a:xfrm>
            <a:off x="1357746" y="1773383"/>
            <a:ext cx="9767454" cy="4405744"/>
          </a:xfrm>
        </p:spPr>
        <p:txBody>
          <a:bodyPr>
            <a:noAutofit/>
          </a:bodyPr>
          <a:lstStyle/>
          <a:p>
            <a:pPr>
              <a:buFont typeface="Wingdings" panose="05000000000000000000" pitchFamily="2" charset="2"/>
              <a:buChar char="Ø"/>
            </a:pPr>
            <a:r>
              <a:rPr lang="en-US" sz="3200" dirty="0"/>
              <a:t>Declaration of the tax base; do the tax payers make proper, and accurate declarations to the tax authorities?</a:t>
            </a:r>
          </a:p>
          <a:p>
            <a:pPr>
              <a:buFont typeface="Wingdings" panose="05000000000000000000" pitchFamily="2" charset="2"/>
              <a:buChar char="Ø"/>
            </a:pPr>
            <a:r>
              <a:rPr lang="en-US" sz="3200" dirty="0"/>
              <a:t>How the taxes are paid , are they paid voluntarily or not/coerced</a:t>
            </a:r>
          </a:p>
          <a:p>
            <a:pPr>
              <a:buFont typeface="Wingdings" panose="05000000000000000000" pitchFamily="2" charset="2"/>
              <a:buChar char="Ø"/>
            </a:pPr>
            <a:r>
              <a:rPr lang="en-US" sz="3200" dirty="0"/>
              <a:t>The time when tax is paid ( As expected , earlier or later than expected)</a:t>
            </a:r>
          </a:p>
        </p:txBody>
      </p:sp>
    </p:spTree>
    <p:extLst>
      <p:ext uri="{BB962C8B-B14F-4D97-AF65-F5344CB8AC3E}">
        <p14:creationId xmlns:p14="http://schemas.microsoft.com/office/powerpoint/2010/main" val="160330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4EA9C-55E6-2F1B-C63E-CC24CA63B3B3}"/>
              </a:ext>
            </a:extLst>
          </p:cNvPr>
          <p:cNvSpPr>
            <a:spLocks noGrp="1"/>
          </p:cNvSpPr>
          <p:nvPr>
            <p:ph type="title"/>
          </p:nvPr>
        </p:nvSpPr>
        <p:spPr>
          <a:xfrm>
            <a:off x="762001" y="275772"/>
            <a:ext cx="10238509" cy="652484"/>
          </a:xfrm>
        </p:spPr>
        <p:txBody>
          <a:bodyPr>
            <a:normAutofit/>
          </a:bodyPr>
          <a:lstStyle/>
          <a:p>
            <a:r>
              <a:rPr lang="en-US" dirty="0"/>
              <a:t>FACTORS INFLUENCING TAX COMPLIANCE</a:t>
            </a:r>
          </a:p>
        </p:txBody>
      </p:sp>
      <p:sp>
        <p:nvSpPr>
          <p:cNvPr id="3" name="Content Placeholder 2">
            <a:extLst>
              <a:ext uri="{FF2B5EF4-FFF2-40B4-BE49-F238E27FC236}">
                <a16:creationId xmlns:a16="http://schemas.microsoft.com/office/drawing/2014/main" id="{CD4D2DF1-DFA4-333A-D243-F0F54F1C1F34}"/>
              </a:ext>
            </a:extLst>
          </p:cNvPr>
          <p:cNvSpPr>
            <a:spLocks noGrp="1"/>
          </p:cNvSpPr>
          <p:nvPr>
            <p:ph idx="1"/>
          </p:nvPr>
        </p:nvSpPr>
        <p:spPr>
          <a:xfrm>
            <a:off x="332510" y="928258"/>
            <a:ext cx="11499273" cy="5140035"/>
          </a:xfrm>
        </p:spPr>
        <p:txBody>
          <a:bodyPr>
            <a:noAutofit/>
          </a:bodyPr>
          <a:lstStyle/>
          <a:p>
            <a:pPr>
              <a:buFont typeface="Wingdings" panose="05000000000000000000" pitchFamily="2" charset="2"/>
              <a:buChar char="Ø"/>
            </a:pPr>
            <a:r>
              <a:rPr lang="en-US" sz="2800" dirty="0"/>
              <a:t>Simple tax laws that are easy to be understand by the tax payers lead to more tax compliance than the laws that are complicated </a:t>
            </a:r>
          </a:p>
          <a:p>
            <a:pPr>
              <a:buFont typeface="Wingdings" panose="05000000000000000000" pitchFamily="2" charset="2"/>
              <a:buChar char="Ø"/>
            </a:pPr>
            <a:r>
              <a:rPr lang="en-US" sz="2800" dirty="0"/>
              <a:t>Simple procedures of paying taxes increase tax compliance </a:t>
            </a:r>
            <a:r>
              <a:rPr lang="en-US" sz="2800" dirty="0" err="1"/>
              <a:t>e.g</a:t>
            </a:r>
            <a:r>
              <a:rPr lang="en-US" sz="2800" dirty="0"/>
              <a:t> e-payment while complicated procedures discourage tax compliance</a:t>
            </a:r>
          </a:p>
          <a:p>
            <a:pPr>
              <a:buFont typeface="Wingdings" panose="05000000000000000000" pitchFamily="2" charset="2"/>
              <a:buChar char="Ø"/>
            </a:pPr>
            <a:r>
              <a:rPr lang="en-US" sz="2800" dirty="0"/>
              <a:t>The tax rates , low tax rates encourage tax compliance than high tax rates </a:t>
            </a:r>
          </a:p>
          <a:p>
            <a:pPr>
              <a:buFont typeface="Wingdings" panose="05000000000000000000" pitchFamily="2" charset="2"/>
              <a:buChar char="Ø"/>
            </a:pPr>
            <a:r>
              <a:rPr lang="en-US" sz="2800" dirty="0"/>
              <a:t>Fair taxes encourage tax compliance than those that are un fair </a:t>
            </a:r>
          </a:p>
          <a:p>
            <a:pPr>
              <a:buFont typeface="Wingdings" panose="05000000000000000000" pitchFamily="2" charset="2"/>
              <a:buChar char="Ø"/>
            </a:pPr>
            <a:r>
              <a:rPr lang="en-US" sz="2800" dirty="0"/>
              <a:t>The quality of tax administration . Tax administrators who have professionalism , integrity and customer care promote tax compliance among tax payers</a:t>
            </a:r>
          </a:p>
        </p:txBody>
      </p:sp>
    </p:spTree>
    <p:extLst>
      <p:ext uri="{BB962C8B-B14F-4D97-AF65-F5344CB8AC3E}">
        <p14:creationId xmlns:p14="http://schemas.microsoft.com/office/powerpoint/2010/main" val="590862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0916-8B89-E5FA-79FD-E7B105B8B19C}"/>
              </a:ext>
            </a:extLst>
          </p:cNvPr>
          <p:cNvSpPr>
            <a:spLocks noGrp="1"/>
          </p:cNvSpPr>
          <p:nvPr>
            <p:ph type="title"/>
          </p:nvPr>
        </p:nvSpPr>
        <p:spPr>
          <a:xfrm flipV="1">
            <a:off x="2612685" y="207820"/>
            <a:ext cx="7202456" cy="124691"/>
          </a:xfrm>
        </p:spPr>
        <p:txBody>
          <a:bodyPr>
            <a:normAutofit fontScale="90000"/>
          </a:bodyPr>
          <a:lstStyle/>
          <a:p>
            <a:r>
              <a:rPr lang="en-US" dirty="0"/>
              <a:t>c</a:t>
            </a:r>
          </a:p>
        </p:txBody>
      </p:sp>
      <p:sp>
        <p:nvSpPr>
          <p:cNvPr id="3" name="Content Placeholder 2">
            <a:extLst>
              <a:ext uri="{FF2B5EF4-FFF2-40B4-BE49-F238E27FC236}">
                <a16:creationId xmlns:a16="http://schemas.microsoft.com/office/drawing/2014/main" id="{717518CB-4293-9357-7CE9-84A351D9BC3A}"/>
              </a:ext>
            </a:extLst>
          </p:cNvPr>
          <p:cNvSpPr>
            <a:spLocks noGrp="1"/>
          </p:cNvSpPr>
          <p:nvPr>
            <p:ph idx="1"/>
          </p:nvPr>
        </p:nvSpPr>
        <p:spPr>
          <a:xfrm>
            <a:off x="332509" y="332509"/>
            <a:ext cx="11623964" cy="5702528"/>
          </a:xfrm>
        </p:spPr>
        <p:txBody>
          <a:bodyPr>
            <a:noAutofit/>
          </a:bodyPr>
          <a:lstStyle/>
          <a:p>
            <a:pPr>
              <a:buFont typeface="Wingdings" panose="05000000000000000000" pitchFamily="2" charset="2"/>
              <a:buChar char="Ø"/>
            </a:pPr>
            <a:r>
              <a:rPr lang="en-US" sz="2800" dirty="0"/>
              <a:t>The popularity of the government and quality of governance ; unpopular or corrupt government discourage tax compliance yet the one that is popular and not corrupt encourages </a:t>
            </a:r>
          </a:p>
          <a:p>
            <a:pPr>
              <a:buFont typeface="Wingdings" panose="05000000000000000000" pitchFamily="2" charset="2"/>
              <a:buChar char="Ø"/>
            </a:pPr>
            <a:r>
              <a:rPr lang="en-US" sz="2800" dirty="0"/>
              <a:t>The quality of business management . Tax payers who keep proper records are more tax compliant than those who do not keep records</a:t>
            </a:r>
          </a:p>
          <a:p>
            <a:pPr>
              <a:buFont typeface="Wingdings" panose="05000000000000000000" pitchFamily="2" charset="2"/>
              <a:buChar char="Ø"/>
            </a:pPr>
            <a:r>
              <a:rPr lang="en-US" sz="2800" dirty="0"/>
              <a:t>Financial positions of the tax payer. Individuals and firms with limited finance tend to low levels of tax compliance than those with adequate funds</a:t>
            </a:r>
          </a:p>
          <a:p>
            <a:pPr>
              <a:buFont typeface="Wingdings" panose="05000000000000000000" pitchFamily="2" charset="2"/>
              <a:buChar char="Ø"/>
            </a:pPr>
            <a:r>
              <a:rPr lang="en-US" sz="2800" dirty="0"/>
              <a:t>Levels of tax education, higher levels of tax education increases awareness and tax compliance whereas low levels of tax education leads to non-compliance</a:t>
            </a:r>
          </a:p>
        </p:txBody>
      </p:sp>
    </p:spTree>
    <p:extLst>
      <p:ext uri="{BB962C8B-B14F-4D97-AF65-F5344CB8AC3E}">
        <p14:creationId xmlns:p14="http://schemas.microsoft.com/office/powerpoint/2010/main" val="293008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21C83-10AE-9C55-94F9-347EE6B1BB8F}"/>
              </a:ext>
            </a:extLst>
          </p:cNvPr>
          <p:cNvSpPr>
            <a:spLocks noGrp="1"/>
          </p:cNvSpPr>
          <p:nvPr>
            <p:ph type="title"/>
          </p:nvPr>
        </p:nvSpPr>
        <p:spPr>
          <a:xfrm>
            <a:off x="1659085" y="2"/>
            <a:ext cx="8811491" cy="1730089"/>
          </a:xfrm>
        </p:spPr>
        <p:txBody>
          <a:bodyPr>
            <a:normAutofit/>
          </a:bodyPr>
          <a:lstStyle/>
          <a:p>
            <a:r>
              <a:rPr lang="en-US" dirty="0"/>
              <a:t>ELEMENTS OF TAX COMPLIANCE. IN GROUPS EXPLAIN THE FOLLOWING ELEMENTS OF TAX     COMPLIANCE</a:t>
            </a:r>
          </a:p>
        </p:txBody>
      </p:sp>
      <p:graphicFrame>
        <p:nvGraphicFramePr>
          <p:cNvPr id="4" name="Content Placeholder 3">
            <a:extLst>
              <a:ext uri="{FF2B5EF4-FFF2-40B4-BE49-F238E27FC236}">
                <a16:creationId xmlns:a16="http://schemas.microsoft.com/office/drawing/2014/main" id="{E25F3E6A-7228-2D53-BA33-19C164099DC7}"/>
              </a:ext>
            </a:extLst>
          </p:cNvPr>
          <p:cNvGraphicFramePr>
            <a:graphicFrameLocks noGrp="1"/>
          </p:cNvGraphicFramePr>
          <p:nvPr>
            <p:ph idx="1"/>
            <p:extLst>
              <p:ext uri="{D42A27DB-BD31-4B8C-83A1-F6EECF244321}">
                <p14:modId xmlns:p14="http://schemas.microsoft.com/office/powerpoint/2010/main" val="778839501"/>
              </p:ext>
            </p:extLst>
          </p:nvPr>
        </p:nvGraphicFramePr>
        <p:xfrm>
          <a:off x="1856512" y="1418362"/>
          <a:ext cx="8811491" cy="4073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6390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F807-60A4-8261-91D4-E108FE94BA43}"/>
              </a:ext>
            </a:extLst>
          </p:cNvPr>
          <p:cNvSpPr>
            <a:spLocks noGrp="1"/>
          </p:cNvSpPr>
          <p:nvPr>
            <p:ph type="title"/>
          </p:nvPr>
        </p:nvSpPr>
        <p:spPr/>
        <p:txBody>
          <a:bodyPr/>
          <a:lstStyle/>
          <a:p>
            <a:r>
              <a:rPr lang="en-US" dirty="0"/>
              <a:t>NON TAX COMPLIANT</a:t>
            </a:r>
          </a:p>
        </p:txBody>
      </p:sp>
      <p:sp>
        <p:nvSpPr>
          <p:cNvPr id="3" name="Content Placeholder 2">
            <a:extLst>
              <a:ext uri="{FF2B5EF4-FFF2-40B4-BE49-F238E27FC236}">
                <a16:creationId xmlns:a16="http://schemas.microsoft.com/office/drawing/2014/main" id="{CFF742C7-5F87-0CDC-112E-FD3929917075}"/>
              </a:ext>
            </a:extLst>
          </p:cNvPr>
          <p:cNvSpPr>
            <a:spLocks noGrp="1"/>
          </p:cNvSpPr>
          <p:nvPr>
            <p:ph idx="1"/>
          </p:nvPr>
        </p:nvSpPr>
        <p:spPr/>
        <p:txBody>
          <a:bodyPr>
            <a:normAutofit/>
          </a:bodyPr>
          <a:lstStyle/>
          <a:p>
            <a:r>
              <a:rPr lang="en-US" sz="3600" dirty="0"/>
              <a:t>When tax payers are not willing to declare their tax base to the tax authorities, do not want to pay voluntary or pay in time  we refer to them as NON-TAX COMPLIANT</a:t>
            </a:r>
          </a:p>
        </p:txBody>
      </p:sp>
    </p:spTree>
    <p:extLst>
      <p:ext uri="{BB962C8B-B14F-4D97-AF65-F5344CB8AC3E}">
        <p14:creationId xmlns:p14="http://schemas.microsoft.com/office/powerpoint/2010/main" val="766098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24B16-D44C-8DE8-8461-651D630A6C3E}"/>
              </a:ext>
            </a:extLst>
          </p:cNvPr>
          <p:cNvSpPr>
            <a:spLocks noGrp="1"/>
          </p:cNvSpPr>
          <p:nvPr>
            <p:ph type="title"/>
          </p:nvPr>
        </p:nvSpPr>
        <p:spPr/>
        <p:txBody>
          <a:bodyPr/>
          <a:lstStyle/>
          <a:p>
            <a:r>
              <a:rPr lang="en-US" dirty="0"/>
              <a:t>Indicators of non-tax compliance</a:t>
            </a:r>
          </a:p>
        </p:txBody>
      </p:sp>
      <p:sp>
        <p:nvSpPr>
          <p:cNvPr id="3" name="Content Placeholder 2">
            <a:extLst>
              <a:ext uri="{FF2B5EF4-FFF2-40B4-BE49-F238E27FC236}">
                <a16:creationId xmlns:a16="http://schemas.microsoft.com/office/drawing/2014/main" id="{33496979-8AA2-B12A-7B41-899551FF67C1}"/>
              </a:ext>
            </a:extLst>
          </p:cNvPr>
          <p:cNvSpPr>
            <a:spLocks noGrp="1"/>
          </p:cNvSpPr>
          <p:nvPr>
            <p:ph idx="1"/>
          </p:nvPr>
        </p:nvSpPr>
        <p:spPr/>
        <p:txBody>
          <a:bodyPr>
            <a:noAutofit/>
          </a:bodyPr>
          <a:lstStyle/>
          <a:p>
            <a:r>
              <a:rPr lang="en-US" sz="3600" dirty="0"/>
              <a:t>Tax evasion ; this is the deliberate refusal to pay tax</a:t>
            </a:r>
          </a:p>
          <a:p>
            <a:r>
              <a:rPr lang="en-US" sz="3600" dirty="0"/>
              <a:t>Tax avoidance ; this involves taking advantages of the tax loopholes with in the tax system to reduce or dodge the tax liabilities</a:t>
            </a:r>
          </a:p>
        </p:txBody>
      </p:sp>
      <p:pic>
        <p:nvPicPr>
          <p:cNvPr id="4" name="Picture 3">
            <a:extLst>
              <a:ext uri="{FF2B5EF4-FFF2-40B4-BE49-F238E27FC236}">
                <a16:creationId xmlns:a16="http://schemas.microsoft.com/office/drawing/2014/main" id="{B79D54FC-8633-9404-2B3E-0FEE7233BD67}"/>
              </a:ext>
            </a:extLst>
          </p:cNvPr>
          <p:cNvPicPr>
            <a:picLocks noChangeAspect="1"/>
          </p:cNvPicPr>
          <p:nvPr/>
        </p:nvPicPr>
        <p:blipFill>
          <a:blip r:embed="rId2"/>
          <a:stretch>
            <a:fillRect/>
          </a:stretch>
        </p:blipFill>
        <p:spPr>
          <a:xfrm>
            <a:off x="9769272" y="109361"/>
            <a:ext cx="2234045" cy="1390316"/>
          </a:xfrm>
          <a:prstGeom prst="rect">
            <a:avLst/>
          </a:prstGeom>
        </p:spPr>
      </p:pic>
      <p:pic>
        <p:nvPicPr>
          <p:cNvPr id="6" name="Picture 5">
            <a:extLst>
              <a:ext uri="{FF2B5EF4-FFF2-40B4-BE49-F238E27FC236}">
                <a16:creationId xmlns:a16="http://schemas.microsoft.com/office/drawing/2014/main" id="{80B42610-4F04-7B8D-B824-267CA9130F34}"/>
              </a:ext>
            </a:extLst>
          </p:cNvPr>
          <p:cNvPicPr>
            <a:picLocks noChangeAspect="1"/>
          </p:cNvPicPr>
          <p:nvPr/>
        </p:nvPicPr>
        <p:blipFill rotWithShape="1">
          <a:blip r:embed="rId3">
            <a:extLst>
              <a:ext uri="{28A0092B-C50C-407E-A947-70E740481C1C}">
                <a14:useLocalDpi xmlns:a14="http://schemas.microsoft.com/office/drawing/2010/main" val="0"/>
              </a:ext>
            </a:extLst>
          </a:blip>
          <a:srcRect t="17172" r="51789" b="49639"/>
          <a:stretch/>
        </p:blipFill>
        <p:spPr>
          <a:xfrm>
            <a:off x="-1524000" y="1853757"/>
            <a:ext cx="1451579" cy="3450613"/>
          </a:xfrm>
          <a:prstGeom prst="rect">
            <a:avLst/>
          </a:prstGeom>
        </p:spPr>
      </p:pic>
    </p:spTree>
    <p:extLst>
      <p:ext uri="{BB962C8B-B14F-4D97-AF65-F5344CB8AC3E}">
        <p14:creationId xmlns:p14="http://schemas.microsoft.com/office/powerpoint/2010/main" val="3003736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6A03-C717-CDAF-B017-F5676928796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0A9BEB6-BB65-4533-8B00-0ECCA3CBEEE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434" t="32946" r="50715" b="-1738"/>
          <a:stretch/>
        </p:blipFill>
        <p:spPr>
          <a:xfrm>
            <a:off x="1451580" y="145144"/>
            <a:ext cx="9603275" cy="6110514"/>
          </a:xfrm>
        </p:spPr>
      </p:pic>
      <p:pic>
        <p:nvPicPr>
          <p:cNvPr id="4" name="Picture 3">
            <a:extLst>
              <a:ext uri="{FF2B5EF4-FFF2-40B4-BE49-F238E27FC236}">
                <a16:creationId xmlns:a16="http://schemas.microsoft.com/office/drawing/2014/main" id="{0B0B7CA2-D671-584B-98B4-FAEEA0223B63}"/>
              </a:ext>
            </a:extLst>
          </p:cNvPr>
          <p:cNvPicPr>
            <a:picLocks noChangeAspect="1"/>
          </p:cNvPicPr>
          <p:nvPr/>
        </p:nvPicPr>
        <p:blipFill rotWithShape="1">
          <a:blip r:embed="rId3">
            <a:extLst>
              <a:ext uri="{28A0092B-C50C-407E-A947-70E740481C1C}">
                <a14:useLocalDpi xmlns:a14="http://schemas.microsoft.com/office/drawing/2010/main" val="0"/>
              </a:ext>
            </a:extLst>
          </a:blip>
          <a:srcRect l="4832" t="52323" r="49341" b="34512"/>
          <a:stretch/>
        </p:blipFill>
        <p:spPr>
          <a:xfrm>
            <a:off x="9989129" y="1662547"/>
            <a:ext cx="2341417" cy="1925781"/>
          </a:xfrm>
          <a:prstGeom prst="rect">
            <a:avLst/>
          </a:prstGeom>
        </p:spPr>
      </p:pic>
      <p:pic>
        <p:nvPicPr>
          <p:cNvPr id="7" name="Picture 6">
            <a:extLst>
              <a:ext uri="{FF2B5EF4-FFF2-40B4-BE49-F238E27FC236}">
                <a16:creationId xmlns:a16="http://schemas.microsoft.com/office/drawing/2014/main" id="{94307793-F631-F922-9343-EF52BC18659E}"/>
              </a:ext>
            </a:extLst>
          </p:cNvPr>
          <p:cNvPicPr>
            <a:picLocks noChangeAspect="1"/>
          </p:cNvPicPr>
          <p:nvPr/>
        </p:nvPicPr>
        <p:blipFill rotWithShape="1">
          <a:blip r:embed="rId3">
            <a:extLst>
              <a:ext uri="{28A0092B-C50C-407E-A947-70E740481C1C}">
                <a14:useLocalDpi xmlns:a14="http://schemas.microsoft.com/office/drawing/2010/main" val="0"/>
              </a:ext>
            </a:extLst>
          </a:blip>
          <a:srcRect l="50000" t="20001" r="2604" b="68080"/>
          <a:stretch/>
        </p:blipFill>
        <p:spPr>
          <a:xfrm>
            <a:off x="0" y="2330264"/>
            <a:ext cx="2549236" cy="1590572"/>
          </a:xfrm>
          <a:prstGeom prst="rect">
            <a:avLst/>
          </a:prstGeom>
        </p:spPr>
      </p:pic>
    </p:spTree>
    <p:extLst>
      <p:ext uri="{BB962C8B-B14F-4D97-AF65-F5344CB8AC3E}">
        <p14:creationId xmlns:p14="http://schemas.microsoft.com/office/powerpoint/2010/main" val="948945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5FD83-49C5-AF5C-3CC5-761901699EDB}"/>
              </a:ext>
            </a:extLst>
          </p:cNvPr>
          <p:cNvSpPr>
            <a:spLocks noGrp="1"/>
          </p:cNvSpPr>
          <p:nvPr>
            <p:ph type="title"/>
          </p:nvPr>
        </p:nvSpPr>
        <p:spPr>
          <a:xfrm>
            <a:off x="2612685" y="159659"/>
            <a:ext cx="7202456" cy="1393785"/>
          </a:xfrm>
        </p:spPr>
        <p:txBody>
          <a:bodyPr/>
          <a:lstStyle/>
          <a:p>
            <a:r>
              <a:rPr lang="en-US" dirty="0"/>
              <a:t>ADVANTAGES OF TAX COMPLIANCE</a:t>
            </a:r>
          </a:p>
        </p:txBody>
      </p:sp>
      <p:sp>
        <p:nvSpPr>
          <p:cNvPr id="3" name="Content Placeholder 2">
            <a:extLst>
              <a:ext uri="{FF2B5EF4-FFF2-40B4-BE49-F238E27FC236}">
                <a16:creationId xmlns:a16="http://schemas.microsoft.com/office/drawing/2014/main" id="{A6832AC5-6E5F-0A04-36ED-83516CB5E254}"/>
              </a:ext>
            </a:extLst>
          </p:cNvPr>
          <p:cNvSpPr>
            <a:spLocks noGrp="1"/>
          </p:cNvSpPr>
          <p:nvPr>
            <p:ph idx="1"/>
          </p:nvPr>
        </p:nvSpPr>
        <p:spPr>
          <a:xfrm>
            <a:off x="566058" y="623456"/>
            <a:ext cx="11625943" cy="5458030"/>
          </a:xfrm>
        </p:spPr>
        <p:txBody>
          <a:bodyPr>
            <a:noAutofit/>
          </a:bodyPr>
          <a:lstStyle/>
          <a:p>
            <a:pPr>
              <a:buFont typeface="Wingdings" panose="05000000000000000000" pitchFamily="2" charset="2"/>
              <a:buChar char="Ø"/>
            </a:pPr>
            <a:r>
              <a:rPr lang="en-US" sz="2800" dirty="0"/>
              <a:t>INCREASSES GOVERNMENT REVENUE </a:t>
            </a:r>
          </a:p>
          <a:p>
            <a:pPr>
              <a:buFont typeface="Wingdings" panose="05000000000000000000" pitchFamily="2" charset="2"/>
              <a:buChar char="Ø"/>
            </a:pPr>
            <a:r>
              <a:rPr lang="en-US" sz="2800" dirty="0"/>
              <a:t>REDUCES THE COST OF TAX ADMINISTRATION</a:t>
            </a:r>
          </a:p>
          <a:p>
            <a:pPr>
              <a:buFont typeface="Wingdings" panose="05000000000000000000" pitchFamily="2" charset="2"/>
              <a:buChar char="Ø"/>
            </a:pPr>
            <a:r>
              <a:rPr lang="en-US" sz="2800" dirty="0"/>
              <a:t>ENABLES FASTER CLEARANCE OF GOODS </a:t>
            </a:r>
          </a:p>
          <a:p>
            <a:pPr>
              <a:buFont typeface="Wingdings" panose="05000000000000000000" pitchFamily="2" charset="2"/>
              <a:buChar char="Ø"/>
            </a:pPr>
            <a:r>
              <a:rPr lang="en-US" sz="2800" dirty="0"/>
              <a:t>PROMOTES CONTINUITY IN BUSINESS ACTIVITIES </a:t>
            </a:r>
          </a:p>
          <a:p>
            <a:pPr>
              <a:buFont typeface="Wingdings" panose="05000000000000000000" pitchFamily="2" charset="2"/>
              <a:buChar char="Ø"/>
            </a:pPr>
            <a:r>
              <a:rPr lang="en-US" sz="2800" dirty="0"/>
              <a:t>EASES ACQUISITION OF CONTRACTS </a:t>
            </a:r>
          </a:p>
          <a:p>
            <a:pPr>
              <a:buFont typeface="Wingdings" panose="05000000000000000000" pitchFamily="2" charset="2"/>
              <a:buChar char="Ø"/>
            </a:pPr>
            <a:r>
              <a:rPr lang="en-US" sz="2800" dirty="0"/>
              <a:t>EARNS THE TAX PAYER A GOOD REPUTATION</a:t>
            </a:r>
          </a:p>
          <a:p>
            <a:pPr>
              <a:buFont typeface="Wingdings" panose="05000000000000000000" pitchFamily="2" charset="2"/>
              <a:buChar char="Ø"/>
            </a:pPr>
            <a:r>
              <a:rPr lang="en-US" sz="2800" dirty="0"/>
              <a:t>REDUCES THE COST OF DOING BUSINESS AS NO PENERITIES ARE APPLIED</a:t>
            </a:r>
          </a:p>
          <a:p>
            <a:pPr>
              <a:buFont typeface="Wingdings" panose="05000000000000000000" pitchFamily="2" charset="2"/>
              <a:buChar char="Ø"/>
            </a:pPr>
            <a:r>
              <a:rPr lang="en-US" sz="2800" dirty="0"/>
              <a:t>TAX EXEMPTIONS ARE AT TIMES GIVEN TO COMPLIANT TAX PAYERS </a:t>
            </a:r>
          </a:p>
        </p:txBody>
      </p:sp>
    </p:spTree>
    <p:extLst>
      <p:ext uri="{BB962C8B-B14F-4D97-AF65-F5344CB8AC3E}">
        <p14:creationId xmlns:p14="http://schemas.microsoft.com/office/powerpoint/2010/main" val="331333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4F6F-E182-7792-D5FD-F1DD2DC8F852}"/>
              </a:ext>
            </a:extLst>
          </p:cNvPr>
          <p:cNvSpPr>
            <a:spLocks noGrp="1"/>
          </p:cNvSpPr>
          <p:nvPr>
            <p:ph type="title"/>
          </p:nvPr>
        </p:nvSpPr>
        <p:spPr>
          <a:xfrm>
            <a:off x="845127" y="2"/>
            <a:ext cx="10210800" cy="1865169"/>
          </a:xfrm>
        </p:spPr>
        <p:txBody>
          <a:bodyPr>
            <a:noAutofit/>
          </a:bodyPr>
          <a:lstStyle/>
          <a:p>
            <a:r>
              <a:rPr lang="en-US" dirty="0"/>
              <a:t>MEASSURES FOR IMPROVING TAX COMPLIANCE</a:t>
            </a:r>
          </a:p>
        </p:txBody>
      </p:sp>
      <p:sp>
        <p:nvSpPr>
          <p:cNvPr id="3" name="Content Placeholder 2">
            <a:extLst>
              <a:ext uri="{FF2B5EF4-FFF2-40B4-BE49-F238E27FC236}">
                <a16:creationId xmlns:a16="http://schemas.microsoft.com/office/drawing/2014/main" id="{33A0EEBA-5E54-9758-250B-EFDE46A6881C}"/>
              </a:ext>
            </a:extLst>
          </p:cNvPr>
          <p:cNvSpPr>
            <a:spLocks noGrp="1"/>
          </p:cNvSpPr>
          <p:nvPr>
            <p:ph idx="1"/>
          </p:nvPr>
        </p:nvSpPr>
        <p:spPr>
          <a:xfrm>
            <a:off x="508001" y="1865171"/>
            <a:ext cx="11538857" cy="4245345"/>
          </a:xfrm>
        </p:spPr>
        <p:txBody>
          <a:bodyPr>
            <a:normAutofit lnSpcReduction="10000"/>
          </a:bodyPr>
          <a:lstStyle/>
          <a:p>
            <a:pPr marL="385763" indent="-385763">
              <a:buFont typeface="+mj-lt"/>
              <a:buAutoNum type="romanLcPeriod"/>
            </a:pPr>
            <a:r>
              <a:rPr lang="en-US" sz="3600" dirty="0"/>
              <a:t>CARRYING OUT TAX EDUCATION; This helps in sensitizing the public about the importance of paying tax</a:t>
            </a:r>
          </a:p>
          <a:p>
            <a:pPr marL="385763" indent="-385763">
              <a:buFont typeface="+mj-lt"/>
              <a:buAutoNum type="romanLcPeriod"/>
            </a:pPr>
            <a:r>
              <a:rPr lang="en-US" sz="3600" dirty="0"/>
              <a:t>CHARGING LOW TAX RATES; </a:t>
            </a:r>
            <a:r>
              <a:rPr lang="en-US" sz="2800" dirty="0"/>
              <a:t>Low tax rates pose low tax burden and therefore high tax compliance among tax payers</a:t>
            </a:r>
          </a:p>
          <a:p>
            <a:pPr marL="385763" indent="-385763">
              <a:buFont typeface="+mj-lt"/>
              <a:buAutoNum type="romanLcPeriod"/>
            </a:pPr>
            <a:r>
              <a:rPr lang="en-US" sz="3200" dirty="0"/>
              <a:t>MAKING TAX LAWS SIMPLE AND CLEAR</a:t>
            </a:r>
            <a:r>
              <a:rPr lang="en-US" sz="2400" dirty="0"/>
              <a:t>; </a:t>
            </a:r>
            <a:r>
              <a:rPr lang="en-US" sz="3200" dirty="0"/>
              <a:t>This ensures proper understanding and interpretation of the tax laws by both the tax payers and tax collectors</a:t>
            </a:r>
          </a:p>
        </p:txBody>
      </p:sp>
    </p:spTree>
    <p:extLst>
      <p:ext uri="{BB962C8B-B14F-4D97-AF65-F5344CB8AC3E}">
        <p14:creationId xmlns:p14="http://schemas.microsoft.com/office/powerpoint/2010/main" val="818208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630B4-C5E3-CAEF-DBF2-C4CEB6CE6055}"/>
              </a:ext>
            </a:extLst>
          </p:cNvPr>
          <p:cNvSpPr>
            <a:spLocks noGrp="1"/>
          </p:cNvSpPr>
          <p:nvPr>
            <p:ph type="title"/>
          </p:nvPr>
        </p:nvSpPr>
        <p:spPr>
          <a:xfrm>
            <a:off x="96983" y="3"/>
            <a:ext cx="11998034" cy="2015731"/>
          </a:xfrm>
        </p:spPr>
        <p:txBody>
          <a:bodyPr>
            <a:normAutofit fontScale="90000"/>
          </a:bodyPr>
          <a:lstStyle/>
          <a:p>
            <a:r>
              <a:rPr lang="en-US" dirty="0"/>
              <a:t>1v; reducing the level of corruption among tax officials    </a:t>
            </a:r>
            <a:br>
              <a:rPr lang="en-US" dirty="0"/>
            </a:br>
            <a:r>
              <a:rPr lang="en-US" dirty="0"/>
              <a:t>      and tax payers;</a:t>
            </a:r>
            <a:br>
              <a:rPr lang="en-US" dirty="0"/>
            </a:br>
            <a:r>
              <a:rPr lang="en-US" dirty="0"/>
              <a:t>v.   improving tax administration; A </a:t>
            </a:r>
            <a:r>
              <a:rPr lang="en-US" sz="4000" cap="none" dirty="0"/>
              <a:t>high level professionalism , integrity and customer care by the tax authorities will encourage tax compliance</a:t>
            </a:r>
            <a:endParaRPr lang="en-US" sz="4000" dirty="0"/>
          </a:p>
        </p:txBody>
      </p:sp>
      <p:sp>
        <p:nvSpPr>
          <p:cNvPr id="3" name="Content Placeholder 2">
            <a:extLst>
              <a:ext uri="{FF2B5EF4-FFF2-40B4-BE49-F238E27FC236}">
                <a16:creationId xmlns:a16="http://schemas.microsoft.com/office/drawing/2014/main" id="{2A4AD719-0D41-54F7-EBB9-DD7D6875A239}"/>
              </a:ext>
            </a:extLst>
          </p:cNvPr>
          <p:cNvSpPr>
            <a:spLocks noGrp="1"/>
          </p:cNvSpPr>
          <p:nvPr>
            <p:ph idx="1"/>
          </p:nvPr>
        </p:nvSpPr>
        <p:spPr>
          <a:xfrm>
            <a:off x="96983" y="2258292"/>
            <a:ext cx="11651672" cy="3782291"/>
          </a:xfrm>
        </p:spPr>
        <p:txBody>
          <a:bodyPr>
            <a:normAutofit/>
          </a:bodyPr>
          <a:lstStyle/>
          <a:p>
            <a:r>
              <a:rPr lang="en-US" sz="3200" dirty="0"/>
              <a:t>V1 COLLECTING TAXES AT A CONVENIENT TIME WHEN THE    </a:t>
            </a:r>
          </a:p>
          <a:p>
            <a:pPr marL="0" indent="0">
              <a:buNone/>
            </a:pPr>
            <a:r>
              <a:rPr lang="en-US" sz="3200" dirty="0"/>
              <a:t>       TAX PAYERS GET REVENUE FROM THEIR ACTIVITIES </a:t>
            </a:r>
          </a:p>
          <a:p>
            <a:r>
              <a:rPr lang="en-US" sz="3200" dirty="0"/>
              <a:t>V11 ; PUNISHING ALL TAX EVADERS ; this can be done by taking     </a:t>
            </a:r>
          </a:p>
          <a:p>
            <a:pPr marL="0" indent="0">
              <a:buNone/>
            </a:pPr>
            <a:r>
              <a:rPr lang="en-US" sz="3200" dirty="0"/>
              <a:t>          them to courts of law , Imprisonment , paying fines  and </a:t>
            </a:r>
          </a:p>
        </p:txBody>
      </p:sp>
    </p:spTree>
    <p:extLst>
      <p:ext uri="{BB962C8B-B14F-4D97-AF65-F5344CB8AC3E}">
        <p14:creationId xmlns:p14="http://schemas.microsoft.com/office/powerpoint/2010/main" val="436984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0774-0478-7103-BCA9-546F8C8FFC47}"/>
              </a:ext>
            </a:extLst>
          </p:cNvPr>
          <p:cNvSpPr>
            <a:spLocks noGrp="1"/>
          </p:cNvSpPr>
          <p:nvPr>
            <p:ph type="title"/>
          </p:nvPr>
        </p:nvSpPr>
        <p:spPr>
          <a:xfrm>
            <a:off x="277092" y="152403"/>
            <a:ext cx="10777763" cy="969817"/>
          </a:xfrm>
        </p:spPr>
        <p:txBody>
          <a:bodyPr/>
          <a:lstStyle/>
          <a:p>
            <a:r>
              <a:rPr lang="en-US" dirty="0"/>
              <a:t>V11. recognizing and rewarding those who are </a:t>
            </a:r>
            <a:br>
              <a:rPr lang="en-US" dirty="0"/>
            </a:br>
            <a:r>
              <a:rPr lang="en-US" dirty="0"/>
              <a:t>        tax compliant</a:t>
            </a:r>
          </a:p>
        </p:txBody>
      </p:sp>
      <p:sp>
        <p:nvSpPr>
          <p:cNvPr id="3" name="Content Placeholder 2">
            <a:extLst>
              <a:ext uri="{FF2B5EF4-FFF2-40B4-BE49-F238E27FC236}">
                <a16:creationId xmlns:a16="http://schemas.microsoft.com/office/drawing/2014/main" id="{99AB3035-E8D4-C88B-47DB-1201401CB8C0}"/>
              </a:ext>
            </a:extLst>
          </p:cNvPr>
          <p:cNvSpPr>
            <a:spLocks noGrp="1"/>
          </p:cNvSpPr>
          <p:nvPr>
            <p:ph idx="1"/>
          </p:nvPr>
        </p:nvSpPr>
        <p:spPr>
          <a:xfrm>
            <a:off x="1" y="1122220"/>
            <a:ext cx="11914908" cy="4738255"/>
          </a:xfrm>
        </p:spPr>
        <p:txBody>
          <a:bodyPr>
            <a:normAutofit/>
          </a:bodyPr>
          <a:lstStyle/>
          <a:p>
            <a:r>
              <a:rPr lang="en-US" sz="3200" dirty="0"/>
              <a:t>V111.  PUBLISING THE SHAME LIST IN PUBLIC NEWS  </a:t>
            </a:r>
          </a:p>
          <a:p>
            <a:pPr marL="0" indent="0">
              <a:buNone/>
            </a:pPr>
            <a:r>
              <a:rPr lang="en-US" sz="3200" dirty="0"/>
              <a:t>            PAPERS OR ON TELEVISIONS OF THOSE WHO ARE   </a:t>
            </a:r>
          </a:p>
          <a:p>
            <a:pPr marL="0" indent="0">
              <a:buNone/>
            </a:pPr>
            <a:r>
              <a:rPr lang="en-US" sz="3200" dirty="0"/>
              <a:t>             NOT COMPLIANT</a:t>
            </a:r>
          </a:p>
          <a:p>
            <a:r>
              <a:rPr lang="en-US" sz="3200" dirty="0"/>
              <a:t>1X;     GIVING PREFERENCIAL TREATIMENT TO THOSE WHO </a:t>
            </a:r>
          </a:p>
          <a:p>
            <a:pPr marL="0" indent="0">
              <a:buNone/>
            </a:pPr>
            <a:r>
              <a:rPr lang="en-US" sz="3200" dirty="0"/>
              <a:t>             ARE TAX COMPLIANT</a:t>
            </a:r>
          </a:p>
          <a:p>
            <a:r>
              <a:rPr lang="en-US" sz="3200" dirty="0"/>
              <a:t>X;        GIVING TAX EXEMPTIONS TO THE TAX COMPLIANTS</a:t>
            </a:r>
          </a:p>
        </p:txBody>
      </p:sp>
    </p:spTree>
    <p:extLst>
      <p:ext uri="{BB962C8B-B14F-4D97-AF65-F5344CB8AC3E}">
        <p14:creationId xmlns:p14="http://schemas.microsoft.com/office/powerpoint/2010/main" val="2698756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750CC-F184-3F36-4B2F-10586339E97D}"/>
              </a:ext>
            </a:extLst>
          </p:cNvPr>
          <p:cNvSpPr>
            <a:spLocks noGrp="1"/>
          </p:cNvSpPr>
          <p:nvPr>
            <p:ph type="title"/>
          </p:nvPr>
        </p:nvSpPr>
        <p:spPr>
          <a:xfrm>
            <a:off x="235528" y="207821"/>
            <a:ext cx="10819327" cy="761999"/>
          </a:xfrm>
        </p:spPr>
        <p:txBody>
          <a:bodyPr/>
          <a:lstStyle/>
          <a:p>
            <a:r>
              <a:rPr lang="en-US" dirty="0"/>
              <a:t>Discussion questions</a:t>
            </a:r>
          </a:p>
        </p:txBody>
      </p:sp>
      <p:sp>
        <p:nvSpPr>
          <p:cNvPr id="3" name="Content Placeholder 2">
            <a:extLst>
              <a:ext uri="{FF2B5EF4-FFF2-40B4-BE49-F238E27FC236}">
                <a16:creationId xmlns:a16="http://schemas.microsoft.com/office/drawing/2014/main" id="{08620B14-CEF5-0805-6008-03A74C067B88}"/>
              </a:ext>
            </a:extLst>
          </p:cNvPr>
          <p:cNvSpPr>
            <a:spLocks noGrp="1"/>
          </p:cNvSpPr>
          <p:nvPr>
            <p:ph idx="1"/>
          </p:nvPr>
        </p:nvSpPr>
        <p:spPr>
          <a:xfrm>
            <a:off x="235528" y="1856510"/>
            <a:ext cx="11554691" cy="4294908"/>
          </a:xfrm>
        </p:spPr>
        <p:txBody>
          <a:bodyPr>
            <a:normAutofit/>
          </a:bodyPr>
          <a:lstStyle/>
          <a:p>
            <a:pPr marL="457200" indent="-457200">
              <a:buFont typeface="+mj-lt"/>
              <a:buAutoNum type="arabicPeriod"/>
            </a:pPr>
            <a:r>
              <a:rPr lang="en-US" sz="3600" dirty="0"/>
              <a:t>What factors that determine tax compliance  in Uganda</a:t>
            </a:r>
          </a:p>
          <a:p>
            <a:pPr marL="457200" indent="-457200">
              <a:buFont typeface="+mj-lt"/>
              <a:buAutoNum type="arabicPeriod"/>
            </a:pPr>
            <a:r>
              <a:rPr lang="en-US" sz="3600" dirty="0"/>
              <a:t>Describe the elements of tax compliance</a:t>
            </a:r>
          </a:p>
          <a:p>
            <a:pPr marL="457200" indent="-457200">
              <a:buFont typeface="+mj-lt"/>
              <a:buAutoNum type="arabicPeriod"/>
            </a:pPr>
            <a:r>
              <a:rPr lang="en-US" sz="3600" dirty="0"/>
              <a:t>What are the benefits of tax compliance </a:t>
            </a:r>
          </a:p>
          <a:p>
            <a:pPr marL="457200" indent="-457200">
              <a:buFont typeface="+mj-lt"/>
              <a:buAutoNum type="arabicPeriod"/>
              <a:tabLst>
                <a:tab pos="4405313" algn="l"/>
              </a:tabLst>
            </a:pPr>
            <a:r>
              <a:rPr lang="en-US" sz="3600" dirty="0"/>
              <a:t>Explain how tax compliance in Uganda can be increased</a:t>
            </a:r>
          </a:p>
        </p:txBody>
      </p:sp>
    </p:spTree>
    <p:extLst>
      <p:ext uri="{BB962C8B-B14F-4D97-AF65-F5344CB8AC3E}">
        <p14:creationId xmlns:p14="http://schemas.microsoft.com/office/powerpoint/2010/main" val="2425762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C234-B6A9-A07B-E5DB-9AE4523D955C}"/>
              </a:ext>
            </a:extLst>
          </p:cNvPr>
          <p:cNvSpPr>
            <a:spLocks noGrp="1"/>
          </p:cNvSpPr>
          <p:nvPr>
            <p:ph type="title"/>
          </p:nvPr>
        </p:nvSpPr>
        <p:spPr>
          <a:xfrm>
            <a:off x="221674" y="138546"/>
            <a:ext cx="10833181" cy="1253110"/>
          </a:xfrm>
        </p:spPr>
        <p:txBody>
          <a:bodyPr>
            <a:normAutofit/>
          </a:bodyPr>
          <a:lstStyle/>
          <a:p>
            <a:r>
              <a:rPr lang="en-US" sz="3600" dirty="0"/>
              <a:t>BASIC TAX COMPUTATION</a:t>
            </a:r>
          </a:p>
        </p:txBody>
      </p:sp>
      <p:sp>
        <p:nvSpPr>
          <p:cNvPr id="3" name="Content Placeholder 2">
            <a:extLst>
              <a:ext uri="{FF2B5EF4-FFF2-40B4-BE49-F238E27FC236}">
                <a16:creationId xmlns:a16="http://schemas.microsoft.com/office/drawing/2014/main" id="{81C99475-94FC-FC1B-615A-0EA7D86AA341}"/>
              </a:ext>
            </a:extLst>
          </p:cNvPr>
          <p:cNvSpPr>
            <a:spLocks noGrp="1"/>
          </p:cNvSpPr>
          <p:nvPr>
            <p:ph idx="1"/>
          </p:nvPr>
        </p:nvSpPr>
        <p:spPr>
          <a:xfrm>
            <a:off x="443346" y="1853756"/>
            <a:ext cx="11194473" cy="3612591"/>
          </a:xfrm>
        </p:spPr>
        <p:txBody>
          <a:bodyPr/>
          <a:lstStyle/>
          <a:p>
            <a:r>
              <a:rPr lang="en-US" sz="3600" dirty="0"/>
              <a:t>LEARNING OUTCOMES</a:t>
            </a:r>
          </a:p>
          <a:p>
            <a:pPr marL="0" indent="0">
              <a:buNone/>
            </a:pPr>
            <a:r>
              <a:rPr lang="en-US" sz="3600" dirty="0"/>
              <a:t>THE LEARNER SHOULD BE ABLE TO;</a:t>
            </a:r>
          </a:p>
          <a:p>
            <a:pPr marL="0" indent="0">
              <a:buNone/>
            </a:pPr>
            <a:endParaRPr lang="en-US" sz="3600" dirty="0"/>
          </a:p>
          <a:p>
            <a:pPr marL="457200" indent="-457200">
              <a:buFont typeface="+mj-lt"/>
              <a:buAutoNum type="arabicPeriod"/>
            </a:pPr>
            <a:r>
              <a:rPr lang="en-US" sz="3600" dirty="0"/>
              <a:t>DEMOSTRATE HOW TO CALCULATE BASIC TAXES</a:t>
            </a:r>
          </a:p>
          <a:p>
            <a:pPr marL="0" indent="0">
              <a:buNone/>
            </a:pPr>
            <a:endParaRPr lang="en-US" dirty="0"/>
          </a:p>
        </p:txBody>
      </p:sp>
    </p:spTree>
    <p:extLst>
      <p:ext uri="{BB962C8B-B14F-4D97-AF65-F5344CB8AC3E}">
        <p14:creationId xmlns:p14="http://schemas.microsoft.com/office/powerpoint/2010/main" val="1584560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A7E18-AC97-67F2-3055-9D1558BF2108}"/>
              </a:ext>
            </a:extLst>
          </p:cNvPr>
          <p:cNvSpPr>
            <a:spLocks noGrp="1"/>
          </p:cNvSpPr>
          <p:nvPr>
            <p:ph type="title"/>
          </p:nvPr>
        </p:nvSpPr>
        <p:spPr>
          <a:xfrm>
            <a:off x="1451580" y="180111"/>
            <a:ext cx="9603275" cy="734291"/>
          </a:xfrm>
        </p:spPr>
        <p:txBody>
          <a:bodyPr/>
          <a:lstStyle/>
          <a:p>
            <a:r>
              <a:rPr lang="en-US" dirty="0"/>
              <a:t>TERMS COMMONLY USED IN TAX COMPUTATION</a:t>
            </a:r>
          </a:p>
        </p:txBody>
      </p:sp>
      <p:sp>
        <p:nvSpPr>
          <p:cNvPr id="3" name="Content Placeholder 2">
            <a:extLst>
              <a:ext uri="{FF2B5EF4-FFF2-40B4-BE49-F238E27FC236}">
                <a16:creationId xmlns:a16="http://schemas.microsoft.com/office/drawing/2014/main" id="{DB14B389-A68A-8A02-B881-FCD46E7A888E}"/>
              </a:ext>
            </a:extLst>
          </p:cNvPr>
          <p:cNvSpPr>
            <a:spLocks noGrp="1"/>
          </p:cNvSpPr>
          <p:nvPr>
            <p:ph idx="1"/>
          </p:nvPr>
        </p:nvSpPr>
        <p:spPr>
          <a:xfrm>
            <a:off x="152401" y="1870366"/>
            <a:ext cx="12039600" cy="3595981"/>
          </a:xfrm>
        </p:spPr>
        <p:txBody>
          <a:bodyPr>
            <a:normAutofit lnSpcReduction="10000"/>
          </a:bodyPr>
          <a:lstStyle/>
          <a:p>
            <a:r>
              <a:rPr lang="en-US" sz="3200" dirty="0"/>
              <a:t>GROSSS INCOME; this is the total amount of money one gets in a year. It can be from , business, employment or from property including the exempt income</a:t>
            </a:r>
          </a:p>
          <a:p>
            <a:r>
              <a:rPr lang="en-US" sz="3200" dirty="0"/>
              <a:t>CHARGEABLE INCOME; This is a person’s total income for a year after deducting business expenses and losses. CHARGEABLE INCOME = GROSS INCOME – BUSINESS EXPENSES</a:t>
            </a:r>
          </a:p>
        </p:txBody>
      </p:sp>
    </p:spTree>
    <p:extLst>
      <p:ext uri="{BB962C8B-B14F-4D97-AF65-F5344CB8AC3E}">
        <p14:creationId xmlns:p14="http://schemas.microsoft.com/office/powerpoint/2010/main" val="3350414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C70A-2115-0B92-E985-10BDB6EA3FDE}"/>
              </a:ext>
            </a:extLst>
          </p:cNvPr>
          <p:cNvSpPr>
            <a:spLocks noGrp="1"/>
          </p:cNvSpPr>
          <p:nvPr>
            <p:ph type="title"/>
          </p:nvPr>
        </p:nvSpPr>
        <p:spPr/>
        <p:txBody>
          <a:bodyPr/>
          <a:lstStyle/>
          <a:p>
            <a:r>
              <a:rPr lang="en-US" dirty="0"/>
              <a:t>WITHHOLDING TAX</a:t>
            </a:r>
          </a:p>
        </p:txBody>
      </p:sp>
      <p:sp>
        <p:nvSpPr>
          <p:cNvPr id="3" name="Content Placeholder 2">
            <a:extLst>
              <a:ext uri="{FF2B5EF4-FFF2-40B4-BE49-F238E27FC236}">
                <a16:creationId xmlns:a16="http://schemas.microsoft.com/office/drawing/2014/main" id="{4777A644-88C6-7F8A-5F70-27F00185E651}"/>
              </a:ext>
            </a:extLst>
          </p:cNvPr>
          <p:cNvSpPr>
            <a:spLocks noGrp="1"/>
          </p:cNvSpPr>
          <p:nvPr>
            <p:ph idx="1"/>
          </p:nvPr>
        </p:nvSpPr>
        <p:spPr>
          <a:xfrm>
            <a:off x="1451580" y="2015734"/>
            <a:ext cx="9603275" cy="3803177"/>
          </a:xfrm>
        </p:spPr>
        <p:txBody>
          <a:bodyPr>
            <a:noAutofit/>
          </a:bodyPr>
          <a:lstStyle/>
          <a:p>
            <a:r>
              <a:rPr lang="en-US" sz="3200" dirty="0"/>
              <a:t>This is a form of income tax that is deducted at source by one person effecting payment to another person. The person making payment is obliged to withhold tax and is referred to as a WITHHOLDING AGENT and the person receiving payments from which tax is required to be paid is the PAYEE</a:t>
            </a:r>
          </a:p>
        </p:txBody>
      </p:sp>
    </p:spTree>
    <p:extLst>
      <p:ext uri="{BB962C8B-B14F-4D97-AF65-F5344CB8AC3E}">
        <p14:creationId xmlns:p14="http://schemas.microsoft.com/office/powerpoint/2010/main" val="2100422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8A2DA-7CCB-C016-FB1B-0EA618085E5C}"/>
              </a:ext>
            </a:extLst>
          </p:cNvPr>
          <p:cNvSpPr>
            <a:spLocks noGrp="1"/>
          </p:cNvSpPr>
          <p:nvPr>
            <p:ph type="title"/>
          </p:nvPr>
        </p:nvSpPr>
        <p:spPr>
          <a:xfrm>
            <a:off x="422031" y="804521"/>
            <a:ext cx="11535508" cy="1049235"/>
          </a:xfrm>
        </p:spPr>
        <p:txBody>
          <a:bodyPr>
            <a:noAutofit/>
          </a:bodyPr>
          <a:lstStyle/>
          <a:p>
            <a:r>
              <a:rPr lang="en-US" sz="3600" dirty="0"/>
              <a:t>TAX BASE; </a:t>
            </a:r>
            <a:r>
              <a:rPr lang="en-US" sz="3600" cap="none" dirty="0"/>
              <a:t>these are the items or economic activities subject to a tax</a:t>
            </a:r>
            <a:endParaRPr lang="en-US" sz="3600" dirty="0"/>
          </a:p>
        </p:txBody>
      </p:sp>
      <p:sp>
        <p:nvSpPr>
          <p:cNvPr id="3" name="Content Placeholder 2">
            <a:extLst>
              <a:ext uri="{FF2B5EF4-FFF2-40B4-BE49-F238E27FC236}">
                <a16:creationId xmlns:a16="http://schemas.microsoft.com/office/drawing/2014/main" id="{DF3D2CB6-3C83-8644-188E-71EECFDF6CE5}"/>
              </a:ext>
            </a:extLst>
          </p:cNvPr>
          <p:cNvSpPr>
            <a:spLocks noGrp="1"/>
          </p:cNvSpPr>
          <p:nvPr>
            <p:ph idx="1"/>
          </p:nvPr>
        </p:nvSpPr>
        <p:spPr>
          <a:xfrm>
            <a:off x="1" y="2015734"/>
            <a:ext cx="11957538" cy="4037749"/>
          </a:xfrm>
        </p:spPr>
        <p:txBody>
          <a:bodyPr>
            <a:noAutofit/>
          </a:bodyPr>
          <a:lstStyle/>
          <a:p>
            <a:pPr marL="0" indent="0">
              <a:buNone/>
            </a:pPr>
            <a:r>
              <a:rPr lang="en-US" sz="3600" dirty="0"/>
              <a:t>TAX RATES; this is the unit charge it can be expressed in terms of percentages or in shillings</a:t>
            </a:r>
          </a:p>
          <a:p>
            <a:pPr marL="0" indent="0">
              <a:buNone/>
            </a:pPr>
            <a:r>
              <a:rPr lang="en-US" sz="3600" dirty="0"/>
              <a:t>TAX LIABILITIES; This is the actual amount of money paid as tax.</a:t>
            </a:r>
          </a:p>
          <a:p>
            <a:pPr marL="0" indent="0">
              <a:buNone/>
            </a:pPr>
            <a:r>
              <a:rPr lang="en-US" sz="3600" dirty="0"/>
              <a:t> TAX LIABILITY  = TAX BASE  X  TAX RATES</a:t>
            </a:r>
          </a:p>
        </p:txBody>
      </p:sp>
    </p:spTree>
    <p:extLst>
      <p:ext uri="{BB962C8B-B14F-4D97-AF65-F5344CB8AC3E}">
        <p14:creationId xmlns:p14="http://schemas.microsoft.com/office/powerpoint/2010/main" val="3887604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8FE50-68D4-B589-C077-B0C0362FACB5}"/>
              </a:ext>
            </a:extLst>
          </p:cNvPr>
          <p:cNvSpPr>
            <a:spLocks noGrp="1"/>
          </p:cNvSpPr>
          <p:nvPr>
            <p:ph type="title"/>
          </p:nvPr>
        </p:nvSpPr>
        <p:spPr>
          <a:xfrm>
            <a:off x="955965" y="249385"/>
            <a:ext cx="10098890" cy="1011381"/>
          </a:xfrm>
        </p:spPr>
        <p:txBody>
          <a:bodyPr>
            <a:normAutofit/>
          </a:bodyPr>
          <a:lstStyle/>
          <a:p>
            <a:r>
              <a:rPr lang="en-US" sz="3600" dirty="0"/>
              <a:t>BASIC TAXES</a:t>
            </a:r>
          </a:p>
        </p:txBody>
      </p:sp>
      <p:sp>
        <p:nvSpPr>
          <p:cNvPr id="3" name="Content Placeholder 2">
            <a:extLst>
              <a:ext uri="{FF2B5EF4-FFF2-40B4-BE49-F238E27FC236}">
                <a16:creationId xmlns:a16="http://schemas.microsoft.com/office/drawing/2014/main" id="{DB8A9B8D-1DBA-00EE-919E-2B916AC8D1D2}"/>
              </a:ext>
            </a:extLst>
          </p:cNvPr>
          <p:cNvSpPr>
            <a:spLocks noGrp="1"/>
          </p:cNvSpPr>
          <p:nvPr>
            <p:ph idx="1"/>
          </p:nvPr>
        </p:nvSpPr>
        <p:spPr>
          <a:xfrm>
            <a:off x="318656" y="1853756"/>
            <a:ext cx="10736199" cy="4199727"/>
          </a:xfrm>
        </p:spPr>
        <p:txBody>
          <a:bodyPr>
            <a:normAutofit/>
          </a:bodyPr>
          <a:lstStyle/>
          <a:p>
            <a:r>
              <a:rPr lang="en-US" sz="3600" dirty="0"/>
              <a:t>INDIVIDUAL INCOME TAX</a:t>
            </a:r>
          </a:p>
          <a:p>
            <a:r>
              <a:rPr lang="en-US" sz="3600" dirty="0"/>
              <a:t>COOPERATE TAX</a:t>
            </a:r>
          </a:p>
          <a:p>
            <a:r>
              <a:rPr lang="en-US" sz="3600" dirty="0"/>
              <a:t>RENTAL INCOME TAX </a:t>
            </a:r>
          </a:p>
          <a:p>
            <a:r>
              <a:rPr lang="en-US" sz="3600" dirty="0"/>
              <a:t>VALUE ADDED TAX (VAT)</a:t>
            </a:r>
          </a:p>
        </p:txBody>
      </p:sp>
      <p:pic>
        <p:nvPicPr>
          <p:cNvPr id="5" name="Picture 4">
            <a:extLst>
              <a:ext uri="{FF2B5EF4-FFF2-40B4-BE49-F238E27FC236}">
                <a16:creationId xmlns:a16="http://schemas.microsoft.com/office/drawing/2014/main" id="{7FCB4B23-A00A-30AB-2DA1-4B80B024B667}"/>
              </a:ext>
            </a:extLst>
          </p:cNvPr>
          <p:cNvPicPr>
            <a:picLocks noChangeAspect="1"/>
          </p:cNvPicPr>
          <p:nvPr/>
        </p:nvPicPr>
        <p:blipFill rotWithShape="1">
          <a:blip r:embed="rId2">
            <a:extLst>
              <a:ext uri="{28A0092B-C50C-407E-A947-70E740481C1C}">
                <a14:useLocalDpi xmlns:a14="http://schemas.microsoft.com/office/drawing/2010/main" val="0"/>
              </a:ext>
            </a:extLst>
          </a:blip>
          <a:srcRect t="5455" r="3985" b="68080"/>
          <a:stretch/>
        </p:blipFill>
        <p:spPr>
          <a:xfrm>
            <a:off x="6932006" y="38808"/>
            <a:ext cx="2890869" cy="1814946"/>
          </a:xfrm>
          <a:prstGeom prst="rect">
            <a:avLst/>
          </a:prstGeom>
        </p:spPr>
      </p:pic>
      <p:pic>
        <p:nvPicPr>
          <p:cNvPr id="7" name="Picture 6">
            <a:extLst>
              <a:ext uri="{FF2B5EF4-FFF2-40B4-BE49-F238E27FC236}">
                <a16:creationId xmlns:a16="http://schemas.microsoft.com/office/drawing/2014/main" id="{D6C3319B-66C6-B6D3-3754-DBF08066D6B9}"/>
              </a:ext>
            </a:extLst>
          </p:cNvPr>
          <p:cNvPicPr>
            <a:picLocks noChangeAspect="1"/>
          </p:cNvPicPr>
          <p:nvPr/>
        </p:nvPicPr>
        <p:blipFill rotWithShape="1">
          <a:blip r:embed="rId3">
            <a:extLst>
              <a:ext uri="{28A0092B-C50C-407E-A947-70E740481C1C}">
                <a14:useLocalDpi xmlns:a14="http://schemas.microsoft.com/office/drawing/2010/main" val="0"/>
              </a:ext>
            </a:extLst>
          </a:blip>
          <a:srcRect t="33535" r="50000" b="27879"/>
          <a:stretch/>
        </p:blipFill>
        <p:spPr>
          <a:xfrm>
            <a:off x="9822875" y="0"/>
            <a:ext cx="2369127" cy="3847392"/>
          </a:xfrm>
          <a:prstGeom prst="rect">
            <a:avLst/>
          </a:prstGeom>
        </p:spPr>
      </p:pic>
      <p:pic>
        <p:nvPicPr>
          <p:cNvPr id="9" name="Picture 8">
            <a:extLst>
              <a:ext uri="{FF2B5EF4-FFF2-40B4-BE49-F238E27FC236}">
                <a16:creationId xmlns:a16="http://schemas.microsoft.com/office/drawing/2014/main" id="{47AAF291-BA78-542A-9C33-916600FF6BD4}"/>
              </a:ext>
            </a:extLst>
          </p:cNvPr>
          <p:cNvPicPr>
            <a:picLocks noChangeAspect="1"/>
          </p:cNvPicPr>
          <p:nvPr/>
        </p:nvPicPr>
        <p:blipFill rotWithShape="1">
          <a:blip r:embed="rId4">
            <a:extLst>
              <a:ext uri="{28A0092B-C50C-407E-A947-70E740481C1C}">
                <a14:useLocalDpi xmlns:a14="http://schemas.microsoft.com/office/drawing/2010/main" val="0"/>
              </a:ext>
            </a:extLst>
          </a:blip>
          <a:srcRect t="33535" r="-617" b="32727"/>
          <a:stretch/>
        </p:blipFill>
        <p:spPr>
          <a:xfrm>
            <a:off x="6862731" y="1853754"/>
            <a:ext cx="3029414" cy="2313710"/>
          </a:xfrm>
          <a:prstGeom prst="rect">
            <a:avLst/>
          </a:prstGeom>
        </p:spPr>
      </p:pic>
    </p:spTree>
    <p:extLst>
      <p:ext uri="{BB962C8B-B14F-4D97-AF65-F5344CB8AC3E}">
        <p14:creationId xmlns:p14="http://schemas.microsoft.com/office/powerpoint/2010/main" val="2509367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5D41-3306-D7CA-ACB6-00CC99F979AA}"/>
              </a:ext>
            </a:extLst>
          </p:cNvPr>
          <p:cNvSpPr>
            <a:spLocks noGrp="1"/>
          </p:cNvSpPr>
          <p:nvPr>
            <p:ph type="title"/>
          </p:nvPr>
        </p:nvSpPr>
        <p:spPr/>
        <p:txBody>
          <a:bodyPr/>
          <a:lstStyle/>
          <a:p>
            <a:r>
              <a:rPr lang="en-US" dirty="0"/>
              <a:t>INDIVIDUAL INCOME TAX</a:t>
            </a:r>
          </a:p>
        </p:txBody>
      </p:sp>
      <p:sp>
        <p:nvSpPr>
          <p:cNvPr id="11" name="Content Placeholder 10">
            <a:extLst>
              <a:ext uri="{FF2B5EF4-FFF2-40B4-BE49-F238E27FC236}">
                <a16:creationId xmlns:a16="http://schemas.microsoft.com/office/drawing/2014/main" id="{096D55D4-10F9-BCD6-89D0-CB86EFF5D4E6}"/>
              </a:ext>
            </a:extLst>
          </p:cNvPr>
          <p:cNvSpPr>
            <a:spLocks noGrp="1"/>
          </p:cNvSpPr>
          <p:nvPr>
            <p:ph idx="1"/>
          </p:nvPr>
        </p:nvSpPr>
        <p:spPr>
          <a:xfrm>
            <a:off x="1451579" y="1853754"/>
            <a:ext cx="9603275" cy="3612591"/>
          </a:xfrm>
        </p:spPr>
        <p:txBody>
          <a:bodyPr>
            <a:normAutofit/>
          </a:bodyPr>
          <a:lstStyle/>
          <a:p>
            <a:r>
              <a:rPr lang="en-US" sz="3600" dirty="0"/>
              <a:t>This is a tax imposed on a person's chargeable income at specific rates. All people involved in business are required to pay income tax</a:t>
            </a:r>
          </a:p>
        </p:txBody>
      </p:sp>
      <p:pic>
        <p:nvPicPr>
          <p:cNvPr id="4" name="Picture 3">
            <a:extLst>
              <a:ext uri="{FF2B5EF4-FFF2-40B4-BE49-F238E27FC236}">
                <a16:creationId xmlns:a16="http://schemas.microsoft.com/office/drawing/2014/main" id="{F7290D0F-49BD-7DA4-0B52-9983E8F4E380}"/>
              </a:ext>
            </a:extLst>
          </p:cNvPr>
          <p:cNvPicPr>
            <a:picLocks noChangeAspect="1"/>
          </p:cNvPicPr>
          <p:nvPr/>
        </p:nvPicPr>
        <p:blipFill rotWithShape="1">
          <a:blip r:embed="rId2">
            <a:extLst>
              <a:ext uri="{28A0092B-C50C-407E-A947-70E740481C1C}">
                <a14:useLocalDpi xmlns:a14="http://schemas.microsoft.com/office/drawing/2010/main" val="0"/>
              </a:ext>
            </a:extLst>
          </a:blip>
          <a:srcRect t="38990" r="50000" b="43636"/>
          <a:stretch/>
        </p:blipFill>
        <p:spPr>
          <a:xfrm>
            <a:off x="0" y="3923591"/>
            <a:ext cx="2743200" cy="2240726"/>
          </a:xfrm>
          <a:prstGeom prst="rect">
            <a:avLst/>
          </a:prstGeom>
        </p:spPr>
      </p:pic>
      <p:pic>
        <p:nvPicPr>
          <p:cNvPr id="8" name="Picture 7">
            <a:extLst>
              <a:ext uri="{FF2B5EF4-FFF2-40B4-BE49-F238E27FC236}">
                <a16:creationId xmlns:a16="http://schemas.microsoft.com/office/drawing/2014/main" id="{4B16F772-627A-2C50-F828-5F761947C71E}"/>
              </a:ext>
            </a:extLst>
          </p:cNvPr>
          <p:cNvPicPr>
            <a:picLocks noChangeAspect="1"/>
          </p:cNvPicPr>
          <p:nvPr/>
        </p:nvPicPr>
        <p:blipFill rotWithShape="1">
          <a:blip r:embed="rId3">
            <a:extLst>
              <a:ext uri="{28A0092B-C50C-407E-A947-70E740481C1C}">
                <a14:useLocalDpi xmlns:a14="http://schemas.microsoft.com/office/drawing/2010/main" val="0"/>
              </a:ext>
            </a:extLst>
          </a:blip>
          <a:srcRect l="1871" t="43838" r="52823"/>
          <a:stretch/>
        </p:blipFill>
        <p:spPr>
          <a:xfrm>
            <a:off x="10280073" y="2646218"/>
            <a:ext cx="1911927" cy="3407263"/>
          </a:xfrm>
          <a:prstGeom prst="rect">
            <a:avLst/>
          </a:prstGeom>
        </p:spPr>
      </p:pic>
    </p:spTree>
    <p:extLst>
      <p:ext uri="{BB962C8B-B14F-4D97-AF65-F5344CB8AC3E}">
        <p14:creationId xmlns:p14="http://schemas.microsoft.com/office/powerpoint/2010/main" val="1245882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9E043-2FF4-F24E-3339-89663831EF51}"/>
              </a:ext>
            </a:extLst>
          </p:cNvPr>
          <p:cNvSpPr>
            <a:spLocks noGrp="1"/>
          </p:cNvSpPr>
          <p:nvPr>
            <p:ph type="title"/>
          </p:nvPr>
        </p:nvSpPr>
        <p:spPr>
          <a:xfrm>
            <a:off x="1451579" y="166256"/>
            <a:ext cx="9603275" cy="761999"/>
          </a:xfrm>
        </p:spPr>
        <p:txBody>
          <a:bodyPr/>
          <a:lstStyle/>
          <a:p>
            <a:r>
              <a:rPr lang="en-US" dirty="0"/>
              <a:t>Computation of individual income tax</a:t>
            </a:r>
          </a:p>
        </p:txBody>
      </p:sp>
      <p:sp>
        <p:nvSpPr>
          <p:cNvPr id="3" name="Content Placeholder 2">
            <a:extLst>
              <a:ext uri="{FF2B5EF4-FFF2-40B4-BE49-F238E27FC236}">
                <a16:creationId xmlns:a16="http://schemas.microsoft.com/office/drawing/2014/main" id="{CBF7AD4A-9FC1-6826-F8FE-7C84D516CC74}"/>
              </a:ext>
            </a:extLst>
          </p:cNvPr>
          <p:cNvSpPr>
            <a:spLocks noGrp="1"/>
          </p:cNvSpPr>
          <p:nvPr>
            <p:ph idx="1"/>
          </p:nvPr>
        </p:nvSpPr>
        <p:spPr>
          <a:xfrm>
            <a:off x="221673" y="1108364"/>
            <a:ext cx="11457709" cy="4821381"/>
          </a:xfrm>
        </p:spPr>
        <p:txBody>
          <a:bodyPr/>
          <a:lstStyle/>
          <a:p>
            <a:r>
              <a:rPr lang="en-US" dirty="0"/>
              <a:t>The following people ware employees of DIGIDA SIMPLE EATS LIMITED in 2023 the employees were getting gross income and allowable expenses as follows</a:t>
            </a:r>
          </a:p>
          <a:p>
            <a:endParaRPr lang="en-US" dirty="0"/>
          </a:p>
        </p:txBody>
      </p:sp>
      <p:graphicFrame>
        <p:nvGraphicFramePr>
          <p:cNvPr id="4" name="Table 3">
            <a:extLst>
              <a:ext uri="{FF2B5EF4-FFF2-40B4-BE49-F238E27FC236}">
                <a16:creationId xmlns:a16="http://schemas.microsoft.com/office/drawing/2014/main" id="{0E9ABB55-946A-07E1-84DF-3A4654F5D1A6}"/>
              </a:ext>
            </a:extLst>
          </p:cNvPr>
          <p:cNvGraphicFramePr>
            <a:graphicFrameLocks noGrp="1"/>
          </p:cNvGraphicFramePr>
          <p:nvPr>
            <p:extLst>
              <p:ext uri="{D42A27DB-BD31-4B8C-83A1-F6EECF244321}">
                <p14:modId xmlns:p14="http://schemas.microsoft.com/office/powerpoint/2010/main" val="1243475390"/>
              </p:ext>
            </p:extLst>
          </p:nvPr>
        </p:nvGraphicFramePr>
        <p:xfrm>
          <a:off x="609599" y="2008909"/>
          <a:ext cx="10044545" cy="3956856"/>
        </p:xfrm>
        <a:graphic>
          <a:graphicData uri="http://schemas.openxmlformats.org/drawingml/2006/table">
            <a:tbl>
              <a:tblPr firstRow="1" bandRow="1">
                <a:tableStyleId>{5C22544A-7EE6-4342-B048-85BDC9FD1C3A}</a:tableStyleId>
              </a:tblPr>
              <a:tblGrid>
                <a:gridCol w="1165712">
                  <a:extLst>
                    <a:ext uri="{9D8B030D-6E8A-4147-A177-3AD203B41FA5}">
                      <a16:colId xmlns:a16="http://schemas.microsoft.com/office/drawing/2014/main" val="2123396953"/>
                    </a:ext>
                  </a:extLst>
                </a:gridCol>
                <a:gridCol w="3569990">
                  <a:extLst>
                    <a:ext uri="{9D8B030D-6E8A-4147-A177-3AD203B41FA5}">
                      <a16:colId xmlns:a16="http://schemas.microsoft.com/office/drawing/2014/main" val="4250620339"/>
                    </a:ext>
                  </a:extLst>
                </a:gridCol>
                <a:gridCol w="2535422">
                  <a:extLst>
                    <a:ext uri="{9D8B030D-6E8A-4147-A177-3AD203B41FA5}">
                      <a16:colId xmlns:a16="http://schemas.microsoft.com/office/drawing/2014/main" val="3637185397"/>
                    </a:ext>
                  </a:extLst>
                </a:gridCol>
                <a:gridCol w="2773421">
                  <a:extLst>
                    <a:ext uri="{9D8B030D-6E8A-4147-A177-3AD203B41FA5}">
                      <a16:colId xmlns:a16="http://schemas.microsoft.com/office/drawing/2014/main" val="1287535354"/>
                    </a:ext>
                  </a:extLst>
                </a:gridCol>
              </a:tblGrid>
              <a:tr h="659476">
                <a:tc>
                  <a:txBody>
                    <a:bodyPr/>
                    <a:lstStyle/>
                    <a:p>
                      <a:r>
                        <a:rPr lang="en-US" dirty="0"/>
                        <a:t>no</a:t>
                      </a:r>
                    </a:p>
                  </a:txBody>
                  <a:tcPr/>
                </a:tc>
                <a:tc>
                  <a:txBody>
                    <a:bodyPr/>
                    <a:lstStyle/>
                    <a:p>
                      <a:r>
                        <a:rPr lang="en-US" dirty="0"/>
                        <a:t>Names </a:t>
                      </a:r>
                    </a:p>
                  </a:txBody>
                  <a:tcPr/>
                </a:tc>
                <a:tc>
                  <a:txBody>
                    <a:bodyPr/>
                    <a:lstStyle/>
                    <a:p>
                      <a:r>
                        <a:rPr lang="en-US" dirty="0"/>
                        <a:t>Gross income</a:t>
                      </a:r>
                    </a:p>
                    <a:p>
                      <a:r>
                        <a:rPr lang="en-US" dirty="0"/>
                        <a:t>(</a:t>
                      </a:r>
                      <a:r>
                        <a:rPr lang="en-US" dirty="0" err="1"/>
                        <a:t>shs</a:t>
                      </a:r>
                      <a:r>
                        <a:rPr lang="en-US" dirty="0"/>
                        <a:t>)</a:t>
                      </a:r>
                    </a:p>
                  </a:txBody>
                  <a:tcPr/>
                </a:tc>
                <a:tc>
                  <a:txBody>
                    <a:bodyPr/>
                    <a:lstStyle/>
                    <a:p>
                      <a:r>
                        <a:rPr lang="en-US" dirty="0"/>
                        <a:t>Allowable expenses (</a:t>
                      </a:r>
                      <a:r>
                        <a:rPr lang="en-US" dirty="0" err="1"/>
                        <a:t>shs</a:t>
                      </a:r>
                      <a:r>
                        <a:rPr lang="en-US" dirty="0"/>
                        <a:t>)</a:t>
                      </a:r>
                    </a:p>
                  </a:txBody>
                  <a:tcPr/>
                </a:tc>
                <a:extLst>
                  <a:ext uri="{0D108BD9-81ED-4DB2-BD59-A6C34878D82A}">
                    <a16:rowId xmlns:a16="http://schemas.microsoft.com/office/drawing/2014/main" val="822979121"/>
                  </a:ext>
                </a:extLst>
              </a:tr>
              <a:tr h="659476">
                <a:tc>
                  <a:txBody>
                    <a:bodyPr/>
                    <a:lstStyle/>
                    <a:p>
                      <a:r>
                        <a:rPr lang="en-US" dirty="0"/>
                        <a:t>1</a:t>
                      </a:r>
                    </a:p>
                  </a:txBody>
                  <a:tcPr/>
                </a:tc>
                <a:tc>
                  <a:txBody>
                    <a:bodyPr/>
                    <a:lstStyle/>
                    <a:p>
                      <a:r>
                        <a:rPr lang="en-US" dirty="0"/>
                        <a:t>WAAKO </a:t>
                      </a:r>
                    </a:p>
                  </a:txBody>
                  <a:tcPr/>
                </a:tc>
                <a:tc>
                  <a:txBody>
                    <a:bodyPr/>
                    <a:lstStyle/>
                    <a:p>
                      <a:r>
                        <a:rPr lang="en-US" dirty="0"/>
                        <a:t>75,000,000</a:t>
                      </a:r>
                    </a:p>
                  </a:txBody>
                  <a:tcPr/>
                </a:tc>
                <a:tc>
                  <a:txBody>
                    <a:bodyPr/>
                    <a:lstStyle/>
                    <a:p>
                      <a:r>
                        <a:rPr lang="en-US" dirty="0"/>
                        <a:t>50,000,000</a:t>
                      </a:r>
                    </a:p>
                  </a:txBody>
                  <a:tcPr/>
                </a:tc>
                <a:extLst>
                  <a:ext uri="{0D108BD9-81ED-4DB2-BD59-A6C34878D82A}">
                    <a16:rowId xmlns:a16="http://schemas.microsoft.com/office/drawing/2014/main" val="2709359574"/>
                  </a:ext>
                </a:extLst>
              </a:tr>
              <a:tr h="659476">
                <a:tc>
                  <a:txBody>
                    <a:bodyPr/>
                    <a:lstStyle/>
                    <a:p>
                      <a:r>
                        <a:rPr lang="en-US" dirty="0"/>
                        <a:t>2</a:t>
                      </a:r>
                    </a:p>
                  </a:txBody>
                  <a:tcPr/>
                </a:tc>
                <a:tc>
                  <a:txBody>
                    <a:bodyPr/>
                    <a:lstStyle/>
                    <a:p>
                      <a:r>
                        <a:rPr lang="en-US" dirty="0"/>
                        <a:t>ELIJAH</a:t>
                      </a:r>
                    </a:p>
                  </a:txBody>
                  <a:tcPr/>
                </a:tc>
                <a:tc>
                  <a:txBody>
                    <a:bodyPr/>
                    <a:lstStyle/>
                    <a:p>
                      <a:r>
                        <a:rPr lang="en-US" dirty="0"/>
                        <a:t>5,000,000</a:t>
                      </a:r>
                    </a:p>
                  </a:txBody>
                  <a:tcPr/>
                </a:tc>
                <a:tc>
                  <a:txBody>
                    <a:bodyPr/>
                    <a:lstStyle/>
                    <a:p>
                      <a:r>
                        <a:rPr lang="en-US" dirty="0"/>
                        <a:t>500,000</a:t>
                      </a:r>
                    </a:p>
                  </a:txBody>
                  <a:tcPr/>
                </a:tc>
                <a:extLst>
                  <a:ext uri="{0D108BD9-81ED-4DB2-BD59-A6C34878D82A}">
                    <a16:rowId xmlns:a16="http://schemas.microsoft.com/office/drawing/2014/main" val="2051161935"/>
                  </a:ext>
                </a:extLst>
              </a:tr>
              <a:tr h="659476">
                <a:tc>
                  <a:txBody>
                    <a:bodyPr/>
                    <a:lstStyle/>
                    <a:p>
                      <a:r>
                        <a:rPr lang="en-US" dirty="0"/>
                        <a:t>3</a:t>
                      </a:r>
                    </a:p>
                  </a:txBody>
                  <a:tcPr/>
                </a:tc>
                <a:tc>
                  <a:txBody>
                    <a:bodyPr/>
                    <a:lstStyle/>
                    <a:p>
                      <a:r>
                        <a:rPr lang="en-US" dirty="0"/>
                        <a:t>CAROL</a:t>
                      </a:r>
                    </a:p>
                  </a:txBody>
                  <a:tcPr/>
                </a:tc>
                <a:tc>
                  <a:txBody>
                    <a:bodyPr/>
                    <a:lstStyle/>
                    <a:p>
                      <a:r>
                        <a:rPr lang="en-US" dirty="0"/>
                        <a:t>10,000,000</a:t>
                      </a:r>
                    </a:p>
                  </a:txBody>
                  <a:tcPr/>
                </a:tc>
                <a:tc>
                  <a:txBody>
                    <a:bodyPr/>
                    <a:lstStyle/>
                    <a:p>
                      <a:r>
                        <a:rPr lang="en-US" dirty="0"/>
                        <a:t>5,000,000</a:t>
                      </a:r>
                    </a:p>
                  </a:txBody>
                  <a:tcPr/>
                </a:tc>
                <a:extLst>
                  <a:ext uri="{0D108BD9-81ED-4DB2-BD59-A6C34878D82A}">
                    <a16:rowId xmlns:a16="http://schemas.microsoft.com/office/drawing/2014/main" val="2047209555"/>
                  </a:ext>
                </a:extLst>
              </a:tr>
              <a:tr h="659476">
                <a:tc>
                  <a:txBody>
                    <a:bodyPr/>
                    <a:lstStyle/>
                    <a:p>
                      <a:r>
                        <a:rPr lang="en-US" dirty="0"/>
                        <a:t>4</a:t>
                      </a:r>
                    </a:p>
                  </a:txBody>
                  <a:tcPr/>
                </a:tc>
                <a:tc>
                  <a:txBody>
                    <a:bodyPr/>
                    <a:lstStyle/>
                    <a:p>
                      <a:r>
                        <a:rPr lang="en-US" dirty="0"/>
                        <a:t>REBECCA</a:t>
                      </a:r>
                    </a:p>
                  </a:txBody>
                  <a:tcPr/>
                </a:tc>
                <a:tc>
                  <a:txBody>
                    <a:bodyPr/>
                    <a:lstStyle/>
                    <a:p>
                      <a:r>
                        <a:rPr lang="en-US" dirty="0"/>
                        <a:t>17,000,000</a:t>
                      </a:r>
                    </a:p>
                  </a:txBody>
                  <a:tcPr/>
                </a:tc>
                <a:tc>
                  <a:txBody>
                    <a:bodyPr/>
                    <a:lstStyle/>
                    <a:p>
                      <a:r>
                        <a:rPr lang="en-US" dirty="0"/>
                        <a:t>2,000,000</a:t>
                      </a:r>
                    </a:p>
                  </a:txBody>
                  <a:tcPr/>
                </a:tc>
                <a:extLst>
                  <a:ext uri="{0D108BD9-81ED-4DB2-BD59-A6C34878D82A}">
                    <a16:rowId xmlns:a16="http://schemas.microsoft.com/office/drawing/2014/main" val="878988789"/>
                  </a:ext>
                </a:extLst>
              </a:tr>
              <a:tr h="659476">
                <a:tc>
                  <a:txBody>
                    <a:bodyPr/>
                    <a:lstStyle/>
                    <a:p>
                      <a:r>
                        <a:rPr lang="en-US" dirty="0"/>
                        <a:t>5</a:t>
                      </a:r>
                    </a:p>
                  </a:txBody>
                  <a:tcPr/>
                </a:tc>
                <a:tc>
                  <a:txBody>
                    <a:bodyPr/>
                    <a:lstStyle/>
                    <a:p>
                      <a:r>
                        <a:rPr lang="en-US" dirty="0"/>
                        <a:t>ISAAC</a:t>
                      </a:r>
                    </a:p>
                  </a:txBody>
                  <a:tcPr/>
                </a:tc>
                <a:tc>
                  <a:txBody>
                    <a:bodyPr/>
                    <a:lstStyle/>
                    <a:p>
                      <a:r>
                        <a:rPr lang="en-US" dirty="0"/>
                        <a:t>136,000,000</a:t>
                      </a:r>
                    </a:p>
                  </a:txBody>
                  <a:tcPr/>
                </a:tc>
                <a:tc>
                  <a:txBody>
                    <a:bodyPr/>
                    <a:lstStyle/>
                    <a:p>
                      <a:r>
                        <a:rPr lang="en-US" dirty="0"/>
                        <a:t>10,000,000</a:t>
                      </a:r>
                    </a:p>
                    <a:p>
                      <a:endParaRPr lang="en-US" dirty="0"/>
                    </a:p>
                  </a:txBody>
                  <a:tcPr/>
                </a:tc>
                <a:extLst>
                  <a:ext uri="{0D108BD9-81ED-4DB2-BD59-A6C34878D82A}">
                    <a16:rowId xmlns:a16="http://schemas.microsoft.com/office/drawing/2014/main" val="1053508312"/>
                  </a:ext>
                </a:extLst>
              </a:tr>
            </a:tbl>
          </a:graphicData>
        </a:graphic>
      </p:graphicFrame>
    </p:spTree>
    <p:extLst>
      <p:ext uri="{BB962C8B-B14F-4D97-AF65-F5344CB8AC3E}">
        <p14:creationId xmlns:p14="http://schemas.microsoft.com/office/powerpoint/2010/main" val="2791874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1B862-7598-1C9E-4C91-44C8FA6C4814}"/>
              </a:ext>
            </a:extLst>
          </p:cNvPr>
          <p:cNvSpPr>
            <a:spLocks noGrp="1"/>
          </p:cNvSpPr>
          <p:nvPr>
            <p:ph type="title"/>
          </p:nvPr>
        </p:nvSpPr>
        <p:spPr>
          <a:xfrm>
            <a:off x="1451579" y="166256"/>
            <a:ext cx="9603275" cy="1039090"/>
          </a:xfrm>
        </p:spPr>
        <p:txBody>
          <a:bodyPr>
            <a:normAutofit/>
          </a:bodyPr>
          <a:lstStyle/>
          <a:p>
            <a:r>
              <a:rPr lang="en-US" cap="none" dirty="0"/>
              <a:t>Determine their chargeable income and using the table bellow calculate their income tax</a:t>
            </a:r>
            <a:endParaRPr lang="en-US" dirty="0"/>
          </a:p>
        </p:txBody>
      </p:sp>
      <p:graphicFrame>
        <p:nvGraphicFramePr>
          <p:cNvPr id="5" name="Content Placeholder 4">
            <a:extLst>
              <a:ext uri="{FF2B5EF4-FFF2-40B4-BE49-F238E27FC236}">
                <a16:creationId xmlns:a16="http://schemas.microsoft.com/office/drawing/2014/main" id="{F6A39CE4-6164-6E28-8EB5-4EA83F71C0E5}"/>
              </a:ext>
            </a:extLst>
          </p:cNvPr>
          <p:cNvGraphicFramePr>
            <a:graphicFrameLocks noGrp="1"/>
          </p:cNvGraphicFramePr>
          <p:nvPr>
            <p:ph idx="1"/>
            <p:extLst>
              <p:ext uri="{D42A27DB-BD31-4B8C-83A1-F6EECF244321}">
                <p14:modId xmlns:p14="http://schemas.microsoft.com/office/powerpoint/2010/main" val="960848363"/>
              </p:ext>
            </p:extLst>
          </p:nvPr>
        </p:nvGraphicFramePr>
        <p:xfrm>
          <a:off x="318656" y="2016125"/>
          <a:ext cx="11471562" cy="4033520"/>
        </p:xfrm>
        <a:graphic>
          <a:graphicData uri="http://schemas.openxmlformats.org/drawingml/2006/table">
            <a:tbl>
              <a:tblPr firstRow="1" bandRow="1">
                <a:tableStyleId>{5C22544A-7EE6-4342-B048-85BDC9FD1C3A}</a:tableStyleId>
              </a:tblPr>
              <a:tblGrid>
                <a:gridCol w="761999">
                  <a:extLst>
                    <a:ext uri="{9D8B030D-6E8A-4147-A177-3AD203B41FA5}">
                      <a16:colId xmlns:a16="http://schemas.microsoft.com/office/drawing/2014/main" val="422328010"/>
                    </a:ext>
                  </a:extLst>
                </a:gridCol>
                <a:gridCol w="5015345">
                  <a:extLst>
                    <a:ext uri="{9D8B030D-6E8A-4147-A177-3AD203B41FA5}">
                      <a16:colId xmlns:a16="http://schemas.microsoft.com/office/drawing/2014/main" val="167826676"/>
                    </a:ext>
                  </a:extLst>
                </a:gridCol>
                <a:gridCol w="5694218">
                  <a:extLst>
                    <a:ext uri="{9D8B030D-6E8A-4147-A177-3AD203B41FA5}">
                      <a16:colId xmlns:a16="http://schemas.microsoft.com/office/drawing/2014/main" val="181736824"/>
                    </a:ext>
                  </a:extLst>
                </a:gridCol>
              </a:tblGrid>
              <a:tr h="370840">
                <a:tc>
                  <a:txBody>
                    <a:bodyPr/>
                    <a:lstStyle/>
                    <a:p>
                      <a:endParaRPr lang="en-US"/>
                    </a:p>
                  </a:txBody>
                  <a:tcPr/>
                </a:tc>
                <a:tc>
                  <a:txBody>
                    <a:bodyPr/>
                    <a:lstStyle/>
                    <a:p>
                      <a:r>
                        <a:rPr lang="en-US" dirty="0"/>
                        <a:t>ANNUAL CHARGEABLE INCOME</a:t>
                      </a:r>
                    </a:p>
                  </a:txBody>
                  <a:tcPr/>
                </a:tc>
                <a:tc>
                  <a:txBody>
                    <a:bodyPr/>
                    <a:lstStyle/>
                    <a:p>
                      <a:r>
                        <a:rPr lang="en-US" dirty="0"/>
                        <a:t>TAX RATE (BRACKET)</a:t>
                      </a:r>
                    </a:p>
                  </a:txBody>
                  <a:tcPr/>
                </a:tc>
                <a:extLst>
                  <a:ext uri="{0D108BD9-81ED-4DB2-BD59-A6C34878D82A}">
                    <a16:rowId xmlns:a16="http://schemas.microsoft.com/office/drawing/2014/main" val="3986275218"/>
                  </a:ext>
                </a:extLst>
              </a:tr>
              <a:tr h="370840">
                <a:tc>
                  <a:txBody>
                    <a:bodyPr/>
                    <a:lstStyle/>
                    <a:p>
                      <a:r>
                        <a:rPr lang="en-US" dirty="0"/>
                        <a:t>1</a:t>
                      </a:r>
                    </a:p>
                  </a:txBody>
                  <a:tcPr/>
                </a:tc>
                <a:tc>
                  <a:txBody>
                    <a:bodyPr/>
                    <a:lstStyle/>
                    <a:p>
                      <a:r>
                        <a:rPr lang="en-US" dirty="0"/>
                        <a:t>Not exceeding </a:t>
                      </a:r>
                      <a:r>
                        <a:rPr lang="en-US" dirty="0" err="1"/>
                        <a:t>shs</a:t>
                      </a:r>
                      <a:r>
                        <a:rPr lang="en-US" dirty="0"/>
                        <a:t> 2,820,000</a:t>
                      </a:r>
                    </a:p>
                  </a:txBody>
                  <a:tcPr/>
                </a:tc>
                <a:tc>
                  <a:txBody>
                    <a:bodyPr/>
                    <a:lstStyle/>
                    <a:p>
                      <a:r>
                        <a:rPr lang="en-US" dirty="0"/>
                        <a:t>Nil </a:t>
                      </a:r>
                    </a:p>
                  </a:txBody>
                  <a:tcPr/>
                </a:tc>
                <a:extLst>
                  <a:ext uri="{0D108BD9-81ED-4DB2-BD59-A6C34878D82A}">
                    <a16:rowId xmlns:a16="http://schemas.microsoft.com/office/drawing/2014/main" val="2351269245"/>
                  </a:ext>
                </a:extLst>
              </a:tr>
              <a:tr h="370840">
                <a:tc>
                  <a:txBody>
                    <a:bodyPr/>
                    <a:lstStyle/>
                    <a:p>
                      <a:r>
                        <a:rPr lang="en-US" dirty="0"/>
                        <a:t>2</a:t>
                      </a:r>
                    </a:p>
                  </a:txBody>
                  <a:tcPr/>
                </a:tc>
                <a:tc>
                  <a:txBody>
                    <a:bodyPr/>
                    <a:lstStyle/>
                    <a:p>
                      <a:r>
                        <a:rPr lang="en-US" dirty="0"/>
                        <a:t>Exceeding </a:t>
                      </a:r>
                      <a:r>
                        <a:rPr lang="en-US" dirty="0" err="1"/>
                        <a:t>shs</a:t>
                      </a:r>
                      <a:r>
                        <a:rPr lang="en-US" dirty="0"/>
                        <a:t> 2,820,000 but not Exceeding </a:t>
                      </a:r>
                      <a:r>
                        <a:rPr lang="en-US" dirty="0" err="1"/>
                        <a:t>shs</a:t>
                      </a:r>
                      <a:r>
                        <a:rPr lang="en-US" dirty="0"/>
                        <a:t> 4,020,000</a:t>
                      </a:r>
                    </a:p>
                  </a:txBody>
                  <a:tcPr/>
                </a:tc>
                <a:tc>
                  <a:txBody>
                    <a:bodyPr/>
                    <a:lstStyle/>
                    <a:p>
                      <a:r>
                        <a:rPr lang="en-US" dirty="0"/>
                        <a:t>10% of the amount by which chargeable income exceeds </a:t>
                      </a:r>
                      <a:r>
                        <a:rPr lang="en-US" dirty="0" err="1"/>
                        <a:t>shs</a:t>
                      </a:r>
                      <a:r>
                        <a:rPr lang="en-US" dirty="0"/>
                        <a:t> 2,820,000</a:t>
                      </a:r>
                    </a:p>
                  </a:txBody>
                  <a:tcPr/>
                </a:tc>
                <a:extLst>
                  <a:ext uri="{0D108BD9-81ED-4DB2-BD59-A6C34878D82A}">
                    <a16:rowId xmlns:a16="http://schemas.microsoft.com/office/drawing/2014/main" val="1847486654"/>
                  </a:ext>
                </a:extLst>
              </a:tr>
              <a:tr h="370840">
                <a:tc>
                  <a:txBody>
                    <a:bodyPr/>
                    <a:lstStyle/>
                    <a:p>
                      <a:r>
                        <a:rPr lang="en-US" dirty="0"/>
                        <a:t>3</a:t>
                      </a:r>
                    </a:p>
                  </a:txBody>
                  <a:tcPr/>
                </a:tc>
                <a:tc>
                  <a:txBody>
                    <a:bodyPr/>
                    <a:lstStyle/>
                    <a:p>
                      <a:r>
                        <a:rPr lang="en-US" dirty="0"/>
                        <a:t>Exceeding </a:t>
                      </a:r>
                      <a:r>
                        <a:rPr lang="en-US" dirty="0" err="1"/>
                        <a:t>shs</a:t>
                      </a:r>
                      <a:r>
                        <a:rPr lang="en-US" dirty="0"/>
                        <a:t> 4,020,000 but not Exceeding </a:t>
                      </a:r>
                      <a:r>
                        <a:rPr lang="en-US" dirty="0" err="1"/>
                        <a:t>shs</a:t>
                      </a:r>
                      <a:r>
                        <a:rPr lang="en-US" dirty="0"/>
                        <a:t> 4,920,000</a:t>
                      </a:r>
                    </a:p>
                  </a:txBody>
                  <a:tcPr/>
                </a:tc>
                <a:tc>
                  <a:txBody>
                    <a:bodyPr/>
                    <a:lstStyle/>
                    <a:p>
                      <a:r>
                        <a:rPr lang="en-US" dirty="0" err="1"/>
                        <a:t>Shs</a:t>
                      </a:r>
                      <a:r>
                        <a:rPr lang="en-US" dirty="0"/>
                        <a:t> 120,000 plus 20% of the amount by which chargeable income exceeds </a:t>
                      </a:r>
                      <a:r>
                        <a:rPr lang="en-US" dirty="0" err="1"/>
                        <a:t>shs</a:t>
                      </a:r>
                      <a:r>
                        <a:rPr lang="en-US" dirty="0"/>
                        <a:t> 4,020,000</a:t>
                      </a:r>
                    </a:p>
                  </a:txBody>
                  <a:tcPr/>
                </a:tc>
                <a:extLst>
                  <a:ext uri="{0D108BD9-81ED-4DB2-BD59-A6C34878D82A}">
                    <a16:rowId xmlns:a16="http://schemas.microsoft.com/office/drawing/2014/main" val="2866712751"/>
                  </a:ext>
                </a:extLst>
              </a:tr>
              <a:tr h="370840">
                <a:tc>
                  <a:txBody>
                    <a:bodyPr/>
                    <a:lstStyle/>
                    <a:p>
                      <a:r>
                        <a:rPr lang="en-US" dirty="0"/>
                        <a:t>4</a:t>
                      </a:r>
                    </a:p>
                  </a:txBody>
                  <a:tcPr/>
                </a:tc>
                <a:tc>
                  <a:txBody>
                    <a:bodyPr/>
                    <a:lstStyle/>
                    <a:p>
                      <a:r>
                        <a:rPr lang="en-US" dirty="0"/>
                        <a:t>Exceeding </a:t>
                      </a:r>
                      <a:r>
                        <a:rPr lang="en-US" dirty="0" err="1"/>
                        <a:t>shs</a:t>
                      </a:r>
                      <a:r>
                        <a:rPr lang="en-US" dirty="0"/>
                        <a:t> 4,920,000</a:t>
                      </a:r>
                    </a:p>
                  </a:txBody>
                  <a:tcPr/>
                </a:tc>
                <a:tc>
                  <a:txBody>
                    <a:bodyPr/>
                    <a:lstStyle/>
                    <a:p>
                      <a:pPr marL="342900" indent="-342900">
                        <a:buAutoNum type="alphaLcParenBoth"/>
                      </a:pPr>
                      <a:r>
                        <a:rPr lang="en-US" dirty="0" err="1"/>
                        <a:t>Shs</a:t>
                      </a:r>
                      <a:r>
                        <a:rPr lang="en-US" dirty="0"/>
                        <a:t> 300,000 plus 30% of the amount by which chargeable income exceeds </a:t>
                      </a:r>
                      <a:r>
                        <a:rPr lang="en-US" dirty="0" err="1"/>
                        <a:t>shs</a:t>
                      </a:r>
                      <a:r>
                        <a:rPr lang="en-US" dirty="0"/>
                        <a:t> 4,920,000</a:t>
                      </a:r>
                    </a:p>
                    <a:p>
                      <a:pPr marL="342900" indent="-342900">
                        <a:buAutoNum type="alphaLcParenBoth"/>
                      </a:pPr>
                      <a:endParaRPr lang="en-US" dirty="0"/>
                    </a:p>
                    <a:p>
                      <a:pPr marL="342900" indent="-342900">
                        <a:buAutoNum type="alphaLcParenBoth"/>
                      </a:pPr>
                      <a:r>
                        <a:rPr lang="en-US" dirty="0"/>
                        <a:t>When the chargeable income of an individual exceeds </a:t>
                      </a:r>
                      <a:r>
                        <a:rPr lang="en-US" dirty="0" err="1"/>
                        <a:t>shs</a:t>
                      </a:r>
                      <a:r>
                        <a:rPr lang="en-US" dirty="0"/>
                        <a:t> 120,000,000 an additional 10% chargeable on he amount by which chargeable income exceeds </a:t>
                      </a:r>
                      <a:r>
                        <a:rPr lang="en-US" dirty="0" err="1"/>
                        <a:t>shs</a:t>
                      </a:r>
                      <a:r>
                        <a:rPr lang="en-US" dirty="0"/>
                        <a:t> 120,000,000</a:t>
                      </a:r>
                    </a:p>
                  </a:txBody>
                  <a:tcPr/>
                </a:tc>
                <a:extLst>
                  <a:ext uri="{0D108BD9-81ED-4DB2-BD59-A6C34878D82A}">
                    <a16:rowId xmlns:a16="http://schemas.microsoft.com/office/drawing/2014/main" val="3634240557"/>
                  </a:ext>
                </a:extLst>
              </a:tr>
            </a:tbl>
          </a:graphicData>
        </a:graphic>
      </p:graphicFrame>
    </p:spTree>
    <p:extLst>
      <p:ext uri="{BB962C8B-B14F-4D97-AF65-F5344CB8AC3E}">
        <p14:creationId xmlns:p14="http://schemas.microsoft.com/office/powerpoint/2010/main" val="3676773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7F063-DE66-C571-AD27-0E5ADF27BBDE}"/>
              </a:ext>
            </a:extLst>
          </p:cNvPr>
          <p:cNvSpPr>
            <a:spLocks noGrp="1"/>
          </p:cNvSpPr>
          <p:nvPr>
            <p:ph type="title"/>
          </p:nvPr>
        </p:nvSpPr>
        <p:spPr/>
        <p:txBody>
          <a:bodyPr/>
          <a:lstStyle/>
          <a:p>
            <a:r>
              <a:rPr lang="en-US" dirty="0" err="1"/>
              <a:t>Waako’s</a:t>
            </a:r>
            <a:r>
              <a:rPr lang="en-US" dirty="0"/>
              <a:t> chargeable income </a:t>
            </a:r>
          </a:p>
        </p:txBody>
      </p:sp>
      <p:sp>
        <p:nvSpPr>
          <p:cNvPr id="3" name="Content Placeholder 2">
            <a:extLst>
              <a:ext uri="{FF2B5EF4-FFF2-40B4-BE49-F238E27FC236}">
                <a16:creationId xmlns:a16="http://schemas.microsoft.com/office/drawing/2014/main" id="{2596663B-5B62-8862-BD01-4B60888C654C}"/>
              </a:ext>
            </a:extLst>
          </p:cNvPr>
          <p:cNvSpPr>
            <a:spLocks noGrp="1"/>
          </p:cNvSpPr>
          <p:nvPr>
            <p:ph idx="1"/>
          </p:nvPr>
        </p:nvSpPr>
        <p:spPr>
          <a:xfrm>
            <a:off x="1451579" y="2015732"/>
            <a:ext cx="10297076" cy="3450613"/>
          </a:xfrm>
        </p:spPr>
        <p:txBody>
          <a:bodyPr>
            <a:normAutofit/>
          </a:bodyPr>
          <a:lstStyle/>
          <a:p>
            <a:r>
              <a:rPr lang="en-US" sz="2800" dirty="0"/>
              <a:t>Chargeable income  = GROSS INCOME – ALLOWABLE EXPENSES</a:t>
            </a:r>
          </a:p>
          <a:p>
            <a:pPr marL="0" indent="0">
              <a:buNone/>
            </a:pPr>
            <a:r>
              <a:rPr lang="en-US" sz="2800" dirty="0"/>
              <a:t>Chargeable income     =          75,000,000 – 50,000,000 </a:t>
            </a:r>
          </a:p>
          <a:p>
            <a:pPr marL="0" indent="0">
              <a:buNone/>
            </a:pPr>
            <a:r>
              <a:rPr lang="en-US" sz="2800" dirty="0"/>
              <a:t>Chargeable income     =          </a:t>
            </a:r>
            <a:r>
              <a:rPr lang="en-US" sz="2800" dirty="0" err="1"/>
              <a:t>shs</a:t>
            </a:r>
            <a:r>
              <a:rPr lang="en-US" sz="2800" dirty="0"/>
              <a:t> 25,000,000                       </a:t>
            </a:r>
          </a:p>
        </p:txBody>
      </p:sp>
    </p:spTree>
    <p:extLst>
      <p:ext uri="{BB962C8B-B14F-4D97-AF65-F5344CB8AC3E}">
        <p14:creationId xmlns:p14="http://schemas.microsoft.com/office/powerpoint/2010/main" val="17784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C9B10-A049-191E-BFA4-930A83A2F4B2}"/>
              </a:ext>
            </a:extLst>
          </p:cNvPr>
          <p:cNvSpPr>
            <a:spLocks noGrp="1"/>
          </p:cNvSpPr>
          <p:nvPr>
            <p:ph type="title"/>
          </p:nvPr>
        </p:nvSpPr>
        <p:spPr>
          <a:xfrm>
            <a:off x="540327" y="193965"/>
            <a:ext cx="11305309" cy="1427017"/>
          </a:xfrm>
        </p:spPr>
        <p:txBody>
          <a:bodyPr>
            <a:normAutofit fontScale="90000"/>
          </a:bodyPr>
          <a:lstStyle/>
          <a:p>
            <a:r>
              <a:rPr lang="en-US" dirty="0" err="1"/>
              <a:t>Waako’s</a:t>
            </a:r>
            <a:r>
              <a:rPr lang="en-US" dirty="0"/>
              <a:t> income tax payable</a:t>
            </a:r>
            <a:br>
              <a:rPr lang="en-US" dirty="0"/>
            </a:br>
            <a:br>
              <a:rPr lang="en-US" dirty="0"/>
            </a:br>
            <a:r>
              <a:rPr lang="en-US" sz="2700" dirty="0"/>
              <a:t>income tax payable = </a:t>
            </a:r>
            <a:r>
              <a:rPr lang="en-US" sz="2700" b="1" dirty="0"/>
              <a:t>chargeable income x individual tax rate</a:t>
            </a:r>
            <a:br>
              <a:rPr lang="en-US" dirty="0"/>
            </a:br>
            <a:endParaRPr lang="en-US" dirty="0"/>
          </a:p>
        </p:txBody>
      </p:sp>
      <p:sp>
        <p:nvSpPr>
          <p:cNvPr id="3" name="Content Placeholder 2">
            <a:extLst>
              <a:ext uri="{FF2B5EF4-FFF2-40B4-BE49-F238E27FC236}">
                <a16:creationId xmlns:a16="http://schemas.microsoft.com/office/drawing/2014/main" id="{C91487E7-9524-6929-6196-C4CDCCF8DCCD}"/>
              </a:ext>
            </a:extLst>
          </p:cNvPr>
          <p:cNvSpPr>
            <a:spLocks noGrp="1"/>
          </p:cNvSpPr>
          <p:nvPr>
            <p:ph idx="1"/>
          </p:nvPr>
        </p:nvSpPr>
        <p:spPr>
          <a:xfrm>
            <a:off x="193964" y="2015732"/>
            <a:ext cx="11651671" cy="4094123"/>
          </a:xfrm>
        </p:spPr>
        <p:txBody>
          <a:bodyPr>
            <a:normAutofit/>
          </a:bodyPr>
          <a:lstStyle/>
          <a:p>
            <a:r>
              <a:rPr lang="en-US" sz="2400" dirty="0"/>
              <a:t>WAAKO falls in the 4 fourth category of exceeding </a:t>
            </a:r>
            <a:r>
              <a:rPr lang="en-US" sz="2400" dirty="0" err="1"/>
              <a:t>shs</a:t>
            </a:r>
            <a:r>
              <a:rPr lang="en-US" sz="2400" dirty="0"/>
              <a:t> 4,920,000 and the applicable rate is 30% of the amount by which chargeable income exceeds </a:t>
            </a:r>
            <a:r>
              <a:rPr lang="en-US" sz="2400" dirty="0" err="1"/>
              <a:t>shs</a:t>
            </a:r>
            <a:r>
              <a:rPr lang="en-US" sz="2400" dirty="0"/>
              <a:t> 4,920,000 plus </a:t>
            </a:r>
            <a:r>
              <a:rPr lang="en-US" sz="2400" dirty="0" err="1"/>
              <a:t>shs</a:t>
            </a:r>
            <a:r>
              <a:rPr lang="en-US" sz="2400" dirty="0"/>
              <a:t> 300,000</a:t>
            </a:r>
          </a:p>
          <a:p>
            <a:pPr marL="0" indent="0">
              <a:buNone/>
            </a:pPr>
            <a:r>
              <a:rPr lang="en-US" sz="2400" dirty="0"/>
              <a:t>Tax payable = 300,000 + (25,000,000 – 4,920,000) x 30%</a:t>
            </a:r>
          </a:p>
          <a:p>
            <a:pPr marL="0" indent="0">
              <a:buNone/>
            </a:pPr>
            <a:r>
              <a:rPr lang="en-US" sz="2400" dirty="0"/>
              <a:t>	        = 300,000 + 20,080,000 x 30%</a:t>
            </a:r>
          </a:p>
          <a:p>
            <a:pPr marL="0" indent="0">
              <a:buNone/>
            </a:pPr>
            <a:r>
              <a:rPr lang="en-US" sz="2400" dirty="0"/>
              <a:t>                    = 300,000 + 6,024,000</a:t>
            </a:r>
          </a:p>
          <a:p>
            <a:pPr marL="0" indent="0">
              <a:buNone/>
            </a:pPr>
            <a:r>
              <a:rPr lang="en-US" sz="2400" dirty="0"/>
              <a:t>Individual income tax payable = </a:t>
            </a:r>
            <a:r>
              <a:rPr lang="en-US" sz="2400" dirty="0" err="1"/>
              <a:t>shs</a:t>
            </a:r>
            <a:r>
              <a:rPr lang="en-US" sz="2400" dirty="0"/>
              <a:t> 6,324,000</a:t>
            </a:r>
          </a:p>
        </p:txBody>
      </p:sp>
    </p:spTree>
    <p:extLst>
      <p:ext uri="{BB962C8B-B14F-4D97-AF65-F5344CB8AC3E}">
        <p14:creationId xmlns:p14="http://schemas.microsoft.com/office/powerpoint/2010/main" val="176426925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650</TotalTime>
  <Words>1278</Words>
  <Application>Microsoft Office PowerPoint</Application>
  <PresentationFormat>Widescreen</PresentationFormat>
  <Paragraphs>144</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Gill Sans MT</vt:lpstr>
      <vt:lpstr>Wingdings</vt:lpstr>
      <vt:lpstr>Gallery</vt:lpstr>
      <vt:lpstr>TAX COMPLIANCE</vt:lpstr>
      <vt:lpstr>LEARNING OUT COMES THE LEARNERS SHOULD BE ABLE TO;</vt:lpstr>
      <vt:lpstr>TAX COMPLIANCE </vt:lpstr>
      <vt:lpstr>Tax compliance is based on</vt:lpstr>
      <vt:lpstr>FACTORS INFLUENCING TAX COMPLIANCE</vt:lpstr>
      <vt:lpstr>c</vt:lpstr>
      <vt:lpstr>ELEMENTS OF TAX COMPLIANCE. IN GROUPS EXPLAIN THE FOLLOWING ELEMENTS OF TAX     COMPLIANCE</vt:lpstr>
      <vt:lpstr>NON TAX COMPLIANT</vt:lpstr>
      <vt:lpstr>Indicators of non-tax compliance</vt:lpstr>
      <vt:lpstr>PowerPoint Presentation</vt:lpstr>
      <vt:lpstr>ADVANTAGES OF TAX COMPLIANCE</vt:lpstr>
      <vt:lpstr>MEASSURES FOR IMPROVING TAX COMPLIANCE</vt:lpstr>
      <vt:lpstr>1v; reducing the level of corruption among tax officials           and tax payers; v.   improving tax administration; A high level professionalism , integrity and customer care by the tax authorities will encourage tax compliance</vt:lpstr>
      <vt:lpstr>V11. recognizing and rewarding those who are          tax compliant</vt:lpstr>
      <vt:lpstr>Discussion questions</vt:lpstr>
      <vt:lpstr>BASIC TAX COMPUTATION</vt:lpstr>
      <vt:lpstr>TERMS COMMONLY USED IN TAX COMPUTATION</vt:lpstr>
      <vt:lpstr>WITHHOLDING TAX</vt:lpstr>
      <vt:lpstr>TAX BASE; these are the items or economic activities subject to a tax</vt:lpstr>
      <vt:lpstr>BASIC TAXES</vt:lpstr>
      <vt:lpstr>INDIVIDUAL INCOME TAX</vt:lpstr>
      <vt:lpstr>Computation of individual income tax</vt:lpstr>
      <vt:lpstr>Determine their chargeable income and using the table bellow calculate their income tax</vt:lpstr>
      <vt:lpstr>Waako’s chargeable income </vt:lpstr>
      <vt:lpstr>Waako’s income tax payable  income tax payable = chargeable income x individual tax rate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 COMPLIANCE</dc:title>
  <dc:creator>HAVANNAH</dc:creator>
  <cp:lastModifiedBy>HAVANNAH</cp:lastModifiedBy>
  <cp:revision>24</cp:revision>
  <dcterms:created xsi:type="dcterms:W3CDTF">2023-12-19T07:01:30Z</dcterms:created>
  <dcterms:modified xsi:type="dcterms:W3CDTF">2024-01-05T19:12:42Z</dcterms:modified>
</cp:coreProperties>
</file>