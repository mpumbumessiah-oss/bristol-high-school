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87" r:id="rId3"/>
    <p:sldId id="276" r:id="rId4"/>
    <p:sldId id="288" r:id="rId5"/>
    <p:sldId id="277" r:id="rId6"/>
    <p:sldId id="258" r:id="rId7"/>
    <p:sldId id="259" r:id="rId8"/>
    <p:sldId id="260" r:id="rId9"/>
    <p:sldId id="261" r:id="rId10"/>
    <p:sldId id="278" r:id="rId11"/>
    <p:sldId id="279" r:id="rId12"/>
    <p:sldId id="262" r:id="rId13"/>
    <p:sldId id="263" r:id="rId14"/>
    <p:sldId id="264" r:id="rId15"/>
    <p:sldId id="286" r:id="rId16"/>
    <p:sldId id="265" r:id="rId17"/>
    <p:sldId id="266" r:id="rId18"/>
    <p:sldId id="280" r:id="rId19"/>
    <p:sldId id="281" r:id="rId20"/>
    <p:sldId id="282" r:id="rId21"/>
    <p:sldId id="267" r:id="rId22"/>
    <p:sldId id="283" r:id="rId23"/>
    <p:sldId id="284" r:id="rId24"/>
    <p:sldId id="268" r:id="rId25"/>
    <p:sldId id="269" r:id="rId26"/>
    <p:sldId id="285" r:id="rId27"/>
    <p:sldId id="270" r:id="rId28"/>
    <p:sldId id="272" r:id="rId29"/>
    <p:sldId id="273" r:id="rId30"/>
    <p:sldId id="274" r:id="rId31"/>
    <p:sldId id="271" r:id="rId32"/>
    <p:sldId id="27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86819" autoAdjust="0"/>
  </p:normalViewPr>
  <p:slideViewPr>
    <p:cSldViewPr snapToGrid="0">
      <p:cViewPr varScale="1">
        <p:scale>
          <a:sx n="56" d="100"/>
          <a:sy n="56" d="100"/>
        </p:scale>
        <p:origin x="12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919" y="221831"/>
            <a:ext cx="9784080" cy="1508760"/>
          </a:xfrm>
        </p:spPr>
        <p:txBody>
          <a:bodyPr/>
          <a:lstStyle/>
          <a:p>
            <a:r>
              <a:rPr lang="en-US" dirty="0"/>
              <a:t>Business start up process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4596"/>
            <a:ext cx="12191999" cy="5003404"/>
          </a:xfrm>
        </p:spPr>
      </p:pic>
    </p:spTree>
    <p:extLst>
      <p:ext uri="{BB962C8B-B14F-4D97-AF65-F5344CB8AC3E}">
        <p14:creationId xmlns:p14="http://schemas.microsoft.com/office/powerpoint/2010/main" val="83757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AAB3-4687-2CF8-97B8-CB001341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Sub-topics</a:t>
            </a:r>
            <a:br>
              <a:rPr lang="en-US" dirty="0"/>
            </a:br>
            <a:r>
              <a:rPr lang="en-US" dirty="0"/>
              <a:t> IN BUSINESS START UP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5136-585C-0ECE-C687-D7917385C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STEPS IN STARTING A BUSINESS</a:t>
            </a:r>
          </a:p>
          <a:p>
            <a:r>
              <a:rPr lang="en-US" sz="4000" dirty="0"/>
              <a:t>SOURCES OF BUSINESS FINANCE </a:t>
            </a:r>
          </a:p>
          <a:p>
            <a:r>
              <a:rPr lang="en-US" sz="4000" dirty="0"/>
              <a:t>SAVINGS AND INVESTIMENT </a:t>
            </a:r>
          </a:p>
          <a:p>
            <a:r>
              <a:rPr lang="en-US" sz="4000" dirty="0"/>
              <a:t>LOCATION OF A BUSINESS v</a:t>
            </a:r>
          </a:p>
        </p:txBody>
      </p:sp>
    </p:spTree>
    <p:extLst>
      <p:ext uri="{BB962C8B-B14F-4D97-AF65-F5344CB8AC3E}">
        <p14:creationId xmlns:p14="http://schemas.microsoft.com/office/powerpoint/2010/main" val="222070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4D696-F7EF-301C-D586-59B91F7D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Competen</a:t>
            </a:r>
            <a:r>
              <a:rPr lang="en-US"/>
              <a:t>    cy</a:t>
            </a:r>
            <a:r>
              <a:rPr lang="en-US" dirty="0"/>
              <a:t>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47D3A-9321-B043-654D-B5085FB25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6000" dirty="0">
                <a:latin typeface="Franklin Gothic Medium Cond" panose="020B0606030402020204" pitchFamily="34" charset="0"/>
                <a:cs typeface="Times New Roman" panose="02020603050405020304" pitchFamily="18" charset="0"/>
              </a:rPr>
              <a:t>By the end of this chapter the learners should be able to  understand the steps involved in starting up a business , save money and invest  in a profitable venture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E05D85-7AC7-80B7-0B32-01635AE514C5}"/>
              </a:ext>
            </a:extLst>
          </p:cNvPr>
          <p:cNvCxnSpPr/>
          <p:nvPr/>
        </p:nvCxnSpPr>
        <p:spPr>
          <a:xfrm>
            <a:off x="4054415" y="201168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258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4D55-7C89-ACF1-623A-8F4116CC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STARTING UP A BUSINESS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AC180E-7316-3B93-7BE1-4A52A32AF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98202" y="1805876"/>
            <a:ext cx="4618617" cy="495156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08DE53-ADFC-6F76-4C1B-D9E5B89C2A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27" r="2825" b="30063"/>
          <a:stretch/>
        </p:blipFill>
        <p:spPr>
          <a:xfrm>
            <a:off x="4320414" y="1839702"/>
            <a:ext cx="3874679" cy="49515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81BF53-960F-F796-753E-B200982E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094" y="1839702"/>
            <a:ext cx="3986138" cy="501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1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A01F-6954-5446-598D-A3B1558B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40" y="129395"/>
            <a:ext cx="9784080" cy="171665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Learning outcomes</a:t>
            </a:r>
            <a:br>
              <a:rPr lang="en-US" dirty="0"/>
            </a:br>
            <a:r>
              <a:rPr lang="en-US" dirty="0"/>
              <a:t>the learners should be able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B2D27-59BA-F796-D7B8-5ADFEC04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309" y="2122098"/>
            <a:ext cx="11421374" cy="46065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Identify the factors that enable an individual to start up a business , including some basic principles of effective record keeping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Apply the correct steps in starting up a business which will eventually lead to developing a business plan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Prepare a budget , recognizing its values to business development </a:t>
            </a:r>
          </a:p>
        </p:txBody>
      </p:sp>
    </p:spTree>
    <p:extLst>
      <p:ext uri="{BB962C8B-B14F-4D97-AF65-F5344CB8AC3E}">
        <p14:creationId xmlns:p14="http://schemas.microsoft.com/office/powerpoint/2010/main" val="273125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343" y="284176"/>
            <a:ext cx="10417656" cy="1419933"/>
          </a:xfrm>
        </p:spPr>
        <p:txBody>
          <a:bodyPr>
            <a:normAutofit fontScale="90000"/>
          </a:bodyPr>
          <a:lstStyle/>
          <a:p>
            <a:r>
              <a:rPr lang="en-US" cap="none" dirty="0"/>
              <a:t>FACTORS THAT ENABLE AN INDIVIDUAL TO START UP A BUSINESS</a:t>
            </a:r>
            <a:br>
              <a:rPr lang="en-US" cap="none" dirty="0"/>
            </a:b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Personal interest in the business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Technical skills for the business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Presence of government support in terms of tax incentives and subsidies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Presence of market for the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Inspirational from successful business role models</a:t>
            </a:r>
          </a:p>
        </p:txBody>
      </p:sp>
    </p:spTree>
    <p:extLst>
      <p:ext uri="{BB962C8B-B14F-4D97-AF65-F5344CB8AC3E}">
        <p14:creationId xmlns:p14="http://schemas.microsoft.com/office/powerpoint/2010/main" val="2225667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28" y="284176"/>
            <a:ext cx="9784080" cy="1508760"/>
          </a:xfrm>
        </p:spPr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676" y="1792936"/>
            <a:ext cx="10478432" cy="5065064"/>
          </a:xfrm>
        </p:spPr>
        <p:txBody>
          <a:bodyPr>
            <a:normAutofit/>
          </a:bodyPr>
          <a:lstStyle/>
          <a:p>
            <a:r>
              <a:rPr lang="en-US" sz="3600" dirty="0"/>
              <a:t>High degree of creativity and innovation of an individual</a:t>
            </a:r>
          </a:p>
          <a:p>
            <a:r>
              <a:rPr lang="en-US" sz="3600" dirty="0"/>
              <a:t>Presence of raw materials/ in puts to use in the  business</a:t>
            </a:r>
          </a:p>
          <a:p>
            <a:r>
              <a:rPr lang="en-US" sz="3600" dirty="0"/>
              <a:t>Presence of well developed infrastructure </a:t>
            </a:r>
            <a:r>
              <a:rPr lang="en-US" sz="3600" dirty="0" err="1"/>
              <a:t>e.g</a:t>
            </a:r>
            <a:r>
              <a:rPr lang="en-US" sz="3600" dirty="0"/>
              <a:t> roads, </a:t>
            </a:r>
          </a:p>
          <a:p>
            <a:r>
              <a:rPr lang="en-US" sz="3600" dirty="0"/>
              <a:t>Security in the area </a:t>
            </a:r>
          </a:p>
          <a:p>
            <a:r>
              <a:rPr lang="en-US" sz="3600" dirty="0"/>
              <a:t>Availability of power/ electricity </a:t>
            </a:r>
          </a:p>
          <a:p>
            <a:r>
              <a:rPr lang="en-US" sz="3600" dirty="0"/>
              <a:t>Presence of </a:t>
            </a:r>
            <a:r>
              <a:rPr lang="en-US" sz="3600" dirty="0" err="1"/>
              <a:t>labour</a:t>
            </a:r>
            <a:r>
              <a:rPr lang="en-US" sz="3600" dirty="0"/>
              <a:t> 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33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starting a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Identifying potential business opportunity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Selecting a suitable business opportunity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Carrying out Market survey for the selected business opportunity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Preparing a business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Mobilizing the necessary resources</a:t>
            </a:r>
          </a:p>
        </p:txBody>
      </p:sp>
    </p:spTree>
    <p:extLst>
      <p:ext uri="{BB962C8B-B14F-4D97-AF65-F5344CB8AC3E}">
        <p14:creationId xmlns:p14="http://schemas.microsoft.com/office/powerpoint/2010/main" val="2705980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84632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Completing all the legal requirements before business starts</a:t>
            </a:r>
          </a:p>
          <a:p>
            <a:r>
              <a:rPr lang="en-US" sz="3600" dirty="0"/>
              <a:t>Selecting the location</a:t>
            </a:r>
          </a:p>
          <a:p>
            <a:r>
              <a:rPr lang="en-US" sz="3600" dirty="0"/>
              <a:t>Preparing a marketing plan </a:t>
            </a:r>
          </a:p>
          <a:p>
            <a:r>
              <a:rPr lang="en-US" sz="3600" dirty="0"/>
              <a:t>Launching the enterprise </a:t>
            </a:r>
          </a:p>
          <a:p>
            <a:r>
              <a:rPr lang="en-US" sz="3600" dirty="0"/>
              <a:t>Managing the business operations </a:t>
            </a:r>
          </a:p>
          <a:p>
            <a:r>
              <a:rPr lang="en-US" sz="3600" dirty="0"/>
              <a:t>QN. MENTION THE SOURCES OF BUSINESS FINANCE</a:t>
            </a:r>
          </a:p>
        </p:txBody>
      </p:sp>
    </p:spTree>
    <p:extLst>
      <p:ext uri="{BB962C8B-B14F-4D97-AF65-F5344CB8AC3E}">
        <p14:creationId xmlns:p14="http://schemas.microsoft.com/office/powerpoint/2010/main" val="75693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1E18-20E6-66B4-99AC-CE1241D0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CF68-B9F9-74E3-C40A-808ECEE81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GROUPS DISCUSS THE FACTORS THAT INFLUENCED KAKIRA SUGAR FACTORY TO BE LOCAED IN JINJA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 REASSONS WHY MORE FACTORIES WERE ATTRACTED TO THAT 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1F5C6-7F9A-0965-96C4-E69DB94BA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765" y="2794958"/>
            <a:ext cx="3370249" cy="28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2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8626-DF50-8669-7DCB-6877480B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BUSINESS FINANCE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LEARNING OUT 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B2D9C-2DED-E565-90E6-8054C2F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1680"/>
            <a:ext cx="12042475" cy="4562144"/>
          </a:xfrm>
        </p:spPr>
        <p:txBody>
          <a:bodyPr/>
          <a:lstStyle/>
          <a:p>
            <a:endParaRPr lang="en-US" dirty="0"/>
          </a:p>
          <a:p>
            <a:r>
              <a:rPr lang="en-US" sz="3600" dirty="0">
                <a:solidFill>
                  <a:srgbClr val="FF0000"/>
                </a:solidFill>
              </a:rPr>
              <a:t>THE LEARNERS SHOULD BE ABLE 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IDENTIFY DIFFERENT SOURCES OF BUSINESS FINANCE</a:t>
            </a:r>
          </a:p>
          <a:p>
            <a:pPr marL="0" indent="0">
              <a:buNone/>
            </a:pPr>
            <a:endParaRPr lang="en-US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ASSESS THE BENEFISTS AND CHALLLENGES OF EACH SOURCE OF BUSINESS FINANCE </a:t>
            </a:r>
          </a:p>
        </p:txBody>
      </p:sp>
    </p:spTree>
    <p:extLst>
      <p:ext uri="{BB962C8B-B14F-4D97-AF65-F5344CB8AC3E}">
        <p14:creationId xmlns:p14="http://schemas.microsoft.com/office/powerpoint/2010/main" val="1482788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BUSINESS FINANCE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671383"/>
              </p:ext>
            </p:extLst>
          </p:nvPr>
        </p:nvGraphicFramePr>
        <p:xfrm>
          <a:off x="353292" y="2032144"/>
          <a:ext cx="11596252" cy="4577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9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1637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>
                              <a:lumMod val="90000"/>
                              <a:lumOff val="10000"/>
                            </a:schemeClr>
                          </a:solidFill>
                        </a:rPr>
                        <a:t>1; PERSONAL</a:t>
                      </a:r>
                      <a:r>
                        <a:rPr lang="en-US" sz="3200" baseline="0" dirty="0">
                          <a:solidFill>
                            <a:schemeClr val="bg1">
                              <a:lumMod val="90000"/>
                              <a:lumOff val="10000"/>
                            </a:schemeClr>
                          </a:solidFill>
                        </a:rPr>
                        <a:t>         SAVINGS</a:t>
                      </a:r>
                      <a:endParaRPr lang="en-US" sz="3200" dirty="0">
                        <a:solidFill>
                          <a:schemeClr val="bg1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>
                              <a:lumMod val="90000"/>
                              <a:lumOff val="10000"/>
                            </a:schemeClr>
                          </a:solidFill>
                        </a:rPr>
                        <a:t>2;</a:t>
                      </a:r>
                    </a:p>
                    <a:p>
                      <a:r>
                        <a:rPr lang="en-US" sz="3200" dirty="0">
                          <a:solidFill>
                            <a:schemeClr val="bg1">
                              <a:lumMod val="90000"/>
                              <a:lumOff val="10000"/>
                            </a:schemeClr>
                          </a:solidFill>
                        </a:rPr>
                        <a:t> DONATIONS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>
                              <a:lumMod val="90000"/>
                              <a:lumOff val="10000"/>
                            </a:schemeClr>
                          </a:solidFill>
                        </a:rPr>
                        <a:t>3; INHERITANCE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>
                              <a:lumMod val="90000"/>
                              <a:lumOff val="10000"/>
                            </a:schemeClr>
                          </a:solidFill>
                        </a:rPr>
                        <a:t>4; BORROWING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637">
                <a:tc>
                  <a:txBody>
                    <a:bodyPr/>
                    <a:lstStyle/>
                    <a:p>
                      <a:r>
                        <a:rPr lang="en-US" sz="3200" dirty="0"/>
                        <a:t>5; </a:t>
                      </a:r>
                      <a:r>
                        <a:rPr lang="en-US" sz="3200" dirty="0">
                          <a:solidFill>
                            <a:schemeClr val="bg1">
                              <a:lumMod val="90000"/>
                              <a:lumOff val="10000"/>
                            </a:schemeClr>
                          </a:solidFill>
                        </a:rPr>
                        <a:t>PROFITS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chemeClr val="accent4"/>
                          </a:solidFill>
                        </a:rPr>
                        <a:t>SOURCES</a:t>
                      </a:r>
                      <a:r>
                        <a:rPr lang="en-US" sz="4800" baseline="0" dirty="0">
                          <a:solidFill>
                            <a:schemeClr val="accent4"/>
                          </a:solidFill>
                        </a:rPr>
                        <a:t> OF BUSINESS FINANCE</a:t>
                      </a:r>
                      <a:endParaRPr lang="en-US" sz="4800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6;SHARES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637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7; BONDS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8; SALE OF PROPETY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9; PRIZES AND REWARDS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10;</a:t>
                      </a:r>
                      <a:r>
                        <a:rPr lang="en-US" sz="3200" baseline="0" dirty="0">
                          <a:solidFill>
                            <a:schemeClr val="bg1"/>
                          </a:solidFill>
                        </a:rPr>
                        <a:t> FAMILY 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CONTRIBUTIONS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5D51A62-3447-C9F1-0371-C286C911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113" y="-105431"/>
            <a:ext cx="2738887" cy="22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7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/ ASSINGNMENT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1. Visit the business community around your home and     ask them as to how they  raised the start up capital</a:t>
            </a:r>
          </a:p>
          <a:p>
            <a:endParaRPr lang="en-US" sz="3200" dirty="0"/>
          </a:p>
          <a:p>
            <a:r>
              <a:rPr lang="en-US" sz="3200" dirty="0"/>
              <a:t>2. Give the benefits of the sources mentioned above</a:t>
            </a:r>
          </a:p>
          <a:p>
            <a:endParaRPr lang="en-US" sz="3200" dirty="0"/>
          </a:p>
          <a:p>
            <a:r>
              <a:rPr lang="en-US" sz="3200" dirty="0"/>
              <a:t>3. What challenges  are associated to the source of capital mentioned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4E444-8819-340C-8F50-33AE39CBC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355" y="0"/>
            <a:ext cx="2790645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64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Savings  </a:t>
            </a:r>
            <a:r>
              <a:rPr lang="en-US"/>
              <a:t>and investment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925" y="1959191"/>
            <a:ext cx="5333820" cy="51897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916" y="1959190"/>
            <a:ext cx="6942084" cy="489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6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6584-6285-9755-58C5-B11C9C6C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 COMES ;</a:t>
            </a:r>
            <a:br>
              <a:rPr lang="en-US" dirty="0"/>
            </a:br>
            <a:r>
              <a:rPr lang="en-US" dirty="0"/>
              <a:t>THE LEARNER SHOULD BE ABLE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9C2E-83CD-229F-7CFF-143FAA31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0" y="2011680"/>
            <a:ext cx="11697417" cy="4846320"/>
          </a:xfrm>
        </p:spPr>
        <p:txBody>
          <a:bodyPr>
            <a:noAutofit/>
          </a:bodyPr>
          <a:lstStyle/>
          <a:p>
            <a:r>
              <a:rPr lang="en-US" sz="3600" dirty="0"/>
              <a:t>Compare and contrast the factors that determine savings and investments </a:t>
            </a:r>
          </a:p>
          <a:p>
            <a:r>
              <a:rPr lang="en-US" sz="3600" dirty="0"/>
              <a:t>Identify the purpose for and form of savings</a:t>
            </a:r>
          </a:p>
          <a:p>
            <a:r>
              <a:rPr lang="en-US" sz="3600" dirty="0"/>
              <a:t>Understand how to prepare a savings plan, including how spread sheet , books and a calculator are used </a:t>
            </a:r>
          </a:p>
          <a:p>
            <a:r>
              <a:rPr lang="en-US" sz="3600" dirty="0"/>
              <a:t>Identify factors to consider before taking an investment </a:t>
            </a:r>
          </a:p>
        </p:txBody>
      </p:sp>
    </p:spTree>
    <p:extLst>
      <p:ext uri="{BB962C8B-B14F-4D97-AF65-F5344CB8AC3E}">
        <p14:creationId xmlns:p14="http://schemas.microsoft.com/office/powerpoint/2010/main" val="1910483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SAVING, IS THE RESERVING OF PART OF ONE’S INCOME FOR FUTURE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INVESTING </a:t>
            </a:r>
          </a:p>
          <a:p>
            <a:pPr marL="0" indent="0">
              <a:buNone/>
            </a:pPr>
            <a:r>
              <a:rPr lang="en-US" sz="3600" dirty="0"/>
              <a:t>IS PUTTING ONE’S SAVINGS IN ANOTHER INCOME GENERATING ACTIVITY(STARTING UP A BUSINESS)</a:t>
            </a:r>
          </a:p>
          <a:p>
            <a:pPr marL="0" indent="0">
              <a:buNone/>
            </a:pPr>
            <a:r>
              <a:rPr lang="en-US" sz="3600" dirty="0"/>
              <a:t> OR  BUYING PRODUCTIVE RESOURCE LIKE LAND, COMMERCIAL VEHICLES</a:t>
            </a:r>
          </a:p>
        </p:txBody>
      </p:sp>
    </p:spTree>
    <p:extLst>
      <p:ext uri="{BB962C8B-B14F-4D97-AF65-F5344CB8AC3E}">
        <p14:creationId xmlns:p14="http://schemas.microsoft.com/office/powerpoint/2010/main" val="4246237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DETERMINE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320" y="2011680"/>
            <a:ext cx="11369615" cy="484632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AVAILABILITY OF FINANCIAL INSTITUTIONS </a:t>
            </a:r>
          </a:p>
          <a:p>
            <a:r>
              <a:rPr lang="en-US" sz="3600" dirty="0"/>
              <a:t>KNOWLEDGE OF THE SAVINGS CULTURE </a:t>
            </a:r>
          </a:p>
          <a:p>
            <a:r>
              <a:rPr lang="en-US" sz="3600" dirty="0"/>
              <a:t>CLEAR GOALS FOR SAVINGS </a:t>
            </a:r>
          </a:p>
          <a:p>
            <a:r>
              <a:rPr lang="en-US" sz="3600" dirty="0"/>
              <a:t>HIGH MOTIVATION FOR SAVING</a:t>
            </a:r>
          </a:p>
          <a:p>
            <a:r>
              <a:rPr lang="en-US" sz="3600" dirty="0"/>
              <a:t>AVIALABILITY OF EMPLOYMENT OPPORTUNITIES</a:t>
            </a:r>
          </a:p>
          <a:p>
            <a:r>
              <a:rPr lang="en-US" sz="3600" dirty="0"/>
              <a:t>HIGH LEVELS OF INFLATION HIGH LEVELS LOWER SAVINGS</a:t>
            </a:r>
          </a:p>
          <a:p>
            <a:r>
              <a:rPr lang="en-US" sz="3600" dirty="0"/>
              <a:t>GOVERNMENT POLICY ON SAVINGS (NSSF, PAYE)</a:t>
            </a:r>
          </a:p>
        </p:txBody>
      </p:sp>
    </p:spTree>
    <p:extLst>
      <p:ext uri="{BB962C8B-B14F-4D97-AF65-F5344CB8AC3E}">
        <p14:creationId xmlns:p14="http://schemas.microsoft.com/office/powerpoint/2010/main" val="2268692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680F-694F-92AD-4B90-B538A358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1B703-76F9-95B8-0BCD-E6A45072C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84075"/>
            <a:ext cx="11973463" cy="48739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LEVEL OF CONSUMPTION , HIGH CONSUPTION LOW SAVINGS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LEVEL OF INCOME HIGH INCOME HIGH SAVING (leaving other factors constant)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CONFIDENCE ABOUT THE FUTURE CERTAINTY</a:t>
            </a:r>
          </a:p>
        </p:txBody>
      </p:sp>
    </p:spTree>
    <p:extLst>
      <p:ext uri="{BB962C8B-B14F-4D97-AF65-F5344CB8AC3E}">
        <p14:creationId xmlns:p14="http://schemas.microsoft.com/office/powerpoint/2010/main" val="4191850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9A7F2-6C71-3BC6-8573-BC2EB6B8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limit savings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1801-8831-A92E-E794-00E52965E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Low levels of income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Ignorance about the benefits of savings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Low desire to save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Unfavorable government policies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Political instability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Low levels of investment in the country</a:t>
            </a:r>
          </a:p>
        </p:txBody>
      </p:sp>
    </p:spTree>
    <p:extLst>
      <p:ext uri="{BB962C8B-B14F-4D97-AF65-F5344CB8AC3E}">
        <p14:creationId xmlns:p14="http://schemas.microsoft.com/office/powerpoint/2010/main" val="1307421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7A90-1973-CD57-691C-55799928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AE1B-5F50-D366-BE04-BC2124BAF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High illiteracy levels</a:t>
            </a:r>
          </a:p>
          <a:p>
            <a:r>
              <a:rPr lang="en-US" sz="4000" dirty="0"/>
              <a:t>Limited banking facilities </a:t>
            </a:r>
          </a:p>
          <a:p>
            <a:r>
              <a:rPr lang="en-US" sz="4000" dirty="0"/>
              <a:t>High cost of living </a:t>
            </a:r>
          </a:p>
          <a:p>
            <a:r>
              <a:rPr lang="en-US" sz="4000" dirty="0"/>
              <a:t>Value of money in a country</a:t>
            </a:r>
          </a:p>
        </p:txBody>
      </p:sp>
    </p:spTree>
    <p:extLst>
      <p:ext uri="{BB962C8B-B14F-4D97-AF65-F5344CB8AC3E}">
        <p14:creationId xmlns:p14="http://schemas.microsoft.com/office/powerpoint/2010/main" val="2618026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DETERMINE INVESTIMENT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AVAILABILITY OF INVESTMENT OPPORTUNITIES</a:t>
            </a:r>
          </a:p>
          <a:p>
            <a:r>
              <a:rPr lang="en-US" sz="3600" dirty="0"/>
              <a:t>FAVOURABLE GORVENMENT POLICIES ON INVESTMENT</a:t>
            </a:r>
          </a:p>
          <a:p>
            <a:r>
              <a:rPr lang="en-US" sz="3600" dirty="0"/>
              <a:t>DETERMINATION TO WORK</a:t>
            </a:r>
          </a:p>
          <a:p>
            <a:r>
              <a:rPr lang="en-US" sz="3600" dirty="0"/>
              <a:t>SECURITY IN THE AREA /COUNTRY</a:t>
            </a:r>
          </a:p>
        </p:txBody>
      </p:sp>
    </p:spTree>
    <p:extLst>
      <p:ext uri="{BB962C8B-B14F-4D97-AF65-F5344CB8AC3E}">
        <p14:creationId xmlns:p14="http://schemas.microsoft.com/office/powerpoint/2010/main" val="3051202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8988-1762-D1D7-D7F4-B1718DD9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PEOPLE WHO SAVE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9D5BB-31A0-38E6-3897-6C7C823C4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2" y="1792936"/>
            <a:ext cx="11933208" cy="50650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are careful in spending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have high motivation in saving and investing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tend to look at and take up each opportunity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forego a lot of things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lead a simple life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are hard working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are always of the look out for investment opportunities </a:t>
            </a:r>
          </a:p>
        </p:txBody>
      </p:sp>
    </p:spTree>
    <p:extLst>
      <p:ext uri="{BB962C8B-B14F-4D97-AF65-F5344CB8AC3E}">
        <p14:creationId xmlns:p14="http://schemas.microsoft.com/office/powerpoint/2010/main" val="533930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9414-4D1C-707A-98C4-2175F38F1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04" y="284176"/>
            <a:ext cx="11404121" cy="1508760"/>
          </a:xfrm>
        </p:spPr>
        <p:txBody>
          <a:bodyPr/>
          <a:lstStyle/>
          <a:p>
            <a:r>
              <a:rPr lang="en-US" dirty="0"/>
              <a:t>Characteristics of people who consume most of their income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3016-8646-FECE-0F25-CA1F657D4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804" y="2011679"/>
            <a:ext cx="11404121" cy="469967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are extravagant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live a luxurious life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have low desire to save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have no investment plans for the future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tend to be unstable whenever they earn income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They always have debts to pay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506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FOR MAKING SAVINGS AND INVESTMENTS 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781" y="2011680"/>
            <a:ext cx="10797218" cy="5010222"/>
          </a:xfrm>
        </p:spPr>
        <p:txBody>
          <a:bodyPr>
            <a:noAutofit/>
          </a:bodyPr>
          <a:lstStyle/>
          <a:p>
            <a:r>
              <a:rPr lang="en-US" sz="3200" dirty="0"/>
              <a:t>AS A PRECAUTION FOR THE FUTURE NEEDS</a:t>
            </a:r>
          </a:p>
          <a:p>
            <a:r>
              <a:rPr lang="en-US" sz="3200" dirty="0"/>
              <a:t>FOR TRANSACTIONS </a:t>
            </a:r>
          </a:p>
          <a:p>
            <a:r>
              <a:rPr lang="en-US" sz="3200" dirty="0"/>
              <a:t>SELF EMPLOYMENT </a:t>
            </a:r>
          </a:p>
          <a:p>
            <a:r>
              <a:rPr lang="en-US" sz="3200" dirty="0"/>
              <a:t>EXPLOITATION OF IDLE RESOURCES</a:t>
            </a:r>
          </a:p>
          <a:p>
            <a:r>
              <a:rPr lang="en-US" sz="3200" dirty="0"/>
              <a:t>EMPLOYMENT OF OTHERS </a:t>
            </a:r>
          </a:p>
          <a:p>
            <a:r>
              <a:rPr lang="en-US" sz="3200" dirty="0"/>
              <a:t>UTLIZATION OF RESOURCES </a:t>
            </a:r>
          </a:p>
          <a:p>
            <a:r>
              <a:rPr lang="en-US" sz="3200" dirty="0"/>
              <a:t>TO IMPROVE THE EQUITY OF THE AVAILABLE ITEMS</a:t>
            </a:r>
          </a:p>
          <a:p>
            <a:r>
              <a:rPr lang="en-US" sz="3200" dirty="0"/>
              <a:t>TO INCREASE INCOME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38751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BY OPENING UP A BANK ACCOUNT AND DEPOSIT YOUR SAVINGS THERE</a:t>
            </a:r>
          </a:p>
          <a:p>
            <a:r>
              <a:rPr lang="en-US" sz="3600" dirty="0"/>
              <a:t>BY BUYING PROPERTIES LIKE LAND,BUILDINGS</a:t>
            </a:r>
          </a:p>
          <a:p>
            <a:r>
              <a:rPr lang="en-US" sz="3600" dirty="0"/>
              <a:t>INVESTING IN BUSINESS</a:t>
            </a:r>
          </a:p>
          <a:p>
            <a:r>
              <a:rPr lang="en-US" sz="3600" dirty="0"/>
              <a:t>BUYING SHARES </a:t>
            </a:r>
          </a:p>
        </p:txBody>
      </p:sp>
    </p:spTree>
    <p:extLst>
      <p:ext uri="{BB962C8B-B14F-4D97-AF65-F5344CB8AC3E}">
        <p14:creationId xmlns:p14="http://schemas.microsoft.com/office/powerpoint/2010/main" val="1674040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FE9A-74F7-719C-9477-C52FDF21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INVESTIMENTS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6A727E-AAA7-25BB-5893-69C323789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92936"/>
            <a:ext cx="3620100" cy="497855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FBF36-BF20-B30C-74FB-4E2B8185F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100" y="1879447"/>
            <a:ext cx="4471478" cy="4978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FC9248-F4DE-750F-7831-211B7793E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578" y="1893639"/>
            <a:ext cx="4097550" cy="497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09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PLAN; MAKING PLANS FOR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IDENTIFY A NEEDS</a:t>
            </a:r>
          </a:p>
          <a:p>
            <a:r>
              <a:rPr lang="en-US" sz="3600" dirty="0"/>
              <a:t>SET SAVING TARGETS</a:t>
            </a:r>
          </a:p>
          <a:p>
            <a:r>
              <a:rPr lang="en-US" sz="3600" dirty="0"/>
              <a:t>PRIORITIZE THE NEEDS</a:t>
            </a:r>
          </a:p>
          <a:p>
            <a:r>
              <a:rPr lang="en-US" sz="3600" dirty="0"/>
              <a:t>FIND OUT THE COST OF EAHCH NEED</a:t>
            </a:r>
          </a:p>
          <a:p>
            <a:r>
              <a:rPr lang="en-US" sz="3600" dirty="0"/>
              <a:t>FIND OUT THE TOTAL COST </a:t>
            </a:r>
          </a:p>
          <a:p>
            <a:r>
              <a:rPr lang="en-US" sz="3600" dirty="0"/>
              <a:t>CARRY OUT REVIEW OF PRIORITIZATION</a:t>
            </a:r>
          </a:p>
        </p:txBody>
      </p:sp>
    </p:spTree>
    <p:extLst>
      <p:ext uri="{BB962C8B-B14F-4D97-AF65-F5344CB8AC3E}">
        <p14:creationId xmlns:p14="http://schemas.microsoft.com/office/powerpoint/2010/main" val="1867006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 OF A BUSINESS;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THIS REFERS TO THE SETTING UP OF A BUSINESS IN APERTICULAR AREA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03" t="28738" r="36" b="-22291"/>
          <a:stretch/>
        </p:blipFill>
        <p:spPr>
          <a:xfrm>
            <a:off x="0" y="3048879"/>
            <a:ext cx="12025745" cy="63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93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INFLUENCING LOCATION OF A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562144"/>
          </a:xfrm>
        </p:spPr>
        <p:txBody>
          <a:bodyPr>
            <a:normAutofit/>
          </a:bodyPr>
          <a:lstStyle/>
          <a:p>
            <a:r>
              <a:rPr lang="en-US" sz="3600" dirty="0"/>
              <a:t>MARKET</a:t>
            </a:r>
          </a:p>
          <a:p>
            <a:r>
              <a:rPr lang="en-US" sz="3600" dirty="0"/>
              <a:t>SOURCE OF RAW MATERIAS</a:t>
            </a:r>
          </a:p>
          <a:p>
            <a:r>
              <a:rPr lang="en-US" sz="3600" dirty="0"/>
              <a:t>ACCESSIBILITY TO TRANSPORT AND COMMUNICATION NET WORK</a:t>
            </a:r>
          </a:p>
          <a:p>
            <a:r>
              <a:rPr lang="en-US" sz="3600" dirty="0"/>
              <a:t>PRESENCE OF LAND </a:t>
            </a:r>
          </a:p>
          <a:p>
            <a:r>
              <a:rPr lang="en-US" sz="3600" dirty="0"/>
              <a:t>PRESENCE OF LABOUR</a:t>
            </a:r>
          </a:p>
          <a:p>
            <a:r>
              <a:rPr lang="en-US" sz="3600" dirty="0"/>
              <a:t>PRESENCE OF POWER / ELECTRICITY</a:t>
            </a:r>
          </a:p>
        </p:txBody>
      </p:sp>
    </p:spTree>
    <p:extLst>
      <p:ext uri="{BB962C8B-B14F-4D97-AF65-F5344CB8AC3E}">
        <p14:creationId xmlns:p14="http://schemas.microsoft.com/office/powerpoint/2010/main" val="16424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PRESENCE OF ADEQUANTE  POWER  SUPPLY</a:t>
            </a:r>
          </a:p>
          <a:p>
            <a:r>
              <a:rPr lang="en-US" sz="3600" dirty="0"/>
              <a:t>PRESENCE OF WATER</a:t>
            </a:r>
          </a:p>
          <a:p>
            <a:r>
              <a:rPr lang="en-US" sz="3600" dirty="0"/>
              <a:t> SECURITY </a:t>
            </a:r>
          </a:p>
          <a:p>
            <a:r>
              <a:rPr lang="en-US" sz="3600" dirty="0"/>
              <a:t>PRESENCE OF OTHER SUPPORT SERVICES</a:t>
            </a:r>
          </a:p>
        </p:txBody>
      </p:sp>
    </p:spTree>
    <p:extLst>
      <p:ext uri="{BB962C8B-B14F-4D97-AF65-F5344CB8AC3E}">
        <p14:creationId xmlns:p14="http://schemas.microsoft.com/office/powerpoint/2010/main" val="3350485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THIS , YOU WILL BE AN </a:t>
            </a:r>
            <a:r>
              <a:rPr lang="en-US" dirty="0" err="1"/>
              <a:t>INVESToR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CHOOSE HOW THE SAVING OF INCOME CAN BE</a:t>
            </a:r>
          </a:p>
          <a:p>
            <a:r>
              <a:rPr lang="en-US" sz="2800" dirty="0"/>
              <a:t>MAKE THE SAVINGS</a:t>
            </a:r>
          </a:p>
          <a:p>
            <a:r>
              <a:rPr lang="en-US" sz="2800" dirty="0"/>
              <a:t>START  INVESTING</a:t>
            </a:r>
          </a:p>
          <a:p>
            <a:endParaRPr lang="en-US" sz="2800" dirty="0"/>
          </a:p>
          <a:p>
            <a:r>
              <a:rPr lang="en-US" sz="2800" dirty="0"/>
              <a:t>QUN; AT HOME MAKE A SAVING PLAN ON HOW TO RAISE RESOURCES TO START UP A BUSINESS.</a:t>
            </a:r>
          </a:p>
          <a:p>
            <a:r>
              <a:rPr lang="en-US" sz="2800" dirty="0"/>
              <a:t>START SAME SAVINGS</a:t>
            </a:r>
          </a:p>
          <a:p>
            <a:r>
              <a:rPr lang="en-US" sz="2800" dirty="0"/>
              <a:t>DECIDE ON THE POSIBLE INVESTMENT FOR THE SAVINGS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27373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19" y="159485"/>
            <a:ext cx="9784080" cy="1508760"/>
          </a:xfrm>
        </p:spPr>
        <p:txBody>
          <a:bodyPr/>
          <a:lstStyle/>
          <a:p>
            <a:r>
              <a:rPr lang="en-US" dirty="0"/>
              <a:t>Savings invested </a:t>
            </a:r>
            <a:r>
              <a:rPr lang="en-US"/>
              <a:t>in agribusiness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442" y="1878161"/>
            <a:ext cx="12127831" cy="4979839"/>
          </a:xfrm>
        </p:spPr>
      </p:pic>
    </p:spTree>
    <p:extLst>
      <p:ext uri="{BB962C8B-B14F-4D97-AF65-F5344CB8AC3E}">
        <p14:creationId xmlns:p14="http://schemas.microsoft.com/office/powerpoint/2010/main" val="26385209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1042</TotalTime>
  <Words>978</Words>
  <Application>Microsoft Office PowerPoint</Application>
  <PresentationFormat>Widescreen</PresentationFormat>
  <Paragraphs>171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Corbel</vt:lpstr>
      <vt:lpstr>Franklin Gothic Medium Cond</vt:lpstr>
      <vt:lpstr>Wingdings</vt:lpstr>
      <vt:lpstr>Banded</vt:lpstr>
      <vt:lpstr>Business start up process</vt:lpstr>
      <vt:lpstr>Sub-topics  IN BUSINESS START UP PROCESS</vt:lpstr>
      <vt:lpstr>Competen    cy;</vt:lpstr>
      <vt:lpstr>STEPS IN STARTING UP A BUSINESS</vt:lpstr>
      <vt:lpstr>Learning outcomes the learners should be able to</vt:lpstr>
      <vt:lpstr>FACTORS THAT ENABLE AN INDIVIDUAL TO START UP A BUSINESS </vt:lpstr>
      <vt:lpstr>Cont.</vt:lpstr>
      <vt:lpstr>Steps in starting a business</vt:lpstr>
      <vt:lpstr>CONT.</vt:lpstr>
      <vt:lpstr>TASK</vt:lpstr>
      <vt:lpstr>SOURCES OF BUSINESS FINANCE LEARNING OUT COMES</vt:lpstr>
      <vt:lpstr>SOURCES OF BUSINESS FINANCE </vt:lpstr>
      <vt:lpstr>ACTIVITY / ASSINGNMENT  </vt:lpstr>
      <vt:lpstr>Savings  and investment</vt:lpstr>
      <vt:lpstr>LEARNING OUT COMES ; THE LEARNER SHOULD BE ABLE TO</vt:lpstr>
      <vt:lpstr>SAVING, IS THE RESERVING OF PART OF ONE’S INCOME FOR FUTURE USE</vt:lpstr>
      <vt:lpstr>FACTORS THAT DETERMINE SAVINGS</vt:lpstr>
      <vt:lpstr>Cont.</vt:lpstr>
      <vt:lpstr>Factors that limit savings</vt:lpstr>
      <vt:lpstr>cont</vt:lpstr>
      <vt:lpstr>FACTORS THAT DETERMINE INVESTIMENT</vt:lpstr>
      <vt:lpstr>CHARACTERISTICS OF PEOPLE WHO SAVE </vt:lpstr>
      <vt:lpstr>Characteristics of people who consume most of their income</vt:lpstr>
      <vt:lpstr>REASONS FOR MAKING SAVINGS AND INVESTMENTS INCLUDE</vt:lpstr>
      <vt:lpstr>FORMS OF SAVINGS</vt:lpstr>
      <vt:lpstr>DIFFERENT INVESTIMENTS</vt:lpstr>
      <vt:lpstr>SAVING PLAN; MAKING PLANS FOR SAVING</vt:lpstr>
      <vt:lpstr>LOCATION OF A BUSINESS; </vt:lpstr>
      <vt:lpstr>FACTORS INFLUENCING LOCATION OF A BUSINESS</vt:lpstr>
      <vt:lpstr>PowerPoint Presentation</vt:lpstr>
      <vt:lpstr>TRY THIS , YOU WILL BE AN INVESToR </vt:lpstr>
      <vt:lpstr>Savings invested in agribusiness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start up process</dc:title>
  <dc:creator>Windows User</dc:creator>
  <cp:lastModifiedBy>HAVANNAH</cp:lastModifiedBy>
  <cp:revision>49</cp:revision>
  <dcterms:created xsi:type="dcterms:W3CDTF">2021-07-29T18:30:24Z</dcterms:created>
  <dcterms:modified xsi:type="dcterms:W3CDTF">2024-09-01T11:57:13Z</dcterms:modified>
</cp:coreProperties>
</file>